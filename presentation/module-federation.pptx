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336" r:id="rId14"/>
    <p:sldId id="328" r:id="rId15"/>
    <p:sldId id="341" r:id="rId16"/>
    <p:sldId id="337" r:id="rId17"/>
    <p:sldId id="319" r:id="rId18"/>
    <p:sldId id="320" r:id="rId19"/>
    <p:sldId id="329" r:id="rId20"/>
    <p:sldId id="344" r:id="rId21"/>
    <p:sldId id="327" r:id="rId22"/>
    <p:sldId id="335" r:id="rId23"/>
    <p:sldId id="325" r:id="rId24"/>
    <p:sldId id="326" r:id="rId25"/>
    <p:sldId id="342" r:id="rId26"/>
    <p:sldId id="334" r:id="rId27"/>
    <p:sldId id="332" r:id="rId28"/>
    <p:sldId id="333" r:id="rId29"/>
    <p:sldId id="343" r:id="rId30"/>
    <p:sldId id="331" r:id="rId31"/>
    <p:sldId id="340" r:id="rId32"/>
    <p:sldId id="338" r:id="rId33"/>
    <p:sldId id="339" r:id="rId34"/>
    <p:sldId id="322" r:id="rId35"/>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76" autoAdjust="0"/>
    <p:restoredTop sz="73220" autoAdjust="0"/>
  </p:normalViewPr>
  <p:slideViewPr>
    <p:cSldViewPr snapToGrid="0" snapToObjects="1">
      <p:cViewPr varScale="1">
        <p:scale>
          <a:sx n="70" d="100"/>
          <a:sy n="70" d="100"/>
        </p:scale>
        <p:origin x="1018" y="38"/>
      </p:cViewPr>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are we solving here in </a:t>
            </a:r>
            <a:r>
              <a:rPr lang="en-US" sz="1200" dirty="0" err="1"/>
              <a:t>microfrontends</a:t>
            </a:r>
            <a:r>
              <a:rPr lang="en-US" sz="1200" dirty="0"/>
              <a:t>?</a:t>
            </a:r>
            <a:endParaRPr lang="en-GB" sz="1200" dirty="0"/>
          </a:p>
          <a:p>
            <a:endParaRPr lang="en-GB" dirty="0"/>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Independent deploys, and a smaller blast radius</a:t>
            </a:r>
            <a:endParaRPr lang="en-GB" sz="1200" dirty="0"/>
          </a:p>
          <a:p>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Teams can share a repo happily, but sharing a release pipeline means one failing build becomes everyone's problem.</a:t>
            </a:r>
          </a:p>
          <a:p>
            <a:endParaRPr lang="en-US" dirty="0"/>
          </a:p>
          <a:p>
            <a:r>
              <a:rPr lang="en-US" dirty="0"/>
              <a:t>Team D maybe have a failing build and that’s a blocker in the upper half. </a:t>
            </a:r>
          </a:p>
          <a:p>
            <a:endParaRPr lang="en-US" dirty="0"/>
          </a:p>
          <a:p>
            <a:r>
              <a:rPr lang="en-US" dirty="0"/>
              <a:t>While the lower half lets you own your build and problems stay where they are.</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Ownership becomes structural, not cultural</a:t>
            </a:r>
            <a:endParaRPr lang="en-GB" sz="1200" dirty="0"/>
          </a:p>
          <a:p>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Up top, Checkout, Catalog, and Account are one app, so any team can import from any other part. The dashed lines are those reaches — they look like normal imports, so nobody notices them in review. </a:t>
            </a:r>
          </a:p>
          <a:p>
            <a:endParaRPr lang="en-US" dirty="0"/>
          </a:p>
          <a:p>
            <a:r>
              <a:rPr lang="en-US" dirty="0"/>
              <a:t>Down below, each part ships separately, so using Catalog's code means adding a dependency or calling an API. That is a real change in a real file, and a reviewer will see it. </a:t>
            </a:r>
          </a:p>
          <a:p>
            <a:endParaRPr lang="en-US" dirty="0"/>
          </a:p>
          <a:p>
            <a:r>
              <a:rPr lang="en-US" dirty="0"/>
              <a:t>Before, crossing a boundary was invisible. </a:t>
            </a:r>
          </a:p>
          <a:p>
            <a:endParaRPr lang="en-US" dirty="0"/>
          </a:p>
          <a:p>
            <a:r>
              <a:rPr lang="en-US" dirty="0"/>
              <a:t>After, it is visible. </a:t>
            </a:r>
          </a:p>
          <a:p>
            <a:endParaRPr lang="en-US" dirty="0"/>
          </a:p>
          <a:p>
            <a:r>
              <a:rPr lang="en-US" dirty="0"/>
              <a:t>What you can do here is a shared library.</a:t>
            </a:r>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Bounded cognitive load as headcount grows.</a:t>
            </a:r>
            <a:endParaRPr lang="en-US" dirty="0"/>
          </a:p>
          <a:p>
            <a:endParaRPr lang="en-US"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in a codebase.</a:t>
            </a:r>
          </a:p>
          <a:p>
            <a:endParaRPr lang="en-US" dirty="0"/>
          </a:p>
          <a:p>
            <a:r>
              <a:rPr lang="en-US" dirty="0"/>
              <a:t>When onboarding a new frontend developer?</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Incremental migration instead of a rewrite</a:t>
            </a:r>
            <a:endParaRPr lang="en-GB" sz="1200"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a:t>
            </a:r>
          </a:p>
          <a:p>
            <a:endParaRPr lang="en-US" dirty="0"/>
          </a:p>
          <a:p>
            <a:r>
              <a:rPr lang="en-US" dirty="0"/>
              <a:t>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demo app is this. This is a healthcare app. With some patient records, prescriptions, analytics.</a:t>
            </a:r>
          </a:p>
        </p:txBody>
      </p:sp>
    </p:spTree>
    <p:extLst>
      <p:ext uri="{BB962C8B-B14F-4D97-AF65-F5344CB8AC3E}">
        <p14:creationId xmlns:p14="http://schemas.microsoft.com/office/powerpoint/2010/main" val="1226422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a:t>
            </a:r>
          </a:p>
          <a:p>
            <a:r>
              <a:rPr lang="en-US" dirty="0"/>
              <a:t>Home is on 3004 and loads instantly. </a:t>
            </a:r>
          </a:p>
          <a:p>
            <a:r>
              <a:rPr lang="en-US" dirty="0"/>
              <a:t>Records is on 3001 and is eagerly preloaded. </a:t>
            </a:r>
          </a:p>
          <a:p>
            <a:r>
              <a:rPr lang="en-US" dirty="0"/>
              <a:t>Prescriptions is on 3002 and suspense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a:t>
            </a:r>
          </a:p>
          <a:p>
            <a:endParaRPr lang="en-US" dirty="0"/>
          </a:p>
          <a:p>
            <a:r>
              <a:rPr lang="en-US" dirty="0"/>
              <a:t>This module federation gives your teams better developer experience. And suspense fallbacks gives your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5901044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rtl="0"/>
            <a:r>
              <a:rPr lang="en-US" dirty="0"/>
              <a:t>The different ports are just a local dev artifact — three dev servers can't all bind port 3000 on one laptop — and they disappear on deployment. </a:t>
            </a:r>
          </a:p>
          <a:p>
            <a:pPr rtl="0"/>
            <a:endParaRPr lang="en-US" dirty="0"/>
          </a:p>
          <a:p>
            <a:pPr rtl="0"/>
            <a:r>
              <a:rPr lang="en-US" dirty="0"/>
              <a:t>In production the browser only ever sees </a:t>
            </a:r>
            <a:r>
              <a:rPr lang="en-US" sz="1200" kern="1200" dirty="0">
                <a:solidFill>
                  <a:schemeClr val="tx1"/>
                </a:solidFill>
                <a:latin typeface="+mn-lt"/>
                <a:ea typeface="+mn-ea"/>
                <a:cs typeface="+mn-cs"/>
              </a:rPr>
              <a:t>acme.com</a:t>
            </a:r>
            <a:r>
              <a:rPr lang="en-US" dirty="0"/>
              <a:t>, with a router at the edge (a Vercel rewrite, a CloudFront behavior, an nginx </a:t>
            </a:r>
            <a:r>
              <a:rPr lang="en-US" sz="1200" kern="1200" dirty="0" err="1">
                <a:solidFill>
                  <a:schemeClr val="tx1"/>
                </a:solidFill>
                <a:latin typeface="+mn-lt"/>
                <a:ea typeface="+mn-ea"/>
                <a:cs typeface="+mn-cs"/>
              </a:rPr>
              <a:t>proxy_pass</a:t>
            </a:r>
            <a:r>
              <a:rPr lang="en-US" dirty="0"/>
              <a:t>, a Cloudflare Worker) mapping each path to the host where that team deploys, so users stay on one origin while each team still ships on its own schedule. </a:t>
            </a:r>
          </a:p>
          <a:p>
            <a:pPr rtl="0"/>
            <a:endParaRPr lang="en-US" dirty="0"/>
          </a:p>
          <a:p>
            <a:pPr rtl="0"/>
            <a:r>
              <a:rPr lang="en-US" dirty="0"/>
              <a:t>Those deploy targets are free: every platform gives you a hostname, and subdomains of a domain you already own are just DNS records. One domain with three paths.</a:t>
            </a:r>
          </a:p>
        </p:txBody>
      </p:sp>
    </p:spTree>
    <p:extLst>
      <p:ext uri="{BB962C8B-B14F-4D97-AF65-F5344CB8AC3E}">
        <p14:creationId xmlns:p14="http://schemas.microsoft.com/office/powerpoint/2010/main" val="1080895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It gives you independent builds and independent deploys. Onboarding improvements.</a:t>
            </a:r>
          </a:p>
          <a:p>
            <a:endParaRPr lang="en-US" dirty="0"/>
          </a:p>
          <a:p>
            <a:r>
              <a:rPr lang="en-US" dirty="0"/>
              <a:t>Suspense and skeletons are for end users. They experience perceived instant load and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does not give you Suspense for free. Plenty of teams federate four remotes and still show a blank screen and a spinner every time someone clicks a tab. Clean team ownership, slow user experience.</a:t>
            </a:r>
          </a:p>
          <a:p>
            <a:endParaRPr lang="en-US" dirty="0"/>
          </a:p>
          <a:p>
            <a:r>
              <a:rPr lang="en-US" dirty="0"/>
              <a:t>With Suspense, the user clicks a tab, a skeleton appears instantly, and the content replaces it when it is ready. The host draws the skeleton; each remote decides when it is ready.</a:t>
            </a:r>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The shell owns navigation, the router, the theme, the counter, and the logged user.</a:t>
            </a:r>
          </a:p>
          <a:p>
            <a:endParaRPr lang="en-US" dirty="0"/>
          </a:p>
          <a:p>
            <a:r>
              <a:rPr lang="en-US" dirty="0"/>
              <a:t>Every remote is wrapped the same way. An error boundary. Then Suspense with a skeleton fallback. Then the remote module itself.</a:t>
            </a:r>
          </a:p>
          <a:p>
            <a:endParaRPr lang="en-US" dirty="0"/>
          </a:p>
          <a:p>
            <a:r>
              <a:rPr lang="en-US" dirty="0"/>
              <a:t>Four remotes hang off that shell. Not every module should load the same way if you want something like this. The strategy will depend on which content you will prioritize.</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628033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endParaRPr lang="en-US" dirty="0"/>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this is the flow if I click the Prescriptions menu which will navigate to the Prescriptions app.</a:t>
            </a:r>
          </a:p>
        </p:txBody>
      </p:sp>
    </p:spTree>
    <p:extLst>
      <p:ext uri="{BB962C8B-B14F-4D97-AF65-F5344CB8AC3E}">
        <p14:creationId xmlns:p14="http://schemas.microsoft.com/office/powerpoint/2010/main" val="8748135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sz="1200" b="0" i="0" kern="1200" dirty="0">
                <a:solidFill>
                  <a:schemeClr val="tx1"/>
                </a:solidFill>
                <a:effectLst/>
                <a:latin typeface="+mn-lt"/>
                <a:ea typeface="+mn-ea"/>
                <a:cs typeface="+mn-cs"/>
              </a:rPr>
              <a:t>People ask why eager modules are still wrapped in lazy(). Two reasons. A static import would make the shell wait for the remote before first paint, and if that remote were down there'd be no </a:t>
            </a:r>
            <a:r>
              <a:rPr lang="en-US" sz="1200" b="0" i="0" kern="1200" dirty="0" err="1">
                <a:solidFill>
                  <a:schemeClr val="tx1"/>
                </a:solidFill>
                <a:effectLst/>
                <a:latin typeface="+mn-lt"/>
                <a:ea typeface="+mn-ea"/>
                <a:cs typeface="+mn-cs"/>
              </a:rPr>
              <a:t>ErrorBoundary</a:t>
            </a:r>
            <a:r>
              <a:rPr lang="en-US" sz="1200" b="0" i="0" kern="1200" dirty="0">
                <a:solidFill>
                  <a:schemeClr val="tx1"/>
                </a:solidFill>
                <a:effectLst/>
                <a:latin typeface="+mn-lt"/>
                <a:ea typeface="+mn-ea"/>
                <a:cs typeface="+mn-cs"/>
              </a:rPr>
              <a:t> yet to catch it — just a white screen.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So instead we fire import() at shell </a:t>
            </a:r>
            <a:r>
              <a:rPr lang="en-US" sz="1200" b="0" i="0" kern="1200" dirty="0" err="1">
                <a:solidFill>
                  <a:schemeClr val="tx1"/>
                </a:solidFill>
                <a:effectLst/>
                <a:latin typeface="+mn-lt"/>
                <a:ea typeface="+mn-ea"/>
                <a:cs typeface="+mn-cs"/>
              </a:rPr>
              <a:t>init</a:t>
            </a:r>
            <a:r>
              <a:rPr lang="en-US" sz="1200" b="0" i="0" kern="1200" dirty="0">
                <a:solidFill>
                  <a:schemeClr val="tx1"/>
                </a:solidFill>
                <a:effectLst/>
                <a:latin typeface="+mn-lt"/>
                <a:ea typeface="+mn-ea"/>
                <a:cs typeface="+mn-cs"/>
              </a:rPr>
              <a:t> to warm the module registry, and lazy() resolves from it with no network round-trip, while every module keeps its own Suspense and </a:t>
            </a:r>
            <a:r>
              <a:rPr lang="en-US" sz="1200" b="0" i="0" kern="1200" dirty="0" err="1">
                <a:solidFill>
                  <a:schemeClr val="tx1"/>
                </a:solidFill>
                <a:effectLst/>
                <a:latin typeface="+mn-lt"/>
                <a:ea typeface="+mn-ea"/>
                <a:cs typeface="+mn-cs"/>
              </a:rPr>
              <a:t>ErrorBoundary</a:t>
            </a:r>
            <a:r>
              <a:rPr lang="en-US" sz="1200" b="0" i="0" kern="1200" dirty="0">
                <a:solidFill>
                  <a:schemeClr val="tx1"/>
                </a:solidFill>
                <a:effectLst/>
                <a:latin typeface="+mn-lt"/>
                <a:ea typeface="+mn-ea"/>
                <a:cs typeface="+mn-cs"/>
              </a:rPr>
              <a:t>.</a:t>
            </a:r>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Before I do another demo, here are the functionalities of the other buttons on the menu header.</a:t>
            </a:r>
          </a:p>
          <a:p>
            <a:endParaRPr lang="en-US" dirty="0"/>
          </a:p>
          <a:p>
            <a:r>
              <a:rPr lang="en-US" dirty="0"/>
              <a:t>A health monitor that polls remoteEntry.js every five seconds. </a:t>
            </a:r>
          </a:p>
          <a:p>
            <a:r>
              <a:rPr lang="en-US" dirty="0"/>
              <a:t>Kill switches. </a:t>
            </a:r>
          </a:p>
          <a:p>
            <a:r>
              <a:rPr lang="en-US" dirty="0"/>
              <a:t>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p>
          <a:p>
            <a:r>
              <a:rPr lang="en-US" sz="1200" i="0" dirty="0">
                <a:solidFill>
                  <a:schemeClr val="bg1">
                    <a:lumMod val="95000"/>
                  </a:schemeClr>
                </a:solidFill>
                <a:latin typeface="Instrument Serif" pitchFamily="34" charset="0"/>
                <a:ea typeface="Instrument Serif" pitchFamily="34" charset="-122"/>
              </a:rPr>
              <a:t>Theming.</a:t>
            </a:r>
            <a:endParaRPr lang="en-US" i="0" dirty="0"/>
          </a:p>
        </p:txBody>
      </p:sp>
    </p:spTree>
    <p:extLst>
      <p:ext uri="{BB962C8B-B14F-4D97-AF65-F5344CB8AC3E}">
        <p14:creationId xmlns:p14="http://schemas.microsoft.com/office/powerpoint/2010/main" val="35995048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US" dirty="0"/>
          </a:p>
        </p:txBody>
      </p:sp>
    </p:spTree>
    <p:extLst>
      <p:ext uri="{BB962C8B-B14F-4D97-AF65-F5344CB8AC3E}">
        <p14:creationId xmlns:p14="http://schemas.microsoft.com/office/powerpoint/2010/main" val="38350487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how you deal with client state management. I will show you more later and also something about server state management like </a:t>
            </a:r>
            <a:r>
              <a:rPr lang="en-GB" dirty="0" err="1"/>
              <a:t>TanStack</a:t>
            </a:r>
            <a:r>
              <a:rPr lang="en-GB" dirty="0"/>
              <a:t> Query.</a:t>
            </a:r>
          </a:p>
        </p:txBody>
      </p:sp>
    </p:spTree>
    <p:extLst>
      <p:ext uri="{BB962C8B-B14F-4D97-AF65-F5344CB8AC3E}">
        <p14:creationId xmlns:p14="http://schemas.microsoft.com/office/powerpoint/2010/main" val="37593916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use the browser </a:t>
            </a:r>
            <a:r>
              <a:rPr lang="en-US" dirty="0" err="1"/>
              <a:t>api</a:t>
            </a:r>
            <a:r>
              <a:rPr lang="en-US" dirty="0"/>
              <a:t> events instead of a shared store? A shared store is a shared dependency. </a:t>
            </a:r>
          </a:p>
          <a:p>
            <a:endParaRPr lang="en-US" dirty="0"/>
          </a:p>
          <a:p>
            <a:r>
              <a:rPr lang="en-US" dirty="0"/>
              <a:t>There will be version coupling between teams if shared stores, while the events will survive in independent deploys. </a:t>
            </a:r>
          </a:p>
          <a:p>
            <a:endParaRPr lang="en-US" dirty="0"/>
          </a:p>
          <a:p>
            <a:r>
              <a:rPr lang="en-US" dirty="0"/>
              <a:t>They even survive framework diversity. For example, a Vue remote and a React remote can talk through the same window contract.</a:t>
            </a:r>
          </a:p>
          <a:p>
            <a:endParaRPr lang="en-US" dirty="0"/>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a:t>
            </a:r>
          </a:p>
          <a:p>
            <a:endParaRPr lang="en-US" dirty="0"/>
          </a:p>
          <a:p>
            <a:r>
              <a:rPr lang="en-US" dirty="0"/>
              <a:t>the shell owns theme and routing, so it broadcasts those; </a:t>
            </a:r>
          </a:p>
          <a:p>
            <a:endParaRPr lang="en-US" dirty="0"/>
          </a:p>
          <a:p>
            <a:r>
              <a:rPr lang="en-US" dirty="0" err="1"/>
              <a:t>addPrescription</a:t>
            </a:r>
            <a:r>
              <a:rPr lang="en-US" dirty="0"/>
              <a:t>.</a:t>
            </a:r>
          </a:p>
          <a:p>
            <a:endParaRPr lang="en-US" dirty="0"/>
          </a:p>
          <a:p>
            <a:r>
              <a:rPr lang="en-US" dirty="0" err="1"/>
              <a:t>showNotification</a:t>
            </a:r>
            <a:r>
              <a:rPr lang="en-US" dirty="0"/>
              <a:t>.</a:t>
            </a:r>
          </a:p>
          <a:p>
            <a:endParaRPr lang="en-US" dirty="0"/>
          </a:p>
          <a:p>
            <a:r>
              <a:rPr lang="en-US" dirty="0"/>
              <a:t>the counter belongs to nobody, so any module can. </a:t>
            </a:r>
          </a:p>
          <a:p>
            <a:endParaRPr lang="en-US" dirty="0"/>
          </a:p>
          <a:p>
            <a:r>
              <a:rPr lang="en-US" dirty="0"/>
              <a:t>For server state, like TanStack Query, there's no syncing at all — every app just fetches, because the REST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4602294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And before I end this presentation, I have two things here I want to share. This is important because of our work has changed from writing code to </a:t>
            </a:r>
            <a:r>
              <a:rPr lang="en-GB" dirty="0" err="1"/>
              <a:t>vibecoding</a:t>
            </a:r>
            <a:r>
              <a:rPr lang="en-GB" dirty="0"/>
              <a:t> using AI agents making us 20x engineers now.</a:t>
            </a:r>
          </a:p>
        </p:txBody>
      </p:sp>
    </p:spTree>
    <p:extLst>
      <p:ext uri="{BB962C8B-B14F-4D97-AF65-F5344CB8AC3E}">
        <p14:creationId xmlns:p14="http://schemas.microsoft.com/office/powerpoint/2010/main" val="20694237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First is, you can nest AGENTS.md files to your different micro frontend apps that’s good for your AI agents. And </a:t>
            </a:r>
            <a:r>
              <a:rPr lang="en-GB" dirty="0" err="1"/>
              <a:t>Rspack</a:t>
            </a:r>
            <a:r>
              <a:rPr lang="en-GB" dirty="0"/>
              <a:t> published agent skills that you can use just in case today’s frontier models still don’t have any idea what the </a:t>
            </a:r>
            <a:r>
              <a:rPr lang="en-GB" dirty="0" err="1"/>
              <a:t>Rspack</a:t>
            </a:r>
            <a:r>
              <a:rPr lang="en-GB" dirty="0"/>
              <a:t> v2.0 can do.</a:t>
            </a:r>
          </a:p>
        </p:txBody>
      </p:sp>
    </p:spTree>
    <p:extLst>
      <p:ext uri="{BB962C8B-B14F-4D97-AF65-F5344CB8AC3E}">
        <p14:creationId xmlns:p14="http://schemas.microsoft.com/office/powerpoint/2010/main" val="420303674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you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55660AF-94A0-DF3F-40C1-547982EAE766}"/>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React </a:t>
            </a:r>
            <a:r>
              <a:rPr lang="en-US" sz="6600">
                <a:solidFill>
                  <a:schemeClr val="tx1">
                    <a:lumMod val="95000"/>
                    <a:lumOff val="5000"/>
                  </a:schemeClr>
                </a:solidFill>
                <a:latin typeface="Instrument Serif" pitchFamily="34" charset="0"/>
                <a:ea typeface="Instrument Serif" pitchFamily="34" charset="-122"/>
                <a:cs typeface="Instrument Serif" pitchFamily="34" charset="-120"/>
              </a:rPr>
              <a:t>19 Suspense </a:t>
            </a:r>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1324420" y="2721114"/>
            <a:ext cx="9539984" cy="707886"/>
          </a:xfrm>
          <a:prstGeom prst="rect">
            <a:avLst/>
          </a:prstGeom>
          <a:noFill/>
        </p:spPr>
        <p:txBody>
          <a:bodyPr wrap="none" rtlCol="0">
            <a:spAutoFit/>
          </a:bodyPr>
          <a:lstStyle/>
          <a:p>
            <a:pPr algn="ctr"/>
            <a:r>
              <a:rPr lang="en-US" sz="4000" dirty="0"/>
              <a:t>What are we solving here in </a:t>
            </a:r>
            <a:r>
              <a:rPr lang="en-US" sz="4000" dirty="0" err="1"/>
              <a:t>microfrontends</a:t>
            </a:r>
            <a:r>
              <a:rPr lang="en-US" sz="4000" dirty="0"/>
              <a:t>?</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DECCB-2C5F-1707-9F5F-328AB2ED0298}"/>
              </a:ext>
            </a:extLst>
          </p:cNvPr>
          <p:cNvPicPr>
            <a:picLocks noChangeAspect="1"/>
          </p:cNvPicPr>
          <p:nvPr/>
        </p:nvPicPr>
        <p:blipFill>
          <a:blip r:embed="rId3"/>
          <a:stretch>
            <a:fillRect/>
          </a:stretch>
        </p:blipFill>
        <p:spPr>
          <a:xfrm>
            <a:off x="0" y="242697"/>
            <a:ext cx="12188825" cy="6615303"/>
          </a:xfrm>
          <a:prstGeom prst="rect">
            <a:avLst/>
          </a:prstGeom>
        </p:spPr>
      </p:pic>
    </p:spTree>
    <p:extLst>
      <p:ext uri="{BB962C8B-B14F-4D97-AF65-F5344CB8AC3E}">
        <p14:creationId xmlns:p14="http://schemas.microsoft.com/office/powerpoint/2010/main" val="40809750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SUSPENSE</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SUSPENSE</a:t>
            </a:r>
          </a:p>
        </p:txBody>
      </p:sp>
    </p:spTree>
    <p:extLst>
      <p:ext uri="{BB962C8B-B14F-4D97-AF65-F5344CB8AC3E}">
        <p14:creationId xmlns:p14="http://schemas.microsoft.com/office/powerpoint/2010/main" val="3384620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559209-AAA2-1CB4-6BF2-0C4E86659D30}"/>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F9BFBAD-B63F-0C95-BF4B-77443B953A89}"/>
              </a:ext>
            </a:extLst>
          </p:cNvPr>
          <p:cNvSpPr txBox="1"/>
          <p:nvPr/>
        </p:nvSpPr>
        <p:spPr>
          <a:xfrm>
            <a:off x="634848" y="3075057"/>
            <a:ext cx="10919143" cy="646331"/>
          </a:xfrm>
          <a:prstGeom prst="rect">
            <a:avLst/>
          </a:prstGeom>
          <a:noFill/>
        </p:spPr>
        <p:txBody>
          <a:bodyPr wrap="none" rtlCol="0">
            <a:spAutoFit/>
          </a:bodyPr>
          <a:lstStyle/>
          <a:p>
            <a:pPr algn="ctr"/>
            <a:r>
              <a:rPr lang="en-GB" sz="3600" dirty="0"/>
              <a:t>Code base (</a:t>
            </a:r>
            <a:r>
              <a:rPr lang="en-GB" sz="3600" dirty="0" err="1"/>
              <a:t>bootstrap.tsx</a:t>
            </a:r>
            <a:r>
              <a:rPr lang="en-GB" sz="3600" dirty="0"/>
              <a:t>, Routes, </a:t>
            </a:r>
            <a:r>
              <a:rPr lang="en-GB" sz="3600" dirty="0" err="1"/>
              <a:t>Rspack</a:t>
            </a:r>
            <a:r>
              <a:rPr lang="en-GB" sz="3600" dirty="0"/>
              <a:t> config &amp; plugin)</a:t>
            </a:r>
          </a:p>
        </p:txBody>
      </p:sp>
    </p:spTree>
    <p:extLst>
      <p:ext uri="{BB962C8B-B14F-4D97-AF65-F5344CB8AC3E}">
        <p14:creationId xmlns:p14="http://schemas.microsoft.com/office/powerpoint/2010/main" val="7659784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637D03-7E43-E40A-D2C9-714E3D46262C}"/>
              </a:ext>
            </a:extLst>
          </p:cNvPr>
          <p:cNvPicPr>
            <a:picLocks noChangeAspect="1"/>
          </p:cNvPicPr>
          <p:nvPr/>
        </p:nvPicPr>
        <p:blipFill>
          <a:blip r:embed="rId3"/>
          <a:stretch>
            <a:fillRect/>
          </a:stretch>
        </p:blipFill>
        <p:spPr>
          <a:xfrm>
            <a:off x="6370" y="0"/>
            <a:ext cx="12176084" cy="6858000"/>
          </a:xfrm>
          <a:prstGeom prst="rect">
            <a:avLst/>
          </a:prstGeom>
        </p:spPr>
      </p:pic>
    </p:spTree>
    <p:extLst>
      <p:ext uri="{BB962C8B-B14F-4D97-AF65-F5344CB8AC3E}">
        <p14:creationId xmlns:p14="http://schemas.microsoft.com/office/powerpoint/2010/main" val="3156522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MF is for teams. Suspense is for users. You need both.</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4"/>
            <a:ext cx="11064240" cy="1825271"/>
          </a:xfrm>
          <a:prstGeom prst="rect">
            <a:avLst/>
          </a:prstGeom>
          <a:noFill/>
          <a:ln/>
        </p:spPr>
        <p:txBody>
          <a:bodyPr wrap="square" rtlCol="0" anchor="t"/>
          <a:lstStyle/>
          <a:p>
            <a:pPr>
              <a:lnSpc>
                <a:spcPts val="1750"/>
              </a:lnSpc>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Federation without Suspense:  click → blank → spinner → content. </a:t>
            </a:r>
          </a:p>
          <a:p>
            <a:pPr>
              <a:lnSpc>
                <a:spcPts val="1750"/>
              </a:lnSpc>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Clean ownership, slow-feeling app.</a:t>
            </a:r>
          </a:p>
          <a:p>
            <a:pPr>
              <a:lnSpc>
                <a:spcPts val="1750"/>
              </a:lnSpc>
            </a:pPr>
            <a:endPar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endParaRPr>
          </a:p>
          <a:p>
            <a:pPr>
              <a:lnSpc>
                <a:spcPts val="1750"/>
              </a:lnSpc>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a:lnSpc>
                <a:spcPts val="1750"/>
              </a:lnSpc>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 skeleton instantly → content when 				      ready. </a:t>
            </a:r>
          </a:p>
          <a:p>
            <a:pPr>
              <a:lnSpc>
                <a:spcPts val="1750"/>
              </a:lnSpc>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And each remote decides when "ready" is.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3F89-483A-0053-D78D-1A8901B047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8116DE-5DA1-A8F4-171E-98CD8EF39457}"/>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CCE98A8-BD8A-6B23-799E-D4E934D31BDC}"/>
              </a:ext>
            </a:extLst>
          </p:cNvPr>
          <p:cNvSpPr txBox="1"/>
          <p:nvPr/>
        </p:nvSpPr>
        <p:spPr>
          <a:xfrm>
            <a:off x="770310" y="3075057"/>
            <a:ext cx="10648236" cy="707886"/>
          </a:xfrm>
          <a:prstGeom prst="rect">
            <a:avLst/>
          </a:prstGeom>
          <a:noFill/>
        </p:spPr>
        <p:txBody>
          <a:bodyPr wrap="none" rtlCol="0">
            <a:spAutoFit/>
          </a:bodyPr>
          <a:lstStyle/>
          <a:p>
            <a:pPr algn="ctr"/>
            <a:r>
              <a:rPr lang="en-GB" sz="4000" dirty="0"/>
              <a:t>Preloading and prefetching (network tab </a:t>
            </a:r>
            <a:r>
              <a:rPr lang="en-GB" sz="4000" dirty="0" err="1"/>
              <a:t>devtools</a:t>
            </a:r>
            <a:r>
              <a:rPr lang="en-GB" sz="4000" dirty="0"/>
              <a:t>)</a:t>
            </a:r>
          </a:p>
        </p:txBody>
      </p:sp>
    </p:spTree>
    <p:extLst>
      <p:ext uri="{BB962C8B-B14F-4D97-AF65-F5344CB8AC3E}">
        <p14:creationId xmlns:p14="http://schemas.microsoft.com/office/powerpoint/2010/main" val="23981073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226365"/>
            <a:ext cx="10710142" cy="2248815"/>
          </a:xfrm>
          <a:prstGeom prst="rect">
            <a:avLst/>
          </a:prstGeom>
          <a:noFill/>
          <a:ln/>
        </p:spPr>
        <p:txBody>
          <a:bodyPr wrap="square" rtlCol="0" anchor="ctr"/>
          <a:lstStyle/>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Why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for eager modules?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Remotes are separate builds resolved at runtime.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Eager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import()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warms the cache;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resolves from it.</a:t>
            </a:r>
            <a:endParaRPr lang="en-US" sz="3200"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endParaRPr>
          </a:p>
        </p:txBody>
      </p:sp>
    </p:spTree>
    <p:extLst>
      <p:ext uri="{BB962C8B-B14F-4D97-AF65-F5344CB8AC3E}">
        <p14:creationId xmlns:p14="http://schemas.microsoft.com/office/powerpoint/2010/main" val="25772246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Commands, Federation Lab menus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a:t>
            </a:r>
            <a:r>
              <a:rPr lang="en-US" sz="2800" dirty="0" err="1">
                <a:solidFill>
                  <a:schemeClr val="tx1">
                    <a:lumMod val="95000"/>
                    <a:lumOff val="5000"/>
                  </a:schemeClr>
                </a:solidFill>
                <a:latin typeface="DM Sans" pitchFamily="34" charset="0"/>
                <a:ea typeface="DM Sans" pitchFamily="34" charset="-122"/>
                <a:cs typeface="DM Sans" pitchFamily="34" charset="-120"/>
              </a:rPr>
              <a:t>remoteEntry.js</a:t>
            </a:r>
            <a:r>
              <a:rPr lang="en-US" sz="2800" dirty="0">
                <a:solidFill>
                  <a:schemeClr val="tx1">
                    <a:lumMod val="95000"/>
                    <a:lumOff val="5000"/>
                  </a:schemeClr>
                </a:solidFill>
                <a:latin typeface="DM Sans" pitchFamily="34" charset="0"/>
                <a:ea typeface="DM Sans" pitchFamily="34" charset="-122"/>
                <a:cs typeface="DM Sans" pitchFamily="34" charset="-120"/>
              </a:rPr>
              <a:t>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2434E-A423-B165-16BC-7AF688676E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374511-5B5D-F7F6-D4DE-965190A47438}"/>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4AF8797-4227-8449-C765-143D3A90429D}"/>
              </a:ext>
            </a:extLst>
          </p:cNvPr>
          <p:cNvSpPr txBox="1"/>
          <p:nvPr/>
        </p:nvSpPr>
        <p:spPr>
          <a:xfrm>
            <a:off x="2279283" y="3075057"/>
            <a:ext cx="7630295" cy="707886"/>
          </a:xfrm>
          <a:prstGeom prst="rect">
            <a:avLst/>
          </a:prstGeom>
          <a:noFill/>
        </p:spPr>
        <p:txBody>
          <a:bodyPr wrap="none" rtlCol="0">
            <a:spAutoFit/>
          </a:bodyPr>
          <a:lstStyle/>
          <a:p>
            <a:pPr algn="ctr"/>
            <a:r>
              <a:rPr lang="en-GB" sz="4000" dirty="0"/>
              <a:t>Admin panel for module federation</a:t>
            </a:r>
          </a:p>
        </p:txBody>
      </p:sp>
    </p:spTree>
    <p:extLst>
      <p:ext uri="{BB962C8B-B14F-4D97-AF65-F5344CB8AC3E}">
        <p14:creationId xmlns:p14="http://schemas.microsoft.com/office/powerpoint/2010/main" val="318269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themeChange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showNotification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E5C8-F845-6867-3F24-0A4D18D440C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51E657-3A4F-F643-B5FE-F848932BB249}"/>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03C690B-5769-EFCF-21B9-2F10CBECB5E3}"/>
              </a:ext>
            </a:extLst>
          </p:cNvPr>
          <p:cNvSpPr txBox="1"/>
          <p:nvPr/>
        </p:nvSpPr>
        <p:spPr>
          <a:xfrm>
            <a:off x="2678228" y="3075057"/>
            <a:ext cx="6832384" cy="707886"/>
          </a:xfrm>
          <a:prstGeom prst="rect">
            <a:avLst/>
          </a:prstGeom>
          <a:noFill/>
        </p:spPr>
        <p:txBody>
          <a:bodyPr wrap="none" rtlCol="0">
            <a:spAutoFit/>
          </a:bodyPr>
          <a:lstStyle/>
          <a:p>
            <a:pPr algn="ctr"/>
            <a:r>
              <a:rPr lang="en-GB" sz="4000" dirty="0"/>
              <a:t>Counter value in different pages</a:t>
            </a:r>
          </a:p>
        </p:txBody>
      </p:sp>
    </p:spTree>
    <p:extLst>
      <p:ext uri="{BB962C8B-B14F-4D97-AF65-F5344CB8AC3E}">
        <p14:creationId xmlns:p14="http://schemas.microsoft.com/office/powerpoint/2010/main" val="2123101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803917B-4381-C3C7-FA95-857D711A79FD}"/>
              </a:ext>
            </a:extLst>
          </p:cNvPr>
          <p:cNvPicPr>
            <a:picLocks noChangeAspect="1"/>
          </p:cNvPicPr>
          <p:nvPr/>
        </p:nvPicPr>
        <p:blipFill>
          <a:blip r:embed="rId3"/>
          <a:stretch>
            <a:fillRect/>
          </a:stretch>
        </p:blipFill>
        <p:spPr>
          <a:xfrm>
            <a:off x="4297407" y="1158714"/>
            <a:ext cx="4087786" cy="3871374"/>
          </a:xfrm>
          <a:prstGeom prst="rect">
            <a:avLst/>
          </a:prstGeom>
        </p:spPr>
      </p:pic>
      <p:sp>
        <p:nvSpPr>
          <p:cNvPr id="12" name="TextBox 11">
            <a:extLst>
              <a:ext uri="{FF2B5EF4-FFF2-40B4-BE49-F238E27FC236}">
                <a16:creationId xmlns:a16="http://schemas.microsoft.com/office/drawing/2014/main" id="{29D0F35D-631E-8C23-5845-6023A66D27DD}"/>
              </a:ext>
            </a:extLst>
          </p:cNvPr>
          <p:cNvSpPr txBox="1"/>
          <p:nvPr/>
        </p:nvSpPr>
        <p:spPr>
          <a:xfrm>
            <a:off x="3822192" y="3655026"/>
            <a:ext cx="1627369" cy="1569660"/>
          </a:xfrm>
          <a:prstGeom prst="rect">
            <a:avLst/>
          </a:prstGeom>
          <a:noFill/>
        </p:spPr>
        <p:txBody>
          <a:bodyPr wrap="none" rtlCol="0">
            <a:spAutoFit/>
          </a:bodyPr>
          <a:lstStyle/>
          <a:p>
            <a:pPr algn="ctr"/>
            <a:r>
              <a:rPr lang="en-GB" sz="9600" dirty="0">
                <a:latin typeface="Cascadia Code" panose="020B0609020000020004" pitchFamily="49" charset="0"/>
                <a:cs typeface="Cascadia Code" panose="020B0609020000020004" pitchFamily="49" charset="0"/>
              </a:rPr>
              <a:t>AI</a:t>
            </a:r>
          </a:p>
        </p:txBody>
      </p:sp>
    </p:spTree>
    <p:extLst>
      <p:ext uri="{BB962C8B-B14F-4D97-AF65-F5344CB8AC3E}">
        <p14:creationId xmlns:p14="http://schemas.microsoft.com/office/powerpoint/2010/main" val="21967390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5158BA-B2A6-2F27-F186-4EF8F56E7BD9}"/>
              </a:ext>
            </a:extLst>
          </p:cNvPr>
          <p:cNvPicPr>
            <a:picLocks noChangeAspect="1"/>
          </p:cNvPicPr>
          <p:nvPr/>
        </p:nvPicPr>
        <p:blipFill>
          <a:blip r:embed="rId3"/>
          <a:stretch>
            <a:fillRect/>
          </a:stretch>
        </p:blipFill>
        <p:spPr>
          <a:xfrm>
            <a:off x="3557944" y="0"/>
            <a:ext cx="5072937" cy="6858000"/>
          </a:xfrm>
          <a:prstGeom prst="rect">
            <a:avLst/>
          </a:prstGeom>
        </p:spPr>
      </p:pic>
    </p:spTree>
    <p:extLst>
      <p:ext uri="{BB962C8B-B14F-4D97-AF65-F5344CB8AC3E}">
        <p14:creationId xmlns:p14="http://schemas.microsoft.com/office/powerpoint/2010/main" val="25882997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382" y="2736683"/>
            <a:ext cx="10027796" cy="1384634"/>
          </a:xfrm>
          <a:prstGeom prst="rect">
            <a:avLst/>
          </a:prstGeom>
          <a:noFill/>
        </p:spPr>
        <p:txBody>
          <a:bodyPr wrap="square">
            <a:spAutoFit/>
          </a:bodyPr>
          <a:lstStyle/>
          <a:p>
            <a:r>
              <a:rPr lang="en-GB" sz="2799" b="1" dirty="0">
                <a:solidFill>
                  <a:schemeClr val="tx1">
                    <a:lumMod val="95000"/>
                    <a:lumOff val="5000"/>
                  </a:schemeClr>
                </a:solidFill>
              </a:rPr>
              <a:t>Knowledge atrophy </a:t>
            </a:r>
            <a:r>
              <a:rPr lang="en-GB" sz="2799"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4239</TotalTime>
  <Words>2135</Words>
  <Application>Microsoft Office PowerPoint</Application>
  <PresentationFormat>Custom</PresentationFormat>
  <Paragraphs>195</Paragraphs>
  <Slides>34</Slides>
  <Notes>34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34</vt:i4>
      </vt:variant>
    </vt:vector>
  </HeadingPairs>
  <TitlesOfParts>
    <vt:vector size="44" baseType="lpstr">
      <vt:lpstr>Aptos</vt:lpstr>
      <vt:lpstr>Arial</vt:lpstr>
      <vt:lpstr>Brush Script MT</vt:lpstr>
      <vt:lpstr>Calibri</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309</cp:revision>
  <dcterms:created xsi:type="dcterms:W3CDTF">2026-07-26T17:49:56Z</dcterms:created>
  <dcterms:modified xsi:type="dcterms:W3CDTF">2026-10-26T20:20:51Z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y fmtid="{D5CDD505-2E9C-101B-9397-08002B2CF9AE}" pid="3" name="MSIP_Label_178c0f71-65dc-41d1-a799-91080a268621_Enabled">
    <vt:lpwstr>true</vt:lpwstr>
  </property>
  <property fmtid="{D5CDD505-2E9C-101B-9397-08002B2CF9AE}" pid="4" name="MSIP_Label_178c0f71-65dc-41d1-a799-91080a268621_SetDate">
    <vt:lpwstr>2026-09-09T15:35:15Z</vt:lpwstr>
  </property>
  <property fmtid="{D5CDD505-2E9C-101B-9397-08002B2CF9AE}" pid="5" name="MSIP_Label_178c0f71-65dc-41d1-a799-91080a268621_Method">
    <vt:lpwstr>Standard</vt:lpwstr>
  </property>
  <property fmtid="{D5CDD505-2E9C-101B-9397-08002B2CF9AE}" pid="6" name="MSIP_Label_178c0f71-65dc-41d1-a799-91080a268621_Name">
    <vt:lpwstr>Internal - Crayon Group Only</vt:lpwstr>
  </property>
  <property fmtid="{D5CDD505-2E9C-101B-9397-08002B2CF9AE}" pid="7" name="MSIP_Label_178c0f71-65dc-41d1-a799-91080a268621_SiteId">
    <vt:lpwstr>8f47ad71-44ca-48bf-afe3-56b9360a4495</vt:lpwstr>
  </property>
  <property fmtid="{D5CDD505-2E9C-101B-9397-08002B2CF9AE}" pid="8" name="MSIP_Label_178c0f71-65dc-41d1-a799-91080a268621_ActionId">
    <vt:lpwstr>3894cb50-b398-499b-a2fb-df380df3d017</vt:lpwstr>
  </property>
  <property fmtid="{D5CDD505-2E9C-101B-9397-08002B2CF9AE}" pid="9" name="MSIP_Label_178c0f71-65dc-41d1-a799-91080a268621_ContentBits">
    <vt:lpwstr>2</vt:lpwstr>
  </property>
  <property fmtid="{D5CDD505-2E9C-101B-9397-08002B2CF9AE}" pid="10" name="MSIP_Label_178c0f71-65dc-41d1-a799-91080a268621_Tag">
    <vt:lpwstr>50, 3, 0, 1</vt:lpwstr>
  </property>
  <property fmtid="{D5CDD505-2E9C-101B-9397-08002B2CF9AE}" pid="11" name="ClassificationContentMarkingFooterLocations">
    <vt:lpwstr>Office Theme:3</vt:lpwstr>
  </property>
  <property fmtid="{D5CDD505-2E9C-101B-9397-08002B2CF9AE}" pid="12" name="ClassificationContentMarkingFooterText">
    <vt:lpwstr>Internal Only</vt:lpwstr>
  </property>
</Properties>
</file>