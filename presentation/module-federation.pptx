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6"/>
  </p:notesMasterIdLst>
  <p:sldIdLst>
    <p:sldId id="298" r:id="rId2"/>
    <p:sldId id="301" r:id="rId3"/>
    <p:sldId id="300" r:id="rId4"/>
    <p:sldId id="313" r:id="rId5"/>
    <p:sldId id="312" r:id="rId6"/>
    <p:sldId id="299" r:id="rId7"/>
    <p:sldId id="314" r:id="rId8"/>
    <p:sldId id="311" r:id="rId9"/>
    <p:sldId id="315" r:id="rId10"/>
    <p:sldId id="317" r:id="rId11"/>
    <p:sldId id="316" r:id="rId12"/>
    <p:sldId id="318" r:id="rId13"/>
    <p:sldId id="328" r:id="rId14"/>
    <p:sldId id="319" r:id="rId15"/>
    <p:sldId id="320" r:id="rId16"/>
    <p:sldId id="329" r:id="rId17"/>
    <p:sldId id="324" r:id="rId18"/>
    <p:sldId id="281" r:id="rId19"/>
    <p:sldId id="282" r:id="rId20"/>
    <p:sldId id="321" r:id="rId21"/>
    <p:sldId id="283" r:id="rId22"/>
    <p:sldId id="284" r:id="rId23"/>
    <p:sldId id="262" r:id="rId24"/>
    <p:sldId id="285" r:id="rId25"/>
    <p:sldId id="294" r:id="rId26"/>
    <p:sldId id="263" r:id="rId27"/>
    <p:sldId id="327" r:id="rId28"/>
    <p:sldId id="325" r:id="rId29"/>
    <p:sldId id="264" r:id="rId30"/>
    <p:sldId id="326" r:id="rId31"/>
    <p:sldId id="265" r:id="rId32"/>
    <p:sldId id="288" r:id="rId33"/>
    <p:sldId id="289" r:id="rId34"/>
    <p:sldId id="266" r:id="rId35"/>
    <p:sldId id="290" r:id="rId36"/>
    <p:sldId id="332" r:id="rId37"/>
    <p:sldId id="333" r:id="rId38"/>
    <p:sldId id="331" r:id="rId39"/>
    <p:sldId id="296" r:id="rId40"/>
    <p:sldId id="268" r:id="rId41"/>
    <p:sldId id="323" r:id="rId42"/>
    <p:sldId id="330" r:id="rId43"/>
    <p:sldId id="310" r:id="rId44"/>
    <p:sldId id="322" r:id="rId45"/>
  </p:sldIdLst>
  <p:sldSz cx="12188825" cy="6858000"/>
  <p:notesSz cx="6858000" cy="1218882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286" autoAdjust="0"/>
    <p:restoredTop sz="69231" autoAdjust="0"/>
  </p:normalViewPr>
  <p:slideViewPr>
    <p:cSldViewPr snapToGrid="0" snapToObjects="1">
      <p:cViewPr varScale="1">
        <p:scale>
          <a:sx n="44" d="100"/>
          <a:sy n="44" d="100"/>
        </p:scale>
        <p:origin x="1396" y="28"/>
      </p:cViewPr>
      <p:guideLst/>
    </p:cSldViewPr>
  </p:slideViewPr>
  <p:notesTextViewPr>
    <p:cViewPr>
      <p:scale>
        <a:sx n="125" d="100"/>
        <a:sy n="125"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11116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71889847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29681038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384207507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a:p>
        </p:txBody>
      </p:sp>
    </p:spTree>
    <p:extLst>
      <p:ext uri="{BB962C8B-B14F-4D97-AF65-F5344CB8AC3E}">
        <p14:creationId xmlns:p14="http://schemas.microsoft.com/office/powerpoint/2010/main" val="64405546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Here's the first. </a:t>
            </a:r>
            <a:endParaRPr lang="en-GB" dirty="0"/>
          </a:p>
        </p:txBody>
      </p:sp>
    </p:spTree>
    <p:extLst>
      <p:ext uri="{BB962C8B-B14F-4D97-AF65-F5344CB8AC3E}">
        <p14:creationId xmlns:p14="http://schemas.microsoft.com/office/powerpoint/2010/main" val="24989094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The distinction that matters is between </a:t>
            </a:r>
            <a:r>
              <a:rPr lang="en-US" i="1" dirty="0"/>
              <a:t>build</a:t>
            </a:r>
            <a:r>
              <a:rPr lang="en-US" dirty="0"/>
              <a:t> coupling and </a:t>
            </a:r>
            <a:r>
              <a:rPr lang="en-US" i="1" dirty="0"/>
              <a:t>deploy</a:t>
            </a:r>
            <a:r>
              <a:rPr lang="en-US" dirty="0"/>
              <a:t> coupling — teams can share a repo happily, but sharing a release train means one team's red build becomes everyone's problem.</a:t>
            </a:r>
            <a:endParaRPr lang="en-GB" dirty="0"/>
          </a:p>
        </p:txBody>
      </p:sp>
    </p:spTree>
    <p:extLst>
      <p:ext uri="{BB962C8B-B14F-4D97-AF65-F5344CB8AC3E}">
        <p14:creationId xmlns:p14="http://schemas.microsoft.com/office/powerpoint/2010/main" val="28232725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8480B2-0347-0147-6484-CB7C0C98DF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78B400-BACB-AE2D-62B3-0672518FE268}"/>
              </a:ext>
            </a:extLst>
          </p:cNvPr>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E6A56066-4C22-F547-B213-2B9B212608B3}"/>
              </a:ext>
            </a:extLst>
          </p:cNvPr>
          <p:cNvSpPr>
            <a:spLocks noGrp="1"/>
          </p:cNvSpPr>
          <p:nvPr>
            <p:ph type="body" idx="1"/>
          </p:nvPr>
        </p:nvSpPr>
        <p:spPr>
          <a:xfrm>
            <a:off x="685800" y="5865813"/>
            <a:ext cx="5486400" cy="4799012"/>
          </a:xfrm>
          <a:prstGeom prst="rect">
            <a:avLst/>
          </a:prstGeom>
        </p:spPr>
        <p:txBody>
          <a:bodyPr/>
          <a:lstStyle/>
          <a:p>
            <a:r>
              <a:rPr lang="en-US" dirty="0"/>
              <a:t>Second reason</a:t>
            </a:r>
            <a:endParaRPr lang="en-GB" dirty="0"/>
          </a:p>
        </p:txBody>
      </p:sp>
    </p:spTree>
    <p:extLst>
      <p:ext uri="{BB962C8B-B14F-4D97-AF65-F5344CB8AC3E}">
        <p14:creationId xmlns:p14="http://schemas.microsoft.com/office/powerpoint/2010/main" val="10259759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This is subtler because the failure is gradual. Nobody decides to violate a boundary; someone is just on a deadline and reaches across, and the import survives review because it looks like every other import. Deploy boundaries make that reach physically visible.</a:t>
            </a:r>
            <a:endParaRPr lang="en-GB" dirty="0"/>
          </a:p>
        </p:txBody>
      </p:sp>
    </p:spTree>
    <p:extLst>
      <p:ext uri="{BB962C8B-B14F-4D97-AF65-F5344CB8AC3E}">
        <p14:creationId xmlns:p14="http://schemas.microsoft.com/office/powerpoint/2010/main" val="38896813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0A92F6-6578-1D28-7844-337ACD0A37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FDA50D-8E9C-8787-3767-F6A995568A93}"/>
              </a:ext>
            </a:extLst>
          </p:cNvPr>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69EA5E55-6DC6-A1B1-0CE4-0AA4473B1AAC}"/>
              </a:ext>
            </a:extLst>
          </p:cNvPr>
          <p:cNvSpPr>
            <a:spLocks noGrp="1"/>
          </p:cNvSpPr>
          <p:nvPr>
            <p:ph type="body" idx="1"/>
          </p:nvPr>
        </p:nvSpPr>
        <p:spPr>
          <a:xfrm>
            <a:off x="685800" y="5865813"/>
            <a:ext cx="5486400" cy="4799012"/>
          </a:xfrm>
          <a:prstGeom prst="rect">
            <a:avLst/>
          </a:prstGeom>
        </p:spPr>
        <p:txBody>
          <a:bodyPr/>
          <a:lstStyle/>
          <a:p>
            <a:r>
              <a:rPr lang="en-US" dirty="0"/>
              <a:t>Third reason</a:t>
            </a:r>
            <a:endParaRPr lang="en-GB" dirty="0"/>
          </a:p>
        </p:txBody>
      </p:sp>
    </p:spTree>
    <p:extLst>
      <p:ext uri="{BB962C8B-B14F-4D97-AF65-F5344CB8AC3E}">
        <p14:creationId xmlns:p14="http://schemas.microsoft.com/office/powerpoint/2010/main" val="56018857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This is the one people underrate. It isn't about total lines of code — it's about how much of the system a person must hold in their head before they can safely change one line of it.</a:t>
            </a:r>
            <a:endParaRPr lang="en-GB" dirty="0"/>
          </a:p>
        </p:txBody>
      </p:sp>
    </p:spTree>
    <p:extLst>
      <p:ext uri="{BB962C8B-B14F-4D97-AF65-F5344CB8AC3E}">
        <p14:creationId xmlns:p14="http://schemas.microsoft.com/office/powerpoint/2010/main" val="327819991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D9F887-00EC-F6D6-6E74-7210AAE8D7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64D492-9C48-B97E-9725-E950E22EAA19}"/>
              </a:ext>
            </a:extLst>
          </p:cNvPr>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A5FFBA45-FE90-16C8-2B3F-345A708DB695}"/>
              </a:ext>
            </a:extLst>
          </p:cNvPr>
          <p:cNvSpPr>
            <a:spLocks noGrp="1"/>
          </p:cNvSpPr>
          <p:nvPr>
            <p:ph type="body" idx="1"/>
          </p:nvPr>
        </p:nvSpPr>
        <p:spPr>
          <a:xfrm>
            <a:off x="685800" y="5865813"/>
            <a:ext cx="5486400" cy="4799012"/>
          </a:xfrm>
          <a:prstGeom prst="rect">
            <a:avLst/>
          </a:prstGeom>
        </p:spPr>
        <p:txBody>
          <a:bodyPr/>
          <a:lstStyle/>
          <a:p>
            <a:r>
              <a:rPr lang="en-US" dirty="0"/>
              <a:t>Last, but not the least. This is actually my first experience in micro-frontend when we were removing little pieces of Angular version 1, which is plain JavaScript, to the latest version of Angular.</a:t>
            </a:r>
            <a:endParaRPr lang="en-GB" dirty="0"/>
          </a:p>
        </p:txBody>
      </p:sp>
    </p:spTree>
    <p:extLst>
      <p:ext uri="{BB962C8B-B14F-4D97-AF65-F5344CB8AC3E}">
        <p14:creationId xmlns:p14="http://schemas.microsoft.com/office/powerpoint/2010/main" val="352967583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This is the one that stands on its own even when the others don't apply. The key detail is that both stacks serve real traffic the entire time, which is what makes it reversible.</a:t>
            </a:r>
            <a:endParaRPr lang="en-GB" dirty="0"/>
          </a:p>
        </p:txBody>
      </p:sp>
    </p:spTree>
    <p:extLst>
      <p:ext uri="{BB962C8B-B14F-4D97-AF65-F5344CB8AC3E}">
        <p14:creationId xmlns:p14="http://schemas.microsoft.com/office/powerpoint/2010/main" val="363157767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This is a diagram of the demo app. It is a running healthcare shell. </a:t>
            </a:r>
          </a:p>
          <a:p>
            <a:r>
              <a:rPr lang="en-US" dirty="0"/>
              <a:t>The host is on port 3000. Home is on 3004 and loads instantly. </a:t>
            </a:r>
          </a:p>
          <a:p>
            <a:r>
              <a:rPr lang="en-US" dirty="0"/>
              <a:t>Records is on 3001 and is eagerly preloaded. </a:t>
            </a:r>
          </a:p>
          <a:p>
            <a:r>
              <a:rPr lang="en-US" dirty="0"/>
              <a:t>Prescriptions is on 3002 and streams on demand. </a:t>
            </a:r>
          </a:p>
          <a:p>
            <a:r>
              <a:rPr lang="en-US" dirty="0"/>
              <a:t>Analytics is on 3003 and does the same.</a:t>
            </a:r>
          </a:p>
          <a:p>
            <a:endParaRPr lang="en-US" dirty="0"/>
          </a:p>
          <a:p>
            <a:r>
              <a:rPr lang="en-US" dirty="0"/>
              <a:t>Five independent React apps. Each has its own bundler config, its own dev server, and its own test suite. They compose at runtime through Module Federation. React 19. </a:t>
            </a:r>
            <a:r>
              <a:rPr lang="en-US" dirty="0" err="1"/>
              <a:t>Rspack</a:t>
            </a:r>
            <a:r>
              <a:rPr lang="en-US" dirty="0"/>
              <a:t> 2.1. TypeScript 7. Tailwind CSS v4. You can clone this after the talk and run it.</a:t>
            </a:r>
          </a:p>
          <a:p>
            <a:endParaRPr lang="en-US" dirty="0"/>
          </a:p>
          <a:p>
            <a:r>
              <a:rPr lang="en-US" dirty="0"/>
              <a:t>Two promises. Module Federation gives growing teams better developer experience. Suspense fallbacks give visitors better user experience. We are going to prove both, live, in the same architecture.</a:t>
            </a:r>
          </a:p>
          <a:p>
            <a:endParaRPr lang="en-US" dirty="0"/>
          </a:p>
          <a:p>
            <a:endParaRPr lang="en-GB" dirty="0"/>
          </a:p>
        </p:txBody>
      </p:sp>
    </p:spTree>
    <p:extLst>
      <p:ext uri="{BB962C8B-B14F-4D97-AF65-F5344CB8AC3E}">
        <p14:creationId xmlns:p14="http://schemas.microsoft.com/office/powerpoint/2010/main" val="139690109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Module Federation is for developers and teams. Independent builds. Independent deploys. Onboarding that actually scales.</a:t>
            </a:r>
          </a:p>
          <a:p>
            <a:endParaRPr lang="en-US" dirty="0"/>
          </a:p>
          <a:p>
            <a:r>
              <a:rPr lang="en-US" dirty="0"/>
              <a:t>Suspense and skeletons are for end users. Instant perceived load. No blank screens at runtime.</a:t>
            </a:r>
          </a:p>
          <a:p>
            <a:endParaRPr lang="en-GB" dirty="0"/>
          </a:p>
        </p:txBody>
      </p:sp>
    </p:spTree>
    <p:extLst>
      <p:ext uri="{BB962C8B-B14F-4D97-AF65-F5344CB8AC3E}">
        <p14:creationId xmlns:p14="http://schemas.microsoft.com/office/powerpoint/2010/main" val="44711520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You can have one without the other. Plenty of teams do. You can federate four remotes and still show a blank screen and a spinner every time someone clicks a tab. That is slow user experience even when team ownership is solid.</a:t>
            </a:r>
          </a:p>
          <a:p>
            <a:r>
              <a:rPr lang="en-US" dirty="0"/>
              <a:t>With Suspense, the user clicks a tab, a skeleton appears immediately, and the content resolves when it is ready. Each remote owns its own loading choreography.</a:t>
            </a:r>
          </a:p>
          <a:p>
            <a:endParaRPr lang="en-GB" dirty="0"/>
          </a:p>
        </p:txBody>
      </p:sp>
    </p:spTree>
    <p:extLst>
      <p:ext uri="{BB962C8B-B14F-4D97-AF65-F5344CB8AC3E}">
        <p14:creationId xmlns:p14="http://schemas.microsoft.com/office/powerpoint/2010/main" val="267209346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This is the shape of the app. One shell on port 3000. It owns navigation, the router, the theme, and a status strip that reads Instant, Eager, or Streaming.</a:t>
            </a:r>
          </a:p>
          <a:p>
            <a:r>
              <a:rPr lang="en-US" dirty="0"/>
              <a:t>Every remote is wrapped the same way. An error boundary. Then Suspense with a skeleton fallback. Then the remote module itself.</a:t>
            </a:r>
          </a:p>
          <a:p>
            <a:r>
              <a:rPr lang="en-US" dirty="0"/>
              <a:t>Four remotes hang off that shell. Home on 3004, instant. Records on 3001, eager. Prescriptions on 3002, streamed. Analytics on 3003, streamed. Not every module should load the same way. Content priority decides the strategy.</a:t>
            </a:r>
          </a:p>
          <a:p>
            <a:endParaRPr lang="en-GB" dirty="0"/>
          </a:p>
        </p:txBody>
      </p:sp>
    </p:spTree>
    <p:extLst>
      <p:ext uri="{BB962C8B-B14F-4D97-AF65-F5344CB8AC3E}">
        <p14:creationId xmlns:p14="http://schemas.microsoft.com/office/powerpoint/2010/main" val="189956842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Home is the landing page. It is lazy for code splitting, with no artificial delay. It renders the moment the chunk arrives. The status strip says Instant.</a:t>
            </a:r>
          </a:p>
          <a:p>
            <a:r>
              <a:rPr lang="en-US" dirty="0"/>
              <a:t>Records is high-value content. It is preloaded the moment the shell mounts. By the time the user clicks, it is already cached. The status strip says Eager.</a:t>
            </a:r>
          </a:p>
          <a:p>
            <a:r>
              <a:rPr lang="en-US" dirty="0"/>
              <a:t>Prescriptions and Analytics are secondary. They load on demand. The user sees a purpose-built skeleton while the module resolves. The status strip says Streaming.</a:t>
            </a:r>
          </a:p>
          <a:p>
            <a:r>
              <a:rPr lang="en-US" dirty="0"/>
              <a:t>When we get to the live demo, watch that status strip. It is the scoreboard for this architecture.</a:t>
            </a:r>
          </a:p>
          <a:p>
            <a:endParaRPr lang="en-GB" dirty="0"/>
          </a:p>
        </p:txBody>
      </p:sp>
    </p:spTree>
    <p:extLst>
      <p:ext uri="{BB962C8B-B14F-4D97-AF65-F5344CB8AC3E}">
        <p14:creationId xmlns:p14="http://schemas.microsoft.com/office/powerpoint/2010/main" val="165172617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274E12-9E8D-AFB5-3041-D4CE3F6A61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BB1D06-B6BA-E8F9-8521-8BC0BE9DE2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DFC480-5001-6921-742A-B8CE57747570}"/>
              </a:ext>
            </a:extLst>
          </p:cNvPr>
          <p:cNvSpPr>
            <a:spLocks noGrp="1"/>
          </p:cNvSpPr>
          <p:nvPr>
            <p:ph type="body" idx="1"/>
          </p:nvPr>
        </p:nvSpPr>
        <p:spPr/>
        <p:txBody>
          <a:bodyPr/>
          <a:lstStyle/>
          <a:p>
            <a:r>
              <a:rPr lang="en-US" dirty="0"/>
              <a:t>There is one trick that makes standalone mode possible. The entire entry file of every module is one line: import bootstrap. </a:t>
            </a:r>
          </a:p>
        </p:txBody>
      </p:sp>
      <p:sp>
        <p:nvSpPr>
          <p:cNvPr id="4" name="Slide Number Placeholder 3">
            <a:extLst>
              <a:ext uri="{FF2B5EF4-FFF2-40B4-BE49-F238E27FC236}">
                <a16:creationId xmlns:a16="http://schemas.microsoft.com/office/drawing/2014/main" id="{B988A9D4-A6F8-268D-8EA4-5DB05D5E7B79}"/>
              </a:ext>
            </a:extLst>
          </p:cNvPr>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91017187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136AC3-6EF3-7107-D76D-63DD64E263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1433DC-A735-7F16-61AA-6F23B022A7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706371-E97C-24F1-680A-BB10D527C906}"/>
              </a:ext>
            </a:extLst>
          </p:cNvPr>
          <p:cNvSpPr>
            <a:spLocks noGrp="1"/>
          </p:cNvSpPr>
          <p:nvPr>
            <p:ph type="body" idx="1"/>
          </p:nvPr>
        </p:nvSpPr>
        <p:spPr/>
        <p:txBody>
          <a:bodyPr/>
          <a:lstStyle/>
          <a:p>
            <a:r>
              <a:rPr lang="en-US" dirty="0"/>
              <a:t>That dynamic import is an async boundary.</a:t>
            </a:r>
          </a:p>
          <a:p>
            <a:r>
              <a:rPr lang="en-US" dirty="0"/>
              <a:t>Module Federation shares React with eager set to false. Shared React has to be negotiated before any React code runs. Import React synchronously in the entry file and you get a white screen and a loadShareSync error.</a:t>
            </a:r>
          </a:p>
          <a:p>
            <a:r>
              <a:rPr lang="en-US" dirty="0"/>
              <a:t>With the bootstrap split, Module Federation finishes the handshake, then bootstrap renders. All five packages use this pattern. Do not remove it.</a:t>
            </a:r>
          </a:p>
        </p:txBody>
      </p:sp>
      <p:sp>
        <p:nvSpPr>
          <p:cNvPr id="4" name="Slide Number Placeholder 3">
            <a:extLst>
              <a:ext uri="{FF2B5EF4-FFF2-40B4-BE49-F238E27FC236}">
                <a16:creationId xmlns:a16="http://schemas.microsoft.com/office/drawing/2014/main" id="{3D4262D7-F1FB-BF43-C3BD-EB90E311C904}"/>
              </a:ext>
            </a:extLst>
          </p:cNvPr>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94457964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Everything else in the </a:t>
            </a:r>
            <a:r>
              <a:rPr lang="en-US" dirty="0" err="1"/>
              <a:t>Rspack</a:t>
            </a:r>
            <a:r>
              <a:rPr lang="en-US" dirty="0"/>
              <a:t> config is a normal bundler config. Entry. Rules. Dev server. Optimization. You would write the same file for a single React app.</a:t>
            </a:r>
          </a:p>
          <a:p>
            <a:r>
              <a:rPr lang="en-US" dirty="0"/>
              <a:t>The one plugin that turns five unrelated apps into a federated architecture is Module Federation Plugin. Three properties do all the work.</a:t>
            </a:r>
          </a:p>
          <a:p>
            <a:r>
              <a:rPr lang="en-US" dirty="0"/>
              <a:t>Exposes lives on remotes. It is the team's public API. Records exposes Medical Records. That is the contract other apps are allowed to import.</a:t>
            </a:r>
          </a:p>
          <a:p>
            <a:r>
              <a:rPr lang="en-US" dirty="0"/>
              <a:t>Remotes lives on the host. It is runtime discovery. A scope name, an at sign, and a URL to remoteEntry.js. The shell does not build Records. It finds Records at runtime on port 3001.</a:t>
            </a:r>
          </a:p>
          <a:p>
            <a:r>
              <a:rPr lang="en-US" dirty="0"/>
              <a:t>Shared lives on both sides. Singleton true means one React for everyone. Remove that, and you get invalid hook call errors, because each remote loads its own React.</a:t>
            </a:r>
          </a:p>
          <a:p>
            <a:r>
              <a:rPr lang="en-US" dirty="0"/>
              <a:t>Remove the plugin and you have five normal, unrelated apps. Add it back and they become a micro-frontend architecture. That is the entire infrastructure story.</a:t>
            </a:r>
          </a:p>
          <a:p>
            <a:endParaRPr lang="en-GB" dirty="0"/>
          </a:p>
        </p:txBody>
      </p:sp>
    </p:spTree>
    <p:extLst>
      <p:ext uri="{BB962C8B-B14F-4D97-AF65-F5344CB8AC3E}">
        <p14:creationId xmlns:p14="http://schemas.microsoft.com/office/powerpoint/2010/main" val="399087048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F27352-62A6-3D30-235F-DEF05E76AD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6BE2BF-F444-EE59-A848-9CDF6B7084B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9170A9-22A8-3819-594D-A62521FD6FE6}"/>
              </a:ext>
            </a:extLst>
          </p:cNvPr>
          <p:cNvSpPr>
            <a:spLocks noGrp="1"/>
          </p:cNvSpPr>
          <p:nvPr>
            <p:ph type="body" idx="1"/>
          </p:nvPr>
        </p:nvSpPr>
        <p:spPr/>
        <p:txBody>
          <a:bodyPr/>
          <a:lstStyle/>
          <a:p>
            <a:r>
              <a:rPr lang="en-US" dirty="0"/>
              <a:t>Everything else in the Rspack config is a normal bundler config. Entry. Rules. Dev server. Optimization. You would write the same file for a single React app.</a:t>
            </a:r>
          </a:p>
          <a:p>
            <a:r>
              <a:rPr lang="en-US" dirty="0"/>
              <a:t>The one plugin that turns five unrelated apps into a federated architecture is Module Federation Plugin. Three properties do all the work.</a:t>
            </a:r>
          </a:p>
          <a:p>
            <a:r>
              <a:rPr lang="en-US" dirty="0"/>
              <a:t>Exposes lives on remotes. It is the team's public API. Records exposes Medical Records. That is the contract other apps are allowed to import.</a:t>
            </a:r>
          </a:p>
        </p:txBody>
      </p:sp>
      <p:sp>
        <p:nvSpPr>
          <p:cNvPr id="4" name="Slide Number Placeholder 3">
            <a:extLst>
              <a:ext uri="{FF2B5EF4-FFF2-40B4-BE49-F238E27FC236}">
                <a16:creationId xmlns:a16="http://schemas.microsoft.com/office/drawing/2014/main" id="{FA70525B-D3B6-E14A-F089-2399DD061F3A}"/>
              </a:ext>
            </a:extLst>
          </p:cNvPr>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9739348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5E2713-F49A-FD71-10C7-47A9752BE3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3EFE41-3650-0E71-3E18-DB581D3F1F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00856A-6BA5-44D9-C6FF-82B3AF58BDA4}"/>
              </a:ext>
            </a:extLst>
          </p:cNvPr>
          <p:cNvSpPr>
            <a:spLocks noGrp="1"/>
          </p:cNvSpPr>
          <p:nvPr>
            <p:ph type="body" idx="1"/>
          </p:nvPr>
        </p:nvSpPr>
        <p:spPr/>
        <p:txBody>
          <a:bodyPr/>
          <a:lstStyle/>
          <a:p>
            <a:r>
              <a:rPr lang="en-US" dirty="0"/>
              <a:t>Remotes lives on the host. It is runtime discovery. A scope name, an at sign, and a URL to remoteEntry.js. The shell does not build Records. It finds Records at runtime on port 3001.</a:t>
            </a:r>
          </a:p>
          <a:p>
            <a:r>
              <a:rPr lang="en-US" dirty="0"/>
              <a:t>Shared lives on both sides. Singleton true means one React for everyone. Remove that, and you get invalid hook call errors, because each remote loads its own React.</a:t>
            </a:r>
          </a:p>
          <a:p>
            <a:r>
              <a:rPr lang="en-US" dirty="0"/>
              <a:t>Remove the plugin and you have five normal, unrelated apps. Add it back and they become a micro-frontend architecture. That is the entire infrastructure story.</a:t>
            </a:r>
          </a:p>
        </p:txBody>
      </p:sp>
      <p:sp>
        <p:nvSpPr>
          <p:cNvPr id="4" name="Slide Number Placeholder 3">
            <a:extLst>
              <a:ext uri="{FF2B5EF4-FFF2-40B4-BE49-F238E27FC236}">
                <a16:creationId xmlns:a16="http://schemas.microsoft.com/office/drawing/2014/main" id="{7A820ED3-3B4A-E649-B627-307736353FA6}"/>
              </a:ext>
            </a:extLst>
          </p:cNvPr>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34322176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a client-side Suspense fallback works inside a federated remote.</a:t>
            </a:r>
          </a:p>
          <a:p>
            <a:r>
              <a:rPr lang="en-US" dirty="0"/>
              <a:t>Create resource takes an async function. It starts the promise immediately. Then it returns an object with one method, named read. Read is synchronous on purpose. If the promise is still pending, read throws that promise. Suspense in the shell catches the throw and shows the skeleton. If it failed, the error boundary catches it. If it succeeded, read returns the result.</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8C6E8F-68F2-7DE6-8A16-F1660960A6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2AB30D-70F0-E61A-5B1F-331B266C56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368599-2723-988B-D373-F40624E3A1CE}"/>
              </a:ext>
            </a:extLst>
          </p:cNvPr>
          <p:cNvSpPr>
            <a:spLocks noGrp="1"/>
          </p:cNvSpPr>
          <p:nvPr>
            <p:ph type="body" idx="1"/>
          </p:nvPr>
        </p:nvSpPr>
        <p:spPr/>
        <p:txBody>
          <a:bodyPr/>
          <a:lstStyle/>
          <a:p>
            <a:r>
              <a:rPr lang="en-US" dirty="0"/>
              <a:t>The streaming wrapper is tiny. Get the cached resource. Call read. Render the real component. The wrapper's only job is to trigger Suspense. The actual UI lives in the standalone component.</a:t>
            </a:r>
          </a:p>
        </p:txBody>
      </p:sp>
      <p:sp>
        <p:nvSpPr>
          <p:cNvPr id="4" name="Slide Number Placeholder 3">
            <a:extLst>
              <a:ext uri="{FF2B5EF4-FFF2-40B4-BE49-F238E27FC236}">
                <a16:creationId xmlns:a16="http://schemas.microsoft.com/office/drawing/2014/main" id="{01FCE381-4F52-4DC6-711F-88510CB09BD6}"/>
              </a:ext>
            </a:extLst>
          </p:cNvPr>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407527477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E7D766-93F4-424B-6020-F4DD1CBDF4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50B8E0-7731-AD9A-DA66-E53B8CC7F0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78FBD5-15B8-7FF6-E848-D324DE6EBF8B}"/>
              </a:ext>
            </a:extLst>
          </p:cNvPr>
          <p:cNvSpPr>
            <a:spLocks noGrp="1"/>
          </p:cNvSpPr>
          <p:nvPr>
            <p:ph type="body" idx="1"/>
          </p:nvPr>
        </p:nvSpPr>
        <p:spPr/>
        <p:txBody>
          <a:bodyPr/>
          <a:lstStyle/>
          <a:p>
            <a:r>
              <a:rPr lang="en-US" dirty="0"/>
              <a:t>This demo delays a client-side promise so you can see the skeleton on stage. Prescriptions waits two and a half seconds. Analytics waits four. That is not streaming server-side rendering. It is a teaching device. In production you pair this with a Suspense-compatible cached data layer. React 19's use hook can read that promise the same way.</a:t>
            </a:r>
          </a:p>
          <a:p>
            <a:r>
              <a:rPr lang="en-US" dirty="0"/>
              <a:t>The cache matters. The resource is created once, outside render. Create a new promise on every render, and Suspense will loop forever.</a:t>
            </a:r>
          </a:p>
        </p:txBody>
      </p:sp>
      <p:sp>
        <p:nvSpPr>
          <p:cNvPr id="4" name="Slide Number Placeholder 3">
            <a:extLst>
              <a:ext uri="{FF2B5EF4-FFF2-40B4-BE49-F238E27FC236}">
                <a16:creationId xmlns:a16="http://schemas.microsoft.com/office/drawing/2014/main" id="{8CE50C26-15D5-625B-2507-BA71CF89893E}"/>
              </a:ext>
            </a:extLst>
          </p:cNvPr>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61614716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shell is where the three loading strategies live, in one file.</a:t>
            </a:r>
          </a:p>
          <a:p>
            <a:r>
              <a:rPr lang="en-US" dirty="0"/>
              <a:t>Home is instant. A lazy import of Home. No streaming delay. When the chunk arrives, it renders.</a:t>
            </a:r>
          </a:p>
          <a:p>
            <a:r>
              <a:rPr lang="en-US" dirty="0"/>
              <a:t>Records is eager. A lazy import of the standalone component. At shell init we fire that import and warm the cache. When the user clicks Records, lazy resolves from cache. No skeleton. No delay.</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Prescriptions and Analytics are streamed. They load on demand, behind per-module skeletons.</a:t>
            </a:r>
          </a:p>
          <a:p>
            <a:r>
              <a:rPr lang="en-US" dirty="0"/>
              <a:t>Every strategy still gets three layers of resilience. A catch on lazy, so an unreachable remote becomes a fallback instead of a white screen. Suspense, so a loading remote shows its own skeleton. An error boundary, so a runtime crash in one remote does not take down the app.</a:t>
            </a:r>
          </a:p>
          <a:p>
            <a:endParaRPr lang="en-GB" dirty="0"/>
          </a:p>
        </p:txBody>
      </p:sp>
    </p:spTree>
    <p:extLst>
      <p:ext uri="{BB962C8B-B14F-4D97-AF65-F5344CB8AC3E}">
        <p14:creationId xmlns:p14="http://schemas.microsoft.com/office/powerpoint/2010/main" val="404077764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People ask why we wrap eager modules in </a:t>
            </a:r>
            <a:r>
              <a:rPr lang="en-US" sz="1200" kern="1200" dirty="0">
                <a:solidFill>
                  <a:schemeClr val="tx1"/>
                </a:solidFill>
                <a:latin typeface="+mn-lt"/>
                <a:ea typeface="+mn-ea"/>
                <a:cs typeface="+mn-cs"/>
              </a:rPr>
              <a:t>lazy()</a:t>
            </a:r>
            <a:r>
              <a:rPr lang="en-US" dirty="0"/>
              <a:t>. It's not that static imports are impossible — they work, because </a:t>
            </a:r>
            <a:r>
              <a:rPr lang="en-US" sz="1200" kern="1200" dirty="0" err="1">
                <a:solidFill>
                  <a:schemeClr val="tx1"/>
                </a:solidFill>
                <a:latin typeface="+mn-lt"/>
                <a:ea typeface="+mn-ea"/>
                <a:cs typeface="+mn-cs"/>
              </a:rPr>
              <a:t>index.tsx</a:t>
            </a:r>
            <a:r>
              <a:rPr lang="en-US" dirty="0" err="1"/>
              <a:t>'s</a:t>
            </a:r>
            <a:r>
              <a:rPr lang="en-US" dirty="0"/>
              <a:t> dynamic import already resolved the shared scope. It's that a static import makes the remote block first paint, and leaves nowhere to catch a failed remote. So we fire </a:t>
            </a:r>
            <a:r>
              <a:rPr lang="en-US" sz="1200" kern="1200" dirty="0">
                <a:solidFill>
                  <a:schemeClr val="tx1"/>
                </a:solidFill>
                <a:latin typeface="+mn-lt"/>
                <a:ea typeface="+mn-ea"/>
                <a:cs typeface="+mn-cs"/>
              </a:rPr>
              <a:t>import()</a:t>
            </a:r>
            <a:r>
              <a:rPr lang="en-US" dirty="0"/>
              <a:t> at shell </a:t>
            </a:r>
            <a:r>
              <a:rPr lang="en-US" dirty="0" err="1"/>
              <a:t>init</a:t>
            </a:r>
            <a:r>
              <a:rPr lang="en-US" dirty="0"/>
              <a:t> to warm it, and </a:t>
            </a:r>
            <a:r>
              <a:rPr lang="en-US" sz="1200" kern="1200" dirty="0">
                <a:solidFill>
                  <a:schemeClr val="tx1"/>
                </a:solidFill>
                <a:latin typeface="+mn-lt"/>
                <a:ea typeface="+mn-ea"/>
                <a:cs typeface="+mn-cs"/>
              </a:rPr>
              <a:t>lazy()</a:t>
            </a:r>
            <a:r>
              <a:rPr lang="en-US" dirty="0"/>
              <a:t> resolves from the module registry instantly — while keeping the Suspense and </a:t>
            </a:r>
            <a:r>
              <a:rPr lang="en-US" dirty="0" err="1"/>
              <a:t>ErrorBoundary</a:t>
            </a:r>
            <a:r>
              <a:rPr lang="en-US" dirty="0"/>
              <a:t> per module.</a:t>
            </a:r>
          </a:p>
          <a:p>
            <a:endParaRPr lang="en-GB" dirty="0"/>
          </a:p>
        </p:txBody>
      </p:sp>
    </p:spTree>
    <p:extLst>
      <p:ext uri="{BB962C8B-B14F-4D97-AF65-F5344CB8AC3E}">
        <p14:creationId xmlns:p14="http://schemas.microsoft.com/office/powerpoint/2010/main" val="231685149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shell header exposes three buttons. Settings, Commands, and Lab. They are how I will run the live demo without hunting for UI.</a:t>
            </a:r>
          </a:p>
          <a:p>
            <a:r>
              <a:rPr lang="en-US" dirty="0"/>
              <a:t>Settings is a drawer. Dark or light. The shell rewrites CSS variables on the root, persists the choice to local storage, and dispatches a typed theme-change event. Every remote reacts. No shared imports. No prop drilling.</a:t>
            </a:r>
          </a:p>
          <a:p>
            <a:r>
              <a:rPr lang="en-US" dirty="0"/>
              <a:t>Commands is a Control K palette. Type kill records, or canary, or dark, and the list filters in real time. Navigation, theme, kill switches, and deployment rings are all keyboard actions.</a:t>
            </a:r>
          </a:p>
          <a:p>
            <a:r>
              <a:rPr lang="en-US" dirty="0"/>
              <a:t>Lab is the Federation Lab. Four remotes. </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A health monitor that polls remoteEntry.js every five seconds. Kill switches. An A/B deployment ring. That panel is for the demo. I can take a module down in front of you and show you that the rest of the app keeps running. Basically we are going to simulate </a:t>
            </a:r>
            <a:r>
              <a:rPr lang="en-US" sz="1200" i="1" dirty="0">
                <a:solidFill>
                  <a:schemeClr val="bg1">
                    <a:lumMod val="95000"/>
                  </a:schemeClr>
                </a:solidFill>
                <a:latin typeface="Instrument Serif" pitchFamily="34" charset="0"/>
                <a:ea typeface="Instrument Serif" pitchFamily="34" charset="-122"/>
              </a:rPr>
              <a:t>m</a:t>
            </a:r>
            <a:r>
              <a:rPr lang="en-US" sz="1200" i="1" dirty="0">
                <a:solidFill>
                  <a:schemeClr val="bg1">
                    <a:lumMod val="95000"/>
                  </a:schemeClr>
                </a:solidFill>
                <a:latin typeface="Instrument Serif" pitchFamily="34" charset="0"/>
                <a:ea typeface="Instrument Serif" pitchFamily="34" charset="-122"/>
                <a:cs typeface="Instrument Serif" pitchFamily="34" charset="-120"/>
              </a:rPr>
              <a:t>odule-level crashes, network failures, and bad deploys are isolated at the boundary. </a:t>
            </a:r>
            <a:endParaRPr lang="en-US" dirty="0"/>
          </a:p>
        </p:txBody>
      </p:sp>
    </p:spTree>
    <p:extLst>
      <p:ext uri="{BB962C8B-B14F-4D97-AF65-F5344CB8AC3E}">
        <p14:creationId xmlns:p14="http://schemas.microsoft.com/office/powerpoint/2010/main" val="359950487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7A1912-E24A-9E27-C788-ACFFD48D3E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3AF508-8758-6268-6306-0D9856C0AD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91F613F-4A57-0D3E-5FB0-6CFA8E8992DE}"/>
              </a:ext>
            </a:extLst>
          </p:cNvPr>
          <p:cNvSpPr>
            <a:spLocks noGrp="1"/>
          </p:cNvSpPr>
          <p:nvPr>
            <p:ph type="body" idx="1"/>
          </p:nvPr>
        </p:nvSpPr>
        <p:spPr/>
        <p:txBody>
          <a:bodyPr/>
          <a:lstStyle/>
          <a:p>
            <a:r>
              <a:rPr lang="en-US" dirty="0"/>
              <a:t>That is the cost of a shared runtime. Iframes would give you process-level isolation, and they would break shared React context, theming, and routing. </a:t>
            </a:r>
          </a:p>
        </p:txBody>
      </p:sp>
      <p:sp>
        <p:nvSpPr>
          <p:cNvPr id="4" name="Slide Number Placeholder 3">
            <a:extLst>
              <a:ext uri="{FF2B5EF4-FFF2-40B4-BE49-F238E27FC236}">
                <a16:creationId xmlns:a16="http://schemas.microsoft.com/office/drawing/2014/main" id="{2DB2F394-5D10-D8EE-7474-5EEF70B2FC3E}"/>
              </a:ext>
            </a:extLst>
          </p:cNvPr>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78248988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2CE6E-03C9-D1D6-1D33-3F050B10A1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CAAEB6-440A-A57B-CD63-A754855FE2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6BB98E-6CAC-F776-C2BE-DACC5779010F}"/>
              </a:ext>
            </a:extLst>
          </p:cNvPr>
          <p:cNvSpPr>
            <a:spLocks noGrp="1"/>
          </p:cNvSpPr>
          <p:nvPr>
            <p:ph type="body" idx="1"/>
          </p:nvPr>
        </p:nvSpPr>
        <p:spPr/>
        <p:txBody>
          <a:bodyPr/>
          <a:lstStyle/>
          <a:p>
            <a:r>
              <a:rPr lang="en-US" dirty="0"/>
              <a:t>Most Module Federation setups accept the tradeoff.</a:t>
            </a:r>
          </a:p>
          <a:p>
            <a:r>
              <a:rPr lang="en-US" dirty="0"/>
              <a:t>When we get to the Lab, I will kill Records live. Prescriptions and Analytics will keep working. That is the proof.</a:t>
            </a:r>
          </a:p>
        </p:txBody>
      </p:sp>
      <p:sp>
        <p:nvSpPr>
          <p:cNvPr id="4" name="Slide Number Placeholder 3">
            <a:extLst>
              <a:ext uri="{FF2B5EF4-FFF2-40B4-BE49-F238E27FC236}">
                <a16:creationId xmlns:a16="http://schemas.microsoft.com/office/drawing/2014/main" id="{F8E5A6AA-E95C-FBC9-44A1-A3F9E8CEC77D}"/>
              </a:ext>
            </a:extLst>
          </p:cNvPr>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333571810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Records talks to Prescriptions. How, if Records has never imported a line from Prescriptions? Events. Not a shared Redux store. Not a shared npm package. A typed custom event on window.</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0DFE8B-97DB-D0BA-766B-B3EFA9A10B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18322A-E0B5-3857-3675-136EAC9592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D6C5C9-E7A5-DAAB-BF9F-4836EA2881D8}"/>
              </a:ext>
            </a:extLst>
          </p:cNvPr>
          <p:cNvSpPr>
            <a:spLocks noGrp="1"/>
          </p:cNvSpPr>
          <p:nvPr>
            <p:ph type="body" idx="1"/>
          </p:nvPr>
        </p:nvSpPr>
        <p:spPr/>
        <p:txBody>
          <a:bodyPr/>
          <a:lstStyle/>
          <a:p>
            <a:r>
              <a:rPr lang="en-US" dirty="0"/>
              <a:t>Records dispatches addPrescription with an id, a name, a price, and a quantity. Prescriptions listens, updates its own state, and never imports Records. Records also dispatches showNotification, and the shell shows a toast. Prescriptions can dispatch navigateToModule. The shell is still the only owner of the router. A remote may ask to navigate. It may not mutate the route itself.</a:t>
            </a:r>
          </a:p>
        </p:txBody>
      </p:sp>
      <p:sp>
        <p:nvSpPr>
          <p:cNvPr id="4" name="Slide Number Placeholder 3">
            <a:extLst>
              <a:ext uri="{FF2B5EF4-FFF2-40B4-BE49-F238E27FC236}">
                <a16:creationId xmlns:a16="http://schemas.microsoft.com/office/drawing/2014/main" id="{F485BAE6-6536-F140-F006-C93FF92ADB6D}"/>
              </a:ext>
            </a:extLst>
          </p:cNvPr>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385207417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Why events instead of a shared store? A shared store is a shared dependency. Version coupling between teams. Events survive independent deploys. They even survive framework diversity. A Vue remote and a React remote can talk through the same window contract.</a:t>
            </a:r>
          </a:p>
          <a:p>
            <a:r>
              <a:rPr lang="en-US" dirty="0"/>
              <a:t>The payload is still a versioned contract. Keep it backward compatible. Each remote defines the same event shapes in its own types file by augmenting </a:t>
            </a:r>
            <a:r>
              <a:rPr lang="en-US" dirty="0" err="1"/>
              <a:t>WindowEventMap</a:t>
            </a:r>
            <a:r>
              <a:rPr lang="en-US" dirty="0"/>
              <a:t>. No shared package is required. </a:t>
            </a:r>
            <a:r>
              <a:rPr lang="en-US" dirty="0" err="1"/>
              <a:t>addEventListener</a:t>
            </a:r>
            <a:r>
              <a:rPr lang="en-US" dirty="0"/>
              <a:t> is fully typed.</a:t>
            </a:r>
          </a:p>
          <a:p>
            <a:endParaRPr lang="en-GB" dirty="0"/>
          </a:p>
        </p:txBody>
      </p:sp>
    </p:spTree>
    <p:extLst>
      <p:ext uri="{BB962C8B-B14F-4D97-AF65-F5344CB8AC3E}">
        <p14:creationId xmlns:p14="http://schemas.microsoft.com/office/powerpoint/2010/main" val="397485614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Each app owns its own store and its own query client — nothing is shared. For client state they agree on a typed event contract, and whoever owns the state is the one who broadcasts: the shell owns theme and routing, so it broadcasts those; the counter belongs to nobody, so any module can. For server state there's no syncing at all — every app just fetches, because the API is already the shared state.</a:t>
            </a:r>
            <a:endParaRPr lang="en-GB" dirty="0"/>
          </a:p>
        </p:txBody>
      </p:sp>
    </p:spTree>
    <p:extLst>
      <p:ext uri="{BB962C8B-B14F-4D97-AF65-F5344CB8AC3E}">
        <p14:creationId xmlns:p14="http://schemas.microsoft.com/office/powerpoint/2010/main" val="98312696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Theming is a cross-cutting concern, and the shell owns it.</a:t>
            </a:r>
          </a:p>
          <a:p>
            <a:r>
              <a:rPr lang="en-US" dirty="0"/>
              <a:t>The shell persists the choice to local storage. It applies CSS variables to the document element. It exposes a small bridge on window so a remote can read or set the theme without importing host code. And it broadcasts a theme-change event.</a:t>
            </a:r>
          </a:p>
          <a:p>
            <a:endParaRPr lang="en-GB" dirty="0"/>
          </a:p>
        </p:txBody>
      </p:sp>
    </p:spTree>
    <p:extLst>
      <p:ext uri="{BB962C8B-B14F-4D97-AF65-F5344CB8AC3E}">
        <p14:creationId xmlns:p14="http://schemas.microsoft.com/office/powerpoint/2010/main" val="272897247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3CAA7-9985-05A8-54F2-CCF3F6B12B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941509-2BEA-EF7A-F3FB-001DE8FC86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8E4D37-CD85-804A-C20E-AD8765FFB94D}"/>
              </a:ext>
            </a:extLst>
          </p:cNvPr>
          <p:cNvSpPr>
            <a:spLocks noGrp="1"/>
          </p:cNvSpPr>
          <p:nvPr>
            <p:ph type="body" idx="1"/>
          </p:nvPr>
        </p:nvSpPr>
        <p:spPr/>
        <p:txBody>
          <a:bodyPr/>
          <a:lstStyle/>
          <a:p>
            <a:r>
              <a:rPr lang="en-US" dirty="0"/>
              <a:t>Every remote has a useActiveTheme hook. It tries the host bridge first, falls back to local storage, and defaults to dark. Then it listens for theme-change and updates. Remotes style with Tailwind classes that point at those CSS variables. When the shell rewrites the variables, every remote repaints. No shared CSS build step.</a:t>
            </a:r>
          </a:p>
          <a:p>
            <a:r>
              <a:rPr lang="en-US" dirty="0"/>
              <a:t>Two palettes. Dark is editorial noir. Light is clean white.</a:t>
            </a:r>
          </a:p>
        </p:txBody>
      </p:sp>
      <p:sp>
        <p:nvSpPr>
          <p:cNvPr id="4" name="Slide Number Placeholder 3">
            <a:extLst>
              <a:ext uri="{FF2B5EF4-FFF2-40B4-BE49-F238E27FC236}">
                <a16:creationId xmlns:a16="http://schemas.microsoft.com/office/drawing/2014/main" id="{FFCE2B23-CA02-7023-FC3C-A6851775B8B1}"/>
              </a:ext>
            </a:extLst>
          </p:cNvPr>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55998286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layers of preloading. Eager on mount. Hover on demand.</a:t>
            </a:r>
          </a:p>
          <a:p>
            <a:r>
              <a:rPr lang="en-US" dirty="0"/>
              <a:t>There is a prefetchers map. One function per module. Each function is a bare import of that remote. At shell init, we fire the ones marked eager. Records starts loading before the user has clicked anything.</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For the rest, the nav link fires on mouse enter. When the cursor touches Prescriptions or Analytics, the chunk starts fetching in the background. Click, and it is often already cached.</a:t>
            </a:r>
          </a:p>
          <a:p>
            <a:r>
              <a:rPr lang="en-US" dirty="0"/>
              <a:t>Instant means the landing page fetches lazily, with no streaming delay. Eager means preloaded the moment the shell mounts. Hover means prefetched when the user aims at a tab. That is why Records feels instant even though it is a separate app on a separate server. The work happened at mount.</a:t>
            </a:r>
          </a:p>
          <a:p>
            <a:endParaRPr lang="en-GB" dirty="0"/>
          </a:p>
        </p:txBody>
      </p:sp>
    </p:spTree>
    <p:extLst>
      <p:ext uri="{BB962C8B-B14F-4D97-AF65-F5344CB8AC3E}">
        <p14:creationId xmlns:p14="http://schemas.microsoft.com/office/powerpoint/2010/main" val="220238253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Seven things to take with you.</a:t>
            </a:r>
          </a:p>
          <a:p>
            <a:r>
              <a:rPr lang="en-US" dirty="0"/>
              <a:t>One. Micro-frontends solve a people problem. Adopt this when your team is growing and the monolith cannot keep up. Independent modules let independent teams ship without blocking each other. Team size is the signal, not bundle size.</a:t>
            </a:r>
          </a:p>
          <a:p>
            <a:r>
              <a:rPr lang="en-US" dirty="0"/>
              <a:t>Two. Suspense fallbacks cover load UX. Module Federation covers team DX. You want both. This demo runs both together.</a:t>
            </a:r>
          </a:p>
          <a:p>
            <a:r>
              <a:rPr lang="en-US" dirty="0"/>
              <a:t>Three. Prefer events over shared state. A custom event on window gives you decoupled communication that survives independent deploys. Keep the payload backward compatible.</a:t>
            </a:r>
          </a:p>
          <a:p>
            <a:r>
              <a:rPr lang="en-US" dirty="0"/>
              <a:t>Four. The host owns routing. Remotes can ask for navigation with </a:t>
            </a:r>
            <a:r>
              <a:rPr lang="en-US" dirty="0" err="1"/>
              <a:t>navigateToModule</a:t>
            </a:r>
            <a:r>
              <a:rPr lang="en-US" dirty="0"/>
              <a:t>. Only the shell mutates router state.</a:t>
            </a:r>
          </a:p>
          <a:p>
            <a:r>
              <a:rPr lang="en-US" dirty="0"/>
              <a:t>Five. Ship fault isolation on purpose. A catch on every lazy import, plus an error boundary per module, keeps one broken remote from taking down the app.</a:t>
            </a:r>
          </a:p>
          <a:p>
            <a:r>
              <a:rPr lang="en-US" dirty="0"/>
              <a:t>Six. </a:t>
            </a:r>
            <a:r>
              <a:rPr lang="en-US" dirty="0" err="1"/>
              <a:t>Rspack</a:t>
            </a:r>
            <a:r>
              <a:rPr lang="en-US" dirty="0"/>
              <a:t> keeps the </a:t>
            </a:r>
            <a:r>
              <a:rPr lang="en-US" dirty="0" err="1"/>
              <a:t>monorepo</a:t>
            </a:r>
            <a:r>
              <a:rPr lang="en-US" dirty="0"/>
              <a:t> fast. Sub-second hot reload across four applications. Module Federation is built in. </a:t>
            </a:r>
            <a:r>
              <a:rPr lang="en-US" dirty="0" err="1"/>
              <a:t>Rspack</a:t>
            </a:r>
            <a:r>
              <a:rPr lang="en-US" dirty="0"/>
              <a:t> 2.1 ships the Rust React Compiler, and persistent caching for faster builds and faster restarts.</a:t>
            </a:r>
          </a:p>
          <a:p>
            <a:r>
              <a:rPr lang="en-US" dirty="0"/>
              <a:t>Seven. Match load strategy to content priority. Instant for the landing page. Eager for high-value content. Streamed for secondary modules, with skeletons. Do not load every remote the same way.</a:t>
            </a:r>
          </a:p>
          <a:p>
            <a:endParaRPr lang="en-GB" dirty="0"/>
          </a:p>
        </p:txBody>
      </p:sp>
    </p:spTree>
    <p:extLst>
      <p:ext uri="{BB962C8B-B14F-4D97-AF65-F5344CB8AC3E}">
        <p14:creationId xmlns:p14="http://schemas.microsoft.com/office/powerpoint/2010/main" val="69383059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GB" dirty="0"/>
          </a:p>
        </p:txBody>
      </p:sp>
    </p:spTree>
    <p:extLst>
      <p:ext uri="{BB962C8B-B14F-4D97-AF65-F5344CB8AC3E}">
        <p14:creationId xmlns:p14="http://schemas.microsoft.com/office/powerpoint/2010/main" val="92260785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a:p>
        </p:txBody>
      </p:sp>
    </p:spTree>
    <p:extLst>
      <p:ext uri="{BB962C8B-B14F-4D97-AF65-F5344CB8AC3E}">
        <p14:creationId xmlns:p14="http://schemas.microsoft.com/office/powerpoint/2010/main" val="322369141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8/30/2026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33988762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B7053B5D-29EA-AE09-763F-669E2CB6A66B}"/>
              </a:ext>
            </a:extLst>
          </p:cNvPr>
          <p:cNvSpPr/>
          <p:nvPr/>
        </p:nvSpPr>
        <p:spPr>
          <a:xfrm>
            <a:off x="548640" y="0"/>
            <a:ext cx="11064240" cy="4184073"/>
          </a:xfrm>
          <a:prstGeom prst="rect">
            <a:avLst/>
          </a:prstGeom>
          <a:noFill/>
          <a:ln/>
        </p:spPr>
        <p:txBody>
          <a:bodyPr wrap="square" rtlCol="0" anchor="ctr"/>
          <a:lstStyle/>
          <a:p>
            <a:r>
              <a:rPr lang="en-US" sz="6600" dirty="0">
                <a:solidFill>
                  <a:schemeClr val="tx1">
                    <a:lumMod val="95000"/>
                    <a:lumOff val="5000"/>
                  </a:schemeClr>
                </a:solidFill>
                <a:latin typeface="Instrument Serif" pitchFamily="34" charset="0"/>
                <a:ea typeface="Instrument Serif" pitchFamily="34" charset="-122"/>
                <a:cs typeface="Instrument Serif" pitchFamily="34" charset="-120"/>
              </a:rPr>
              <a:t>Streaming Micro-Frontends: React 19 Meets Module Federation</a:t>
            </a:r>
            <a:endParaRPr lang="en-US" sz="6600" dirty="0">
              <a:solidFill>
                <a:schemeClr val="tx1">
                  <a:lumMod val="95000"/>
                  <a:lumOff val="5000"/>
                </a:schemeClr>
              </a:solidFill>
            </a:endParaRPr>
          </a:p>
        </p:txBody>
      </p:sp>
      <p:sp>
        <p:nvSpPr>
          <p:cNvPr id="5" name="Text 5">
            <a:extLst>
              <a:ext uri="{FF2B5EF4-FFF2-40B4-BE49-F238E27FC236}">
                <a16:creationId xmlns:a16="http://schemas.microsoft.com/office/drawing/2014/main" id="{20F4622D-BBA0-5770-FF0A-7D2BEDE063C9}"/>
              </a:ext>
            </a:extLst>
          </p:cNvPr>
          <p:cNvSpPr/>
          <p:nvPr/>
        </p:nvSpPr>
        <p:spPr>
          <a:xfrm>
            <a:off x="640080" y="5486400"/>
            <a:ext cx="10972800" cy="1001486"/>
          </a:xfrm>
          <a:prstGeom prst="rect">
            <a:avLst/>
          </a:prstGeom>
          <a:noFill/>
          <a:ln/>
        </p:spPr>
        <p:txBody>
          <a:bodyPr wrap="square" rtlCol="0" anchor="ctr"/>
          <a:lstStyle/>
          <a:p>
            <a:pPr marL="0" indent="0">
              <a:lnSpc>
                <a:spcPct val="150000"/>
              </a:lnSpc>
              <a:buNone/>
            </a:pPr>
            <a:r>
              <a:rPr lang="en-US" sz="2800" kern="0" spc="200" dirty="0">
                <a:solidFill>
                  <a:schemeClr val="tx1">
                    <a:lumMod val="95000"/>
                    <a:lumOff val="5000"/>
                  </a:schemeClr>
                </a:solidFill>
                <a:latin typeface="IBM Plex Mono" pitchFamily="34" charset="0"/>
                <a:ea typeface="IBM Plex Mono" pitchFamily="34" charset="-122"/>
                <a:cs typeface="IBM Plex Mono" pitchFamily="34" charset="-120"/>
              </a:rPr>
              <a:t>@DevlinDuldulao</a:t>
            </a:r>
          </a:p>
          <a:p>
            <a:pPr marL="0" indent="0">
              <a:lnSpc>
                <a:spcPct val="150000"/>
              </a:lnSpc>
              <a:buNone/>
            </a:pPr>
            <a:r>
              <a:rPr lang="en-US" sz="2800" kern="0" spc="200" dirty="0">
                <a:solidFill>
                  <a:schemeClr val="tx1">
                    <a:lumMod val="95000"/>
                    <a:lumOff val="5000"/>
                  </a:schemeClr>
                </a:solidFill>
                <a:latin typeface="IBM Plex Mono" pitchFamily="34" charset="0"/>
                <a:ea typeface="IBM Plex Mono" pitchFamily="34" charset="-122"/>
                <a:cs typeface="IBM Plex Mono" pitchFamily="34" charset="-120"/>
              </a:rPr>
              <a:t>Senior consultant at SoftwareOne Norway</a:t>
            </a:r>
          </a:p>
        </p:txBody>
      </p:sp>
    </p:spTree>
    <p:extLst>
      <p:ext uri="{BB962C8B-B14F-4D97-AF65-F5344CB8AC3E}">
        <p14:creationId xmlns:p14="http://schemas.microsoft.com/office/powerpoint/2010/main" val="1762370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FB71C00-2A0F-52B9-7571-DF6FB0B264F7}"/>
              </a:ext>
            </a:extLst>
          </p:cNvPr>
          <p:cNvPicPr>
            <a:picLocks noChangeAspect="1"/>
          </p:cNvPicPr>
          <p:nvPr/>
        </p:nvPicPr>
        <p:blipFill>
          <a:blip r:embed="rId3"/>
          <a:stretch>
            <a:fillRect/>
          </a:stretch>
        </p:blipFill>
        <p:spPr>
          <a:xfrm>
            <a:off x="1651" y="0"/>
            <a:ext cx="12185522" cy="6858000"/>
          </a:xfrm>
          <a:prstGeom prst="rect">
            <a:avLst/>
          </a:prstGeom>
        </p:spPr>
      </p:pic>
    </p:spTree>
    <p:extLst>
      <p:ext uri="{BB962C8B-B14F-4D97-AF65-F5344CB8AC3E}">
        <p14:creationId xmlns:p14="http://schemas.microsoft.com/office/powerpoint/2010/main" val="12997504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B9A376A-3636-76E5-D24F-AF8C7DF7CA35}"/>
              </a:ext>
            </a:extLst>
          </p:cNvPr>
          <p:cNvPicPr>
            <a:picLocks noChangeAspect="1"/>
          </p:cNvPicPr>
          <p:nvPr/>
        </p:nvPicPr>
        <p:blipFill>
          <a:blip r:embed="rId3"/>
          <a:stretch>
            <a:fillRect/>
          </a:stretch>
        </p:blipFill>
        <p:spPr>
          <a:xfrm>
            <a:off x="47418" y="30185"/>
            <a:ext cx="12093988" cy="6797629"/>
          </a:xfrm>
          <a:prstGeom prst="rect">
            <a:avLst/>
          </a:prstGeom>
        </p:spPr>
      </p:pic>
      <p:pic>
        <p:nvPicPr>
          <p:cNvPr id="5" name="Picture 4">
            <a:extLst>
              <a:ext uri="{FF2B5EF4-FFF2-40B4-BE49-F238E27FC236}">
                <a16:creationId xmlns:a16="http://schemas.microsoft.com/office/drawing/2014/main" id="{538E6DFA-D017-C2D3-DD79-3073AC4B07D2}"/>
              </a:ext>
            </a:extLst>
          </p:cNvPr>
          <p:cNvPicPr>
            <a:picLocks noChangeAspect="1"/>
          </p:cNvPicPr>
          <p:nvPr/>
        </p:nvPicPr>
        <p:blipFill>
          <a:blip r:embed="rId4"/>
          <a:stretch>
            <a:fillRect/>
          </a:stretch>
        </p:blipFill>
        <p:spPr>
          <a:xfrm>
            <a:off x="7431314" y="4198348"/>
            <a:ext cx="4372594" cy="2629466"/>
          </a:xfrm>
          <a:prstGeom prst="rect">
            <a:avLst/>
          </a:prstGeom>
        </p:spPr>
      </p:pic>
    </p:spTree>
    <p:extLst>
      <p:ext uri="{BB962C8B-B14F-4D97-AF65-F5344CB8AC3E}">
        <p14:creationId xmlns:p14="http://schemas.microsoft.com/office/powerpoint/2010/main" val="10700079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6E014679-5AD2-B7E1-FFC9-B9A93814AA10}"/>
              </a:ext>
            </a:extLst>
          </p:cNvPr>
          <p:cNvSpPr txBox="1"/>
          <p:nvPr/>
        </p:nvSpPr>
        <p:spPr>
          <a:xfrm>
            <a:off x="3748972" y="2782669"/>
            <a:ext cx="5713167" cy="707886"/>
          </a:xfrm>
          <a:prstGeom prst="rect">
            <a:avLst/>
          </a:prstGeom>
          <a:noFill/>
        </p:spPr>
        <p:txBody>
          <a:bodyPr wrap="none" rtlCol="0">
            <a:spAutoFit/>
          </a:bodyPr>
          <a:lstStyle/>
          <a:p>
            <a:pPr algn="ctr"/>
            <a:r>
              <a:rPr lang="en-US" sz="4000" dirty="0"/>
              <a:t>What are we solving here?</a:t>
            </a:r>
            <a:endParaRPr lang="en-GB" sz="4000" dirty="0"/>
          </a:p>
        </p:txBody>
      </p:sp>
    </p:spTree>
    <p:extLst>
      <p:ext uri="{BB962C8B-B14F-4D97-AF65-F5344CB8AC3E}">
        <p14:creationId xmlns:p14="http://schemas.microsoft.com/office/powerpoint/2010/main" val="6832043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2C1F190-E834-235E-DD1A-000447BDF89A}"/>
              </a:ext>
            </a:extLst>
          </p:cNvPr>
          <p:cNvSpPr txBox="1"/>
          <p:nvPr/>
        </p:nvSpPr>
        <p:spPr>
          <a:xfrm>
            <a:off x="522514" y="391886"/>
            <a:ext cx="9118074" cy="646331"/>
          </a:xfrm>
          <a:prstGeom prst="rect">
            <a:avLst/>
          </a:prstGeom>
          <a:noFill/>
        </p:spPr>
        <p:txBody>
          <a:bodyPr wrap="none" rtlCol="0">
            <a:spAutoFit/>
          </a:bodyPr>
          <a:lstStyle/>
          <a:p>
            <a:r>
              <a:rPr lang="en-US" sz="3600" dirty="0"/>
              <a:t>Independent deploys, and a smaller blast radius</a:t>
            </a:r>
            <a:endParaRPr lang="en-GB" sz="3600" dirty="0"/>
          </a:p>
        </p:txBody>
      </p:sp>
    </p:spTree>
    <p:extLst>
      <p:ext uri="{BB962C8B-B14F-4D97-AF65-F5344CB8AC3E}">
        <p14:creationId xmlns:p14="http://schemas.microsoft.com/office/powerpoint/2010/main" val="14011853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704CADF-316C-61D9-61BD-A1F136C01873}"/>
              </a:ext>
            </a:extLst>
          </p:cNvPr>
          <p:cNvPicPr>
            <a:picLocks noChangeAspect="1"/>
          </p:cNvPicPr>
          <p:nvPr/>
        </p:nvPicPr>
        <p:blipFill>
          <a:blip r:embed="rId3"/>
          <a:stretch>
            <a:fillRect/>
          </a:stretch>
        </p:blipFill>
        <p:spPr>
          <a:xfrm>
            <a:off x="819028" y="0"/>
            <a:ext cx="10550769" cy="6858000"/>
          </a:xfrm>
          <a:prstGeom prst="rect">
            <a:avLst/>
          </a:prstGeom>
        </p:spPr>
      </p:pic>
    </p:spTree>
    <p:extLst>
      <p:ext uri="{BB962C8B-B14F-4D97-AF65-F5344CB8AC3E}">
        <p14:creationId xmlns:p14="http://schemas.microsoft.com/office/powerpoint/2010/main" val="9770059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FCDCF2-6C93-ECFA-136A-D291D018D0B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2F6432A-EC7A-50D9-539A-ECCE5FD7C886}"/>
              </a:ext>
            </a:extLst>
          </p:cNvPr>
          <p:cNvSpPr txBox="1"/>
          <p:nvPr/>
        </p:nvSpPr>
        <p:spPr>
          <a:xfrm>
            <a:off x="522514" y="391886"/>
            <a:ext cx="8292014" cy="646331"/>
          </a:xfrm>
          <a:prstGeom prst="rect">
            <a:avLst/>
          </a:prstGeom>
          <a:noFill/>
        </p:spPr>
        <p:txBody>
          <a:bodyPr wrap="none" rtlCol="0">
            <a:spAutoFit/>
          </a:bodyPr>
          <a:lstStyle/>
          <a:p>
            <a:r>
              <a:rPr lang="en-US" sz="3600" dirty="0"/>
              <a:t>Ownership becomes structural, not cultural</a:t>
            </a:r>
            <a:endParaRPr lang="en-GB" sz="3600" dirty="0"/>
          </a:p>
        </p:txBody>
      </p:sp>
    </p:spTree>
    <p:extLst>
      <p:ext uri="{BB962C8B-B14F-4D97-AF65-F5344CB8AC3E}">
        <p14:creationId xmlns:p14="http://schemas.microsoft.com/office/powerpoint/2010/main" val="10636551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99CAB62-D9FA-E52A-A2DB-1DB5AC024453}"/>
              </a:ext>
            </a:extLst>
          </p:cNvPr>
          <p:cNvPicPr>
            <a:picLocks noChangeAspect="1"/>
          </p:cNvPicPr>
          <p:nvPr/>
        </p:nvPicPr>
        <p:blipFill>
          <a:blip r:embed="rId3"/>
          <a:stretch>
            <a:fillRect/>
          </a:stretch>
        </p:blipFill>
        <p:spPr>
          <a:xfrm>
            <a:off x="0" y="5374"/>
            <a:ext cx="12188825" cy="6847252"/>
          </a:xfrm>
          <a:prstGeom prst="rect">
            <a:avLst/>
          </a:prstGeom>
        </p:spPr>
      </p:pic>
    </p:spTree>
    <p:extLst>
      <p:ext uri="{BB962C8B-B14F-4D97-AF65-F5344CB8AC3E}">
        <p14:creationId xmlns:p14="http://schemas.microsoft.com/office/powerpoint/2010/main" val="29568345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AD6755-A1FF-B7BF-A56D-3C072B5FA70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82A6AB0-2C3E-4789-A6C8-9C5F7D502F44}"/>
              </a:ext>
            </a:extLst>
          </p:cNvPr>
          <p:cNvSpPr txBox="1"/>
          <p:nvPr/>
        </p:nvSpPr>
        <p:spPr>
          <a:xfrm>
            <a:off x="522514" y="391886"/>
            <a:ext cx="8431219" cy="646331"/>
          </a:xfrm>
          <a:prstGeom prst="rect">
            <a:avLst/>
          </a:prstGeom>
          <a:noFill/>
        </p:spPr>
        <p:txBody>
          <a:bodyPr wrap="none" rtlCol="0">
            <a:spAutoFit/>
          </a:bodyPr>
          <a:lstStyle/>
          <a:p>
            <a:r>
              <a:rPr lang="en-US" sz="3600" dirty="0"/>
              <a:t>Bounded cognitive load as headcount grows</a:t>
            </a:r>
            <a:endParaRPr lang="en-GB" sz="3600" dirty="0"/>
          </a:p>
        </p:txBody>
      </p:sp>
    </p:spTree>
    <p:extLst>
      <p:ext uri="{BB962C8B-B14F-4D97-AF65-F5344CB8AC3E}">
        <p14:creationId xmlns:p14="http://schemas.microsoft.com/office/powerpoint/2010/main" val="5073010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A78FAD2-EDC1-87B8-794D-98B00BB06363}"/>
              </a:ext>
            </a:extLst>
          </p:cNvPr>
          <p:cNvPicPr>
            <a:picLocks noChangeAspect="1"/>
          </p:cNvPicPr>
          <p:nvPr/>
        </p:nvPicPr>
        <p:blipFill>
          <a:blip r:embed="rId3"/>
          <a:stretch>
            <a:fillRect/>
          </a:stretch>
        </p:blipFill>
        <p:spPr>
          <a:xfrm>
            <a:off x="0" y="561041"/>
            <a:ext cx="12188825" cy="5735918"/>
          </a:xfrm>
          <a:prstGeom prst="rect">
            <a:avLst/>
          </a:prstGeom>
        </p:spPr>
      </p:pic>
    </p:spTree>
    <p:extLst>
      <p:ext uri="{BB962C8B-B14F-4D97-AF65-F5344CB8AC3E}">
        <p14:creationId xmlns:p14="http://schemas.microsoft.com/office/powerpoint/2010/main" val="7819243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81C19D-B8B5-A045-8540-E8EFA319618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C35973B-F87B-8B33-54C3-EA899AFACDA5}"/>
              </a:ext>
            </a:extLst>
          </p:cNvPr>
          <p:cNvSpPr txBox="1"/>
          <p:nvPr/>
        </p:nvSpPr>
        <p:spPr>
          <a:xfrm>
            <a:off x="522514" y="391886"/>
            <a:ext cx="8087150" cy="646331"/>
          </a:xfrm>
          <a:prstGeom prst="rect">
            <a:avLst/>
          </a:prstGeom>
          <a:noFill/>
        </p:spPr>
        <p:txBody>
          <a:bodyPr wrap="none" rtlCol="0">
            <a:spAutoFit/>
          </a:bodyPr>
          <a:lstStyle/>
          <a:p>
            <a:r>
              <a:rPr lang="en-US" sz="3600" dirty="0"/>
              <a:t>Incremental migration instead of a rewrite</a:t>
            </a:r>
            <a:endParaRPr lang="en-GB" sz="3600" dirty="0"/>
          </a:p>
        </p:txBody>
      </p:sp>
    </p:spTree>
    <p:extLst>
      <p:ext uri="{BB962C8B-B14F-4D97-AF65-F5344CB8AC3E}">
        <p14:creationId xmlns:p14="http://schemas.microsoft.com/office/powerpoint/2010/main" val="16785437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8E1DEDB-C2B7-7D6B-CA16-7849717E9A36}"/>
              </a:ext>
            </a:extLst>
          </p:cNvPr>
          <p:cNvPicPr>
            <a:picLocks noChangeAspect="1"/>
          </p:cNvPicPr>
          <p:nvPr/>
        </p:nvPicPr>
        <p:blipFill>
          <a:blip r:embed="rId3"/>
          <a:stretch>
            <a:fillRect/>
          </a:stretch>
        </p:blipFill>
        <p:spPr>
          <a:xfrm>
            <a:off x="0" y="274245"/>
            <a:ext cx="12188825" cy="6309509"/>
          </a:xfrm>
          <a:prstGeom prst="rect">
            <a:avLst/>
          </a:prstGeom>
        </p:spPr>
      </p:pic>
    </p:spTree>
    <p:extLst>
      <p:ext uri="{BB962C8B-B14F-4D97-AF65-F5344CB8AC3E}">
        <p14:creationId xmlns:p14="http://schemas.microsoft.com/office/powerpoint/2010/main" val="4066867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4">
            <a:extLst>
              <a:ext uri="{FF2B5EF4-FFF2-40B4-BE49-F238E27FC236}">
                <a16:creationId xmlns:a16="http://schemas.microsoft.com/office/drawing/2014/main" id="{59B45F36-03DD-1F61-AE4F-491056679896}"/>
              </a:ext>
            </a:extLst>
          </p:cNvPr>
          <p:cNvSpPr/>
          <p:nvPr/>
        </p:nvSpPr>
        <p:spPr>
          <a:xfrm>
            <a:off x="651325" y="1025090"/>
            <a:ext cx="10886173" cy="4807819"/>
          </a:xfrm>
          <a:prstGeom prst="rect">
            <a:avLst/>
          </a:prstGeom>
          <a:noFill/>
          <a:ln/>
        </p:spPr>
        <p:txBody>
          <a:bodyPr wrap="square" rtlCol="0" anchor="t"/>
          <a:lstStyle/>
          <a:p>
            <a:pPr marL="0" indent="0" algn="l">
              <a:lnSpc>
                <a:spcPct val="150000"/>
              </a:lnSpc>
              <a:buNone/>
            </a:pPr>
            <a:r>
              <a:rPr lang="en-US" sz="4000" dirty="0">
                <a:solidFill>
                  <a:schemeClr val="tx1">
                    <a:lumMod val="95000"/>
                    <a:lumOff val="5000"/>
                  </a:schemeClr>
                </a:solidFill>
                <a:latin typeface="Cascadia Code NF" pitchFamily="50" charset="0"/>
                <a:ea typeface="Cascadia Code NF" pitchFamily="50" charset="0"/>
                <a:cs typeface="Cascadia Code NF" pitchFamily="50" charset="0"/>
              </a:rPr>
              <a:t>Shell (host)      :3000</a:t>
            </a:r>
          </a:p>
          <a:p>
            <a:pPr marL="0" indent="0" algn="l">
              <a:lnSpc>
                <a:spcPct val="150000"/>
              </a:lnSpc>
              <a:buNone/>
            </a:pPr>
            <a:r>
              <a:rPr lang="en-US" sz="4000" dirty="0">
                <a:solidFill>
                  <a:schemeClr val="tx1">
                    <a:lumMod val="95000"/>
                    <a:lumOff val="5000"/>
                  </a:schemeClr>
                </a:solidFill>
                <a:latin typeface="Cascadia Code NF" pitchFamily="50" charset="0"/>
                <a:ea typeface="Cascadia Code NF" pitchFamily="50" charset="0"/>
                <a:cs typeface="Cascadia Code NF" pitchFamily="50" charset="0"/>
              </a:rPr>
              <a:t>├── Home          :3004   INSTANT</a:t>
            </a:r>
          </a:p>
          <a:p>
            <a:pPr marL="0" indent="0" algn="l">
              <a:lnSpc>
                <a:spcPct val="150000"/>
              </a:lnSpc>
              <a:buNone/>
            </a:pPr>
            <a:r>
              <a:rPr lang="en-US" sz="4000" dirty="0">
                <a:solidFill>
                  <a:schemeClr val="tx1">
                    <a:lumMod val="95000"/>
                    <a:lumOff val="5000"/>
                  </a:schemeClr>
                </a:solidFill>
                <a:latin typeface="Cascadia Code NF" pitchFamily="50" charset="0"/>
                <a:ea typeface="Cascadia Code NF" pitchFamily="50" charset="0"/>
                <a:cs typeface="Cascadia Code NF" pitchFamily="50" charset="0"/>
              </a:rPr>
              <a:t>├── Records       :3001   EAGER</a:t>
            </a:r>
          </a:p>
          <a:p>
            <a:pPr marL="0" indent="0" algn="l">
              <a:lnSpc>
                <a:spcPct val="150000"/>
              </a:lnSpc>
              <a:buNone/>
            </a:pPr>
            <a:r>
              <a:rPr lang="en-US" sz="4000" dirty="0">
                <a:solidFill>
                  <a:schemeClr val="tx1">
                    <a:lumMod val="95000"/>
                    <a:lumOff val="5000"/>
                  </a:schemeClr>
                </a:solidFill>
                <a:latin typeface="Cascadia Code NF" pitchFamily="50" charset="0"/>
                <a:ea typeface="Cascadia Code NF" pitchFamily="50" charset="0"/>
                <a:cs typeface="Cascadia Code NF" pitchFamily="50" charset="0"/>
              </a:rPr>
              <a:t>├── Prescriptions :3002   STREAMED</a:t>
            </a:r>
          </a:p>
          <a:p>
            <a:pPr marL="0" indent="0" algn="l">
              <a:lnSpc>
                <a:spcPct val="150000"/>
              </a:lnSpc>
              <a:buNone/>
            </a:pPr>
            <a:r>
              <a:rPr lang="en-US" sz="4000" dirty="0">
                <a:solidFill>
                  <a:schemeClr val="tx1">
                    <a:lumMod val="95000"/>
                    <a:lumOff val="5000"/>
                  </a:schemeClr>
                </a:solidFill>
                <a:latin typeface="Cascadia Code NF" pitchFamily="50" charset="0"/>
                <a:ea typeface="Cascadia Code NF" pitchFamily="50" charset="0"/>
                <a:cs typeface="Cascadia Code NF" pitchFamily="50" charset="0"/>
              </a:rPr>
              <a:t>└── Analytics     :3003   STREAMED</a:t>
            </a:r>
          </a:p>
        </p:txBody>
      </p:sp>
    </p:spTree>
    <p:extLst>
      <p:ext uri="{BB962C8B-B14F-4D97-AF65-F5344CB8AC3E}">
        <p14:creationId xmlns:p14="http://schemas.microsoft.com/office/powerpoint/2010/main" val="33846204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9A9DEAA5-4B4B-A105-176E-3D92BDE4A29B}"/>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Module Federation for teams, Suspense for load UX</a:t>
            </a:r>
            <a:endParaRPr lang="en-US" sz="3300" dirty="0">
              <a:solidFill>
                <a:schemeClr val="tx1">
                  <a:lumMod val="95000"/>
                  <a:lumOff val="5000"/>
                </a:schemeClr>
              </a:solidFill>
            </a:endParaRPr>
          </a:p>
        </p:txBody>
      </p:sp>
      <p:graphicFrame>
        <p:nvGraphicFramePr>
          <p:cNvPr id="5" name="Table 0">
            <a:extLst>
              <a:ext uri="{FF2B5EF4-FFF2-40B4-BE49-F238E27FC236}">
                <a16:creationId xmlns:a16="http://schemas.microsoft.com/office/drawing/2014/main" id="{BEEF10F7-35A9-BC5C-5D04-700AD07AB51B}"/>
              </a:ext>
            </a:extLst>
          </p:cNvPr>
          <p:cNvGraphicFramePr>
            <a:graphicFrameLocks noGrp="1"/>
          </p:cNvGraphicFramePr>
          <p:nvPr>
            <p:extLst>
              <p:ext uri="{D42A27DB-BD31-4B8C-83A1-F6EECF244321}">
                <p14:modId xmlns:p14="http://schemas.microsoft.com/office/powerpoint/2010/main" val="525117784"/>
              </p:ext>
            </p:extLst>
          </p:nvPr>
        </p:nvGraphicFramePr>
        <p:xfrm>
          <a:off x="548640" y="2811780"/>
          <a:ext cx="11064240" cy="1950720"/>
        </p:xfrm>
        <a:graphic>
          <a:graphicData uri="http://schemas.openxmlformats.org/drawingml/2006/table">
            <a:tbl>
              <a:tblPr/>
              <a:tblGrid>
                <a:gridCol w="283464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5486400">
                  <a:extLst>
                    <a:ext uri="{9D8B030D-6E8A-4147-A177-3AD203B41FA5}">
                      <a16:colId xmlns:a16="http://schemas.microsoft.com/office/drawing/2014/main" val="20002"/>
                    </a:ext>
                  </a:extLst>
                </a:gridCol>
              </a:tblGrid>
              <a:tr h="411480">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CONCERN</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WHO BENEFITS</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WHAT IT SOLVES</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411480">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Module Federation</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Developers &amp; teams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Independent builds, deploys, onboarding at scale, slow rewrite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411480">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Suspense + skeletons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End users &amp; visitors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Instant perceived load, no blank screens at runtime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35597849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31711E41-ABC8-61F2-D009-B7AB6AF21110}"/>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Module Federation for teams, Suspense for load UX</a:t>
            </a:r>
            <a:endParaRPr lang="en-US" sz="3300" dirty="0">
              <a:solidFill>
                <a:schemeClr val="tx1">
                  <a:lumMod val="95000"/>
                  <a:lumOff val="5000"/>
                </a:schemeClr>
              </a:solidFill>
            </a:endParaRPr>
          </a:p>
        </p:txBody>
      </p:sp>
      <p:sp>
        <p:nvSpPr>
          <p:cNvPr id="5" name="Text 5">
            <a:extLst>
              <a:ext uri="{FF2B5EF4-FFF2-40B4-BE49-F238E27FC236}">
                <a16:creationId xmlns:a16="http://schemas.microsoft.com/office/drawing/2014/main" id="{497A809A-85C2-9736-231A-B5C634D123D4}"/>
              </a:ext>
            </a:extLst>
          </p:cNvPr>
          <p:cNvSpPr/>
          <p:nvPr/>
        </p:nvSpPr>
        <p:spPr>
          <a:xfrm>
            <a:off x="530352" y="3027145"/>
            <a:ext cx="11064240" cy="1645920"/>
          </a:xfrm>
          <a:prstGeom prst="rect">
            <a:avLst/>
          </a:prstGeom>
          <a:noFill/>
          <a:ln/>
        </p:spPr>
        <p:txBody>
          <a:bodyPr wrap="square" rtlCol="0" anchor="t"/>
          <a:lstStyle/>
          <a:p>
            <a:pPr marL="0" indent="0" algn="l">
              <a:lnSpc>
                <a:spcPts val="1750"/>
              </a:lnSpc>
              <a:buNone/>
            </a:pPr>
            <a:r>
              <a:rPr lang="en-US" sz="2000" dirty="0">
                <a:solidFill>
                  <a:schemeClr val="tx1">
                    <a:lumMod val="95000"/>
                    <a:lumOff val="5000"/>
                  </a:schemeClr>
                </a:solidFill>
                <a:latin typeface="Cascadia Code" panose="020B0609020000020004" pitchFamily="49" charset="0"/>
                <a:ea typeface="IBM Plex Mono" pitchFamily="34" charset="-122"/>
                <a:cs typeface="Cascadia Code" panose="020B0609020000020004" pitchFamily="49" charset="0"/>
              </a:rPr>
              <a:t>Without Suspense:  click tab → blank screen → spinner → content</a:t>
            </a:r>
            <a:endParaRPr lang="en-US" sz="2000" dirty="0">
              <a:solidFill>
                <a:schemeClr val="tx1">
                  <a:lumMod val="95000"/>
                  <a:lumOff val="5000"/>
                </a:schemeClr>
              </a:solidFill>
              <a:latin typeface="Cascadia Code" panose="020B0609020000020004" pitchFamily="49" charset="0"/>
              <a:cs typeface="Cascadia Code" panose="020B0609020000020004" pitchFamily="49" charset="0"/>
            </a:endParaRPr>
          </a:p>
          <a:p>
            <a:pPr marL="0" indent="0" algn="l">
              <a:lnSpc>
                <a:spcPts val="1750"/>
              </a:lnSpc>
              <a:buNone/>
            </a:pPr>
            <a:r>
              <a:rPr lang="en-US" sz="2000" dirty="0">
                <a:solidFill>
                  <a:schemeClr val="tx1">
                    <a:lumMod val="95000"/>
                    <a:lumOff val="5000"/>
                  </a:schemeClr>
                </a:solidFill>
                <a:latin typeface="Cascadia Code" panose="020B0609020000020004" pitchFamily="49" charset="0"/>
                <a:ea typeface="IBM Plex Mono" pitchFamily="34" charset="-122"/>
                <a:cs typeface="Cascadia Code" panose="020B0609020000020004" pitchFamily="49" charset="0"/>
              </a:rPr>
              <a:t>                   (slow UX even when team ownership is solid)</a:t>
            </a:r>
            <a:endParaRPr lang="en-US" sz="2000" dirty="0">
              <a:solidFill>
                <a:schemeClr val="tx1">
                  <a:lumMod val="95000"/>
                  <a:lumOff val="5000"/>
                </a:schemeClr>
              </a:solidFill>
              <a:latin typeface="Cascadia Code" panose="020B0609020000020004" pitchFamily="49" charset="0"/>
              <a:cs typeface="Cascadia Code" panose="020B0609020000020004" pitchFamily="49" charset="0"/>
            </a:endParaRPr>
          </a:p>
          <a:p>
            <a:pPr marL="0" indent="0" algn="l">
              <a:lnSpc>
                <a:spcPts val="1750"/>
              </a:lnSpc>
              <a:buNone/>
            </a:pPr>
            <a:endParaRPr lang="en-US" sz="2000" dirty="0">
              <a:solidFill>
                <a:schemeClr val="tx1">
                  <a:lumMod val="95000"/>
                  <a:lumOff val="5000"/>
                </a:schemeClr>
              </a:solidFill>
              <a:latin typeface="Cascadia Code" panose="020B0609020000020004" pitchFamily="49" charset="0"/>
              <a:cs typeface="Cascadia Code" panose="020B0609020000020004" pitchFamily="49" charset="0"/>
            </a:endParaRPr>
          </a:p>
          <a:p>
            <a:pPr marL="0" indent="0" algn="l">
              <a:lnSpc>
                <a:spcPts val="1750"/>
              </a:lnSpc>
              <a:buNone/>
            </a:pPr>
            <a:r>
              <a:rPr lang="en-US" sz="2000" dirty="0">
                <a:solidFill>
                  <a:schemeClr val="tx1">
                    <a:lumMod val="95000"/>
                    <a:lumOff val="5000"/>
                  </a:schemeClr>
                </a:solidFill>
                <a:latin typeface="Cascadia Code" panose="020B0609020000020004" pitchFamily="49" charset="0"/>
                <a:ea typeface="IBM Plex Mono" pitchFamily="34" charset="-122"/>
                <a:cs typeface="Cascadia Code" panose="020B0609020000020004" pitchFamily="49" charset="0"/>
              </a:rPr>
              <a:t>With Suspense:     click tab → skeleton instantly → content resolves</a:t>
            </a:r>
            <a:endParaRPr lang="en-US" sz="2000" dirty="0">
              <a:solidFill>
                <a:schemeClr val="tx1">
                  <a:lumMod val="95000"/>
                  <a:lumOff val="5000"/>
                </a:schemeClr>
              </a:solidFill>
              <a:latin typeface="Cascadia Code" panose="020B0609020000020004" pitchFamily="49" charset="0"/>
              <a:cs typeface="Cascadia Code" panose="020B0609020000020004" pitchFamily="49" charset="0"/>
            </a:endParaRPr>
          </a:p>
          <a:p>
            <a:pPr marL="0" indent="0" algn="l">
              <a:lnSpc>
                <a:spcPts val="1750"/>
              </a:lnSpc>
              <a:buNone/>
            </a:pPr>
            <a:r>
              <a:rPr lang="en-US" sz="2000" dirty="0">
                <a:solidFill>
                  <a:schemeClr val="tx1">
                    <a:lumMod val="95000"/>
                    <a:lumOff val="5000"/>
                  </a:schemeClr>
                </a:solidFill>
                <a:latin typeface="Cascadia Code" panose="020B0609020000020004" pitchFamily="49" charset="0"/>
                <a:ea typeface="IBM Plex Mono" pitchFamily="34" charset="-122"/>
                <a:cs typeface="Cascadia Code" panose="020B0609020000020004" pitchFamily="49" charset="0"/>
              </a:rPr>
              <a:t>                   (each remote owns its loading choreography)</a:t>
            </a:r>
            <a:endParaRPr lang="en-US" sz="2000" dirty="0">
              <a:solidFill>
                <a:schemeClr val="tx1">
                  <a:lumMod val="95000"/>
                  <a:lumOff val="5000"/>
                </a:schemeClr>
              </a:solidFill>
              <a:latin typeface="Cascadia Code" panose="020B0609020000020004" pitchFamily="49" charset="0"/>
              <a:cs typeface="Cascadia Code" panose="020B0609020000020004" pitchFamily="49" charset="0"/>
            </a:endParaRPr>
          </a:p>
        </p:txBody>
      </p:sp>
    </p:spTree>
    <p:extLst>
      <p:ext uri="{BB962C8B-B14F-4D97-AF65-F5344CB8AC3E}">
        <p14:creationId xmlns:p14="http://schemas.microsoft.com/office/powerpoint/2010/main" val="30185272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AE7BAA42-8979-2749-678C-C4B2DCFC42DC}"/>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One shell, four remotes, three loading strategies</a:t>
            </a:r>
            <a:endParaRPr lang="en-US" sz="3300" dirty="0">
              <a:solidFill>
                <a:schemeClr val="tx1">
                  <a:lumMod val="95000"/>
                  <a:lumOff val="5000"/>
                </a:schemeClr>
              </a:solidFill>
            </a:endParaRPr>
          </a:p>
        </p:txBody>
      </p:sp>
      <p:sp>
        <p:nvSpPr>
          <p:cNvPr id="5" name="Text 5">
            <a:extLst>
              <a:ext uri="{FF2B5EF4-FFF2-40B4-BE49-F238E27FC236}">
                <a16:creationId xmlns:a16="http://schemas.microsoft.com/office/drawing/2014/main" id="{5E252CBF-4D3F-DA4C-2817-C743E648F88B}"/>
              </a:ext>
            </a:extLst>
          </p:cNvPr>
          <p:cNvSpPr/>
          <p:nvPr/>
        </p:nvSpPr>
        <p:spPr>
          <a:xfrm>
            <a:off x="562292" y="2764715"/>
            <a:ext cx="11064240" cy="2834640"/>
          </a:xfrm>
          <a:prstGeom prst="rect">
            <a:avLst/>
          </a:prstGeom>
          <a:noFill/>
          <a:ln/>
        </p:spPr>
        <p:txBody>
          <a:bodyPr wrap="square" rtlCol="0" anchor="t"/>
          <a:lstStyle/>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SHELL :3000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Nav · Router · Theme · Status strip (INSTANT|EAGER|STREAMING)│</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&lt;ErrorBoundary&gt;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&lt;Suspense fallback={&lt;Skeleton /&gt;}&gt;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&lt;RemoteModule /&gt;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&lt;/Suspense&gt;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&lt;/ErrorBoundary&gt;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Home :3004  Records :3001  Prescriptions :3002  Analytics :3003</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INSTANT     EAGER          STREAMED             STREAMED</a:t>
            </a:r>
          </a:p>
        </p:txBody>
      </p:sp>
    </p:spTree>
    <p:extLst>
      <p:ext uri="{BB962C8B-B14F-4D97-AF65-F5344CB8AC3E}">
        <p14:creationId xmlns:p14="http://schemas.microsoft.com/office/powerpoint/2010/main" val="3202006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A1173AB3-D0AE-18E4-3CB6-327CCB6BD447}"/>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One shell, four remotes, three loading strategies</a:t>
            </a:r>
            <a:endParaRPr lang="en-US" sz="3300" dirty="0">
              <a:solidFill>
                <a:schemeClr val="tx1">
                  <a:lumMod val="95000"/>
                  <a:lumOff val="5000"/>
                </a:schemeClr>
              </a:solidFill>
            </a:endParaRPr>
          </a:p>
        </p:txBody>
      </p:sp>
      <p:graphicFrame>
        <p:nvGraphicFramePr>
          <p:cNvPr id="5" name="Table 0">
            <a:extLst>
              <a:ext uri="{FF2B5EF4-FFF2-40B4-BE49-F238E27FC236}">
                <a16:creationId xmlns:a16="http://schemas.microsoft.com/office/drawing/2014/main" id="{E0AA7636-7E2C-53BB-D082-B63EA422D7D7}"/>
              </a:ext>
            </a:extLst>
          </p:cNvPr>
          <p:cNvGraphicFramePr>
            <a:graphicFrameLocks noGrp="1"/>
          </p:cNvGraphicFramePr>
          <p:nvPr>
            <p:extLst>
              <p:ext uri="{D42A27DB-BD31-4B8C-83A1-F6EECF244321}">
                <p14:modId xmlns:p14="http://schemas.microsoft.com/office/powerpoint/2010/main" val="193182899"/>
              </p:ext>
            </p:extLst>
          </p:nvPr>
        </p:nvGraphicFramePr>
        <p:xfrm>
          <a:off x="754380" y="1889760"/>
          <a:ext cx="11064240" cy="3078480"/>
        </p:xfrm>
        <a:graphic>
          <a:graphicData uri="http://schemas.openxmlformats.org/drawingml/2006/table">
            <a:tbl>
              <a:tblPr/>
              <a:tblGrid>
                <a:gridCol w="155448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6766560">
                  <a:extLst>
                    <a:ext uri="{9D8B030D-6E8A-4147-A177-3AD203B41FA5}">
                      <a16:colId xmlns:a16="http://schemas.microsoft.com/office/drawing/2014/main" val="20002"/>
                    </a:ext>
                  </a:extLst>
                </a:gridCol>
              </a:tblGrid>
              <a:tr h="310896">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STRATEGY</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MODULE</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BEHAVIOR</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310896">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Instant</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Home</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Lazy for code splitting, no artificial resource delay; renders when the chunk arrives</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310896">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Eager</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Records</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Standalone component, preloaded on shell mount; cached before the click</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310896">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Streamed</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Prescriptions, Analytics</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On demand, per-module skeletons + error isolation</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340896425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bg>
      <p:bgPr>
        <a:solidFill>
          <a:srgbClr val="0C0C0C"/>
        </a:solidFill>
        <a:effectLst/>
      </p:bgPr>
    </p:bg>
    <p:spTree>
      <p:nvGrpSpPr>
        <p:cNvPr id="1" name="">
          <a:extLst>
            <a:ext uri="{FF2B5EF4-FFF2-40B4-BE49-F238E27FC236}">
              <a16:creationId xmlns:a16="http://schemas.microsoft.com/office/drawing/2014/main" id="{1E41C2E6-274A-617F-FA6A-C9AD445E1315}"/>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9CD485FF-BBBD-8ADC-3004-A1148011900F}"/>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Every module is a standalone app</a:t>
            </a:r>
            <a:endParaRPr lang="en-US" sz="3300" dirty="0"/>
          </a:p>
        </p:txBody>
      </p:sp>
      <p:sp>
        <p:nvSpPr>
          <p:cNvPr id="6" name="TextBox 5">
            <a:extLst>
              <a:ext uri="{FF2B5EF4-FFF2-40B4-BE49-F238E27FC236}">
                <a16:creationId xmlns:a16="http://schemas.microsoft.com/office/drawing/2014/main" id="{53C79525-4666-8067-9A45-F918748095D8}"/>
              </a:ext>
            </a:extLst>
          </p:cNvPr>
          <p:cNvSpPr txBox="1"/>
          <p:nvPr/>
        </p:nvSpPr>
        <p:spPr>
          <a:xfrm>
            <a:off x="530352" y="1856232"/>
            <a:ext cx="11082528" cy="3732304"/>
          </a:xfrm>
          <a:prstGeom prst="rect">
            <a:avLst/>
          </a:prstGeom>
          <a:noFill/>
        </p:spPr>
        <p:txBody>
          <a:bodyPr wrap="square">
            <a:spAutoFit/>
          </a:bodyPr>
          <a:lstStyle/>
          <a:p>
            <a:pPr>
              <a:lnSpc>
                <a:spcPct val="150000"/>
              </a:lnSpc>
              <a:buNone/>
            </a:pPr>
            <a:r>
              <a:rPr lang="en-US" sz="2000" b="0" dirty="0">
                <a:solidFill>
                  <a:srgbClr val="8B949E"/>
                </a:solidFill>
                <a:effectLst/>
                <a:latin typeface="Cascadia Code" panose="020B0609020000020004" pitchFamily="49" charset="0"/>
              </a:rPr>
              <a:t>// </a:t>
            </a:r>
            <a:r>
              <a:rPr lang="en-US" sz="2000" b="0" dirty="0" err="1">
                <a:solidFill>
                  <a:srgbClr val="8B949E"/>
                </a:solidFill>
                <a:effectLst/>
                <a:latin typeface="Cascadia Code" panose="020B0609020000020004" pitchFamily="49" charset="0"/>
              </a:rPr>
              <a:t>index.tsx</a:t>
            </a:r>
            <a:r>
              <a:rPr lang="en-US" sz="2000" b="0" dirty="0">
                <a:solidFill>
                  <a:srgbClr val="8B949E"/>
                </a:solidFill>
                <a:effectLst/>
                <a:latin typeface="Cascadia Code" panose="020B0609020000020004" pitchFamily="49" charset="0"/>
              </a:rPr>
              <a:t> — the ENTIRE file (async boundary for MF)</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569CD6"/>
                </a:solidFill>
                <a:effectLst/>
                <a:latin typeface="Cascadia Code" panose="020B0609020000020004" pitchFamily="49" charset="0"/>
              </a:rPr>
              <a:t>import</a:t>
            </a:r>
            <a:r>
              <a:rPr lang="en-US" sz="2000" b="0" dirty="0">
                <a:solidFill>
                  <a:srgbClr val="BBBEBF"/>
                </a:solidFill>
                <a:effectLst/>
                <a:latin typeface="Cascadia Code" panose="020B0609020000020004" pitchFamily="49" charset="0"/>
              </a:rPr>
              <a:t>(</a:t>
            </a:r>
            <a:r>
              <a:rPr lang="en-US" sz="2000" b="0" dirty="0">
                <a:solidFill>
                  <a:srgbClr val="A5D6FF"/>
                </a:solidFill>
                <a:effectLst/>
                <a:latin typeface="Cascadia Code" panose="020B0609020000020004" pitchFamily="49" charset="0"/>
              </a:rPr>
              <a:t>"./bootstrap"</a:t>
            </a:r>
            <a:r>
              <a:rPr lang="en-US" sz="2000" b="0" dirty="0">
                <a:solidFill>
                  <a:srgbClr val="BBBEBF"/>
                </a:solidFill>
                <a:effectLst/>
                <a:latin typeface="Cascadia Code" panose="020B0609020000020004" pitchFamily="49" charset="0"/>
              </a:rPr>
              <a:t>);</a:t>
            </a:r>
          </a:p>
          <a:p>
            <a:pPr>
              <a:lnSpc>
                <a:spcPct val="150000"/>
              </a:lnSpc>
              <a:buNone/>
            </a:pP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8B949E"/>
                </a:solidFill>
                <a:effectLst/>
                <a:latin typeface="Cascadia Code" panose="020B0609020000020004" pitchFamily="49" charset="0"/>
              </a:rPr>
              <a:t>// </a:t>
            </a:r>
            <a:r>
              <a:rPr lang="en-US" sz="2000" b="0" dirty="0" err="1">
                <a:solidFill>
                  <a:srgbClr val="8B949E"/>
                </a:solidFill>
                <a:effectLst/>
                <a:latin typeface="Cascadia Code" panose="020B0609020000020004" pitchFamily="49" charset="0"/>
              </a:rPr>
              <a:t>bootstrap.tsx</a:t>
            </a:r>
            <a:r>
              <a:rPr lang="en-US" sz="2000" b="0" dirty="0">
                <a:solidFill>
                  <a:srgbClr val="8B949E"/>
                </a:solidFill>
                <a:effectLst/>
                <a:latin typeface="Cascadia Code" panose="020B0609020000020004" pitchFamily="49" charset="0"/>
              </a:rPr>
              <a:t> — actual React rendering</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586C0"/>
                </a:solidFill>
                <a:effectLst/>
                <a:latin typeface="Cascadia Code" panose="020B0609020000020004" pitchFamily="49" charset="0"/>
              </a:rPr>
              <a:t>import</a:t>
            </a:r>
            <a:r>
              <a:rPr lang="en-US" sz="2000" b="0" dirty="0">
                <a:solidFill>
                  <a:srgbClr val="BBBEBF"/>
                </a:solidFill>
                <a:effectLst/>
                <a:latin typeface="Cascadia Code" panose="020B0609020000020004" pitchFamily="49" charset="0"/>
              </a:rPr>
              <a:t> </a:t>
            </a:r>
            <a:r>
              <a:rPr lang="en-US" sz="2000" b="0" dirty="0" err="1">
                <a:solidFill>
                  <a:srgbClr val="C9D1D9"/>
                </a:solidFill>
                <a:effectLst/>
                <a:latin typeface="Cascadia Code" panose="020B0609020000020004" pitchFamily="49" charset="0"/>
              </a:rPr>
              <a:t>ReactDOM</a:t>
            </a:r>
            <a:r>
              <a:rPr lang="en-US" sz="2000" b="0" dirty="0">
                <a:solidFill>
                  <a:srgbClr val="BBBEBF"/>
                </a:solidFill>
                <a:effectLst/>
                <a:latin typeface="Cascadia Code" panose="020B0609020000020004" pitchFamily="49" charset="0"/>
              </a:rPr>
              <a:t> </a:t>
            </a:r>
            <a:r>
              <a:rPr lang="en-US" sz="2000" b="0" dirty="0">
                <a:solidFill>
                  <a:srgbClr val="C586C0"/>
                </a:solidFill>
                <a:effectLst/>
                <a:latin typeface="Cascadia Code" panose="020B0609020000020004" pitchFamily="49" charset="0"/>
              </a:rPr>
              <a:t>from</a:t>
            </a:r>
            <a:r>
              <a:rPr lang="en-US" sz="2000" b="0" dirty="0">
                <a:solidFill>
                  <a:srgbClr val="BBBEBF"/>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"react-</a:t>
            </a:r>
            <a:r>
              <a:rPr lang="en-US" sz="2000" b="0" dirty="0" err="1">
                <a:solidFill>
                  <a:srgbClr val="A5D6FF"/>
                </a:solidFill>
                <a:effectLst/>
                <a:latin typeface="Cascadia Code" panose="020B0609020000020004" pitchFamily="49" charset="0"/>
              </a:rPr>
              <a:t>dom</a:t>
            </a:r>
            <a:r>
              <a:rPr lang="en-US" sz="2000" b="0" dirty="0">
                <a:solidFill>
                  <a:srgbClr val="A5D6FF"/>
                </a:solidFill>
                <a:effectLst/>
                <a:latin typeface="Cascadia Code" panose="020B0609020000020004" pitchFamily="49" charset="0"/>
              </a:rPr>
              <a:t>/client"</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C586C0"/>
                </a:solidFill>
                <a:effectLst/>
                <a:latin typeface="Cascadia Code" panose="020B0609020000020004" pitchFamily="49" charset="0"/>
              </a:rPr>
              <a:t>import</a:t>
            </a:r>
            <a:r>
              <a:rPr lang="en-US" sz="2000" b="0" dirty="0">
                <a:solidFill>
                  <a:srgbClr val="BBBEBF"/>
                </a:solidFill>
                <a:effectLst/>
                <a:latin typeface="Cascadia Code" panose="020B0609020000020004" pitchFamily="49" charset="0"/>
              </a:rPr>
              <a:t> </a:t>
            </a:r>
            <a:r>
              <a:rPr lang="en-US" sz="2000" b="0" dirty="0" err="1">
                <a:solidFill>
                  <a:srgbClr val="C9D1D9"/>
                </a:solidFill>
                <a:effectLst/>
                <a:latin typeface="Cascadia Code" panose="020B0609020000020004" pitchFamily="49" charset="0"/>
              </a:rPr>
              <a:t>MedicalRecords</a:t>
            </a:r>
            <a:r>
              <a:rPr lang="en-US" sz="2000" b="0" dirty="0">
                <a:solidFill>
                  <a:srgbClr val="BBBEBF"/>
                </a:solidFill>
                <a:effectLst/>
                <a:latin typeface="Cascadia Code" panose="020B0609020000020004" pitchFamily="49" charset="0"/>
              </a:rPr>
              <a:t> </a:t>
            </a:r>
            <a:r>
              <a:rPr lang="en-US" sz="2000" b="0" dirty="0">
                <a:solidFill>
                  <a:srgbClr val="C586C0"/>
                </a:solidFill>
                <a:effectLst/>
                <a:latin typeface="Cascadia Code" panose="020B0609020000020004" pitchFamily="49" charset="0"/>
              </a:rPr>
              <a:t>from</a:t>
            </a:r>
            <a:r>
              <a:rPr lang="en-US" sz="2000" b="0" dirty="0">
                <a:solidFill>
                  <a:srgbClr val="BBBEBF"/>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a:t>
            </a:r>
            <a:r>
              <a:rPr lang="en-US" sz="2000" b="0" dirty="0" err="1">
                <a:solidFill>
                  <a:srgbClr val="A5D6FF"/>
                </a:solidFill>
                <a:effectLst/>
                <a:latin typeface="Cascadia Code" panose="020B0609020000020004" pitchFamily="49" charset="0"/>
              </a:rPr>
              <a:t>MedicalRecords</a:t>
            </a:r>
            <a:r>
              <a:rPr lang="en-US" sz="2000" b="0" dirty="0">
                <a:solidFill>
                  <a:srgbClr val="A5D6FF"/>
                </a:solidFill>
                <a:effectLst/>
                <a:latin typeface="Cascadia Code" panose="020B0609020000020004" pitchFamily="49" charset="0"/>
              </a:rPr>
              <a:t>"</a:t>
            </a:r>
            <a:r>
              <a:rPr lang="en-US" sz="2000" b="0" dirty="0">
                <a:solidFill>
                  <a:srgbClr val="BBBEBF"/>
                </a:solidFill>
                <a:effectLst/>
                <a:latin typeface="Cascadia Code" panose="020B0609020000020004" pitchFamily="49" charset="0"/>
              </a:rPr>
              <a:t>;</a:t>
            </a:r>
          </a:p>
          <a:p>
            <a:pPr>
              <a:lnSpc>
                <a:spcPct val="150000"/>
              </a:lnSpc>
              <a:buNone/>
            </a:pPr>
            <a:r>
              <a:rPr lang="en-US" sz="2000" b="0" dirty="0" err="1">
                <a:solidFill>
                  <a:srgbClr val="C9D1D9"/>
                </a:solidFill>
                <a:effectLst/>
                <a:latin typeface="Cascadia Code" panose="020B0609020000020004" pitchFamily="49" charset="0"/>
              </a:rPr>
              <a:t>ReactDOM</a:t>
            </a:r>
            <a:r>
              <a:rPr lang="en-US" sz="2000" b="0" dirty="0" err="1">
                <a:solidFill>
                  <a:srgbClr val="BBBEBF"/>
                </a:solidFill>
                <a:effectLst/>
                <a:latin typeface="Cascadia Code" panose="020B0609020000020004" pitchFamily="49" charset="0"/>
              </a:rPr>
              <a:t>.</a:t>
            </a:r>
            <a:r>
              <a:rPr lang="en-US" sz="2000" b="0" dirty="0" err="1">
                <a:solidFill>
                  <a:srgbClr val="D2A8FF"/>
                </a:solidFill>
                <a:effectLst/>
                <a:latin typeface="Cascadia Code" panose="020B0609020000020004" pitchFamily="49" charset="0"/>
              </a:rPr>
              <a:t>createRoot</a:t>
            </a:r>
            <a:r>
              <a:rPr lang="en-US" sz="2000" b="0" dirty="0">
                <a:solidFill>
                  <a:srgbClr val="BBBEBF"/>
                </a:solidFill>
                <a:effectLst/>
                <a:latin typeface="Cascadia Code" panose="020B0609020000020004" pitchFamily="49" charset="0"/>
              </a:rPr>
              <a:t>(</a:t>
            </a:r>
            <a:r>
              <a:rPr lang="en-US" sz="2000" b="0" dirty="0" err="1">
                <a:solidFill>
                  <a:srgbClr val="79C0FF"/>
                </a:solidFill>
                <a:effectLst/>
                <a:latin typeface="Cascadia Code" panose="020B0609020000020004" pitchFamily="49" charset="0"/>
              </a:rPr>
              <a:t>document</a:t>
            </a:r>
            <a:r>
              <a:rPr lang="en-US" sz="2000" b="0" dirty="0" err="1">
                <a:solidFill>
                  <a:srgbClr val="BBBEBF"/>
                </a:solidFill>
                <a:effectLst/>
                <a:latin typeface="Cascadia Code" panose="020B0609020000020004" pitchFamily="49" charset="0"/>
              </a:rPr>
              <a:t>.</a:t>
            </a:r>
            <a:r>
              <a:rPr lang="en-US" sz="2000" b="0" dirty="0" err="1">
                <a:solidFill>
                  <a:srgbClr val="D2A8FF"/>
                </a:solidFill>
                <a:effectLst/>
                <a:latin typeface="Cascadia Code" panose="020B0609020000020004" pitchFamily="49" charset="0"/>
              </a:rPr>
              <a:t>getElementById</a:t>
            </a:r>
            <a:r>
              <a:rPr lang="en-US" sz="2000" b="0" dirty="0">
                <a:solidFill>
                  <a:srgbClr val="BBBEBF"/>
                </a:solidFill>
                <a:effectLst/>
                <a:latin typeface="Cascadia Code" panose="020B0609020000020004" pitchFamily="49" charset="0"/>
              </a:rPr>
              <a:t>(</a:t>
            </a:r>
            <a:r>
              <a:rPr lang="en-US" sz="2000" b="0" dirty="0">
                <a:solidFill>
                  <a:srgbClr val="A5D6FF"/>
                </a:solidFill>
                <a:effectLst/>
                <a:latin typeface="Cascadia Code" panose="020B0609020000020004" pitchFamily="49" charset="0"/>
              </a:rPr>
              <a:t>"root"</a:t>
            </a:r>
            <a:r>
              <a:rPr lang="en-US" sz="2000" b="0" dirty="0">
                <a:solidFill>
                  <a:srgbClr val="BBBEBF"/>
                </a:solidFill>
                <a:effectLst/>
                <a:latin typeface="Cascadia Code" panose="020B0609020000020004" pitchFamily="49" charset="0"/>
              </a:rPr>
              <a:t>)</a:t>
            </a:r>
            <a:r>
              <a:rPr lang="en-US" sz="2000" b="0" dirty="0">
                <a:solidFill>
                  <a:srgbClr val="D4D4D4"/>
                </a:solidFill>
                <a:effectLst/>
                <a:latin typeface="Cascadia Code" panose="020B0609020000020004" pitchFamily="49" charset="0"/>
              </a:rPr>
              <a:t>!</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D2A8FF"/>
                </a:solidFill>
                <a:effectLst/>
                <a:latin typeface="Cascadia Code" panose="020B0609020000020004" pitchFamily="49" charset="0"/>
              </a:rPr>
              <a:t>render</a:t>
            </a:r>
            <a:r>
              <a:rPr lang="en-US" sz="2000" b="0" dirty="0">
                <a:solidFill>
                  <a:srgbClr val="BBBEBF"/>
                </a:solidFill>
                <a:effectLst/>
                <a:latin typeface="Cascadia Code" panose="020B0609020000020004" pitchFamily="49" charset="0"/>
              </a:rPr>
              <a:t>(&lt;</a:t>
            </a:r>
            <a:r>
              <a:rPr lang="en-US" sz="2000" b="0" dirty="0" err="1">
                <a:solidFill>
                  <a:srgbClr val="4EC9B0"/>
                </a:solidFill>
                <a:effectLst/>
                <a:latin typeface="Cascadia Code" panose="020B0609020000020004" pitchFamily="49" charset="0"/>
              </a:rPr>
              <a:t>MedicalRecords</a:t>
            </a:r>
            <a:r>
              <a:rPr lang="en-US" sz="2000" b="0" dirty="0">
                <a:solidFill>
                  <a:srgbClr val="BBBEBF"/>
                </a:solidFill>
                <a:effectLst/>
                <a:latin typeface="Cascadia Code" panose="020B0609020000020004" pitchFamily="49" charset="0"/>
              </a:rPr>
              <a:t> /&gt;);</a:t>
            </a:r>
          </a:p>
        </p:txBody>
      </p:sp>
    </p:spTree>
    <p:extLst>
      <p:ext uri="{BB962C8B-B14F-4D97-AF65-F5344CB8AC3E}">
        <p14:creationId xmlns:p14="http://schemas.microsoft.com/office/powerpoint/2010/main" val="205453186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bg>
      <p:bgPr>
        <a:solidFill>
          <a:srgbClr val="0C0C0C"/>
        </a:solidFill>
        <a:effectLst/>
      </p:bgPr>
    </p:bg>
    <p:spTree>
      <p:nvGrpSpPr>
        <p:cNvPr id="1" name="">
          <a:extLst>
            <a:ext uri="{FF2B5EF4-FFF2-40B4-BE49-F238E27FC236}">
              <a16:creationId xmlns:a16="http://schemas.microsoft.com/office/drawing/2014/main" id="{283573FA-C24E-CF40-B6E5-09DF31276067}"/>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31AD6F17-18CF-5F23-57EC-FA67F08DCA5D}"/>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Every module is a standalone app</a:t>
            </a:r>
            <a:endParaRPr lang="en-US" sz="3300" dirty="0"/>
          </a:p>
        </p:txBody>
      </p:sp>
      <p:sp>
        <p:nvSpPr>
          <p:cNvPr id="10" name="Text 6">
            <a:extLst>
              <a:ext uri="{FF2B5EF4-FFF2-40B4-BE49-F238E27FC236}">
                <a16:creationId xmlns:a16="http://schemas.microsoft.com/office/drawing/2014/main" id="{2954C471-BE84-C1CE-67C3-2B05D53E3227}"/>
              </a:ext>
            </a:extLst>
          </p:cNvPr>
          <p:cNvSpPr/>
          <p:nvPr/>
        </p:nvSpPr>
        <p:spPr>
          <a:xfrm>
            <a:off x="530352" y="2713616"/>
            <a:ext cx="10991088" cy="3030968"/>
          </a:xfrm>
          <a:prstGeom prst="rect">
            <a:avLst/>
          </a:prstGeom>
          <a:noFill/>
          <a:ln/>
        </p:spPr>
        <p:txBody>
          <a:bodyPr wrap="square" rtlCol="0" anchor="t"/>
          <a:lstStyle/>
          <a:p>
            <a:pPr marL="177800" indent="-177800">
              <a:lnSpc>
                <a:spcPct val="150000"/>
              </a:lnSpc>
              <a:buSzPct val="100000"/>
              <a:buChar char="•"/>
            </a:pPr>
            <a:r>
              <a:rPr lang="en-US" sz="2800" dirty="0">
                <a:solidFill>
                  <a:srgbClr val="FAFAF9"/>
                </a:solidFill>
                <a:latin typeface="DM Sans" pitchFamily="34" charset="0"/>
                <a:ea typeface="DM Sans" pitchFamily="34" charset="-122"/>
                <a:cs typeface="DM Sans" pitchFamily="34" charset="-120"/>
              </a:rPr>
              <a:t>Async boundary lets MF negotiate shared deps first</a:t>
            </a:r>
            <a:endParaRPr lang="en-US" sz="2800" dirty="0"/>
          </a:p>
          <a:p>
            <a:pPr marL="177800" indent="-177800">
              <a:lnSpc>
                <a:spcPct val="150000"/>
              </a:lnSpc>
              <a:buSzPct val="100000"/>
              <a:buChar char="•"/>
            </a:pPr>
            <a:r>
              <a:rPr lang="en-US" sz="2800" dirty="0">
                <a:solidFill>
                  <a:srgbClr val="FAFAF9"/>
                </a:solidFill>
                <a:latin typeface="DM Sans" pitchFamily="34" charset="0"/>
                <a:ea typeface="DM Sans" pitchFamily="34" charset="-122"/>
                <a:cs typeface="DM Sans" pitchFamily="34" charset="-120"/>
              </a:rPr>
              <a:t>Without it: white screen + loadShareSync error</a:t>
            </a:r>
            <a:endParaRPr lang="en-US" sz="2800" dirty="0"/>
          </a:p>
          <a:p>
            <a:pPr marL="177800" indent="-177800">
              <a:lnSpc>
                <a:spcPct val="150000"/>
              </a:lnSpc>
              <a:buSzPct val="100000"/>
              <a:buChar char="•"/>
            </a:pPr>
            <a:r>
              <a:rPr lang="en-US" sz="2800" dirty="0">
                <a:solidFill>
                  <a:srgbClr val="FAFAF9"/>
                </a:solidFill>
                <a:latin typeface="DM Sans" pitchFamily="34" charset="0"/>
                <a:ea typeface="DM Sans" pitchFamily="34" charset="-122"/>
                <a:cs typeface="DM Sans" pitchFamily="34" charset="-120"/>
              </a:rPr>
              <a:t>All 5 packages use this pattern</a:t>
            </a:r>
            <a:endParaRPr lang="en-US" sz="2800" dirty="0"/>
          </a:p>
        </p:txBody>
      </p:sp>
    </p:spTree>
    <p:extLst>
      <p:ext uri="{BB962C8B-B14F-4D97-AF65-F5344CB8AC3E}">
        <p14:creationId xmlns:p14="http://schemas.microsoft.com/office/powerpoint/2010/main" val="192877339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45328B4E-83E9-73F4-CFE3-5C66BDB4D016}"/>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The one plugin that makes it federated</a:t>
            </a:r>
            <a:endParaRPr lang="en-US" sz="3300" dirty="0">
              <a:solidFill>
                <a:schemeClr val="tx1">
                  <a:lumMod val="95000"/>
                  <a:lumOff val="5000"/>
                </a:schemeClr>
              </a:solidFill>
            </a:endParaRPr>
          </a:p>
        </p:txBody>
      </p:sp>
      <p:graphicFrame>
        <p:nvGraphicFramePr>
          <p:cNvPr id="5" name="Table 0">
            <a:extLst>
              <a:ext uri="{FF2B5EF4-FFF2-40B4-BE49-F238E27FC236}">
                <a16:creationId xmlns:a16="http://schemas.microsoft.com/office/drawing/2014/main" id="{E1F630C8-CD9B-3121-CD07-8B251458FBDF}"/>
              </a:ext>
            </a:extLst>
          </p:cNvPr>
          <p:cNvGraphicFramePr>
            <a:graphicFrameLocks noGrp="1"/>
          </p:cNvGraphicFramePr>
          <p:nvPr>
            <p:extLst>
              <p:ext uri="{D42A27DB-BD31-4B8C-83A1-F6EECF244321}">
                <p14:modId xmlns:p14="http://schemas.microsoft.com/office/powerpoint/2010/main" val="1728981913"/>
              </p:ext>
            </p:extLst>
          </p:nvPr>
        </p:nvGraphicFramePr>
        <p:xfrm>
          <a:off x="543799" y="2466190"/>
          <a:ext cx="11064240" cy="3181576"/>
        </p:xfrm>
        <a:graphic>
          <a:graphicData uri="http://schemas.openxmlformats.org/drawingml/2006/table">
            <a:tbl>
              <a:tblPr/>
              <a:tblGrid>
                <a:gridCol w="1554480">
                  <a:extLst>
                    <a:ext uri="{9D8B030D-6E8A-4147-A177-3AD203B41FA5}">
                      <a16:colId xmlns:a16="http://schemas.microsoft.com/office/drawing/2014/main" val="20000"/>
                    </a:ext>
                  </a:extLst>
                </a:gridCol>
                <a:gridCol w="1591594">
                  <a:extLst>
                    <a:ext uri="{9D8B030D-6E8A-4147-A177-3AD203B41FA5}">
                      <a16:colId xmlns:a16="http://schemas.microsoft.com/office/drawing/2014/main" val="20001"/>
                    </a:ext>
                  </a:extLst>
                </a:gridCol>
                <a:gridCol w="7918166">
                  <a:extLst>
                    <a:ext uri="{9D8B030D-6E8A-4147-A177-3AD203B41FA5}">
                      <a16:colId xmlns:a16="http://schemas.microsoft.com/office/drawing/2014/main" val="20002"/>
                    </a:ext>
                  </a:extLst>
                </a:gridCol>
              </a:tblGrid>
              <a:tr h="671150">
                <a:tc>
                  <a:txBody>
                    <a:bodyPr/>
                    <a:lstStyle/>
                    <a:p>
                      <a:pPr marL="0" indent="0">
                        <a:buNone/>
                      </a:pPr>
                      <a:r>
                        <a:rPr lang="en-US" sz="1600" b="1" kern="0" spc="200" dirty="0">
                          <a:solidFill>
                            <a:srgbClr val="D4FF00"/>
                          </a:solidFill>
                          <a:latin typeface="IBM Plex Mono" pitchFamily="34" charset="0"/>
                          <a:ea typeface="IBM Plex Mono" pitchFamily="34" charset="-122"/>
                          <a:cs typeface="IBM Plex Mono" pitchFamily="34" charset="-120"/>
                        </a:rPr>
                        <a:t>PROPERTY</a:t>
                      </a:r>
                      <a:endParaRPr lang="en-US" sz="16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600" b="1" kern="0" spc="200" dirty="0">
                          <a:solidFill>
                            <a:srgbClr val="D4FF00"/>
                          </a:solidFill>
                          <a:latin typeface="IBM Plex Mono" pitchFamily="34" charset="0"/>
                          <a:ea typeface="IBM Plex Mono" pitchFamily="34" charset="-122"/>
                          <a:cs typeface="IBM Plex Mono" pitchFamily="34" charset="-120"/>
                        </a:rPr>
                        <a:t>WHERE</a:t>
                      </a:r>
                      <a:endParaRPr lang="en-US" sz="16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600" b="1" kern="0" spc="200" dirty="0">
                          <a:solidFill>
                            <a:srgbClr val="D4FF00"/>
                          </a:solidFill>
                          <a:latin typeface="IBM Plex Mono" pitchFamily="34" charset="0"/>
                          <a:ea typeface="IBM Plex Mono" pitchFamily="34" charset="-122"/>
                          <a:cs typeface="IBM Plex Mono" pitchFamily="34" charset="-120"/>
                        </a:rPr>
                        <a:t>PURPOSE</a:t>
                      </a:r>
                      <a:endParaRPr lang="en-US" sz="16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1062846">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exposes</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Remotes</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Public API: which components this team shares</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723790">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remotes</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Host</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Runtime discovery: scope@URL for each remote</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723790">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shared</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Both</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Deduplication: singleton: true means one React for all</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84474391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bg>
      <p:bgPr>
        <a:solidFill>
          <a:srgbClr val="0C0C0C"/>
        </a:solidFill>
        <a:effectLst/>
      </p:bgPr>
    </p:bg>
    <p:spTree>
      <p:nvGrpSpPr>
        <p:cNvPr id="1" name="">
          <a:extLst>
            <a:ext uri="{FF2B5EF4-FFF2-40B4-BE49-F238E27FC236}">
              <a16:creationId xmlns:a16="http://schemas.microsoft.com/office/drawing/2014/main" id="{CA4228EE-B8FB-46C8-72DC-7E6F4F53BFC8}"/>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DF8527CA-669F-AC37-E066-4F44E5276675}"/>
              </a:ext>
            </a:extLst>
          </p:cNvPr>
          <p:cNvSpPr/>
          <p:nvPr/>
        </p:nvSpPr>
        <p:spPr>
          <a:xfrm>
            <a:off x="576072" y="0"/>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The one plugin that makes it federated</a:t>
            </a:r>
            <a:endParaRPr lang="en-US" sz="3300" dirty="0"/>
          </a:p>
        </p:txBody>
      </p:sp>
      <p:sp>
        <p:nvSpPr>
          <p:cNvPr id="7" name="TextBox 6">
            <a:extLst>
              <a:ext uri="{FF2B5EF4-FFF2-40B4-BE49-F238E27FC236}">
                <a16:creationId xmlns:a16="http://schemas.microsoft.com/office/drawing/2014/main" id="{3F0CA410-3EBD-0681-3D16-93BE8F3BDC97}"/>
              </a:ext>
            </a:extLst>
          </p:cNvPr>
          <p:cNvSpPr txBox="1"/>
          <p:nvPr/>
        </p:nvSpPr>
        <p:spPr>
          <a:xfrm>
            <a:off x="591312" y="621792"/>
            <a:ext cx="10902625" cy="6040628"/>
          </a:xfrm>
          <a:prstGeom prst="rect">
            <a:avLst/>
          </a:prstGeom>
          <a:noFill/>
        </p:spPr>
        <p:txBody>
          <a:bodyPr wrap="square">
            <a:spAutoFit/>
          </a:bodyPr>
          <a:lstStyle/>
          <a:p>
            <a:pPr>
              <a:lnSpc>
                <a:spcPct val="150000"/>
              </a:lnSpc>
              <a:buNone/>
            </a:pPr>
            <a:r>
              <a:rPr lang="en-US" sz="2000" b="0" dirty="0">
                <a:solidFill>
                  <a:srgbClr val="8B949E"/>
                </a:solidFill>
                <a:effectLst/>
                <a:latin typeface="Cascadia Code" panose="020B0609020000020004" pitchFamily="49" charset="0"/>
              </a:rPr>
              <a:t>// records (remote)</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569CD6"/>
                </a:solidFill>
                <a:effectLst/>
                <a:latin typeface="Cascadia Code" panose="020B0609020000020004" pitchFamily="49" charset="0"/>
              </a:rPr>
              <a:t>new</a:t>
            </a:r>
            <a:r>
              <a:rPr lang="en-US" sz="2000" b="0" dirty="0">
                <a:solidFill>
                  <a:srgbClr val="BBBEBF"/>
                </a:solidFill>
                <a:effectLst/>
                <a:latin typeface="Cascadia Code" panose="020B0609020000020004" pitchFamily="49" charset="0"/>
              </a:rPr>
              <a:t> </a:t>
            </a:r>
            <a:r>
              <a:rPr lang="en-US" sz="2000" b="0" dirty="0" err="1">
                <a:solidFill>
                  <a:srgbClr val="C9D1D9"/>
                </a:solidFill>
                <a:effectLst/>
                <a:latin typeface="Cascadia Code" panose="020B0609020000020004" pitchFamily="49" charset="0"/>
              </a:rPr>
              <a:t>rspack</a:t>
            </a:r>
            <a:r>
              <a:rPr lang="en-US" sz="2000" b="0" dirty="0" err="1">
                <a:solidFill>
                  <a:srgbClr val="BBBEBF"/>
                </a:solidFill>
                <a:effectLst/>
                <a:latin typeface="Cascadia Code" panose="020B0609020000020004" pitchFamily="49" charset="0"/>
              </a:rPr>
              <a:t>.</a:t>
            </a:r>
            <a:r>
              <a:rPr lang="en-US" sz="2000" b="0" dirty="0" err="1">
                <a:solidFill>
                  <a:srgbClr val="C9D1D9"/>
                </a:solidFill>
                <a:effectLst/>
                <a:latin typeface="Cascadia Code" panose="020B0609020000020004" pitchFamily="49" charset="0"/>
              </a:rPr>
              <a:t>container</a:t>
            </a:r>
            <a:r>
              <a:rPr lang="en-US" sz="2000" b="0" dirty="0" err="1">
                <a:solidFill>
                  <a:srgbClr val="BBBEBF"/>
                </a:solidFill>
                <a:effectLst/>
                <a:latin typeface="Cascadia Code" panose="020B0609020000020004" pitchFamily="49" charset="0"/>
              </a:rPr>
              <a:t>.</a:t>
            </a:r>
            <a:r>
              <a:rPr lang="en-US" sz="2000" b="0" dirty="0" err="1">
                <a:solidFill>
                  <a:srgbClr val="D2A8FF"/>
                </a:solidFill>
                <a:effectLst/>
                <a:latin typeface="Cascadia Code" panose="020B0609020000020004" pitchFamily="49" charset="0"/>
              </a:rPr>
              <a:t>ModuleFederationPlugin</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9CDCFE"/>
                </a:solidFill>
                <a:effectLst/>
                <a:latin typeface="Cascadia Code" panose="020B0609020000020004" pitchFamily="49" charset="0"/>
              </a:rPr>
              <a:t>name:</a:t>
            </a:r>
            <a:r>
              <a:rPr lang="en-US" sz="2000" b="0" dirty="0">
                <a:solidFill>
                  <a:srgbClr val="C9D1D9"/>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"records"</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9CDCFE"/>
                </a:solidFill>
                <a:effectLst/>
                <a:latin typeface="Cascadia Code" panose="020B0609020000020004" pitchFamily="49" charset="0"/>
              </a:rPr>
              <a:t>filename:</a:t>
            </a:r>
            <a:r>
              <a:rPr lang="en-US" sz="2000" b="0" dirty="0">
                <a:solidFill>
                  <a:srgbClr val="C9D1D9"/>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"remoteEntry.js"</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9CDCFE"/>
                </a:solidFill>
                <a:effectLst/>
                <a:latin typeface="Cascadia Code" panose="020B0609020000020004" pitchFamily="49" charset="0"/>
              </a:rPr>
              <a:t>exposes:</a:t>
            </a:r>
            <a:r>
              <a:rPr lang="en-US" sz="2000" b="0" dirty="0">
                <a:solidFill>
                  <a:srgbClr val="C9D1D9"/>
                </a:solidFill>
                <a:effectLst/>
                <a:latin typeface="Cascadia Code" panose="020B0609020000020004" pitchFamily="49" charset="0"/>
              </a:rPr>
              <a:t>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a:t>
            </a:r>
            <a:r>
              <a:rPr lang="en-US" sz="2000" b="0" dirty="0" err="1">
                <a:solidFill>
                  <a:srgbClr val="A5D6FF"/>
                </a:solidFill>
                <a:effectLst/>
                <a:latin typeface="Cascadia Code" panose="020B0609020000020004" pitchFamily="49" charset="0"/>
              </a:rPr>
              <a:t>MedicalRecords</a:t>
            </a:r>
            <a:r>
              <a:rPr lang="en-US" sz="2000" b="0" dirty="0">
                <a:solidFill>
                  <a:srgbClr val="A5D6FF"/>
                </a:solidFill>
                <a:effectLst/>
                <a:latin typeface="Cascadia Code" panose="020B0609020000020004" pitchFamily="49" charset="0"/>
              </a:rPr>
              <a:t>"</a:t>
            </a:r>
            <a:r>
              <a:rPr lang="en-US" sz="2000" b="0" dirty="0">
                <a:solidFill>
                  <a:srgbClr val="9CDCFE"/>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a:t>
            </a:r>
            <a:r>
              <a:rPr lang="en-US" sz="2000" b="0" dirty="0" err="1">
                <a:solidFill>
                  <a:srgbClr val="A5D6FF"/>
                </a:solidFill>
                <a:effectLst/>
                <a:latin typeface="Cascadia Code" panose="020B0609020000020004" pitchFamily="49" charset="0"/>
              </a:rPr>
              <a:t>src</a:t>
            </a:r>
            <a:r>
              <a:rPr lang="en-US" sz="2000" b="0" dirty="0">
                <a:solidFill>
                  <a:srgbClr val="A5D6FF"/>
                </a:solidFill>
                <a:effectLst/>
                <a:latin typeface="Cascadia Code" panose="020B0609020000020004" pitchFamily="49" charset="0"/>
              </a:rPr>
              <a:t>/</a:t>
            </a:r>
            <a:r>
              <a:rPr lang="en-US" sz="2000" b="0" dirty="0" err="1">
                <a:solidFill>
                  <a:srgbClr val="A5D6FF"/>
                </a:solidFill>
                <a:effectLst/>
                <a:latin typeface="Cascadia Code" panose="020B0609020000020004" pitchFamily="49" charset="0"/>
              </a:rPr>
              <a:t>MedicalRecords.tsx</a:t>
            </a:r>
            <a:r>
              <a:rPr lang="en-US" sz="2000" b="0" dirty="0">
                <a:solidFill>
                  <a:srgbClr val="A5D6FF"/>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9CDCFE"/>
                </a:solidFill>
                <a:effectLst/>
                <a:latin typeface="Cascadia Code" panose="020B0609020000020004" pitchFamily="49" charset="0"/>
              </a:rPr>
              <a:t>shared:</a:t>
            </a:r>
            <a:r>
              <a:rPr lang="en-US" sz="2000" b="0" dirty="0">
                <a:solidFill>
                  <a:srgbClr val="C9D1D9"/>
                </a:solidFill>
                <a:effectLst/>
                <a:latin typeface="Cascadia Code" panose="020B0609020000020004" pitchFamily="49" charset="0"/>
              </a:rPr>
              <a:t>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9CDCFE"/>
                </a:solidFill>
                <a:effectLst/>
                <a:latin typeface="Cascadia Code" panose="020B0609020000020004" pitchFamily="49" charset="0"/>
              </a:rPr>
              <a:t>react:</a:t>
            </a:r>
            <a:r>
              <a:rPr lang="en-US" sz="2000" b="0" dirty="0">
                <a:solidFill>
                  <a:srgbClr val="C9D1D9"/>
                </a:solidFill>
                <a:effectLst/>
                <a:latin typeface="Cascadia Code" panose="020B0609020000020004" pitchFamily="49" charset="0"/>
              </a:rPr>
              <a:t> { </a:t>
            </a:r>
            <a:r>
              <a:rPr lang="en-US" sz="2000" b="0" dirty="0">
                <a:solidFill>
                  <a:srgbClr val="9CDCFE"/>
                </a:solidFill>
                <a:effectLst/>
                <a:latin typeface="Cascadia Code" panose="020B0609020000020004" pitchFamily="49" charset="0"/>
              </a:rPr>
              <a:t>singleton:</a:t>
            </a:r>
            <a:r>
              <a:rPr lang="en-US" sz="2000" b="0" dirty="0">
                <a:solidFill>
                  <a:srgbClr val="C9D1D9"/>
                </a:solidFill>
                <a:effectLst/>
                <a:latin typeface="Cascadia Code" panose="020B0609020000020004" pitchFamily="49" charset="0"/>
              </a:rPr>
              <a:t> </a:t>
            </a:r>
            <a:r>
              <a:rPr lang="en-US" sz="2000" b="0" dirty="0">
                <a:solidFill>
                  <a:srgbClr val="569CD6"/>
                </a:solidFill>
                <a:effectLst/>
                <a:latin typeface="Cascadia Code" panose="020B0609020000020004" pitchFamily="49" charset="0"/>
              </a:rPr>
              <a:t>true</a:t>
            </a:r>
            <a:r>
              <a:rPr lang="en-US" sz="2000" b="0" dirty="0">
                <a:solidFill>
                  <a:srgbClr val="C9D1D9"/>
                </a:solidFill>
                <a:effectLst/>
                <a:latin typeface="Cascadia Code" panose="020B0609020000020004" pitchFamily="49" charset="0"/>
              </a:rPr>
              <a:t>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a:t>
            </a:r>
          </a:p>
          <a:p>
            <a:pPr>
              <a:lnSpc>
                <a:spcPct val="150000"/>
              </a:lnSpc>
              <a:buNone/>
            </a:pPr>
            <a:br>
              <a:rPr lang="en-US" sz="2000" b="0" dirty="0">
                <a:solidFill>
                  <a:srgbClr val="BBBEBF"/>
                </a:solidFill>
                <a:effectLst/>
                <a:latin typeface="Cascadia Code" panose="020B0609020000020004" pitchFamily="49" charset="0"/>
              </a:rPr>
            </a:br>
            <a:endParaRPr lang="en-US" sz="2000" b="0" dirty="0">
              <a:solidFill>
                <a:srgbClr val="BBBEBF"/>
              </a:solidFill>
              <a:effectLst/>
              <a:latin typeface="Cascadia Code" panose="020B0609020000020004" pitchFamily="49" charset="0"/>
            </a:endParaRPr>
          </a:p>
        </p:txBody>
      </p:sp>
    </p:spTree>
    <p:extLst>
      <p:ext uri="{BB962C8B-B14F-4D97-AF65-F5344CB8AC3E}">
        <p14:creationId xmlns:p14="http://schemas.microsoft.com/office/powerpoint/2010/main" val="148808055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bg>
      <p:bgPr>
        <a:solidFill>
          <a:srgbClr val="0C0C0C"/>
        </a:solidFill>
        <a:effectLst/>
      </p:bgPr>
    </p:bg>
    <p:spTree>
      <p:nvGrpSpPr>
        <p:cNvPr id="1" name="">
          <a:extLst>
            <a:ext uri="{FF2B5EF4-FFF2-40B4-BE49-F238E27FC236}">
              <a16:creationId xmlns:a16="http://schemas.microsoft.com/office/drawing/2014/main" id="{BD7FCC17-6B60-FE0A-4A6D-4BD139AEC909}"/>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5A2BF33E-44BC-F5C0-410E-54DAC42040F6}"/>
              </a:ext>
            </a:extLst>
          </p:cNvPr>
          <p:cNvSpPr/>
          <p:nvPr/>
        </p:nvSpPr>
        <p:spPr>
          <a:xfrm>
            <a:off x="530352" y="0"/>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The one plugin that makes it federated</a:t>
            </a:r>
            <a:endParaRPr lang="en-US" sz="3300" dirty="0"/>
          </a:p>
        </p:txBody>
      </p:sp>
      <p:sp>
        <p:nvSpPr>
          <p:cNvPr id="6" name="TextBox 5">
            <a:extLst>
              <a:ext uri="{FF2B5EF4-FFF2-40B4-BE49-F238E27FC236}">
                <a16:creationId xmlns:a16="http://schemas.microsoft.com/office/drawing/2014/main" id="{3E190191-0942-FA5F-A48D-1D81D8DC7135}"/>
              </a:ext>
            </a:extLst>
          </p:cNvPr>
          <p:cNvSpPr txBox="1"/>
          <p:nvPr/>
        </p:nvSpPr>
        <p:spPr>
          <a:xfrm>
            <a:off x="530352" y="646176"/>
            <a:ext cx="11109960" cy="6040628"/>
          </a:xfrm>
          <a:prstGeom prst="rect">
            <a:avLst/>
          </a:prstGeom>
          <a:noFill/>
        </p:spPr>
        <p:txBody>
          <a:bodyPr wrap="square">
            <a:spAutoFit/>
          </a:bodyPr>
          <a:lstStyle/>
          <a:p>
            <a:pPr>
              <a:lnSpc>
                <a:spcPct val="150000"/>
              </a:lnSpc>
              <a:buNone/>
            </a:pPr>
            <a:r>
              <a:rPr lang="en-US" sz="2000" b="0" dirty="0">
                <a:solidFill>
                  <a:srgbClr val="8B949E"/>
                </a:solidFill>
                <a:effectLst/>
                <a:latin typeface="Cascadia Code" panose="020B0609020000020004" pitchFamily="49" charset="0"/>
              </a:rPr>
              <a:t>// shell (host)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569CD6"/>
                </a:solidFill>
                <a:effectLst/>
                <a:latin typeface="Cascadia Code" panose="020B0609020000020004" pitchFamily="49" charset="0"/>
              </a:rPr>
              <a:t>new</a:t>
            </a:r>
            <a:r>
              <a:rPr lang="en-US" sz="2000" b="0" dirty="0">
                <a:solidFill>
                  <a:srgbClr val="BBBEBF"/>
                </a:solidFill>
                <a:effectLst/>
                <a:latin typeface="Cascadia Code" panose="020B0609020000020004" pitchFamily="49" charset="0"/>
              </a:rPr>
              <a:t> </a:t>
            </a:r>
            <a:r>
              <a:rPr lang="en-US" sz="2000" b="0" dirty="0" err="1">
                <a:solidFill>
                  <a:srgbClr val="C9D1D9"/>
                </a:solidFill>
                <a:effectLst/>
                <a:latin typeface="Cascadia Code" panose="020B0609020000020004" pitchFamily="49" charset="0"/>
              </a:rPr>
              <a:t>rspack</a:t>
            </a:r>
            <a:r>
              <a:rPr lang="en-US" sz="2000" b="0" dirty="0" err="1">
                <a:solidFill>
                  <a:srgbClr val="BBBEBF"/>
                </a:solidFill>
                <a:effectLst/>
                <a:latin typeface="Cascadia Code" panose="020B0609020000020004" pitchFamily="49" charset="0"/>
              </a:rPr>
              <a:t>.</a:t>
            </a:r>
            <a:r>
              <a:rPr lang="en-US" sz="2000" b="0" dirty="0" err="1">
                <a:solidFill>
                  <a:srgbClr val="C9D1D9"/>
                </a:solidFill>
                <a:effectLst/>
                <a:latin typeface="Cascadia Code" panose="020B0609020000020004" pitchFamily="49" charset="0"/>
              </a:rPr>
              <a:t>container</a:t>
            </a:r>
            <a:r>
              <a:rPr lang="en-US" sz="2000" b="0" dirty="0" err="1">
                <a:solidFill>
                  <a:srgbClr val="BBBEBF"/>
                </a:solidFill>
                <a:effectLst/>
                <a:latin typeface="Cascadia Code" panose="020B0609020000020004" pitchFamily="49" charset="0"/>
              </a:rPr>
              <a:t>.</a:t>
            </a:r>
            <a:r>
              <a:rPr lang="en-US" sz="2000" b="0" dirty="0" err="1">
                <a:solidFill>
                  <a:srgbClr val="D2A8FF"/>
                </a:solidFill>
                <a:effectLst/>
                <a:latin typeface="Cascadia Code" panose="020B0609020000020004" pitchFamily="49" charset="0"/>
              </a:rPr>
              <a:t>ModuleFederationPlugin</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C9D1D9"/>
                </a:solidFill>
                <a:effectLst/>
                <a:latin typeface="Cascadia Code" panose="020B0609020000020004" pitchFamily="49" charset="0"/>
              </a:rPr>
              <a:t>name</a:t>
            </a:r>
            <a:r>
              <a:rPr lang="en-US" sz="2000" b="0" dirty="0">
                <a:solidFill>
                  <a:srgbClr val="9CDCFE"/>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"shell"</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C9D1D9"/>
                </a:solidFill>
                <a:effectLst/>
                <a:latin typeface="Cascadia Code" panose="020B0609020000020004" pitchFamily="49" charset="0"/>
              </a:rPr>
              <a:t>remotes</a:t>
            </a:r>
            <a:r>
              <a:rPr lang="en-US" sz="2000" b="0" dirty="0">
                <a:solidFill>
                  <a:srgbClr val="9CDCFE"/>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records</a:t>
            </a:r>
            <a:r>
              <a:rPr lang="en-US" sz="2000" b="0" dirty="0">
                <a:solidFill>
                  <a:srgbClr val="9CDCFE"/>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a:t>
            </a:r>
            <a:r>
              <a:rPr lang="en-US" sz="2000" b="0" dirty="0" err="1">
                <a:solidFill>
                  <a:srgbClr val="A5D6FF"/>
                </a:solidFill>
                <a:effectLst/>
                <a:latin typeface="Cascadia Code" panose="020B0609020000020004" pitchFamily="49" charset="0"/>
              </a:rPr>
              <a:t>records@http</a:t>
            </a:r>
            <a:r>
              <a:rPr lang="en-US" sz="2000" b="0" dirty="0">
                <a:solidFill>
                  <a:srgbClr val="A5D6FF"/>
                </a:solidFill>
                <a:effectLst/>
                <a:latin typeface="Cascadia Code" panose="020B0609020000020004" pitchFamily="49" charset="0"/>
              </a:rPr>
              <a:t>://localhost:3001/remoteEntry.js"</a:t>
            </a:r>
            <a:r>
              <a:rPr lang="en-US" sz="2000" b="0" dirty="0">
                <a:solidFill>
                  <a:srgbClr val="C9D1D9"/>
                </a:solidFill>
                <a:effectLst/>
                <a:latin typeface="Cascadia Code" panose="020B0609020000020004" pitchFamily="49" charset="0"/>
              </a:rPr>
              <a: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8B949E"/>
                </a:solidFill>
                <a:effectLst/>
                <a:latin typeface="Cascadia Code" panose="020B0609020000020004" pitchFamily="49" charset="0"/>
              </a:rPr>
              <a:t>// home, prescriptions, analytics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C9D1D9"/>
                </a:solidFill>
                <a:effectLst/>
                <a:latin typeface="Cascadia Code" panose="020B0609020000020004" pitchFamily="49" charset="0"/>
              </a:rPr>
              <a:t>shared</a:t>
            </a:r>
            <a:r>
              <a:rPr lang="en-US" sz="2000" b="0" dirty="0">
                <a:solidFill>
                  <a:srgbClr val="9CDCFE"/>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react</a:t>
            </a:r>
            <a:r>
              <a:rPr lang="en-US" sz="2000" b="0" dirty="0">
                <a:solidFill>
                  <a:srgbClr val="9CDCFE"/>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 singleton</a:t>
            </a:r>
            <a:r>
              <a:rPr lang="en-US" sz="2000" b="0" dirty="0">
                <a:solidFill>
                  <a:srgbClr val="9CDCFE"/>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r>
              <a:rPr lang="en-US" sz="2000" b="0" dirty="0">
                <a:solidFill>
                  <a:srgbClr val="569CD6"/>
                </a:solidFill>
                <a:effectLst/>
                <a:latin typeface="Cascadia Code" panose="020B0609020000020004" pitchFamily="49" charset="0"/>
              </a:rPr>
              <a:t>true</a:t>
            </a:r>
            <a:r>
              <a:rPr lang="en-US" sz="2000" b="0" dirty="0">
                <a:solidFill>
                  <a:srgbClr val="C9D1D9"/>
                </a:solidFill>
                <a:effectLst/>
                <a:latin typeface="Cascadia Code" panose="020B0609020000020004" pitchFamily="49" charset="0"/>
              </a:rPr>
              <a:t>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a:t>
            </a:r>
          </a:p>
          <a:p>
            <a:pPr>
              <a:lnSpc>
                <a:spcPct val="150000"/>
              </a:lnSpc>
              <a:buNone/>
            </a:pPr>
            <a:br>
              <a:rPr lang="en-US" sz="2000" b="0" dirty="0">
                <a:solidFill>
                  <a:srgbClr val="BBBEBF"/>
                </a:solidFill>
                <a:effectLst/>
                <a:latin typeface="Cascadia Code" panose="020B0609020000020004" pitchFamily="49" charset="0"/>
              </a:rPr>
            </a:br>
            <a:endParaRPr lang="en-US" sz="2000" b="0" dirty="0">
              <a:solidFill>
                <a:srgbClr val="BBBEBF"/>
              </a:solidFill>
              <a:effectLst/>
              <a:latin typeface="Cascadia Code" panose="020B0609020000020004" pitchFamily="49" charset="0"/>
            </a:endParaRPr>
          </a:p>
        </p:txBody>
      </p:sp>
    </p:spTree>
    <p:extLst>
      <p:ext uri="{BB962C8B-B14F-4D97-AF65-F5344CB8AC3E}">
        <p14:creationId xmlns:p14="http://schemas.microsoft.com/office/powerpoint/2010/main" val="67755441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name="Slide 7">
    <p:bg>
      <p:bgPr>
        <a:solidFill>
          <a:srgbClr val="0C0C0C"/>
        </a:solidFill>
        <a:effectLst/>
      </p:bgPr>
    </p:bg>
    <p:spTree>
      <p:nvGrpSpPr>
        <p:cNvPr id="1" name=""/>
        <p:cNvGrpSpPr/>
        <p:nvPr/>
      </p:nvGrpSpPr>
      <p:grpSpPr>
        <a:xfrm>
          <a:off x="0" y="0"/>
          <a:ext cx="0" cy="0"/>
          <a:chOff x="0" y="0"/>
          <a:chExt cx="0" cy="0"/>
        </a:xfrm>
      </p:grpSpPr>
      <p:sp>
        <p:nvSpPr>
          <p:cNvPr id="4" name="Text 2"/>
          <p:cNvSpPr/>
          <p:nvPr/>
        </p:nvSpPr>
        <p:spPr>
          <a:xfrm>
            <a:off x="557784" y="0"/>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The resource pattern: a client-side Suspense fallback</a:t>
            </a:r>
            <a:endParaRPr lang="en-US" sz="3300" dirty="0"/>
          </a:p>
        </p:txBody>
      </p:sp>
      <p:sp>
        <p:nvSpPr>
          <p:cNvPr id="6" name="TextBox 5">
            <a:extLst>
              <a:ext uri="{FF2B5EF4-FFF2-40B4-BE49-F238E27FC236}">
                <a16:creationId xmlns:a16="http://schemas.microsoft.com/office/drawing/2014/main" id="{27FD7F61-1237-9A90-EDF5-7890683A2CD2}"/>
              </a:ext>
            </a:extLst>
          </p:cNvPr>
          <p:cNvSpPr txBox="1"/>
          <p:nvPr/>
        </p:nvSpPr>
        <p:spPr>
          <a:xfrm>
            <a:off x="557911" y="777240"/>
            <a:ext cx="11109833" cy="6692281"/>
          </a:xfrm>
          <a:prstGeom prst="rect">
            <a:avLst/>
          </a:prstGeom>
          <a:noFill/>
        </p:spPr>
        <p:txBody>
          <a:bodyPr wrap="square">
            <a:spAutoFit/>
          </a:bodyPr>
          <a:lstStyle/>
          <a:p>
            <a:pPr>
              <a:lnSpc>
                <a:spcPct val="150000"/>
              </a:lnSpc>
              <a:buNone/>
            </a:pPr>
            <a:r>
              <a:rPr lang="en-US" b="0" dirty="0">
                <a:solidFill>
                  <a:srgbClr val="FF7B72"/>
                </a:solidFill>
                <a:effectLst/>
                <a:latin typeface="Cascadia Code" panose="020B0609020000020004" pitchFamily="49" charset="0"/>
              </a:rPr>
              <a:t>function</a:t>
            </a:r>
            <a:r>
              <a:rPr lang="en-US" b="0" dirty="0">
                <a:solidFill>
                  <a:srgbClr val="BBBEBF"/>
                </a:solidFill>
                <a:effectLst/>
                <a:latin typeface="Cascadia Code" panose="020B0609020000020004" pitchFamily="49" charset="0"/>
              </a:rPr>
              <a:t> </a:t>
            </a:r>
            <a:r>
              <a:rPr lang="en-US" b="0" dirty="0" err="1">
                <a:solidFill>
                  <a:srgbClr val="D2A8FF"/>
                </a:solidFill>
                <a:effectLst/>
                <a:latin typeface="Cascadia Code" panose="020B0609020000020004" pitchFamily="49" charset="0"/>
              </a:rPr>
              <a:t>createResource</a:t>
            </a:r>
            <a:r>
              <a:rPr lang="en-US" b="0" dirty="0">
                <a:solidFill>
                  <a:srgbClr val="BBBEBF"/>
                </a:solidFill>
                <a:effectLst/>
                <a:latin typeface="Cascadia Code" panose="020B0609020000020004" pitchFamily="49" charset="0"/>
              </a:rPr>
              <a:t>&lt;</a:t>
            </a:r>
            <a:r>
              <a:rPr lang="en-US" b="0" dirty="0">
                <a:solidFill>
                  <a:srgbClr val="4EC9B0"/>
                </a:solidFill>
                <a:effectLst/>
                <a:latin typeface="Cascadia Code" panose="020B0609020000020004" pitchFamily="49" charset="0"/>
              </a:rPr>
              <a:t>T</a:t>
            </a:r>
            <a:r>
              <a:rPr lang="en-US" b="0" dirty="0">
                <a:solidFill>
                  <a:srgbClr val="BBBEBF"/>
                </a:solidFill>
                <a:effectLst/>
                <a:latin typeface="Cascadia Code" panose="020B0609020000020004" pitchFamily="49" charset="0"/>
              </a:rPr>
              <a:t>&gt;(</a:t>
            </a:r>
            <a:r>
              <a:rPr lang="en-US" b="0" dirty="0" err="1">
                <a:solidFill>
                  <a:srgbClr val="D2A8FF"/>
                </a:solidFill>
                <a:effectLst/>
                <a:latin typeface="Cascadia Code" panose="020B0609020000020004" pitchFamily="49" charset="0"/>
              </a:rPr>
              <a:t>asyncFn</a:t>
            </a:r>
            <a:r>
              <a:rPr lang="en-US" b="0" dirty="0">
                <a:solidFill>
                  <a:srgbClr val="D4D4D4"/>
                </a:solidFill>
                <a:effectLst/>
                <a:latin typeface="Cascadia Code" panose="020B0609020000020004" pitchFamily="49" charset="0"/>
              </a:rPr>
              <a:t>:</a:t>
            </a:r>
            <a:r>
              <a:rPr lang="en-US" b="0" dirty="0">
                <a:solidFill>
                  <a:srgbClr val="BBBEBF"/>
                </a:solidFill>
                <a:effectLst/>
                <a:latin typeface="Cascadia Code" panose="020B0609020000020004" pitchFamily="49" charset="0"/>
              </a:rPr>
              <a:t> () </a:t>
            </a:r>
            <a:r>
              <a:rPr lang="en-US" b="0" dirty="0">
                <a:solidFill>
                  <a:srgbClr val="FF7B72"/>
                </a:solidFill>
                <a:effectLst/>
                <a:latin typeface="Cascadia Code" panose="020B0609020000020004" pitchFamily="49" charset="0"/>
              </a:rPr>
              <a:t>=&gt;</a:t>
            </a:r>
            <a:r>
              <a:rPr lang="en-US" b="0" dirty="0">
                <a:solidFill>
                  <a:srgbClr val="BBBEBF"/>
                </a:solidFill>
                <a:effectLst/>
                <a:latin typeface="Cascadia Code" panose="020B0609020000020004" pitchFamily="49" charset="0"/>
              </a:rPr>
              <a:t> </a:t>
            </a:r>
            <a:r>
              <a:rPr lang="en-US" b="0" dirty="0">
                <a:solidFill>
                  <a:srgbClr val="4EC9B0"/>
                </a:solidFill>
                <a:effectLst/>
                <a:latin typeface="Cascadia Code" panose="020B0609020000020004" pitchFamily="49" charset="0"/>
              </a:rPr>
              <a:t>Promise</a:t>
            </a:r>
            <a:r>
              <a:rPr lang="en-US" b="0" dirty="0">
                <a:solidFill>
                  <a:srgbClr val="BBBEBF"/>
                </a:solidFill>
                <a:effectLst/>
                <a:latin typeface="Cascadia Code" panose="020B0609020000020004" pitchFamily="49" charset="0"/>
              </a:rPr>
              <a:t>&lt;</a:t>
            </a:r>
            <a:r>
              <a:rPr lang="en-US" b="0" dirty="0">
                <a:solidFill>
                  <a:srgbClr val="4EC9B0"/>
                </a:solidFill>
                <a:effectLst/>
                <a:latin typeface="Cascadia Code" panose="020B0609020000020004" pitchFamily="49" charset="0"/>
              </a:rPr>
              <a:t>T</a:t>
            </a:r>
            <a:r>
              <a:rPr lang="en-US" b="0" dirty="0">
                <a:solidFill>
                  <a:srgbClr val="BBBEBF"/>
                </a:solidFill>
                <a:effectLst/>
                <a:latin typeface="Cascadia Code" panose="020B0609020000020004" pitchFamily="49" charset="0"/>
              </a:rPr>
              <a:t>&gt;)</a:t>
            </a:r>
            <a:r>
              <a:rPr lang="en-US" b="0" dirty="0">
                <a:solidFill>
                  <a:srgbClr val="D4D4D4"/>
                </a:solidFill>
                <a:effectLst/>
                <a:latin typeface="Cascadia Code" panose="020B0609020000020004" pitchFamily="49" charset="0"/>
              </a:rPr>
              <a:t>:</a:t>
            </a:r>
            <a:r>
              <a:rPr lang="en-US" b="0" dirty="0">
                <a:solidFill>
                  <a:srgbClr val="BBBEBF"/>
                </a:solidFill>
                <a:effectLst/>
                <a:latin typeface="Cascadia Code" panose="020B0609020000020004" pitchFamily="49" charset="0"/>
              </a:rPr>
              <a:t> </a:t>
            </a:r>
            <a:r>
              <a:rPr lang="en-US" b="0" dirty="0">
                <a:solidFill>
                  <a:srgbClr val="4EC9B0"/>
                </a:solidFill>
                <a:effectLst/>
                <a:latin typeface="Cascadia Code" panose="020B0609020000020004" pitchFamily="49" charset="0"/>
              </a:rPr>
              <a:t>Resource</a:t>
            </a:r>
            <a:r>
              <a:rPr lang="en-US" b="0" dirty="0">
                <a:solidFill>
                  <a:srgbClr val="BBBEBF"/>
                </a:solidFill>
                <a:effectLst/>
                <a:latin typeface="Cascadia Code" panose="020B0609020000020004" pitchFamily="49" charset="0"/>
              </a:rPr>
              <a:t>&lt;</a:t>
            </a:r>
            <a:r>
              <a:rPr lang="en-US" b="0" dirty="0">
                <a:solidFill>
                  <a:srgbClr val="4EC9B0"/>
                </a:solidFill>
                <a:effectLst/>
                <a:latin typeface="Cascadia Code" panose="020B0609020000020004" pitchFamily="49" charset="0"/>
              </a:rPr>
              <a:t>T</a:t>
            </a:r>
            <a:r>
              <a:rPr lang="en-US" b="0" dirty="0">
                <a:solidFill>
                  <a:srgbClr val="BBBEBF"/>
                </a:solidFill>
                <a:effectLst/>
                <a:latin typeface="Cascadia Code" panose="020B0609020000020004" pitchFamily="49" charset="0"/>
              </a:rPr>
              <a:t>&gt; </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let</a:t>
            </a:r>
            <a:r>
              <a:rPr lang="en-US" b="0" dirty="0">
                <a:solidFill>
                  <a:srgbClr val="C9D1D9"/>
                </a:solidFill>
                <a:effectLst/>
                <a:latin typeface="Cascadia Code" panose="020B0609020000020004" pitchFamily="49" charset="0"/>
              </a:rPr>
              <a:t> status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A5D6FF"/>
                </a:solidFill>
                <a:effectLst/>
                <a:latin typeface="Cascadia Code" panose="020B0609020000020004" pitchFamily="49" charset="0"/>
              </a:rPr>
              <a:t>"pending"</a:t>
            </a: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let</a:t>
            </a:r>
            <a:r>
              <a:rPr lang="en-US" b="0" dirty="0">
                <a:solidFill>
                  <a:srgbClr val="C9D1D9"/>
                </a:solidFill>
                <a:effectLst/>
                <a:latin typeface="Cascadia Code" panose="020B0609020000020004" pitchFamily="49" charset="0"/>
              </a:rPr>
              <a:t> result</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4EC9B0"/>
                </a:solidFill>
                <a:effectLst/>
                <a:latin typeface="Cascadia Code" panose="020B0609020000020004" pitchFamily="49" charset="0"/>
              </a:rPr>
              <a:t>T</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const</a:t>
            </a:r>
            <a:r>
              <a:rPr lang="en-US" b="0" dirty="0">
                <a:solidFill>
                  <a:srgbClr val="C9D1D9"/>
                </a:solidFill>
                <a:effectLst/>
                <a:latin typeface="Cascadia Code" panose="020B0609020000020004" pitchFamily="49" charset="0"/>
              </a:rPr>
              <a:t> </a:t>
            </a:r>
            <a:r>
              <a:rPr lang="en-US" b="0" dirty="0">
                <a:solidFill>
                  <a:srgbClr val="79C0FF"/>
                </a:solidFill>
                <a:effectLst/>
                <a:latin typeface="Cascadia Code" panose="020B0609020000020004" pitchFamily="49" charset="0"/>
              </a:rPr>
              <a:t>suspender</a:t>
            </a:r>
            <a:r>
              <a:rPr lang="en-US" b="0" dirty="0">
                <a:solidFill>
                  <a:srgbClr val="C9D1D9"/>
                </a:solidFill>
                <a:effectLst/>
                <a:latin typeface="Cascadia Code" panose="020B0609020000020004" pitchFamily="49" charset="0"/>
              </a:rPr>
              <a:t>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err="1">
                <a:solidFill>
                  <a:srgbClr val="D2A8FF"/>
                </a:solidFill>
                <a:effectLst/>
                <a:latin typeface="Cascadia Code" panose="020B0609020000020004" pitchFamily="49" charset="0"/>
              </a:rPr>
              <a:t>asyncFn</a:t>
            </a:r>
            <a:r>
              <a:rPr lang="en-US" b="0" dirty="0">
                <a:solidFill>
                  <a:srgbClr val="C9D1D9"/>
                </a:solidFill>
                <a:effectLst/>
                <a:latin typeface="Cascadia Code" panose="020B0609020000020004" pitchFamily="49" charset="0"/>
              </a:rPr>
              <a:t>().</a:t>
            </a:r>
            <a:r>
              <a:rPr lang="en-US" b="0" dirty="0">
                <a:solidFill>
                  <a:srgbClr val="D2A8FF"/>
                </a:solidFill>
                <a:effectLst/>
                <a:latin typeface="Cascadia Code" panose="020B0609020000020004" pitchFamily="49" charset="0"/>
              </a:rPr>
              <a:t>then</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FFA657"/>
                </a:solidFill>
                <a:effectLst/>
                <a:latin typeface="Cascadia Code" panose="020B0609020000020004" pitchFamily="49" charset="0"/>
              </a:rPr>
              <a:t>data</a:t>
            </a: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=&gt;</a:t>
            </a:r>
            <a:r>
              <a:rPr lang="en-US" b="0" dirty="0">
                <a:solidFill>
                  <a:srgbClr val="C9D1D9"/>
                </a:solidFill>
                <a:effectLst/>
                <a:latin typeface="Cascadia Code" panose="020B0609020000020004" pitchFamily="49" charset="0"/>
              </a:rPr>
              <a:t> { status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A5D6FF"/>
                </a:solidFill>
                <a:effectLst/>
                <a:latin typeface="Cascadia Code" panose="020B0609020000020004" pitchFamily="49" charset="0"/>
              </a:rPr>
              <a:t>"success"</a:t>
            </a:r>
            <a:r>
              <a:rPr lang="en-US" b="0" dirty="0">
                <a:solidFill>
                  <a:srgbClr val="C9D1D9"/>
                </a:solidFill>
                <a:effectLst/>
                <a:latin typeface="Cascadia Code" panose="020B0609020000020004" pitchFamily="49" charset="0"/>
              </a:rPr>
              <a:t>; result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FFA657"/>
                </a:solidFill>
                <a:effectLst/>
                <a:latin typeface="Cascadia Code" panose="020B0609020000020004" pitchFamily="49" charset="0"/>
              </a:rPr>
              <a:t>data</a:t>
            </a:r>
            <a:r>
              <a:rPr lang="en-US" b="0" dirty="0">
                <a:solidFill>
                  <a:srgbClr val="C9D1D9"/>
                </a:solidFill>
                <a:effectLst/>
                <a:latin typeface="Cascadia Code" panose="020B0609020000020004" pitchFamily="49" charset="0"/>
              </a:rPr>
              <a:t>;  },</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FFA657"/>
                </a:solidFill>
                <a:effectLst/>
                <a:latin typeface="Cascadia Code" panose="020B0609020000020004" pitchFamily="49" charset="0"/>
              </a:rPr>
              <a:t>error</a:t>
            </a: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=&gt;</a:t>
            </a:r>
            <a:r>
              <a:rPr lang="en-US" b="0" dirty="0">
                <a:solidFill>
                  <a:srgbClr val="C9D1D9"/>
                </a:solidFill>
                <a:effectLst/>
                <a:latin typeface="Cascadia Code" panose="020B0609020000020004" pitchFamily="49" charset="0"/>
              </a:rPr>
              <a:t> { status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A5D6FF"/>
                </a:solidFill>
                <a:effectLst/>
                <a:latin typeface="Cascadia Code" panose="020B0609020000020004" pitchFamily="49" charset="0"/>
              </a:rPr>
              <a:t>"error"</a:t>
            </a:r>
            <a:r>
              <a:rPr lang="en-US" b="0" dirty="0">
                <a:solidFill>
                  <a:srgbClr val="C9D1D9"/>
                </a:solidFill>
                <a:effectLst/>
                <a:latin typeface="Cascadia Code" panose="020B0609020000020004" pitchFamily="49" charset="0"/>
              </a:rPr>
              <a:t>;   result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FFA657"/>
                </a:solidFill>
                <a:effectLst/>
                <a:latin typeface="Cascadia Code" panose="020B0609020000020004" pitchFamily="49" charset="0"/>
              </a:rPr>
              <a:t>error</a:t>
            </a:r>
            <a:r>
              <a:rPr lang="en-US" b="0" dirty="0">
                <a:solidFill>
                  <a:srgbClr val="C9D1D9"/>
                </a:solidFill>
                <a:effectLst/>
                <a:latin typeface="Cascadia Code" panose="020B0609020000020004" pitchFamily="49" charset="0"/>
              </a:rPr>
              <a:t>; },</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C586C0"/>
                </a:solidFill>
                <a:effectLst/>
                <a:latin typeface="Cascadia Code" panose="020B0609020000020004" pitchFamily="49" charset="0"/>
              </a:rPr>
              <a:t>return</a:t>
            </a:r>
            <a:r>
              <a:rPr lang="en-US" b="0" dirty="0">
                <a:solidFill>
                  <a:srgbClr val="C9D1D9"/>
                </a:solidFill>
                <a:effectLst/>
                <a:latin typeface="Cascadia Code" panose="020B0609020000020004" pitchFamily="49" charset="0"/>
              </a:rPr>
              <a:t> {</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D2A8FF"/>
                </a:solidFill>
                <a:effectLst/>
                <a:latin typeface="Cascadia Code" panose="020B0609020000020004" pitchFamily="49" charset="0"/>
              </a:rPr>
              <a:t>read</a:t>
            </a:r>
            <a:r>
              <a:rPr lang="en-US" b="0" dirty="0">
                <a:solidFill>
                  <a:srgbClr val="C9D1D9"/>
                </a:solidFill>
                <a:effectLst/>
                <a:latin typeface="Cascadia Code" panose="020B0609020000020004" pitchFamily="49" charset="0"/>
              </a:rPr>
              <a:t>() {</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C586C0"/>
                </a:solidFill>
                <a:effectLst/>
                <a:latin typeface="Cascadia Code" panose="020B0609020000020004" pitchFamily="49" charset="0"/>
              </a:rPr>
              <a:t>if</a:t>
            </a:r>
            <a:r>
              <a:rPr lang="en-US" b="0" dirty="0">
                <a:solidFill>
                  <a:srgbClr val="C9D1D9"/>
                </a:solidFill>
                <a:effectLst/>
                <a:latin typeface="Cascadia Code" panose="020B0609020000020004" pitchFamily="49" charset="0"/>
              </a:rPr>
              <a:t> (status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A5D6FF"/>
                </a:solidFill>
                <a:effectLst/>
                <a:latin typeface="Cascadia Code" panose="020B0609020000020004" pitchFamily="49" charset="0"/>
              </a:rPr>
              <a:t>"pending"</a:t>
            </a:r>
            <a:r>
              <a:rPr lang="en-US" b="0" dirty="0">
                <a:solidFill>
                  <a:srgbClr val="C9D1D9"/>
                </a:solidFill>
                <a:effectLst/>
                <a:latin typeface="Cascadia Code" panose="020B0609020000020004" pitchFamily="49" charset="0"/>
              </a:rPr>
              <a:t>) </a:t>
            </a:r>
            <a:r>
              <a:rPr lang="en-US" b="0" dirty="0">
                <a:solidFill>
                  <a:srgbClr val="C586C0"/>
                </a:solidFill>
                <a:effectLst/>
                <a:latin typeface="Cascadia Code" panose="020B0609020000020004" pitchFamily="49" charset="0"/>
              </a:rPr>
              <a:t>throw</a:t>
            </a:r>
            <a:r>
              <a:rPr lang="en-US" b="0" dirty="0">
                <a:solidFill>
                  <a:srgbClr val="C9D1D9"/>
                </a:solidFill>
                <a:effectLst/>
                <a:latin typeface="Cascadia Code" panose="020B0609020000020004" pitchFamily="49" charset="0"/>
              </a:rPr>
              <a:t> </a:t>
            </a:r>
            <a:r>
              <a:rPr lang="en-US" b="0" dirty="0">
                <a:solidFill>
                  <a:srgbClr val="79C0FF"/>
                </a:solidFill>
                <a:effectLst/>
                <a:latin typeface="Cascadia Code" panose="020B0609020000020004" pitchFamily="49" charset="0"/>
              </a:rPr>
              <a:t>suspender</a:t>
            </a:r>
            <a:r>
              <a:rPr lang="en-US" b="0" dirty="0">
                <a:solidFill>
                  <a:srgbClr val="C9D1D9"/>
                </a:solidFill>
                <a:effectLst/>
                <a:latin typeface="Cascadia Code" panose="020B0609020000020004" pitchFamily="49" charset="0"/>
              </a:rPr>
              <a:t>; </a:t>
            </a:r>
            <a:r>
              <a:rPr lang="en-US" b="0" dirty="0">
                <a:solidFill>
                  <a:srgbClr val="8B949E"/>
                </a:solidFill>
                <a:effectLst/>
                <a:latin typeface="Cascadia Code" panose="020B0609020000020004" pitchFamily="49" charset="0"/>
              </a:rPr>
              <a:t>// ← Suspense catches this</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C586C0"/>
                </a:solidFill>
                <a:effectLst/>
                <a:latin typeface="Cascadia Code" panose="020B0609020000020004" pitchFamily="49" charset="0"/>
              </a:rPr>
              <a:t>if</a:t>
            </a:r>
            <a:r>
              <a:rPr lang="en-US" b="0" dirty="0">
                <a:solidFill>
                  <a:srgbClr val="C9D1D9"/>
                </a:solidFill>
                <a:effectLst/>
                <a:latin typeface="Cascadia Code" panose="020B0609020000020004" pitchFamily="49" charset="0"/>
              </a:rPr>
              <a:t> (status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A5D6FF"/>
                </a:solidFill>
                <a:effectLst/>
                <a:latin typeface="Cascadia Code" panose="020B0609020000020004" pitchFamily="49" charset="0"/>
              </a:rPr>
              <a:t>"error"</a:t>
            </a:r>
            <a:r>
              <a:rPr lang="en-US" b="0" dirty="0">
                <a:solidFill>
                  <a:srgbClr val="C9D1D9"/>
                </a:solidFill>
                <a:effectLst/>
                <a:latin typeface="Cascadia Code" panose="020B0609020000020004" pitchFamily="49" charset="0"/>
              </a:rPr>
              <a:t>)   </a:t>
            </a:r>
            <a:r>
              <a:rPr lang="en-US" b="0" dirty="0">
                <a:solidFill>
                  <a:srgbClr val="C586C0"/>
                </a:solidFill>
                <a:effectLst/>
                <a:latin typeface="Cascadia Code" panose="020B0609020000020004" pitchFamily="49" charset="0"/>
              </a:rPr>
              <a:t>throw</a:t>
            </a:r>
            <a:r>
              <a:rPr lang="en-US" b="0" dirty="0">
                <a:solidFill>
                  <a:srgbClr val="C9D1D9"/>
                </a:solidFill>
                <a:effectLst/>
                <a:latin typeface="Cascadia Code" panose="020B0609020000020004" pitchFamily="49" charset="0"/>
              </a:rPr>
              <a:t> result;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C586C0"/>
                </a:solidFill>
                <a:effectLst/>
                <a:latin typeface="Cascadia Code" panose="020B0609020000020004" pitchFamily="49" charset="0"/>
              </a:rPr>
              <a:t>return</a:t>
            </a:r>
            <a:r>
              <a:rPr lang="en-US" b="0" dirty="0">
                <a:solidFill>
                  <a:srgbClr val="C9D1D9"/>
                </a:solidFill>
                <a:effectLst/>
                <a:latin typeface="Cascadia Code" panose="020B0609020000020004" pitchFamily="49" charset="0"/>
              </a:rPr>
              <a:t> result;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br>
              <a:rPr lang="en-US" b="0" dirty="0">
                <a:solidFill>
                  <a:srgbClr val="BBBEBF"/>
                </a:solidFill>
                <a:effectLst/>
                <a:latin typeface="Cascadia Code" panose="020B0609020000020004" pitchFamily="49" charset="0"/>
              </a:rPr>
            </a:br>
            <a:endParaRPr lang="en-US" b="0" dirty="0">
              <a:solidFill>
                <a:srgbClr val="BBBEBF"/>
              </a:solidFill>
              <a:effectLst/>
              <a:latin typeface="Cascadia Code" panose="020B0609020000020004" pitchFamily="49" charset="0"/>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bg>
      <p:bgPr>
        <a:solidFill>
          <a:srgbClr val="0C0C0C"/>
        </a:solidFill>
        <a:effectLst/>
      </p:bgPr>
    </p:bg>
    <p:spTree>
      <p:nvGrpSpPr>
        <p:cNvPr id="1" name="">
          <a:extLst>
            <a:ext uri="{FF2B5EF4-FFF2-40B4-BE49-F238E27FC236}">
              <a16:creationId xmlns:a16="http://schemas.microsoft.com/office/drawing/2014/main" id="{F36B11C2-498C-E3A7-5ECB-71525134B7D1}"/>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5475B689-567C-3783-9E00-B59A44A14600}"/>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The resource pattern: a client-side Suspense fallback</a:t>
            </a:r>
            <a:endParaRPr lang="en-US" sz="3300" dirty="0"/>
          </a:p>
        </p:txBody>
      </p:sp>
      <p:sp>
        <p:nvSpPr>
          <p:cNvPr id="6" name="TextBox 5">
            <a:extLst>
              <a:ext uri="{FF2B5EF4-FFF2-40B4-BE49-F238E27FC236}">
                <a16:creationId xmlns:a16="http://schemas.microsoft.com/office/drawing/2014/main" id="{AA734C86-9C50-2B8F-51EC-5D8342DDDB2E}"/>
              </a:ext>
            </a:extLst>
          </p:cNvPr>
          <p:cNvSpPr txBox="1"/>
          <p:nvPr/>
        </p:nvSpPr>
        <p:spPr>
          <a:xfrm>
            <a:off x="530352" y="2368100"/>
            <a:ext cx="11064240" cy="2537298"/>
          </a:xfrm>
          <a:prstGeom prst="rect">
            <a:avLst/>
          </a:prstGeom>
          <a:noFill/>
        </p:spPr>
        <p:txBody>
          <a:bodyPr wrap="square">
            <a:spAutoFit/>
          </a:bodyPr>
          <a:lstStyle/>
          <a:p>
            <a:pPr>
              <a:lnSpc>
                <a:spcPct val="150000"/>
              </a:lnSpc>
              <a:buNone/>
            </a:pPr>
            <a:r>
              <a:rPr lang="en-US" b="0" dirty="0">
                <a:solidFill>
                  <a:srgbClr val="FF7B72"/>
                </a:solidFill>
                <a:effectLst/>
                <a:latin typeface="Cascadia Code" panose="020B0609020000020004" pitchFamily="49" charset="0"/>
              </a:rPr>
              <a:t>const</a:t>
            </a:r>
            <a:r>
              <a:rPr lang="en-US" b="0" dirty="0">
                <a:solidFill>
                  <a:srgbClr val="BBBEBF"/>
                </a:solidFill>
                <a:effectLst/>
                <a:latin typeface="Cascadia Code" panose="020B0609020000020004" pitchFamily="49" charset="0"/>
              </a:rPr>
              <a:t> </a:t>
            </a:r>
            <a:r>
              <a:rPr lang="en-US" b="0" dirty="0" err="1">
                <a:solidFill>
                  <a:srgbClr val="D2A8FF"/>
                </a:solidFill>
                <a:effectLst/>
                <a:latin typeface="Cascadia Code" panose="020B0609020000020004" pitchFamily="49" charset="0"/>
              </a:rPr>
              <a:t>StreamingMedicalRecords</a:t>
            </a:r>
            <a:r>
              <a:rPr lang="en-US" b="0" dirty="0">
                <a:solidFill>
                  <a:srgbClr val="BBBEBF"/>
                </a:solidFill>
                <a:effectLst/>
                <a:latin typeface="Cascadia Code" panose="020B0609020000020004" pitchFamily="49" charset="0"/>
              </a:rPr>
              <a:t> </a:t>
            </a:r>
            <a:r>
              <a:rPr lang="en-US" b="0" dirty="0">
                <a:solidFill>
                  <a:srgbClr val="D4D4D4"/>
                </a:solidFill>
                <a:effectLst/>
                <a:latin typeface="Cascadia Code" panose="020B0609020000020004" pitchFamily="49" charset="0"/>
              </a:rPr>
              <a:t>=</a:t>
            </a:r>
            <a:r>
              <a:rPr lang="en-US" b="0" dirty="0">
                <a:solidFill>
                  <a:srgbClr val="BBBEBF"/>
                </a:solidFill>
                <a:effectLst/>
                <a:latin typeface="Cascadia Code" panose="020B0609020000020004" pitchFamily="49" charset="0"/>
              </a:rPr>
              <a:t> () </a:t>
            </a:r>
            <a:r>
              <a:rPr lang="en-US" b="0" dirty="0">
                <a:solidFill>
                  <a:srgbClr val="FF7B72"/>
                </a:solidFill>
                <a:effectLst/>
                <a:latin typeface="Cascadia Code" panose="020B0609020000020004" pitchFamily="49" charset="0"/>
              </a:rPr>
              <a:t>=&gt;</a:t>
            </a:r>
            <a:r>
              <a:rPr lang="en-US" b="0" dirty="0">
                <a:solidFill>
                  <a:srgbClr val="BBBEBF"/>
                </a:solidFill>
                <a:effectLst/>
                <a:latin typeface="Cascadia Code" panose="020B0609020000020004" pitchFamily="49" charset="0"/>
              </a:rPr>
              <a:t> </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const</a:t>
            </a:r>
            <a:r>
              <a:rPr lang="en-US" b="0" dirty="0">
                <a:solidFill>
                  <a:srgbClr val="C9D1D9"/>
                </a:solidFill>
                <a:effectLst/>
                <a:latin typeface="Cascadia Code" panose="020B0609020000020004" pitchFamily="49" charset="0"/>
              </a:rPr>
              <a:t> </a:t>
            </a:r>
            <a:r>
              <a:rPr lang="en-US" b="0" dirty="0">
                <a:solidFill>
                  <a:srgbClr val="79C0FF"/>
                </a:solidFill>
                <a:effectLst/>
                <a:latin typeface="Cascadia Code" panose="020B0609020000020004" pitchFamily="49" charset="0"/>
              </a:rPr>
              <a:t>resource</a:t>
            </a:r>
            <a:r>
              <a:rPr lang="en-US" b="0" dirty="0">
                <a:solidFill>
                  <a:srgbClr val="C9D1D9"/>
                </a:solidFill>
                <a:effectLst/>
                <a:latin typeface="Cascadia Code" panose="020B0609020000020004" pitchFamily="49" charset="0"/>
              </a:rPr>
              <a:t>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err="1">
                <a:solidFill>
                  <a:srgbClr val="D2A8FF"/>
                </a:solidFill>
                <a:effectLst/>
                <a:latin typeface="Cascadia Code" panose="020B0609020000020004" pitchFamily="49" charset="0"/>
              </a:rPr>
              <a:t>getResource</a:t>
            </a:r>
            <a:r>
              <a:rPr lang="en-US" b="0" dirty="0">
                <a:solidFill>
                  <a:srgbClr val="C9D1D9"/>
                </a:solidFill>
                <a:effectLst/>
                <a:latin typeface="Cascadia Code" panose="020B0609020000020004" pitchFamily="49" charset="0"/>
              </a:rPr>
              <a:t>(</a:t>
            </a:r>
            <a:r>
              <a:rPr lang="en-US" b="0" dirty="0">
                <a:solidFill>
                  <a:srgbClr val="A5D6FF"/>
                </a:solidFill>
                <a:effectLst/>
                <a:latin typeface="Cascadia Code" panose="020B0609020000020004" pitchFamily="49" charset="0"/>
              </a:rPr>
              <a:t>"records-initial"</a:t>
            </a:r>
            <a:r>
              <a:rPr lang="en-US" b="0" dirty="0">
                <a:solidFill>
                  <a:srgbClr val="C9D1D9"/>
                </a:solidFill>
                <a:effectLst/>
                <a:latin typeface="Cascadia Code" panose="020B0609020000020004" pitchFamily="49" charset="0"/>
              </a:rPr>
              <a:t>, </a:t>
            </a:r>
            <a:r>
              <a:rPr lang="en-US" b="0" dirty="0">
                <a:solidFill>
                  <a:srgbClr val="B5CEA8"/>
                </a:solidFill>
                <a:effectLst/>
                <a:latin typeface="Cascadia Code" panose="020B0609020000020004" pitchFamily="49" charset="0"/>
              </a:rPr>
              <a:t>2500</a:t>
            </a:r>
            <a:r>
              <a:rPr lang="en-US" b="0" dirty="0">
                <a:solidFill>
                  <a:srgbClr val="C9D1D9"/>
                </a:solidFill>
                <a:effectLst/>
                <a:latin typeface="Cascadia Code" panose="020B0609020000020004" pitchFamily="49" charset="0"/>
              </a:rPr>
              <a:t>); </a:t>
            </a:r>
            <a:r>
              <a:rPr lang="en-US" b="0" dirty="0">
                <a:solidFill>
                  <a:srgbClr val="8B949E"/>
                </a:solidFill>
                <a:effectLst/>
                <a:latin typeface="Cascadia Code" panose="020B0609020000020004" pitchFamily="49" charset="0"/>
              </a:rPr>
              <a:t>// module-level cache</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err="1">
                <a:solidFill>
                  <a:srgbClr val="79C0FF"/>
                </a:solidFill>
                <a:effectLst/>
                <a:latin typeface="Cascadia Code" panose="020B0609020000020004" pitchFamily="49" charset="0"/>
              </a:rPr>
              <a:t>resource</a:t>
            </a:r>
            <a:r>
              <a:rPr lang="en-US" b="0" dirty="0" err="1">
                <a:solidFill>
                  <a:srgbClr val="C9D1D9"/>
                </a:solidFill>
                <a:effectLst/>
                <a:latin typeface="Cascadia Code" panose="020B0609020000020004" pitchFamily="49" charset="0"/>
              </a:rPr>
              <a:t>.</a:t>
            </a:r>
            <a:r>
              <a:rPr lang="en-US" b="0" dirty="0" err="1">
                <a:solidFill>
                  <a:srgbClr val="D2A8FF"/>
                </a:solidFill>
                <a:effectLst/>
                <a:latin typeface="Cascadia Code" panose="020B0609020000020004" pitchFamily="49" charset="0"/>
              </a:rPr>
              <a:t>read</a:t>
            </a:r>
            <a:r>
              <a:rPr lang="en-US" b="0" dirty="0">
                <a:solidFill>
                  <a:srgbClr val="C9D1D9"/>
                </a:solidFill>
                <a:effectLst/>
                <a:latin typeface="Cascadia Code" panose="020B0609020000020004" pitchFamily="49" charset="0"/>
              </a:rPr>
              <a:t>(); </a:t>
            </a:r>
            <a:r>
              <a:rPr lang="en-US" b="0" dirty="0">
                <a:solidFill>
                  <a:srgbClr val="8B949E"/>
                </a:solidFill>
                <a:effectLst/>
                <a:latin typeface="Cascadia Code" panose="020B0609020000020004" pitchFamily="49" charset="0"/>
              </a:rPr>
              <a:t>// throws while pending → triggers &lt;Suspense&gt; in the shell</a:t>
            </a:r>
          </a:p>
          <a:p>
            <a:pPr>
              <a:lnSpc>
                <a:spcPct val="150000"/>
              </a:lnSpc>
              <a:buNone/>
            </a:pP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C586C0"/>
                </a:solidFill>
                <a:effectLst/>
                <a:latin typeface="Cascadia Code" panose="020B0609020000020004" pitchFamily="49" charset="0"/>
              </a:rPr>
              <a:t>return</a:t>
            </a:r>
            <a:r>
              <a:rPr lang="en-US" b="0" dirty="0">
                <a:solidFill>
                  <a:srgbClr val="C9D1D9"/>
                </a:solidFill>
                <a:effectLst/>
                <a:latin typeface="Cascadia Code" panose="020B0609020000020004" pitchFamily="49" charset="0"/>
              </a:rPr>
              <a:t> &lt;</a:t>
            </a:r>
            <a:r>
              <a:rPr lang="en-US" b="0" dirty="0" err="1">
                <a:solidFill>
                  <a:srgbClr val="4EC9B0"/>
                </a:solidFill>
                <a:effectLst/>
                <a:latin typeface="Cascadia Code" panose="020B0609020000020004" pitchFamily="49" charset="0"/>
              </a:rPr>
              <a:t>MedicalRecords</a:t>
            </a:r>
            <a:r>
              <a:rPr lang="en-US" b="0" dirty="0">
                <a:solidFill>
                  <a:srgbClr val="C9D1D9"/>
                </a:solidFill>
                <a:effectLst/>
                <a:latin typeface="Cascadia Code" panose="020B0609020000020004" pitchFamily="49" charset="0"/>
              </a:rPr>
              <a:t> /&gt;;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a:t>
            </a:r>
            <a:r>
              <a:rPr lang="en-US" b="0" dirty="0">
                <a:solidFill>
                  <a:srgbClr val="BBBEBF"/>
                </a:solidFill>
                <a:effectLst/>
                <a:latin typeface="Cascadia Code" panose="020B0609020000020004" pitchFamily="49" charset="0"/>
              </a:rPr>
              <a:t>;</a:t>
            </a:r>
          </a:p>
        </p:txBody>
      </p:sp>
    </p:spTree>
    <p:extLst>
      <p:ext uri="{BB962C8B-B14F-4D97-AF65-F5344CB8AC3E}">
        <p14:creationId xmlns:p14="http://schemas.microsoft.com/office/powerpoint/2010/main" val="102007485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bg>
      <p:bgPr>
        <a:solidFill>
          <a:srgbClr val="0C0C0C"/>
        </a:solidFill>
        <a:effectLst/>
      </p:bgPr>
    </p:bg>
    <p:spTree>
      <p:nvGrpSpPr>
        <p:cNvPr id="1" name="">
          <a:extLst>
            <a:ext uri="{FF2B5EF4-FFF2-40B4-BE49-F238E27FC236}">
              <a16:creationId xmlns:a16="http://schemas.microsoft.com/office/drawing/2014/main" id="{18A4A315-B74B-1B71-8626-7F0E57F72ABB}"/>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B7B7BFD4-D324-3489-F03A-7DD5649CE21D}"/>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The resource pattern: a client-side Suspense fallback</a:t>
            </a:r>
            <a:endParaRPr lang="en-US" sz="3300" dirty="0"/>
          </a:p>
        </p:txBody>
      </p:sp>
      <p:sp>
        <p:nvSpPr>
          <p:cNvPr id="9" name="Text 6">
            <a:extLst>
              <a:ext uri="{FF2B5EF4-FFF2-40B4-BE49-F238E27FC236}">
                <a16:creationId xmlns:a16="http://schemas.microsoft.com/office/drawing/2014/main" id="{F1D9788B-1743-2132-9E8A-B0F6A0099510}"/>
              </a:ext>
            </a:extLst>
          </p:cNvPr>
          <p:cNvSpPr/>
          <p:nvPr/>
        </p:nvSpPr>
        <p:spPr>
          <a:xfrm>
            <a:off x="548640" y="2280621"/>
            <a:ext cx="11109960" cy="2947595"/>
          </a:xfrm>
          <a:prstGeom prst="rect">
            <a:avLst/>
          </a:prstGeom>
          <a:noFill/>
          <a:ln/>
        </p:spPr>
        <p:txBody>
          <a:bodyPr wrap="square" rtlCol="0" anchor="t"/>
          <a:lstStyle/>
          <a:p>
            <a:pPr marL="342900" indent="-342900">
              <a:lnSpc>
                <a:spcPct val="150000"/>
              </a:lnSpc>
              <a:buSzPct val="100000"/>
              <a:buFont typeface="Arial" panose="020B0604020202020204" pitchFamily="34" charset="0"/>
              <a:buChar char="•"/>
            </a:pPr>
            <a:r>
              <a:rPr lang="en-US" sz="2400" dirty="0">
                <a:solidFill>
                  <a:srgbClr val="FAFAF9"/>
                </a:solidFill>
                <a:latin typeface="Cascadia Code NF" pitchFamily="50" charset="0"/>
                <a:ea typeface="Cascadia Code NF" pitchFamily="50" charset="0"/>
                <a:cs typeface="Cascadia Code NF" pitchFamily="50" charset="0"/>
              </a:rPr>
              <a:t>Wrapper only triggers Suspense</a:t>
            </a:r>
            <a:endParaRPr lang="en-US" sz="2400" dirty="0">
              <a:latin typeface="Cascadia Code NF" pitchFamily="50" charset="0"/>
              <a:ea typeface="Cascadia Code NF" pitchFamily="50" charset="0"/>
              <a:cs typeface="Cascadia Code NF" pitchFamily="50" charset="0"/>
            </a:endParaRPr>
          </a:p>
          <a:p>
            <a:pPr marL="342900" indent="-342900">
              <a:lnSpc>
                <a:spcPct val="150000"/>
              </a:lnSpc>
              <a:buSzPct val="100000"/>
              <a:buFont typeface="Arial" panose="020B0604020202020204" pitchFamily="34" charset="0"/>
              <a:buChar char="•"/>
            </a:pPr>
            <a:r>
              <a:rPr lang="en-US" sz="2400" dirty="0">
                <a:solidFill>
                  <a:srgbClr val="FAFAF9"/>
                </a:solidFill>
                <a:latin typeface="Cascadia Code NF" pitchFamily="50" charset="0"/>
                <a:ea typeface="Cascadia Code NF" pitchFamily="50" charset="0"/>
                <a:cs typeface="Cascadia Code NF" pitchFamily="50" charset="0"/>
              </a:rPr>
              <a:t>UI lives in the standalone component</a:t>
            </a:r>
            <a:endParaRPr lang="en-US" sz="2400" dirty="0">
              <a:latin typeface="Cascadia Code NF" pitchFamily="50" charset="0"/>
              <a:ea typeface="Cascadia Code NF" pitchFamily="50" charset="0"/>
              <a:cs typeface="Cascadia Code NF" pitchFamily="50" charset="0"/>
            </a:endParaRPr>
          </a:p>
          <a:p>
            <a:pPr marL="342900" indent="-342900">
              <a:lnSpc>
                <a:spcPct val="150000"/>
              </a:lnSpc>
              <a:buSzPct val="100000"/>
              <a:buFont typeface="Arial" panose="020B0604020202020204" pitchFamily="34" charset="0"/>
              <a:buChar char="•"/>
            </a:pPr>
            <a:r>
              <a:rPr lang="en-US" sz="2400" dirty="0">
                <a:solidFill>
                  <a:srgbClr val="FAFAF9"/>
                </a:solidFill>
                <a:latin typeface="Cascadia Code NF" pitchFamily="50" charset="0"/>
                <a:ea typeface="Cascadia Code NF" pitchFamily="50" charset="0"/>
                <a:cs typeface="Cascadia Code NF" pitchFamily="50" charset="0"/>
              </a:rPr>
              <a:t>Cache prevents re-fetch on re-render</a:t>
            </a:r>
            <a:endParaRPr lang="en-US" sz="2400" dirty="0">
              <a:latin typeface="Cascadia Code NF" pitchFamily="50" charset="0"/>
              <a:ea typeface="Cascadia Code NF" pitchFamily="50" charset="0"/>
              <a:cs typeface="Cascadia Code NF" pitchFamily="50" charset="0"/>
            </a:endParaRPr>
          </a:p>
          <a:p>
            <a:pPr marL="342900" indent="-342900">
              <a:lnSpc>
                <a:spcPct val="150000"/>
              </a:lnSpc>
              <a:buSzPct val="100000"/>
              <a:buFont typeface="Arial" panose="020B0604020202020204" pitchFamily="34" charset="0"/>
              <a:buChar char="•"/>
            </a:pPr>
            <a:r>
              <a:rPr lang="en-US" sz="2400" dirty="0">
                <a:solidFill>
                  <a:srgbClr val="FAFAF9"/>
                </a:solidFill>
                <a:latin typeface="Cascadia Code NF" pitchFamily="50" charset="0"/>
                <a:ea typeface="Cascadia Code NF" pitchFamily="50" charset="0"/>
                <a:cs typeface="Cascadia Code NF" pitchFamily="50" charset="0"/>
              </a:rPr>
              <a:t>use() hook is the React 19 successor — migration optional</a:t>
            </a:r>
            <a:endParaRPr lang="en-US" sz="2400" dirty="0">
              <a:latin typeface="Cascadia Code NF" pitchFamily="50" charset="0"/>
              <a:ea typeface="Cascadia Code NF" pitchFamily="50" charset="0"/>
              <a:cs typeface="Cascadia Code NF" pitchFamily="50" charset="0"/>
            </a:endParaRPr>
          </a:p>
        </p:txBody>
      </p:sp>
    </p:spTree>
    <p:extLst>
      <p:ext uri="{BB962C8B-B14F-4D97-AF65-F5344CB8AC3E}">
        <p14:creationId xmlns:p14="http://schemas.microsoft.com/office/powerpoint/2010/main" val="129392360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name="Slide 8">
    <p:bg>
      <p:bgPr>
        <a:solidFill>
          <a:srgbClr val="0C0C0C"/>
        </a:solidFill>
        <a:effectLst/>
      </p:bgPr>
    </p:bg>
    <p:spTree>
      <p:nvGrpSpPr>
        <p:cNvPr id="1" name=""/>
        <p:cNvGrpSpPr/>
        <p:nvPr/>
      </p:nvGrpSpPr>
      <p:grpSpPr>
        <a:xfrm>
          <a:off x="0" y="0"/>
          <a:ext cx="0" cy="0"/>
          <a:chOff x="0" y="0"/>
          <a:chExt cx="0" cy="0"/>
        </a:xfrm>
      </p:grpSpPr>
      <p:sp>
        <p:nvSpPr>
          <p:cNvPr id="4" name="Text 2"/>
          <p:cNvSpPr/>
          <p:nvPr/>
        </p:nvSpPr>
        <p:spPr>
          <a:xfrm>
            <a:off x="548514" y="0"/>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Three strategies, three layers of resilience</a:t>
            </a:r>
            <a:endParaRPr lang="en-US" sz="3300" dirty="0"/>
          </a:p>
        </p:txBody>
      </p:sp>
      <p:sp>
        <p:nvSpPr>
          <p:cNvPr id="6" name="TextBox 5">
            <a:extLst>
              <a:ext uri="{FF2B5EF4-FFF2-40B4-BE49-F238E27FC236}">
                <a16:creationId xmlns:a16="http://schemas.microsoft.com/office/drawing/2014/main" id="{8EACBDE7-07DB-55BB-BB2B-1362F99D6B5A}"/>
              </a:ext>
            </a:extLst>
          </p:cNvPr>
          <p:cNvSpPr txBox="1"/>
          <p:nvPr/>
        </p:nvSpPr>
        <p:spPr>
          <a:xfrm>
            <a:off x="554610" y="623316"/>
            <a:ext cx="11109959" cy="5220340"/>
          </a:xfrm>
          <a:prstGeom prst="rect">
            <a:avLst/>
          </a:prstGeom>
          <a:noFill/>
        </p:spPr>
        <p:txBody>
          <a:bodyPr wrap="square">
            <a:spAutoFit/>
          </a:bodyPr>
          <a:lstStyle/>
          <a:p>
            <a:pPr>
              <a:lnSpc>
                <a:spcPct val="150000"/>
              </a:lnSpc>
              <a:buNone/>
            </a:pPr>
            <a:r>
              <a:rPr lang="en-US" sz="1600" b="0" dirty="0">
                <a:solidFill>
                  <a:srgbClr val="8B949E"/>
                </a:solidFill>
                <a:effectLst/>
                <a:latin typeface="Cascadia Code" panose="020B0609020000020004" pitchFamily="49" charset="0"/>
              </a:rPr>
              <a:t>// INSTANT — renders the moment the chunk arrives</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FF7B72"/>
                </a:solidFill>
                <a:effectLst/>
                <a:latin typeface="Cascadia Code" panose="020B0609020000020004" pitchFamily="49" charset="0"/>
              </a:rPr>
              <a:t>const</a:t>
            </a:r>
            <a:r>
              <a:rPr lang="en-US" sz="1600" b="0" dirty="0">
                <a:solidFill>
                  <a:srgbClr val="BBBEBF"/>
                </a:solidFill>
                <a:effectLst/>
                <a:latin typeface="Cascadia Code" panose="020B0609020000020004" pitchFamily="49" charset="0"/>
              </a:rPr>
              <a:t> </a:t>
            </a:r>
            <a:r>
              <a:rPr lang="en-US" sz="1600" b="0" dirty="0">
                <a:solidFill>
                  <a:srgbClr val="79C0FF"/>
                </a:solidFill>
                <a:effectLst/>
                <a:latin typeface="Cascadia Code" panose="020B0609020000020004" pitchFamily="49" charset="0"/>
              </a:rPr>
              <a:t>Home</a:t>
            </a:r>
            <a:r>
              <a:rPr lang="en-US" sz="1600" b="0" dirty="0">
                <a:solidFill>
                  <a:srgbClr val="BBBEBF"/>
                </a:solidFill>
                <a:effectLst/>
                <a:latin typeface="Cascadia Code" panose="020B0609020000020004" pitchFamily="49" charset="0"/>
              </a:rPr>
              <a:t> </a:t>
            </a:r>
            <a:r>
              <a:rPr lang="en-US" sz="1600" b="0" dirty="0">
                <a:solidFill>
                  <a:srgbClr val="D4D4D4"/>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lazy</a:t>
            </a:r>
            <a:r>
              <a:rPr lang="en-US" sz="1600" b="0" dirty="0">
                <a:solidFill>
                  <a:srgbClr val="BBBEBF"/>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BBBEBF"/>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import</a:t>
            </a:r>
            <a:r>
              <a:rPr lang="en-US" sz="1600" b="0" dirty="0">
                <a:solidFill>
                  <a:srgbClr val="BBBEBF"/>
                </a:solidFill>
                <a:effectLst/>
                <a:latin typeface="Cascadia Code" panose="020B0609020000020004" pitchFamily="49" charset="0"/>
              </a:rPr>
              <a:t>(</a:t>
            </a:r>
            <a:r>
              <a:rPr lang="en-US" sz="1600" b="0" dirty="0">
                <a:solidFill>
                  <a:srgbClr val="A5D6FF"/>
                </a:solidFill>
                <a:effectLst/>
                <a:latin typeface="Cascadia Code" panose="020B0609020000020004" pitchFamily="49" charset="0"/>
              </a:rPr>
              <a:t>"home/Home"</a:t>
            </a:r>
            <a:r>
              <a:rPr lang="en-US" sz="1600" b="0" dirty="0">
                <a:solidFill>
                  <a:srgbClr val="BBBEBF"/>
                </a:solidFill>
                <a:effectLst/>
                <a:latin typeface="Cascadia Code" panose="020B0609020000020004" pitchFamily="49" charset="0"/>
              </a:rPr>
              <a:t>).</a:t>
            </a:r>
            <a:r>
              <a:rPr lang="en-US" sz="1600" b="0" dirty="0">
                <a:solidFill>
                  <a:srgbClr val="D2A8FF"/>
                </a:solidFill>
                <a:effectLst/>
                <a:latin typeface="Cascadia Code" panose="020B0609020000020004" pitchFamily="49" charset="0"/>
              </a:rPr>
              <a:t>catch</a:t>
            </a:r>
            <a:r>
              <a:rPr lang="en-US" sz="1600" b="0" dirty="0">
                <a:solidFill>
                  <a:srgbClr val="BBBEBF"/>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BBBEBF"/>
                </a:solidFill>
                <a:effectLst/>
                <a:latin typeface="Cascadia Code" panose="020B0609020000020004" pitchFamily="49" charset="0"/>
              </a:rPr>
              <a:t> ({</a:t>
            </a:r>
          </a:p>
          <a:p>
            <a:pPr>
              <a:lnSpc>
                <a:spcPct val="150000"/>
              </a:lnSpc>
              <a:buNone/>
            </a:pP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default</a:t>
            </a:r>
            <a:r>
              <a:rPr lang="en-US" sz="1600" b="0" dirty="0">
                <a:solidFill>
                  <a:srgbClr val="9CDCFE"/>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 ()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&lt;</a:t>
            </a:r>
            <a:r>
              <a:rPr lang="en-US" sz="1600" b="0" dirty="0" err="1">
                <a:solidFill>
                  <a:srgbClr val="4EC9B0"/>
                </a:solidFill>
                <a:effectLst/>
                <a:latin typeface="Cascadia Code" panose="020B0609020000020004" pitchFamily="49" charset="0"/>
              </a:rPr>
              <a:t>ModuleFallback</a:t>
            </a:r>
            <a:r>
              <a:rPr lang="en-US" sz="1600" b="0" dirty="0">
                <a:solidFill>
                  <a:srgbClr val="C9D1D9"/>
                </a:solidFill>
                <a:effectLst/>
                <a:latin typeface="Cascadia Code" panose="020B0609020000020004" pitchFamily="49" charset="0"/>
              </a:rPr>
              <a:t> </a:t>
            </a:r>
            <a:r>
              <a:rPr lang="en-US" sz="1600" b="0" dirty="0">
                <a:solidFill>
                  <a:srgbClr val="4EC9B0"/>
                </a:solidFill>
                <a:effectLst/>
                <a:latin typeface="Cascadia Code" panose="020B0609020000020004" pitchFamily="49" charset="0"/>
              </a:rPr>
              <a:t>title</a:t>
            </a:r>
            <a:r>
              <a:rPr lang="en-US" sz="1600" b="0" dirty="0">
                <a:solidFill>
                  <a:srgbClr val="C9D1D9"/>
                </a:solidFill>
                <a:effectLst/>
                <a:latin typeface="Cascadia Code" panose="020B0609020000020004" pitchFamily="49" charset="0"/>
              </a:rPr>
              <a:t>=</a:t>
            </a:r>
            <a:r>
              <a:rPr lang="en-US" sz="1600" b="0" dirty="0">
                <a:solidFill>
                  <a:srgbClr val="A5D6FF"/>
                </a:solidFill>
                <a:effectLst/>
                <a:latin typeface="Cascadia Code" panose="020B0609020000020004" pitchFamily="49" charset="0"/>
              </a:rPr>
              <a:t>"Home Unavailable"</a:t>
            </a:r>
            <a:r>
              <a:rPr lang="en-US" sz="1600" b="0" dirty="0">
                <a:solidFill>
                  <a:srgbClr val="C9D1D9"/>
                </a:solidFill>
                <a:effectLst/>
                <a:latin typeface="Cascadia Code" panose="020B0609020000020004" pitchFamily="49" charset="0"/>
              </a:rPr>
              <a:t> /&gt; </a:t>
            </a:r>
            <a:r>
              <a:rPr lang="en-US" sz="1600" b="0" dirty="0">
                <a:solidFill>
                  <a:srgbClr val="BBBEBF"/>
                </a:solidFill>
                <a:effectLst/>
                <a:latin typeface="Cascadia Code" panose="020B0609020000020004" pitchFamily="49" charset="0"/>
              </a:rPr>
              <a:t>})));</a:t>
            </a:r>
          </a:p>
          <a:p>
            <a:pPr>
              <a:lnSpc>
                <a:spcPct val="150000"/>
              </a:lnSpc>
              <a:buNone/>
            </a:pP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8B949E"/>
                </a:solidFill>
                <a:effectLst/>
                <a:latin typeface="Cascadia Code" panose="020B0609020000020004" pitchFamily="49" charset="0"/>
              </a:rPr>
              <a:t>// EAGER — preloaded at shell </a:t>
            </a:r>
            <a:r>
              <a:rPr lang="en-US" sz="1600" b="0" dirty="0" err="1">
                <a:solidFill>
                  <a:srgbClr val="8B949E"/>
                </a:solidFill>
                <a:effectLst/>
                <a:latin typeface="Cascadia Code" panose="020B0609020000020004" pitchFamily="49" charset="0"/>
              </a:rPr>
              <a:t>init</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FF7B72"/>
                </a:solidFill>
                <a:effectLst/>
                <a:latin typeface="Cascadia Code" panose="020B0609020000020004" pitchFamily="49" charset="0"/>
              </a:rPr>
              <a:t>const</a:t>
            </a:r>
            <a:r>
              <a:rPr lang="en-US" sz="1600" b="0" dirty="0">
                <a:solidFill>
                  <a:srgbClr val="BBBEBF"/>
                </a:solidFill>
                <a:effectLst/>
                <a:latin typeface="Cascadia Code" panose="020B0609020000020004" pitchFamily="49" charset="0"/>
              </a:rPr>
              <a:t> </a:t>
            </a:r>
            <a:r>
              <a:rPr lang="en-US" sz="1600" b="0" dirty="0" err="1">
                <a:solidFill>
                  <a:srgbClr val="79C0FF"/>
                </a:solidFill>
                <a:effectLst/>
                <a:latin typeface="Cascadia Code" panose="020B0609020000020004" pitchFamily="49" charset="0"/>
              </a:rPr>
              <a:t>MedicalRecords</a:t>
            </a:r>
            <a:r>
              <a:rPr lang="en-US" sz="1600" b="0" dirty="0">
                <a:solidFill>
                  <a:srgbClr val="BBBEBF"/>
                </a:solidFill>
                <a:effectLst/>
                <a:latin typeface="Cascadia Code" panose="020B0609020000020004" pitchFamily="49" charset="0"/>
              </a:rPr>
              <a:t> </a:t>
            </a:r>
            <a:r>
              <a:rPr lang="en-US" sz="1600" b="0" dirty="0">
                <a:solidFill>
                  <a:srgbClr val="D4D4D4"/>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lazy</a:t>
            </a:r>
            <a:r>
              <a:rPr lang="en-US" sz="1600" b="0" dirty="0">
                <a:solidFill>
                  <a:srgbClr val="BBBEBF"/>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BBBEBF"/>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import</a:t>
            </a:r>
            <a:r>
              <a:rPr lang="en-US" sz="1600" b="0" dirty="0">
                <a:solidFill>
                  <a:srgbClr val="BBBEBF"/>
                </a:solidFill>
                <a:effectLst/>
                <a:latin typeface="Cascadia Code" panose="020B0609020000020004" pitchFamily="49" charset="0"/>
              </a:rPr>
              <a:t>(</a:t>
            </a:r>
            <a:r>
              <a:rPr lang="en-US" sz="1600" b="0" dirty="0">
                <a:solidFill>
                  <a:srgbClr val="A5D6FF"/>
                </a:solidFill>
                <a:effectLst/>
                <a:latin typeface="Cascadia Code" panose="020B0609020000020004" pitchFamily="49" charset="0"/>
              </a:rPr>
              <a:t>"records/</a:t>
            </a:r>
            <a:r>
              <a:rPr lang="en-US" sz="1600" b="0" dirty="0" err="1">
                <a:solidFill>
                  <a:srgbClr val="A5D6FF"/>
                </a:solidFill>
                <a:effectLst/>
                <a:latin typeface="Cascadia Code" panose="020B0609020000020004" pitchFamily="49" charset="0"/>
              </a:rPr>
              <a:t>MedicalRecords</a:t>
            </a:r>
            <a:r>
              <a:rPr lang="en-US" sz="1600" b="0" dirty="0">
                <a:solidFill>
                  <a:srgbClr val="A5D6FF"/>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a:t>
            </a:r>
          </a:p>
          <a:p>
            <a:pPr>
              <a:lnSpc>
                <a:spcPct val="150000"/>
              </a:lnSpc>
              <a:buNone/>
            </a:pP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catch</a:t>
            </a:r>
            <a:r>
              <a:rPr lang="en-US" sz="1600" b="0" dirty="0">
                <a:solidFill>
                  <a:srgbClr val="BBBEBF"/>
                </a:solidFill>
                <a:effectLst/>
                <a:latin typeface="Cascadia Code" panose="020B0609020000020004" pitchFamily="49" charset="0"/>
              </a:rPr>
              <a:t>(</a:t>
            </a:r>
            <a:r>
              <a:rPr lang="en-US" sz="1600" b="0" dirty="0">
                <a:solidFill>
                  <a:srgbClr val="8B949E"/>
                </a:solidFill>
                <a:effectLst/>
                <a:latin typeface="Cascadia Code" panose="020B0609020000020004" pitchFamily="49" charset="0"/>
              </a:rPr>
              <a:t>/* fallback */</a:t>
            </a:r>
            <a:r>
              <a:rPr lang="en-US" sz="1600" b="0" dirty="0">
                <a:solidFill>
                  <a:srgbClr val="BBBEBF"/>
                </a:solidFill>
                <a:effectLst/>
                <a:latin typeface="Cascadia Code" panose="020B0609020000020004" pitchFamily="49" charset="0"/>
              </a:rPr>
              <a:t>));</a:t>
            </a:r>
          </a:p>
          <a:p>
            <a:pPr>
              <a:lnSpc>
                <a:spcPct val="150000"/>
              </a:lnSpc>
              <a:buNone/>
            </a:pPr>
            <a:r>
              <a:rPr lang="en-US" sz="1600" b="0" dirty="0">
                <a:solidFill>
                  <a:srgbClr val="FF7B72"/>
                </a:solidFill>
                <a:effectLst/>
                <a:latin typeface="Cascadia Code" panose="020B0609020000020004" pitchFamily="49" charset="0"/>
              </a:rPr>
              <a:t>const</a:t>
            </a:r>
            <a:r>
              <a:rPr lang="en-US" sz="1600" b="0" dirty="0">
                <a:solidFill>
                  <a:srgbClr val="BBBEBF"/>
                </a:solidFill>
                <a:effectLst/>
                <a:latin typeface="Cascadia Code" panose="020B0609020000020004" pitchFamily="49" charset="0"/>
              </a:rPr>
              <a:t> </a:t>
            </a:r>
            <a:r>
              <a:rPr lang="en-US" sz="1600" b="0" dirty="0">
                <a:solidFill>
                  <a:srgbClr val="79C0FF"/>
                </a:solidFill>
                <a:effectLst/>
                <a:latin typeface="Cascadia Code" panose="020B0609020000020004" pitchFamily="49" charset="0"/>
              </a:rPr>
              <a:t>EAGER</a:t>
            </a:r>
            <a:r>
              <a:rPr lang="en-US" sz="1600" b="0" dirty="0">
                <a:solidFill>
                  <a:srgbClr val="BBBEBF"/>
                </a:solidFill>
                <a:effectLst/>
                <a:latin typeface="Cascadia Code" panose="020B0609020000020004" pitchFamily="49" charset="0"/>
              </a:rPr>
              <a:t> </a:t>
            </a:r>
            <a:r>
              <a:rPr lang="en-US" sz="1600" b="0" dirty="0">
                <a:solidFill>
                  <a:srgbClr val="D4D4D4"/>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a:t>
            </a:r>
            <a:r>
              <a:rPr lang="en-US" sz="1600" b="0" dirty="0" err="1">
                <a:solidFill>
                  <a:srgbClr val="79C0FF"/>
                </a:solidFill>
                <a:effectLst/>
                <a:latin typeface="Cascadia Code" panose="020B0609020000020004" pitchFamily="49" charset="0"/>
              </a:rPr>
              <a:t>MODULES</a:t>
            </a:r>
            <a:r>
              <a:rPr lang="en-US" sz="1600" b="0" dirty="0" err="1">
                <a:solidFill>
                  <a:srgbClr val="BBBEBF"/>
                </a:solidFill>
                <a:effectLst/>
                <a:latin typeface="Cascadia Code" panose="020B0609020000020004" pitchFamily="49" charset="0"/>
              </a:rPr>
              <a:t>.</a:t>
            </a:r>
            <a:r>
              <a:rPr lang="en-US" sz="1600" b="0" dirty="0" err="1">
                <a:solidFill>
                  <a:srgbClr val="D2A8FF"/>
                </a:solidFill>
                <a:effectLst/>
                <a:latin typeface="Cascadia Code" panose="020B0609020000020004" pitchFamily="49" charset="0"/>
              </a:rPr>
              <a:t>filter</a:t>
            </a:r>
            <a:r>
              <a:rPr lang="en-US" sz="1600" b="0" dirty="0">
                <a:solidFill>
                  <a:srgbClr val="BBBEBF"/>
                </a:solidFill>
                <a:effectLst/>
                <a:latin typeface="Cascadia Code" panose="020B0609020000020004" pitchFamily="49" charset="0"/>
              </a:rPr>
              <a:t>((</a:t>
            </a:r>
            <a:r>
              <a:rPr lang="en-US" sz="1600" b="0" dirty="0">
                <a:solidFill>
                  <a:srgbClr val="FFA657"/>
                </a:solidFill>
                <a:effectLst/>
                <a:latin typeface="Cascadia Code" panose="020B0609020000020004" pitchFamily="49" charset="0"/>
              </a:rPr>
              <a:t>m</a:t>
            </a:r>
            <a:r>
              <a:rPr lang="en-US" sz="1600" b="0" dirty="0">
                <a:solidFill>
                  <a:srgbClr val="BBBEBF"/>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BBBEBF"/>
                </a:solidFill>
                <a:effectLst/>
                <a:latin typeface="Cascadia Code" panose="020B0609020000020004" pitchFamily="49" charset="0"/>
              </a:rPr>
              <a:t> </a:t>
            </a:r>
            <a:r>
              <a:rPr lang="en-US" sz="1600" b="0" dirty="0" err="1">
                <a:solidFill>
                  <a:srgbClr val="FFA657"/>
                </a:solidFill>
                <a:effectLst/>
                <a:latin typeface="Cascadia Code" panose="020B0609020000020004" pitchFamily="49" charset="0"/>
              </a:rPr>
              <a:t>m</a:t>
            </a:r>
            <a:r>
              <a:rPr lang="en-US" sz="1600" b="0" dirty="0" err="1">
                <a:solidFill>
                  <a:srgbClr val="BBBEBF"/>
                </a:solidFill>
                <a:effectLst/>
                <a:latin typeface="Cascadia Code" panose="020B0609020000020004" pitchFamily="49" charset="0"/>
              </a:rPr>
              <a:t>.</a:t>
            </a:r>
            <a:r>
              <a:rPr lang="en-US" sz="1600" b="0" dirty="0" err="1">
                <a:solidFill>
                  <a:srgbClr val="C9D1D9"/>
                </a:solidFill>
                <a:effectLst/>
                <a:latin typeface="Cascadia Code" panose="020B0609020000020004" pitchFamily="49" charset="0"/>
              </a:rPr>
              <a:t>loadStrategy</a:t>
            </a:r>
            <a:r>
              <a:rPr lang="en-US" sz="1600" b="0" dirty="0">
                <a:solidFill>
                  <a:srgbClr val="BBBEBF"/>
                </a:solidFill>
                <a:effectLst/>
                <a:latin typeface="Cascadia Code" panose="020B0609020000020004" pitchFamily="49" charset="0"/>
              </a:rPr>
              <a:t> </a:t>
            </a:r>
            <a:r>
              <a:rPr lang="en-US" sz="1600" b="0" dirty="0">
                <a:solidFill>
                  <a:srgbClr val="D4D4D4"/>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a:t>
            </a:r>
            <a:r>
              <a:rPr lang="en-US" sz="1600" b="0" dirty="0">
                <a:solidFill>
                  <a:srgbClr val="A5D6FF"/>
                </a:solidFill>
                <a:effectLst/>
                <a:latin typeface="Cascadia Code" panose="020B0609020000020004" pitchFamily="49" charset="0"/>
              </a:rPr>
              <a:t>"eager"</a:t>
            </a:r>
            <a:r>
              <a:rPr lang="en-US" sz="1600" b="0" dirty="0">
                <a:solidFill>
                  <a:srgbClr val="BBBEBF"/>
                </a:solidFill>
                <a:effectLst/>
                <a:latin typeface="Cascadia Code" panose="020B0609020000020004" pitchFamily="49" charset="0"/>
              </a:rPr>
              <a:t>);</a:t>
            </a:r>
          </a:p>
          <a:p>
            <a:pPr>
              <a:lnSpc>
                <a:spcPct val="150000"/>
              </a:lnSpc>
              <a:buNone/>
            </a:pPr>
            <a:r>
              <a:rPr lang="en-US" sz="1600" b="0" dirty="0">
                <a:solidFill>
                  <a:srgbClr val="C586C0"/>
                </a:solidFill>
                <a:effectLst/>
                <a:latin typeface="Cascadia Code" panose="020B0609020000020004" pitchFamily="49" charset="0"/>
              </a:rPr>
              <a:t>for</a:t>
            </a:r>
            <a:r>
              <a:rPr lang="en-US" sz="1600" b="0" dirty="0">
                <a:solidFill>
                  <a:srgbClr val="BBBEBF"/>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const</a:t>
            </a:r>
            <a:r>
              <a:rPr lang="en-US" sz="1600" b="0" dirty="0">
                <a:solidFill>
                  <a:srgbClr val="BBBEBF"/>
                </a:solidFill>
                <a:effectLst/>
                <a:latin typeface="Cascadia Code" panose="020B0609020000020004" pitchFamily="49" charset="0"/>
              </a:rPr>
              <a:t> </a:t>
            </a:r>
            <a:r>
              <a:rPr lang="en-US" sz="1600" b="0" dirty="0">
                <a:solidFill>
                  <a:srgbClr val="79C0FF"/>
                </a:solidFill>
                <a:effectLst/>
                <a:latin typeface="Cascadia Code" panose="020B0609020000020004" pitchFamily="49" charset="0"/>
              </a:rPr>
              <a:t>m</a:t>
            </a:r>
            <a:r>
              <a:rPr lang="en-US" sz="1600" b="0" dirty="0">
                <a:solidFill>
                  <a:srgbClr val="BBBEBF"/>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of</a:t>
            </a:r>
            <a:r>
              <a:rPr lang="en-US" sz="1600" b="0" dirty="0">
                <a:solidFill>
                  <a:srgbClr val="BBBEBF"/>
                </a:solidFill>
                <a:effectLst/>
                <a:latin typeface="Cascadia Code" panose="020B0609020000020004" pitchFamily="49" charset="0"/>
              </a:rPr>
              <a:t> </a:t>
            </a:r>
            <a:r>
              <a:rPr lang="en-US" sz="1600" b="0" dirty="0">
                <a:solidFill>
                  <a:srgbClr val="79C0FF"/>
                </a:solidFill>
                <a:effectLst/>
                <a:latin typeface="Cascadia Code" panose="020B0609020000020004" pitchFamily="49" charset="0"/>
              </a:rPr>
              <a:t>EAGER</a:t>
            </a:r>
            <a:r>
              <a:rPr lang="en-US" sz="1600" b="0" dirty="0">
                <a:solidFill>
                  <a:srgbClr val="BBBEBF"/>
                </a:solidFill>
                <a:effectLst/>
                <a:latin typeface="Cascadia Code" panose="020B0609020000020004" pitchFamily="49" charset="0"/>
              </a:rPr>
              <a:t>) </a:t>
            </a:r>
            <a:r>
              <a:rPr lang="en-US" sz="1600" b="0" dirty="0">
                <a:solidFill>
                  <a:srgbClr val="79C0FF"/>
                </a:solidFill>
                <a:effectLst/>
                <a:latin typeface="Cascadia Code" panose="020B0609020000020004" pitchFamily="49" charset="0"/>
              </a:rPr>
              <a:t>PREFETCHERS</a:t>
            </a:r>
            <a:r>
              <a:rPr lang="en-US" sz="1600" b="0" dirty="0">
                <a:solidFill>
                  <a:srgbClr val="BBBEBF"/>
                </a:solidFill>
                <a:effectLst/>
                <a:latin typeface="Cascadia Code" panose="020B0609020000020004" pitchFamily="49" charset="0"/>
              </a:rPr>
              <a:t>[</a:t>
            </a:r>
            <a:r>
              <a:rPr lang="en-US" sz="1600" b="0" dirty="0">
                <a:solidFill>
                  <a:srgbClr val="79C0FF"/>
                </a:solidFill>
                <a:effectLst/>
                <a:latin typeface="Cascadia Code" panose="020B0609020000020004" pitchFamily="49" charset="0"/>
              </a:rPr>
              <a:t>m</a:t>
            </a:r>
            <a:r>
              <a:rPr lang="en-US" sz="1600" b="0" dirty="0">
                <a:solidFill>
                  <a:srgbClr val="BBBEBF"/>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id</a:t>
            </a:r>
            <a:r>
              <a:rPr lang="en-US" sz="1600" b="0" dirty="0">
                <a:solidFill>
                  <a:srgbClr val="BBBEBF"/>
                </a:solidFill>
                <a:effectLst/>
                <a:latin typeface="Cascadia Code" panose="020B0609020000020004" pitchFamily="49" charset="0"/>
              </a:rPr>
              <a:t>]();</a:t>
            </a:r>
          </a:p>
          <a:p>
            <a:pPr>
              <a:lnSpc>
                <a:spcPct val="150000"/>
              </a:lnSpc>
              <a:buNone/>
            </a:pP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8B949E"/>
                </a:solidFill>
                <a:effectLst/>
                <a:latin typeface="Cascadia Code" panose="020B0609020000020004" pitchFamily="49" charset="0"/>
              </a:rPr>
              <a:t>// STREAMED — on demand with skeletons</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FF7B72"/>
                </a:solidFill>
                <a:effectLst/>
                <a:latin typeface="Cascadia Code" panose="020B0609020000020004" pitchFamily="49" charset="0"/>
              </a:rPr>
              <a:t>const</a:t>
            </a:r>
            <a:r>
              <a:rPr lang="en-US" sz="1600" b="0" dirty="0">
                <a:solidFill>
                  <a:srgbClr val="BBBEBF"/>
                </a:solidFill>
                <a:effectLst/>
                <a:latin typeface="Cascadia Code" panose="020B0609020000020004" pitchFamily="49" charset="0"/>
              </a:rPr>
              <a:t> </a:t>
            </a:r>
            <a:r>
              <a:rPr lang="en-US" sz="1600" b="0" dirty="0" err="1">
                <a:solidFill>
                  <a:srgbClr val="79C0FF"/>
                </a:solidFill>
                <a:effectLst/>
                <a:latin typeface="Cascadia Code" panose="020B0609020000020004" pitchFamily="49" charset="0"/>
              </a:rPr>
              <a:t>StreamingPrescriptionOrders</a:t>
            </a:r>
            <a:r>
              <a:rPr lang="en-US" sz="1600" b="0" dirty="0">
                <a:solidFill>
                  <a:srgbClr val="BBBEBF"/>
                </a:solidFill>
                <a:effectLst/>
                <a:latin typeface="Cascadia Code" panose="020B0609020000020004" pitchFamily="49" charset="0"/>
              </a:rPr>
              <a:t> </a:t>
            </a:r>
            <a:r>
              <a:rPr lang="en-US" sz="1600" b="0" dirty="0">
                <a:solidFill>
                  <a:srgbClr val="D4D4D4"/>
                </a:solidFill>
                <a:effectLst/>
                <a:latin typeface="Cascadia Code" panose="020B0609020000020004" pitchFamily="49" charset="0"/>
              </a:rPr>
              <a:t>=</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lazy</a:t>
            </a:r>
            <a:r>
              <a:rPr lang="en-US" sz="1600" b="0" dirty="0">
                <a:solidFill>
                  <a:srgbClr val="BBBEBF"/>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BBBEBF"/>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import</a:t>
            </a:r>
            <a:r>
              <a:rPr lang="en-US" sz="1600" b="0" dirty="0">
                <a:solidFill>
                  <a:srgbClr val="BBBEBF"/>
                </a:solidFill>
                <a:effectLst/>
                <a:latin typeface="Cascadia Code" panose="020B0609020000020004" pitchFamily="49" charset="0"/>
              </a:rPr>
              <a:t>(</a:t>
            </a:r>
            <a:r>
              <a:rPr lang="en-US" sz="1600" b="0" dirty="0">
                <a:solidFill>
                  <a:srgbClr val="A5D6FF"/>
                </a:solidFill>
                <a:effectLst/>
                <a:latin typeface="Cascadia Code" panose="020B0609020000020004" pitchFamily="49" charset="0"/>
              </a:rPr>
              <a:t>"prescriptions/</a:t>
            </a:r>
            <a:r>
              <a:rPr lang="en-US" sz="1600" b="0" dirty="0" err="1">
                <a:solidFill>
                  <a:srgbClr val="A5D6FF"/>
                </a:solidFill>
                <a:effectLst/>
                <a:latin typeface="Cascadia Code" panose="020B0609020000020004" pitchFamily="49" charset="0"/>
              </a:rPr>
              <a:t>StreamingPrescriptionOrders</a:t>
            </a:r>
            <a:r>
              <a:rPr lang="en-US" sz="1600" b="0" dirty="0">
                <a:solidFill>
                  <a:srgbClr val="A5D6FF"/>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a:t>
            </a:r>
          </a:p>
          <a:p>
            <a:pPr>
              <a:lnSpc>
                <a:spcPct val="150000"/>
              </a:lnSpc>
              <a:buNone/>
            </a:pP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catch</a:t>
            </a:r>
            <a:r>
              <a:rPr lang="en-US" sz="1600" b="0" dirty="0">
                <a:solidFill>
                  <a:srgbClr val="BBBEBF"/>
                </a:solidFill>
                <a:effectLst/>
                <a:latin typeface="Cascadia Code" panose="020B0609020000020004" pitchFamily="49" charset="0"/>
              </a:rPr>
              <a:t>(</a:t>
            </a:r>
            <a:r>
              <a:rPr lang="en-US" sz="1600" b="0" dirty="0">
                <a:solidFill>
                  <a:srgbClr val="8B949E"/>
                </a:solidFill>
                <a:effectLst/>
                <a:latin typeface="Cascadia Code" panose="020B0609020000020004" pitchFamily="49" charset="0"/>
              </a:rPr>
              <a:t>/* fallback */</a:t>
            </a:r>
            <a:r>
              <a:rPr lang="en-US" sz="1600" b="0" dirty="0">
                <a:solidFill>
                  <a:srgbClr val="BBBEBF"/>
                </a:solidFill>
                <a:effectLst/>
                <a:latin typeface="Cascadia Code" panose="020B0609020000020004" pitchFamily="49" charset="0"/>
              </a:rPr>
              <a: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915B897A-3EEC-DD92-29A6-A9DC36773ED2}"/>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Three strategies, three layers of resilience</a:t>
            </a:r>
            <a:endParaRPr lang="en-US" sz="3300" dirty="0">
              <a:solidFill>
                <a:schemeClr val="tx1">
                  <a:lumMod val="95000"/>
                  <a:lumOff val="5000"/>
                </a:schemeClr>
              </a:solidFill>
            </a:endParaRPr>
          </a:p>
        </p:txBody>
      </p:sp>
      <p:sp>
        <p:nvSpPr>
          <p:cNvPr id="5" name="Text 6">
            <a:extLst>
              <a:ext uri="{FF2B5EF4-FFF2-40B4-BE49-F238E27FC236}">
                <a16:creationId xmlns:a16="http://schemas.microsoft.com/office/drawing/2014/main" id="{668BF609-EEBF-0FAC-875A-FCD5A6335B19}"/>
              </a:ext>
            </a:extLst>
          </p:cNvPr>
          <p:cNvSpPr/>
          <p:nvPr/>
        </p:nvSpPr>
        <p:spPr>
          <a:xfrm>
            <a:off x="548640" y="2850776"/>
            <a:ext cx="10854466" cy="2377440"/>
          </a:xfrm>
          <a:prstGeom prst="rect">
            <a:avLst/>
          </a:prstGeom>
          <a:noFill/>
          <a:ln/>
        </p:spPr>
        <p:txBody>
          <a:bodyPr wrap="square" rtlCol="0" anchor="t"/>
          <a:lstStyle/>
          <a:p>
            <a:pPr>
              <a:lnSpc>
                <a:spcPct val="150000"/>
              </a:lnSpc>
              <a:buSzPct val="100000"/>
            </a:pPr>
            <a:r>
              <a:rPr lang="en-US" sz="2800" dirty="0">
                <a:solidFill>
                  <a:schemeClr val="tx1">
                    <a:lumMod val="95000"/>
                    <a:lumOff val="5000"/>
                  </a:schemeClr>
                </a:solidFill>
                <a:latin typeface="Cascadia Code NF" pitchFamily="50" charset="0"/>
                <a:ea typeface="Cascadia Code NF" pitchFamily="50" charset="0"/>
                <a:cs typeface="Cascadia Code NF" pitchFamily="50" charset="0"/>
              </a:rPr>
              <a:t>Layer 1: lazy() + .catch() if remote is unreachable</a:t>
            </a:r>
          </a:p>
          <a:p>
            <a:pPr>
              <a:lnSpc>
                <a:spcPct val="150000"/>
              </a:lnSpc>
              <a:buSzPct val="100000"/>
            </a:pPr>
            <a:r>
              <a:rPr lang="en-US" sz="2800" dirty="0">
                <a:solidFill>
                  <a:schemeClr val="tx1">
                    <a:lumMod val="95000"/>
                    <a:lumOff val="5000"/>
                  </a:schemeClr>
                </a:solidFill>
                <a:latin typeface="Cascadia Code NF" pitchFamily="50" charset="0"/>
                <a:ea typeface="Cascadia Code NF" pitchFamily="50" charset="0"/>
                <a:cs typeface="Cascadia Code NF" pitchFamily="50" charset="0"/>
              </a:rPr>
              <a:t>Layer 2: &lt;Suspense&gt; skeleton while loading</a:t>
            </a:r>
          </a:p>
          <a:p>
            <a:pPr>
              <a:lnSpc>
                <a:spcPct val="150000"/>
              </a:lnSpc>
              <a:buSzPct val="100000"/>
            </a:pPr>
            <a:r>
              <a:rPr lang="en-US" sz="2800" dirty="0">
                <a:solidFill>
                  <a:schemeClr val="tx1">
                    <a:lumMod val="95000"/>
                    <a:lumOff val="5000"/>
                  </a:schemeClr>
                </a:solidFill>
                <a:latin typeface="Cascadia Code NF" pitchFamily="50" charset="0"/>
                <a:ea typeface="Cascadia Code NF" pitchFamily="50" charset="0"/>
                <a:cs typeface="Cascadia Code NF" pitchFamily="50" charset="0"/>
              </a:rPr>
              <a:t>Layer 3: &lt;ErrorBoundary&gt; for runtime errors</a:t>
            </a:r>
          </a:p>
        </p:txBody>
      </p:sp>
    </p:spTree>
    <p:extLst>
      <p:ext uri="{BB962C8B-B14F-4D97-AF65-F5344CB8AC3E}">
        <p14:creationId xmlns:p14="http://schemas.microsoft.com/office/powerpoint/2010/main" val="261912563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E6D9864B-997C-D392-B5C0-9E000C1A03B8}"/>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Question</a:t>
            </a:r>
            <a:endParaRPr lang="en-US" sz="3300" dirty="0">
              <a:solidFill>
                <a:schemeClr val="tx1">
                  <a:lumMod val="95000"/>
                  <a:lumOff val="5000"/>
                </a:schemeClr>
              </a:solidFill>
            </a:endParaRPr>
          </a:p>
        </p:txBody>
      </p:sp>
      <p:sp>
        <p:nvSpPr>
          <p:cNvPr id="7" name="Text 8">
            <a:extLst>
              <a:ext uri="{FF2B5EF4-FFF2-40B4-BE49-F238E27FC236}">
                <a16:creationId xmlns:a16="http://schemas.microsoft.com/office/drawing/2014/main" id="{626E23A0-B775-D9BA-9D15-6D62663E3A4A}"/>
              </a:ext>
            </a:extLst>
          </p:cNvPr>
          <p:cNvSpPr/>
          <p:nvPr/>
        </p:nvSpPr>
        <p:spPr>
          <a:xfrm>
            <a:off x="713232" y="2678653"/>
            <a:ext cx="10395758" cy="1796527"/>
          </a:xfrm>
          <a:prstGeom prst="rect">
            <a:avLst/>
          </a:prstGeom>
          <a:noFill/>
          <a:ln/>
        </p:spPr>
        <p:txBody>
          <a:bodyPr wrap="square" rtlCol="0" anchor="ctr"/>
          <a:lstStyle/>
          <a:p>
            <a:pPr marL="0" indent="0">
              <a:buNone/>
            </a:pPr>
            <a:r>
              <a:rPr lang="en-US" sz="2800" i="1" dirty="0">
                <a:solidFill>
                  <a:schemeClr val="tx1">
                    <a:lumMod val="85000"/>
                    <a:lumOff val="15000"/>
                  </a:schemeClr>
                </a:solidFill>
                <a:latin typeface="Cascadia Code NF" pitchFamily="50" charset="0"/>
                <a:ea typeface="Cascadia Code NF" pitchFamily="50" charset="0"/>
                <a:cs typeface="Cascadia Code NF" pitchFamily="50" charset="0"/>
              </a:rPr>
              <a:t>Why lazy() for eager modules? </a:t>
            </a:r>
          </a:p>
          <a:p>
            <a:pPr marL="0" indent="0">
              <a:buNone/>
            </a:pPr>
            <a:r>
              <a:rPr lang="en-US" sz="2800" i="1" dirty="0">
                <a:solidFill>
                  <a:schemeClr val="tx1">
                    <a:lumMod val="85000"/>
                    <a:lumOff val="15000"/>
                  </a:schemeClr>
                </a:solidFill>
                <a:latin typeface="Cascadia Code NF" pitchFamily="50" charset="0"/>
                <a:ea typeface="Cascadia Code NF" pitchFamily="50" charset="0"/>
                <a:cs typeface="Cascadia Code NF" pitchFamily="50" charset="0"/>
              </a:rPr>
              <a:t>Remotes are separate builds resolved at runtime. </a:t>
            </a:r>
          </a:p>
          <a:p>
            <a:pPr marL="0" indent="0">
              <a:buNone/>
            </a:pPr>
            <a:r>
              <a:rPr lang="en-US" sz="2800" i="1" dirty="0">
                <a:solidFill>
                  <a:schemeClr val="tx1">
                    <a:lumMod val="85000"/>
                    <a:lumOff val="15000"/>
                  </a:schemeClr>
                </a:solidFill>
                <a:latin typeface="Cascadia Code NF" pitchFamily="50" charset="0"/>
                <a:ea typeface="Cascadia Code NF" pitchFamily="50" charset="0"/>
                <a:cs typeface="Cascadia Code NF" pitchFamily="50" charset="0"/>
              </a:rPr>
              <a:t>Eager import() warms the cache; lazy() resolves from it.</a:t>
            </a:r>
            <a:endParaRPr lang="en-US" sz="2800" dirty="0">
              <a:solidFill>
                <a:schemeClr val="tx1">
                  <a:lumMod val="85000"/>
                  <a:lumOff val="15000"/>
                </a:schemeClr>
              </a:solidFill>
              <a:latin typeface="Cascadia Code NF" pitchFamily="50" charset="0"/>
              <a:ea typeface="Cascadia Code NF" pitchFamily="50" charset="0"/>
              <a:cs typeface="Cascadia Code NF" pitchFamily="50" charset="0"/>
            </a:endParaRPr>
          </a:p>
        </p:txBody>
      </p:sp>
    </p:spTree>
    <p:extLst>
      <p:ext uri="{BB962C8B-B14F-4D97-AF65-F5344CB8AC3E}">
        <p14:creationId xmlns:p14="http://schemas.microsoft.com/office/powerpoint/2010/main" val="257722466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name="Slide 9">
    <p:bg>
      <p:bgPr>
        <a:solidFill>
          <a:srgbClr val="0C0C0C"/>
        </a:solidFill>
        <a:effectLst/>
      </p:bgPr>
    </p:bg>
    <p:spTree>
      <p:nvGrpSpPr>
        <p:cNvPr id="1" name=""/>
        <p:cNvGrpSpPr/>
        <p:nvPr/>
      </p:nvGrpSpPr>
      <p:grpSpPr>
        <a:xfrm>
          <a:off x="0" y="0"/>
          <a:ext cx="0" cy="0"/>
          <a:chOff x="0" y="0"/>
          <a:chExt cx="0" cy="0"/>
        </a:xfrm>
      </p:grpSpPr>
      <p:sp>
        <p:nvSpPr>
          <p:cNvPr id="2" name="Shape 0"/>
          <p:cNvSpPr/>
          <p:nvPr/>
        </p:nvSpPr>
        <p:spPr>
          <a:xfrm>
            <a:off x="548640" y="512064"/>
            <a:ext cx="411480" cy="45720"/>
          </a:xfrm>
          <a:prstGeom prst="rect">
            <a:avLst/>
          </a:prstGeom>
          <a:solidFill>
            <a:srgbClr val="D4FF00"/>
          </a:solidFill>
          <a:ln/>
        </p:spPr>
        <p:txBody>
          <a:bodyPr/>
          <a:lstStyle/>
          <a:p>
            <a:endParaRPr lang="en-GB"/>
          </a:p>
        </p:txBody>
      </p:sp>
      <p:sp>
        <p:nvSpPr>
          <p:cNvPr id="3" name="Text 1"/>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LIVE DEMO CONTROLS</a:t>
            </a:r>
            <a:endParaRPr lang="en-US" sz="1050" dirty="0"/>
          </a:p>
        </p:txBody>
      </p:sp>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Settings · Commands · Federation Lab</a:t>
            </a:r>
            <a:endParaRPr lang="en-US" sz="3300" dirty="0"/>
          </a:p>
        </p:txBody>
      </p:sp>
      <p:graphicFrame>
        <p:nvGraphicFramePr>
          <p:cNvPr id="10" name="Table 0"/>
          <p:cNvGraphicFramePr>
            <a:graphicFrameLocks noGrp="1"/>
          </p:cNvGraphicFramePr>
          <p:nvPr>
            <p:extLst>
              <p:ext uri="{D42A27DB-BD31-4B8C-83A1-F6EECF244321}">
                <p14:modId xmlns:p14="http://schemas.microsoft.com/office/powerpoint/2010/main" val="3572002337"/>
              </p:ext>
            </p:extLst>
          </p:nvPr>
        </p:nvGraphicFramePr>
        <p:xfrm>
          <a:off x="530352" y="2415091"/>
          <a:ext cx="11064240" cy="3148764"/>
        </p:xfrm>
        <a:graphic>
          <a:graphicData uri="http://schemas.openxmlformats.org/drawingml/2006/table">
            <a:tbl>
              <a:tblPr/>
              <a:tblGrid>
                <a:gridCol w="219456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6126480">
                  <a:extLst>
                    <a:ext uri="{9D8B030D-6E8A-4147-A177-3AD203B41FA5}">
                      <a16:colId xmlns:a16="http://schemas.microsoft.com/office/drawing/2014/main" val="20002"/>
                    </a:ext>
                  </a:extLst>
                </a:gridCol>
              </a:tblGrid>
              <a:tr h="774664">
                <a:tc>
                  <a:txBody>
                    <a:bodyPr/>
                    <a:lstStyle/>
                    <a:p>
                      <a:pPr marL="0" indent="0">
                        <a:buNone/>
                      </a:pPr>
                      <a:r>
                        <a:rPr lang="en-US" sz="1200" b="1" kern="0" spc="200" dirty="0">
                          <a:solidFill>
                            <a:srgbClr val="D4FF00"/>
                          </a:solidFill>
                          <a:latin typeface="IBM Plex Mono" pitchFamily="34" charset="0"/>
                          <a:ea typeface="IBM Plex Mono" pitchFamily="34" charset="-122"/>
                          <a:cs typeface="IBM Plex Mono" pitchFamily="34" charset="-120"/>
                        </a:rPr>
                        <a:t>BUTTON</a:t>
                      </a:r>
                      <a:endParaRPr lang="en-US" sz="12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200" b="1" kern="0" spc="200" dirty="0">
                          <a:solidFill>
                            <a:srgbClr val="D4FF00"/>
                          </a:solidFill>
                          <a:latin typeface="IBM Plex Mono" pitchFamily="34" charset="0"/>
                          <a:ea typeface="IBM Plex Mono" pitchFamily="34" charset="-122"/>
                          <a:cs typeface="IBM Plex Mono" pitchFamily="34" charset="-120"/>
                        </a:rPr>
                        <a:t>OPENS</a:t>
                      </a:r>
                      <a:endParaRPr lang="en-US" sz="12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200" b="1" kern="0" spc="200" dirty="0">
                          <a:solidFill>
                            <a:srgbClr val="D4FF00"/>
                          </a:solidFill>
                          <a:latin typeface="IBM Plex Mono" pitchFamily="34" charset="0"/>
                          <a:ea typeface="IBM Plex Mono" pitchFamily="34" charset="-122"/>
                          <a:cs typeface="IBM Plex Mono" pitchFamily="34" charset="-120"/>
                        </a:rPr>
                        <a:t>PURPOSE</a:t>
                      </a:r>
                      <a:endParaRPr lang="en-US" sz="12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799718">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Settings</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Right slide-over drawer</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Shell-owned theme across remotes (CSS vars, localStorage, event)</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799718">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Commands (Ctrl+K)</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Searchable palette</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Navigate, theme, kill remotes, toggle rings from the keyboard</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774664">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Lab</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Federation Lab panel</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Health, kill switches, A/B rings when things break</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CC0F34E4-70E8-F750-1B49-A033FEC0C4E2}"/>
              </a:ext>
            </a:extLst>
          </p:cNvPr>
          <p:cNvSpPr/>
          <p:nvPr/>
        </p:nvSpPr>
        <p:spPr>
          <a:xfrm>
            <a:off x="530352" y="135008"/>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Settings · Commands · Federation Lab</a:t>
            </a:r>
            <a:endParaRPr lang="en-US" sz="3300" dirty="0">
              <a:solidFill>
                <a:schemeClr val="tx1">
                  <a:lumMod val="95000"/>
                  <a:lumOff val="5000"/>
                </a:schemeClr>
              </a:solidFill>
            </a:endParaRPr>
          </a:p>
        </p:txBody>
      </p:sp>
      <p:sp>
        <p:nvSpPr>
          <p:cNvPr id="5" name="Text 5">
            <a:extLst>
              <a:ext uri="{FF2B5EF4-FFF2-40B4-BE49-F238E27FC236}">
                <a16:creationId xmlns:a16="http://schemas.microsoft.com/office/drawing/2014/main" id="{8EB8FE32-AB1B-8F6E-B031-72E31947DF0F}"/>
              </a:ext>
            </a:extLst>
          </p:cNvPr>
          <p:cNvSpPr/>
          <p:nvPr/>
        </p:nvSpPr>
        <p:spPr>
          <a:xfrm>
            <a:off x="576072" y="1202166"/>
            <a:ext cx="10706010" cy="4660752"/>
          </a:xfrm>
          <a:prstGeom prst="rect">
            <a:avLst/>
          </a:prstGeom>
          <a:noFill/>
          <a:ln/>
        </p:spPr>
        <p:txBody>
          <a:bodyPr wrap="square" rtlCol="0" anchor="t"/>
          <a:lstStyle/>
          <a:p>
            <a:pPr marL="285750" indent="-285750">
              <a:lnSpc>
                <a:spcPct val="150000"/>
              </a:lnSpc>
              <a:buSzPct val="100000"/>
              <a:buFont typeface="Arial" panose="020B0604020202020204" pitchFamily="34" charset="0"/>
              <a:buChar char="•"/>
            </a:pPr>
            <a:r>
              <a:rPr lang="en-US" sz="2800" dirty="0">
                <a:solidFill>
                  <a:schemeClr val="tx1">
                    <a:lumMod val="95000"/>
                    <a:lumOff val="5000"/>
                  </a:schemeClr>
                </a:solidFill>
                <a:latin typeface="DM Sans" pitchFamily="34" charset="0"/>
                <a:ea typeface="DM Sans" pitchFamily="34" charset="-122"/>
                <a:cs typeface="DM Sans" pitchFamily="34" charset="-120"/>
              </a:rPr>
              <a:t>Health Monitor: polls each remoteEntry.js every 5s, shows latency</a:t>
            </a:r>
            <a:endParaRPr lang="en-US" sz="2800" dirty="0">
              <a:solidFill>
                <a:schemeClr val="tx1">
                  <a:lumMod val="95000"/>
                  <a:lumOff val="5000"/>
                </a:schemeClr>
              </a:solidFill>
            </a:endParaRPr>
          </a:p>
          <a:p>
            <a:pPr marL="285750" indent="-285750">
              <a:lnSpc>
                <a:spcPct val="150000"/>
              </a:lnSpc>
              <a:buSzPct val="100000"/>
              <a:buFont typeface="Arial" panose="020B0604020202020204" pitchFamily="34" charset="0"/>
              <a:buChar char="•"/>
            </a:pPr>
            <a:r>
              <a:rPr lang="en-US" sz="2800" dirty="0">
                <a:solidFill>
                  <a:schemeClr val="tx1">
                    <a:lumMod val="95000"/>
                    <a:lumOff val="5000"/>
                  </a:schemeClr>
                </a:solidFill>
                <a:latin typeface="DM Sans" pitchFamily="34" charset="0"/>
                <a:ea typeface="DM Sans" pitchFamily="34" charset="-122"/>
                <a:cs typeface="DM Sans" pitchFamily="34" charset="-120"/>
              </a:rPr>
              <a:t>Kill Switches: simulate remote failure; the rest keeps running</a:t>
            </a:r>
            <a:endParaRPr lang="en-US" sz="2800" dirty="0">
              <a:solidFill>
                <a:schemeClr val="tx1">
                  <a:lumMod val="95000"/>
                  <a:lumOff val="5000"/>
                </a:schemeClr>
              </a:solidFill>
            </a:endParaRPr>
          </a:p>
          <a:p>
            <a:pPr marL="285750" indent="-285750">
              <a:lnSpc>
                <a:spcPct val="150000"/>
              </a:lnSpc>
              <a:buSzPct val="100000"/>
              <a:buFont typeface="Arial" panose="020B0604020202020204" pitchFamily="34" charset="0"/>
              <a:buChar char="•"/>
            </a:pPr>
            <a:r>
              <a:rPr lang="en-US" sz="2800" dirty="0">
                <a:solidFill>
                  <a:schemeClr val="tx1">
                    <a:lumMod val="95000"/>
                    <a:lumOff val="5000"/>
                  </a:schemeClr>
                </a:solidFill>
                <a:latin typeface="DM Sans" pitchFamily="34" charset="0"/>
                <a:ea typeface="DM Sans" pitchFamily="34" charset="-122"/>
                <a:cs typeface="DM Sans" pitchFamily="34" charset="-120"/>
              </a:rPr>
              <a:t>A/B Deployment: toggle Stable ↔ Canary ring, per-module versions</a:t>
            </a:r>
            <a:endParaRPr lang="en-US" sz="2800" dirty="0">
              <a:solidFill>
                <a:schemeClr val="tx1">
                  <a:lumMod val="95000"/>
                  <a:lumOff val="5000"/>
                </a:schemeClr>
              </a:solidFill>
            </a:endParaRPr>
          </a:p>
          <a:p>
            <a:pPr marL="285750" indent="-285750">
              <a:lnSpc>
                <a:spcPct val="150000"/>
              </a:lnSpc>
              <a:buSzPct val="100000"/>
              <a:buFont typeface="Arial" panose="020B0604020202020204" pitchFamily="34" charset="0"/>
              <a:buChar char="•"/>
            </a:pPr>
            <a:r>
              <a:rPr lang="en-US" sz="2800" dirty="0">
                <a:solidFill>
                  <a:schemeClr val="tx1">
                    <a:lumMod val="95000"/>
                    <a:lumOff val="5000"/>
                  </a:schemeClr>
                </a:solidFill>
                <a:latin typeface="DM Sans" pitchFamily="34" charset="0"/>
                <a:ea typeface="DM Sans" pitchFamily="34" charset="-122"/>
                <a:cs typeface="DM Sans" pitchFamily="34" charset="-120"/>
              </a:rPr>
              <a:t>Theme: CSS variables + localStorage + themeChange event, zero shared imports</a:t>
            </a:r>
          </a:p>
        </p:txBody>
      </p:sp>
    </p:spTree>
    <p:extLst>
      <p:ext uri="{BB962C8B-B14F-4D97-AF65-F5344CB8AC3E}">
        <p14:creationId xmlns:p14="http://schemas.microsoft.com/office/powerpoint/2010/main" val="3991074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name="Slide 10">
    <p:bg>
      <p:bgPr>
        <a:solidFill>
          <a:srgbClr val="0C0C0C"/>
        </a:solidFill>
        <a:effectLst/>
      </p:bgPr>
    </p:bg>
    <p:spTree>
      <p:nvGrpSpPr>
        <p:cNvPr id="1" name=""/>
        <p:cNvGrpSpPr/>
        <p:nvPr/>
      </p:nvGrpSpPr>
      <p:grpSpPr>
        <a:xfrm>
          <a:off x="0" y="0"/>
          <a:ext cx="0" cy="0"/>
          <a:chOff x="0" y="0"/>
          <a:chExt cx="0" cy="0"/>
        </a:xfrm>
      </p:grpSpPr>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Microservices for the frontend: the 99% case</a:t>
            </a:r>
            <a:endParaRPr lang="en-US" sz="3300" dirty="0"/>
          </a:p>
        </p:txBody>
      </p:sp>
      <p:graphicFrame>
        <p:nvGraphicFramePr>
          <p:cNvPr id="11" name="Table 0"/>
          <p:cNvGraphicFramePr>
            <a:graphicFrameLocks noGrp="1"/>
          </p:cNvGraphicFramePr>
          <p:nvPr>
            <p:extLst>
              <p:ext uri="{D42A27DB-BD31-4B8C-83A1-F6EECF244321}">
                <p14:modId xmlns:p14="http://schemas.microsoft.com/office/powerpoint/2010/main" val="670497951"/>
              </p:ext>
            </p:extLst>
          </p:nvPr>
        </p:nvGraphicFramePr>
        <p:xfrm>
          <a:off x="553212" y="1992854"/>
          <a:ext cx="11064240" cy="3762486"/>
        </p:xfrm>
        <a:graphic>
          <a:graphicData uri="http://schemas.openxmlformats.org/drawingml/2006/table">
            <a:tbl>
              <a:tblPr/>
              <a:tblGrid>
                <a:gridCol w="201168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4846320">
                  <a:extLst>
                    <a:ext uri="{9D8B030D-6E8A-4147-A177-3AD203B41FA5}">
                      <a16:colId xmlns:a16="http://schemas.microsoft.com/office/drawing/2014/main" val="20002"/>
                    </a:ext>
                  </a:extLst>
                </a:gridCol>
              </a:tblGrid>
              <a:tr h="708070">
                <a:tc>
                  <a:txBody>
                    <a:bodyPr/>
                    <a:lstStyle/>
                    <a:p>
                      <a:pPr marL="0" indent="0">
                        <a:buNone/>
                      </a:pPr>
                      <a:endParaRPr lang="en-US" sz="14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400" b="1" kern="0" spc="200" dirty="0">
                          <a:solidFill>
                            <a:srgbClr val="D4FF00"/>
                          </a:solidFill>
                          <a:latin typeface="IBM Plex Mono" pitchFamily="34" charset="0"/>
                          <a:ea typeface="IBM Plex Mono" pitchFamily="34" charset="-122"/>
                          <a:cs typeface="IBM Plex Mono" pitchFamily="34" charset="-120"/>
                        </a:rPr>
                        <a:t>MICROSERVICES</a:t>
                      </a:r>
                      <a:endParaRPr lang="en-US" sz="14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400" b="1" kern="0" spc="200" dirty="0">
                          <a:solidFill>
                            <a:srgbClr val="D4FF00"/>
                          </a:solidFill>
                          <a:latin typeface="IBM Plex Mono" pitchFamily="34" charset="0"/>
                          <a:ea typeface="IBM Plex Mono" pitchFamily="34" charset="-122"/>
                          <a:cs typeface="IBM Plex Mono" pitchFamily="34" charset="-120"/>
                        </a:rPr>
                        <a:t>MICRO-FRONTENDS (THIS DEMO)</a:t>
                      </a:r>
                      <a:endParaRPr lang="en-US" sz="14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763604">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Isolation</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OS-level (separate processes)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React-level (ErrorBoundary per module)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763604">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If one crashes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Other services keep running</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Other modules keep rendering</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763604">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Blast radius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Network call fails → caller handles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import() fails → fallback + Retry</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r h="763604">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Shared risk</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None (own memory/CPU)</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Shared browser tab</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bg>
      <p:bgPr>
        <a:solidFill>
          <a:srgbClr val="0C0C0C"/>
        </a:solidFill>
        <a:effectLst/>
      </p:bgPr>
    </p:bg>
    <p:spTree>
      <p:nvGrpSpPr>
        <p:cNvPr id="1" name="">
          <a:extLst>
            <a:ext uri="{FF2B5EF4-FFF2-40B4-BE49-F238E27FC236}">
              <a16:creationId xmlns:a16="http://schemas.microsoft.com/office/drawing/2014/main" id="{B014BF7B-684E-0B72-30B8-2D2948BA8190}"/>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F454F36E-74EF-94D2-89F3-32D082A255EF}"/>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Microservices for the frontend: the 99% case</a:t>
            </a:r>
            <a:endParaRPr lang="en-US" sz="3300" dirty="0"/>
          </a:p>
        </p:txBody>
      </p:sp>
      <p:sp>
        <p:nvSpPr>
          <p:cNvPr id="6" name="TextBox 5">
            <a:extLst>
              <a:ext uri="{FF2B5EF4-FFF2-40B4-BE49-F238E27FC236}">
                <a16:creationId xmlns:a16="http://schemas.microsoft.com/office/drawing/2014/main" id="{C2ED0651-2501-248C-0C15-9B1BF11906A1}"/>
              </a:ext>
            </a:extLst>
          </p:cNvPr>
          <p:cNvSpPr txBox="1"/>
          <p:nvPr/>
        </p:nvSpPr>
        <p:spPr>
          <a:xfrm>
            <a:off x="530352" y="2255345"/>
            <a:ext cx="11064240" cy="2347309"/>
          </a:xfrm>
          <a:prstGeom prst="rect">
            <a:avLst/>
          </a:prstGeom>
          <a:noFill/>
        </p:spPr>
        <p:txBody>
          <a:bodyPr wrap="square">
            <a:spAutoFit/>
          </a:bodyPr>
          <a:lstStyle/>
          <a:p>
            <a:pPr>
              <a:lnSpc>
                <a:spcPct val="150000"/>
              </a:lnSpc>
              <a:buNone/>
            </a:pPr>
            <a:r>
              <a:rPr lang="en-US" sz="2000" b="0" dirty="0">
                <a:solidFill>
                  <a:srgbClr val="8B949E"/>
                </a:solidFill>
                <a:effectLst/>
                <a:latin typeface="Cascadia Code" panose="020B0609020000020004" pitchFamily="49" charset="0"/>
              </a:rPr>
              <a:t>// lazy() with .catch() — fallback when the remote is down</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FF7B72"/>
                </a:solidFill>
                <a:effectLst/>
                <a:latin typeface="Cascadia Code" panose="020B0609020000020004" pitchFamily="49" charset="0"/>
              </a:rPr>
              <a:t>const</a:t>
            </a:r>
            <a:r>
              <a:rPr lang="en-US" sz="2000" b="0" dirty="0">
                <a:solidFill>
                  <a:srgbClr val="BBBEBF"/>
                </a:solidFill>
                <a:effectLst/>
                <a:latin typeface="Cascadia Code" panose="020B0609020000020004" pitchFamily="49" charset="0"/>
              </a:rPr>
              <a:t> </a:t>
            </a:r>
            <a:r>
              <a:rPr lang="en-US" sz="2000" b="0" dirty="0" err="1">
                <a:solidFill>
                  <a:srgbClr val="79C0FF"/>
                </a:solidFill>
                <a:effectLst/>
                <a:latin typeface="Cascadia Code" panose="020B0609020000020004" pitchFamily="49" charset="0"/>
              </a:rPr>
              <a:t>MedicalRecords</a:t>
            </a:r>
            <a:r>
              <a:rPr lang="en-US" sz="2000" b="0" dirty="0">
                <a:solidFill>
                  <a:srgbClr val="BBBEBF"/>
                </a:solidFill>
                <a:effectLst/>
                <a:latin typeface="Cascadia Code" panose="020B0609020000020004" pitchFamily="49" charset="0"/>
              </a:rPr>
              <a:t> </a:t>
            </a:r>
            <a:r>
              <a:rPr lang="en-US" sz="2000" b="0" dirty="0">
                <a:solidFill>
                  <a:srgbClr val="D4D4D4"/>
                </a:solidFill>
                <a:effectLst/>
                <a:latin typeface="Cascadia Code" panose="020B0609020000020004" pitchFamily="49" charset="0"/>
              </a:rPr>
              <a:t>=</a:t>
            </a:r>
            <a:r>
              <a:rPr lang="en-US" sz="2000" b="0" dirty="0">
                <a:solidFill>
                  <a:srgbClr val="BBBEBF"/>
                </a:solidFill>
                <a:effectLst/>
                <a:latin typeface="Cascadia Code" panose="020B0609020000020004" pitchFamily="49" charset="0"/>
              </a:rPr>
              <a:t> </a:t>
            </a:r>
            <a:r>
              <a:rPr lang="en-US" sz="2000" b="0" dirty="0">
                <a:solidFill>
                  <a:srgbClr val="D2A8FF"/>
                </a:solidFill>
                <a:effectLst/>
                <a:latin typeface="Cascadia Code" panose="020B0609020000020004" pitchFamily="49" charset="0"/>
              </a:rPr>
              <a:t>lazy</a:t>
            </a:r>
            <a:r>
              <a:rPr lang="en-US" sz="2000" b="0" dirty="0">
                <a:solidFill>
                  <a:srgbClr val="BBBEBF"/>
                </a:solidFill>
                <a:effectLst/>
                <a:latin typeface="Cascadia Code" panose="020B0609020000020004" pitchFamily="49" charset="0"/>
              </a:rPr>
              <a:t>(() </a:t>
            </a:r>
            <a:r>
              <a:rPr lang="en-US" sz="2000" b="0" dirty="0">
                <a:solidFill>
                  <a:srgbClr val="FF7B72"/>
                </a:solidFill>
                <a:effectLst/>
                <a:latin typeface="Cascadia Code" panose="020B0609020000020004" pitchFamily="49" charset="0"/>
              </a:rPr>
              <a:t>=&gt;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569CD6"/>
                </a:solidFill>
                <a:effectLst/>
                <a:latin typeface="Cascadia Code" panose="020B0609020000020004" pitchFamily="49" charset="0"/>
              </a:rPr>
              <a:t>import</a:t>
            </a:r>
            <a:r>
              <a:rPr lang="en-US" sz="2000" b="0" dirty="0">
                <a:solidFill>
                  <a:srgbClr val="BBBEBF"/>
                </a:solidFill>
                <a:effectLst/>
                <a:latin typeface="Cascadia Code" panose="020B0609020000020004" pitchFamily="49" charset="0"/>
              </a:rPr>
              <a:t>(</a:t>
            </a:r>
            <a:r>
              <a:rPr lang="en-US" sz="2000" b="0" dirty="0">
                <a:solidFill>
                  <a:srgbClr val="A5D6FF"/>
                </a:solidFill>
                <a:effectLst/>
                <a:latin typeface="Cascadia Code" panose="020B0609020000020004" pitchFamily="49" charset="0"/>
              </a:rPr>
              <a:t>"records/</a:t>
            </a:r>
            <a:r>
              <a:rPr lang="en-US" sz="2000" b="0" dirty="0" err="1">
                <a:solidFill>
                  <a:srgbClr val="A5D6FF"/>
                </a:solidFill>
                <a:effectLst/>
                <a:latin typeface="Cascadia Code" panose="020B0609020000020004" pitchFamily="49" charset="0"/>
              </a:rPr>
              <a:t>MedicalRecords</a:t>
            </a:r>
            <a:r>
              <a:rPr lang="en-US" sz="2000" b="0" dirty="0">
                <a:solidFill>
                  <a:srgbClr val="A5D6FF"/>
                </a:solidFill>
                <a:effectLst/>
                <a:latin typeface="Cascadia Code" panose="020B0609020000020004" pitchFamily="49" charset="0"/>
              </a:rPr>
              <a:t>"</a:t>
            </a:r>
            <a:r>
              <a:rPr lang="en-US" sz="2000" b="0" dirty="0">
                <a:solidFill>
                  <a:srgbClr val="BBBEBF"/>
                </a:solidFill>
                <a:effectLst/>
                <a:latin typeface="Cascadia Code" panose="020B0609020000020004" pitchFamily="49" charset="0"/>
              </a:rPr>
              <a:t>).</a:t>
            </a:r>
            <a:r>
              <a:rPr lang="en-US" sz="2000" b="0" dirty="0">
                <a:solidFill>
                  <a:srgbClr val="D2A8FF"/>
                </a:solidFill>
                <a:effectLst/>
                <a:latin typeface="Cascadia Code" panose="020B0609020000020004" pitchFamily="49" charset="0"/>
              </a:rPr>
              <a:t>catch</a:t>
            </a:r>
            <a:r>
              <a:rPr lang="en-US" sz="2000" b="0" dirty="0">
                <a:solidFill>
                  <a:srgbClr val="BBBEBF"/>
                </a:solidFill>
                <a:effectLst/>
                <a:latin typeface="Cascadia Code" panose="020B0609020000020004" pitchFamily="49" charset="0"/>
              </a:rPr>
              <a:t>(() </a:t>
            </a:r>
            <a:r>
              <a:rPr lang="en-US" sz="2000" b="0" dirty="0">
                <a:solidFill>
                  <a:srgbClr val="FF7B72"/>
                </a:solidFill>
                <a:effectLst/>
                <a:latin typeface="Cascadia Code" panose="020B0609020000020004" pitchFamily="49" charset="0"/>
              </a:rPr>
              <a:t>=&gt;</a:t>
            </a:r>
            <a:r>
              <a:rPr lang="en-US" sz="2000" b="0" dirty="0">
                <a:solidFill>
                  <a:srgbClr val="BBBEBF"/>
                </a:solidFill>
                <a:effectLst/>
                <a:latin typeface="Cascadia Code" panose="020B0609020000020004" pitchFamily="49" charset="0"/>
              </a:rPr>
              <a:t> ({</a:t>
            </a: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D2A8FF"/>
                </a:solidFill>
                <a:effectLst/>
                <a:latin typeface="Cascadia Code" panose="020B0609020000020004" pitchFamily="49" charset="0"/>
              </a:rPr>
              <a:t>default</a:t>
            </a:r>
            <a:r>
              <a:rPr lang="en-US" sz="2000" b="0" dirty="0">
                <a:solidFill>
                  <a:srgbClr val="9CDCFE"/>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 </a:t>
            </a:r>
            <a:r>
              <a:rPr lang="en-US" sz="2000" b="0" dirty="0">
                <a:solidFill>
                  <a:srgbClr val="FF7B72"/>
                </a:solidFill>
                <a:effectLst/>
                <a:latin typeface="Cascadia Code" panose="020B0609020000020004" pitchFamily="49" charset="0"/>
              </a:rPr>
              <a:t>=&gt;</a:t>
            </a:r>
            <a:r>
              <a:rPr lang="en-US" sz="2000" b="0" dirty="0">
                <a:solidFill>
                  <a:srgbClr val="C9D1D9"/>
                </a:solidFill>
                <a:effectLst/>
                <a:latin typeface="Cascadia Code" panose="020B0609020000020004" pitchFamily="49" charset="0"/>
              </a:rPr>
              <a:t> &lt;</a:t>
            </a:r>
            <a:r>
              <a:rPr lang="en-US" sz="2000" b="0" dirty="0" err="1">
                <a:solidFill>
                  <a:srgbClr val="4EC9B0"/>
                </a:solidFill>
                <a:effectLst/>
                <a:latin typeface="Cascadia Code" panose="020B0609020000020004" pitchFamily="49" charset="0"/>
              </a:rPr>
              <a:t>ModuleFallback</a:t>
            </a:r>
            <a:r>
              <a:rPr lang="en-US" sz="2000" b="0" dirty="0">
                <a:solidFill>
                  <a:srgbClr val="C9D1D9"/>
                </a:solidFill>
                <a:effectLst/>
                <a:latin typeface="Cascadia Code" panose="020B0609020000020004" pitchFamily="49" charset="0"/>
              </a:rPr>
              <a:t> </a:t>
            </a:r>
            <a:r>
              <a:rPr lang="en-US" sz="2000" b="0" dirty="0">
                <a:solidFill>
                  <a:srgbClr val="4EC9B0"/>
                </a:solidFill>
                <a:effectLst/>
                <a:latin typeface="Cascadia Code" panose="020B0609020000020004" pitchFamily="49" charset="0"/>
              </a:rPr>
              <a:t>title</a:t>
            </a:r>
            <a:r>
              <a:rPr lang="en-US" sz="2000" b="0" dirty="0">
                <a:solidFill>
                  <a:srgbClr val="C9D1D9"/>
                </a:solidFill>
                <a:effectLst/>
                <a:latin typeface="Cascadia Code" panose="020B0609020000020004" pitchFamily="49" charset="0"/>
              </a:rPr>
              <a:t>=</a:t>
            </a:r>
            <a:r>
              <a:rPr lang="en-US" sz="2000" b="0" dirty="0">
                <a:solidFill>
                  <a:srgbClr val="A5D6FF"/>
                </a:solidFill>
                <a:effectLst/>
                <a:latin typeface="Cascadia Code" panose="020B0609020000020004" pitchFamily="49" charset="0"/>
              </a:rPr>
              <a:t>"Records Unavailable"</a:t>
            </a:r>
            <a:r>
              <a:rPr lang="en-US" sz="2000" b="0" dirty="0">
                <a:solidFill>
                  <a:srgbClr val="C9D1D9"/>
                </a:solidFill>
                <a:effectLst/>
                <a:latin typeface="Cascadia Code" panose="020B0609020000020004" pitchFamily="49" charset="0"/>
              </a:rPr>
              <a:t> /&gt;</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  })));</a:t>
            </a:r>
          </a:p>
        </p:txBody>
      </p:sp>
    </p:spTree>
    <p:extLst>
      <p:ext uri="{BB962C8B-B14F-4D97-AF65-F5344CB8AC3E}">
        <p14:creationId xmlns:p14="http://schemas.microsoft.com/office/powerpoint/2010/main" val="303995171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bg>
      <p:bgPr>
        <a:solidFill>
          <a:srgbClr val="0C0C0C"/>
        </a:solidFill>
        <a:effectLst/>
      </p:bgPr>
    </p:bg>
    <p:spTree>
      <p:nvGrpSpPr>
        <p:cNvPr id="1" name="">
          <a:extLst>
            <a:ext uri="{FF2B5EF4-FFF2-40B4-BE49-F238E27FC236}">
              <a16:creationId xmlns:a16="http://schemas.microsoft.com/office/drawing/2014/main" id="{6CE81029-41BE-778E-AFC8-6BB992AE563D}"/>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E550239F-D497-7C6C-3792-4231184978D4}"/>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Microservices for the frontend: the 99% case</a:t>
            </a:r>
            <a:endParaRPr lang="en-US" sz="3300" dirty="0"/>
          </a:p>
        </p:txBody>
      </p:sp>
      <p:sp>
        <p:nvSpPr>
          <p:cNvPr id="10" name="Shape 6">
            <a:extLst>
              <a:ext uri="{FF2B5EF4-FFF2-40B4-BE49-F238E27FC236}">
                <a16:creationId xmlns:a16="http://schemas.microsoft.com/office/drawing/2014/main" id="{DECF6F4F-7644-EB5A-23A4-E5D466FB9A70}"/>
              </a:ext>
            </a:extLst>
          </p:cNvPr>
          <p:cNvSpPr/>
          <p:nvPr/>
        </p:nvSpPr>
        <p:spPr>
          <a:xfrm>
            <a:off x="516636" y="3162478"/>
            <a:ext cx="32004" cy="530352"/>
          </a:xfrm>
          <a:prstGeom prst="rect">
            <a:avLst/>
          </a:prstGeom>
          <a:solidFill>
            <a:srgbClr val="D4FF00"/>
          </a:solidFill>
          <a:ln/>
        </p:spPr>
        <p:txBody>
          <a:bodyPr/>
          <a:lstStyle/>
          <a:p>
            <a:endParaRPr lang="en-GB"/>
          </a:p>
        </p:txBody>
      </p:sp>
      <p:sp>
        <p:nvSpPr>
          <p:cNvPr id="7" name="Text 7">
            <a:extLst>
              <a:ext uri="{FF2B5EF4-FFF2-40B4-BE49-F238E27FC236}">
                <a16:creationId xmlns:a16="http://schemas.microsoft.com/office/drawing/2014/main" id="{36CEC488-E4E0-2990-E09E-7F561CA76F0C}"/>
              </a:ext>
            </a:extLst>
          </p:cNvPr>
          <p:cNvSpPr/>
          <p:nvPr/>
        </p:nvSpPr>
        <p:spPr>
          <a:xfrm>
            <a:off x="713232" y="2788919"/>
            <a:ext cx="10881360" cy="1277471"/>
          </a:xfrm>
          <a:prstGeom prst="rect">
            <a:avLst/>
          </a:prstGeom>
          <a:noFill/>
          <a:ln/>
        </p:spPr>
        <p:txBody>
          <a:bodyPr wrap="square" rtlCol="0" anchor="ctr"/>
          <a:lstStyle/>
          <a:p>
            <a:pPr marL="0" indent="0">
              <a:buNone/>
            </a:pPr>
            <a:r>
              <a:rPr lang="en-US" sz="2400" i="1" dirty="0">
                <a:solidFill>
                  <a:schemeClr val="bg1">
                    <a:lumMod val="95000"/>
                  </a:schemeClr>
                </a:solidFill>
                <a:latin typeface="Instrument Serif" pitchFamily="34" charset="0"/>
                <a:ea typeface="Instrument Serif" pitchFamily="34" charset="-122"/>
                <a:cs typeface="Instrument Serif" pitchFamily="34" charset="-120"/>
              </a:rPr>
              <a:t>Module-level crashes, network failures, and bad deploys are isolated at the boundary. Tab-level resource exhaustion is still a shared-runtime risk.</a:t>
            </a:r>
            <a:endParaRPr lang="en-US" sz="2400" dirty="0">
              <a:solidFill>
                <a:schemeClr val="bg1">
                  <a:lumMod val="95000"/>
                </a:schemeClr>
              </a:solidFill>
            </a:endParaRPr>
          </a:p>
        </p:txBody>
      </p:sp>
    </p:spTree>
    <p:extLst>
      <p:ext uri="{BB962C8B-B14F-4D97-AF65-F5344CB8AC3E}">
        <p14:creationId xmlns:p14="http://schemas.microsoft.com/office/powerpoint/2010/main" val="352831163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name="Slide 11">
    <p:bg>
      <p:bgPr>
        <a:solidFill>
          <a:srgbClr val="0C0C0C"/>
        </a:solidFill>
        <a:effectLst/>
      </p:bgPr>
    </p:bg>
    <p:spTree>
      <p:nvGrpSpPr>
        <p:cNvPr id="1" name=""/>
        <p:cNvGrpSpPr/>
        <p:nvPr/>
      </p:nvGrpSpPr>
      <p:grpSpPr>
        <a:xfrm>
          <a:off x="0" y="0"/>
          <a:ext cx="0" cy="0"/>
          <a:chOff x="0" y="0"/>
          <a:chExt cx="0" cy="0"/>
        </a:xfrm>
      </p:grpSpPr>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Prefer events over shared state</a:t>
            </a:r>
            <a:endParaRPr lang="en-US" sz="3300" dirty="0"/>
          </a:p>
        </p:txBody>
      </p:sp>
      <p:sp>
        <p:nvSpPr>
          <p:cNvPr id="6" name="TextBox 5">
            <a:extLst>
              <a:ext uri="{FF2B5EF4-FFF2-40B4-BE49-F238E27FC236}">
                <a16:creationId xmlns:a16="http://schemas.microsoft.com/office/drawing/2014/main" id="{EC89A069-4C8E-07CF-CB27-15FA8E39CCC7}"/>
              </a:ext>
            </a:extLst>
          </p:cNvPr>
          <p:cNvSpPr txBox="1"/>
          <p:nvPr/>
        </p:nvSpPr>
        <p:spPr>
          <a:xfrm>
            <a:off x="526099" y="1412214"/>
            <a:ext cx="11064240" cy="5445786"/>
          </a:xfrm>
          <a:prstGeom prst="rect">
            <a:avLst/>
          </a:prstGeom>
          <a:noFill/>
        </p:spPr>
        <p:txBody>
          <a:bodyPr wrap="square">
            <a:spAutoFit/>
          </a:bodyPr>
          <a:lstStyle/>
          <a:p>
            <a:pPr>
              <a:lnSpc>
                <a:spcPct val="150000"/>
              </a:lnSpc>
              <a:buNone/>
            </a:pPr>
            <a:r>
              <a:rPr lang="en-US" b="0" dirty="0">
                <a:solidFill>
                  <a:srgbClr val="8B949E"/>
                </a:solidFill>
                <a:effectLst/>
                <a:latin typeface="Cascadia Code" panose="020B0609020000020004" pitchFamily="49" charset="0"/>
              </a:rPr>
              <a:t>// Records dispatches</a:t>
            </a:r>
            <a:endParaRPr lang="en-US" b="0" dirty="0">
              <a:solidFill>
                <a:srgbClr val="BBBEBF"/>
              </a:solidFill>
              <a:effectLst/>
              <a:latin typeface="Cascadia Code" panose="020B0609020000020004" pitchFamily="49" charset="0"/>
            </a:endParaRPr>
          </a:p>
          <a:p>
            <a:pPr>
              <a:lnSpc>
                <a:spcPct val="150000"/>
              </a:lnSpc>
              <a:buNone/>
            </a:pPr>
            <a:r>
              <a:rPr lang="en-US" b="0" dirty="0" err="1">
                <a:solidFill>
                  <a:srgbClr val="79C0FF"/>
                </a:solidFill>
                <a:effectLst/>
                <a:latin typeface="Cascadia Code" panose="020B0609020000020004" pitchFamily="49" charset="0"/>
              </a:rPr>
              <a:t>window</a:t>
            </a:r>
            <a:r>
              <a:rPr lang="en-US" b="0" dirty="0" err="1">
                <a:solidFill>
                  <a:srgbClr val="BBBEBF"/>
                </a:solidFill>
                <a:effectLst/>
                <a:latin typeface="Cascadia Code" panose="020B0609020000020004" pitchFamily="49" charset="0"/>
              </a:rPr>
              <a:t>.</a:t>
            </a:r>
            <a:r>
              <a:rPr lang="en-US" b="0" dirty="0" err="1">
                <a:solidFill>
                  <a:srgbClr val="D2A8FF"/>
                </a:solidFill>
                <a:effectLst/>
                <a:latin typeface="Cascadia Code" panose="020B0609020000020004" pitchFamily="49" charset="0"/>
              </a:rPr>
              <a:t>dispatchEvent</a:t>
            </a:r>
            <a:r>
              <a:rPr lang="en-US" b="0" dirty="0">
                <a:solidFill>
                  <a:srgbClr val="BBBEBF"/>
                </a:solidFill>
                <a:effectLst/>
                <a:latin typeface="Cascadia Code" panose="020B0609020000020004" pitchFamily="49" charset="0"/>
              </a:rPr>
              <a:t>(</a:t>
            </a:r>
            <a:r>
              <a:rPr lang="en-US" b="0" dirty="0">
                <a:solidFill>
                  <a:srgbClr val="569CD6"/>
                </a:solidFill>
                <a:effectLst/>
                <a:latin typeface="Cascadia Code" panose="020B0609020000020004" pitchFamily="49" charset="0"/>
              </a:rPr>
              <a:t>new</a:t>
            </a:r>
            <a:r>
              <a:rPr lang="en-US" b="0" dirty="0">
                <a:solidFill>
                  <a:srgbClr val="BBBEBF"/>
                </a:solidFill>
                <a:effectLst/>
                <a:latin typeface="Cascadia Code" panose="020B0609020000020004" pitchFamily="49" charset="0"/>
              </a:rPr>
              <a:t> </a:t>
            </a:r>
            <a:r>
              <a:rPr lang="en-US" b="0" dirty="0" err="1">
                <a:solidFill>
                  <a:srgbClr val="4EC9B0"/>
                </a:solidFill>
                <a:effectLst/>
                <a:latin typeface="Cascadia Code" panose="020B0609020000020004" pitchFamily="49" charset="0"/>
              </a:rPr>
              <a:t>CustomEvent</a:t>
            </a:r>
            <a:r>
              <a:rPr lang="en-US" b="0" dirty="0">
                <a:solidFill>
                  <a:srgbClr val="BBBEBF"/>
                </a:solidFill>
                <a:effectLst/>
                <a:latin typeface="Cascadia Code" panose="020B0609020000020004" pitchFamily="49" charset="0"/>
              </a:rPr>
              <a:t>(</a:t>
            </a:r>
            <a:r>
              <a:rPr lang="en-US" b="0" dirty="0">
                <a:solidFill>
                  <a:srgbClr val="A5D6FF"/>
                </a:solidFill>
                <a:effectLst/>
                <a:latin typeface="Cascadia Code" panose="020B0609020000020004" pitchFamily="49" charset="0"/>
              </a:rPr>
              <a:t>"</a:t>
            </a:r>
            <a:r>
              <a:rPr lang="en-US" b="0" dirty="0" err="1">
                <a:solidFill>
                  <a:srgbClr val="A5D6FF"/>
                </a:solidFill>
                <a:effectLst/>
                <a:latin typeface="Cascadia Code" panose="020B0609020000020004" pitchFamily="49" charset="0"/>
              </a:rPr>
              <a:t>addPrescription</a:t>
            </a:r>
            <a:r>
              <a:rPr lang="en-US" b="0" dirty="0">
                <a:solidFill>
                  <a:srgbClr val="A5D6FF"/>
                </a:solidFill>
                <a:effectLst/>
                <a:latin typeface="Cascadia Code" panose="020B0609020000020004" pitchFamily="49" charset="0"/>
              </a:rPr>
              <a:t>"</a:t>
            </a:r>
            <a:r>
              <a:rPr lang="en-US" b="0" dirty="0">
                <a:solidFill>
                  <a:srgbClr val="BBBEBF"/>
                </a:solidFill>
                <a:effectLst/>
                <a:latin typeface="Cascadia Code" panose="020B0609020000020004" pitchFamily="49" charset="0"/>
              </a:rPr>
              <a:t>, {</a:t>
            </a:r>
          </a:p>
          <a:p>
            <a:pPr>
              <a:lnSpc>
                <a:spcPct val="150000"/>
              </a:lnSpc>
              <a:buNone/>
            </a:pPr>
            <a:r>
              <a:rPr lang="en-US" b="0" dirty="0">
                <a:solidFill>
                  <a:srgbClr val="BBBEBF"/>
                </a:solidFill>
                <a:effectLst/>
                <a:latin typeface="Cascadia Code" panose="020B0609020000020004" pitchFamily="49" charset="0"/>
              </a:rPr>
              <a:t>  </a:t>
            </a:r>
            <a:r>
              <a:rPr lang="en-US" b="0" dirty="0">
                <a:solidFill>
                  <a:srgbClr val="C9D1D9"/>
                </a:solidFill>
                <a:effectLst/>
                <a:latin typeface="Cascadia Code" panose="020B0609020000020004" pitchFamily="49" charset="0"/>
              </a:rPr>
              <a:t>detail</a:t>
            </a:r>
            <a:r>
              <a:rPr lang="en-US" b="0" dirty="0">
                <a:solidFill>
                  <a:srgbClr val="9CDCFE"/>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 id</a:t>
            </a:r>
            <a:r>
              <a:rPr lang="en-US" b="0" dirty="0">
                <a:solidFill>
                  <a:srgbClr val="9CDCFE"/>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B5CEA8"/>
                </a:solidFill>
                <a:effectLst/>
                <a:latin typeface="Cascadia Code" panose="020B0609020000020004" pitchFamily="49" charset="0"/>
              </a:rPr>
              <a:t>1</a:t>
            </a:r>
            <a:r>
              <a:rPr lang="en-US" b="0" dirty="0">
                <a:solidFill>
                  <a:srgbClr val="C9D1D9"/>
                </a:solidFill>
                <a:effectLst/>
                <a:latin typeface="Cascadia Code" panose="020B0609020000020004" pitchFamily="49" charset="0"/>
              </a:rPr>
              <a:t>, name</a:t>
            </a:r>
            <a:r>
              <a:rPr lang="en-US" b="0" dirty="0">
                <a:solidFill>
                  <a:srgbClr val="9CDCFE"/>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A5D6FF"/>
                </a:solidFill>
                <a:effectLst/>
                <a:latin typeface="Cascadia Code" panose="020B0609020000020004" pitchFamily="49" charset="0"/>
              </a:rPr>
              <a:t>"Sarah Chen prescription"</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price</a:t>
            </a:r>
            <a:r>
              <a:rPr lang="en-US" b="0" dirty="0">
                <a:solidFill>
                  <a:srgbClr val="9CDCFE"/>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B5CEA8"/>
                </a:solidFill>
                <a:effectLst/>
                <a:latin typeface="Cascadia Code" panose="020B0609020000020004" pitchFamily="49" charset="0"/>
              </a:rPr>
              <a:t>2499.99</a:t>
            </a:r>
            <a:r>
              <a:rPr lang="en-US" b="0" dirty="0">
                <a:solidFill>
                  <a:srgbClr val="C9D1D9"/>
                </a:solidFill>
                <a:effectLst/>
                <a:latin typeface="Cascadia Code" panose="020B0609020000020004" pitchFamily="49" charset="0"/>
              </a:rPr>
              <a:t>, quantity</a:t>
            </a:r>
            <a:r>
              <a:rPr lang="en-US" b="0" dirty="0">
                <a:solidFill>
                  <a:srgbClr val="9CDCFE"/>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B5CEA8"/>
                </a:solidFill>
                <a:effectLst/>
                <a:latin typeface="Cascadia Code" panose="020B0609020000020004" pitchFamily="49" charset="0"/>
              </a:rPr>
              <a:t>1</a:t>
            </a:r>
            <a:r>
              <a:rPr lang="en-US" b="0" dirty="0">
                <a:solidFill>
                  <a:srgbClr val="C9D1D9"/>
                </a:solidFill>
                <a:effectLst/>
                <a:latin typeface="Cascadia Code" panose="020B0609020000020004" pitchFamily="49" charset="0"/>
              </a:rPr>
              <a:t> }</a:t>
            </a:r>
            <a:r>
              <a:rPr lang="en-US" b="0" dirty="0">
                <a:solidFill>
                  <a:srgbClr val="BBBEBF"/>
                </a:solidFill>
                <a:effectLst/>
                <a:latin typeface="Cascadia Code" panose="020B0609020000020004" pitchFamily="49" charset="0"/>
              </a:rPr>
              <a:t>,</a:t>
            </a:r>
          </a:p>
          <a:p>
            <a:pPr>
              <a:lnSpc>
                <a:spcPct val="150000"/>
              </a:lnSpc>
              <a:buNone/>
            </a:pPr>
            <a:r>
              <a:rPr lang="en-US" b="0" dirty="0">
                <a:solidFill>
                  <a:srgbClr val="BBBEBF"/>
                </a:solidFill>
                <a:effectLst/>
                <a:latin typeface="Cascadia Code" panose="020B0609020000020004" pitchFamily="49" charset="0"/>
              </a:rPr>
              <a:t>}));</a:t>
            </a:r>
            <a:endParaRPr lang="en-US" dirty="0">
              <a:solidFill>
                <a:srgbClr val="BBBEBF"/>
              </a:solidFill>
              <a:latin typeface="Cascadia Code" panose="020B0609020000020004" pitchFamily="49" charset="0"/>
            </a:endParaRPr>
          </a:p>
          <a:p>
            <a:pPr>
              <a:lnSpc>
                <a:spcPct val="150000"/>
              </a:lnSpc>
              <a:buNone/>
            </a:pP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8B949E"/>
                </a:solidFill>
                <a:effectLst/>
                <a:latin typeface="Cascadia Code" panose="020B0609020000020004" pitchFamily="49" charset="0"/>
              </a:rPr>
              <a:t>// Prescriptions listens</a:t>
            </a:r>
            <a:endParaRPr lang="en-US" b="0" dirty="0">
              <a:solidFill>
                <a:srgbClr val="BBBEBF"/>
              </a:solidFill>
              <a:effectLst/>
              <a:latin typeface="Cascadia Code" panose="020B0609020000020004" pitchFamily="49" charset="0"/>
            </a:endParaRPr>
          </a:p>
          <a:p>
            <a:pPr>
              <a:lnSpc>
                <a:spcPct val="150000"/>
              </a:lnSpc>
              <a:buNone/>
            </a:pPr>
            <a:r>
              <a:rPr lang="en-US" b="0" dirty="0" err="1">
                <a:solidFill>
                  <a:srgbClr val="D2A8FF"/>
                </a:solidFill>
                <a:effectLst/>
                <a:latin typeface="Cascadia Code" panose="020B0609020000020004" pitchFamily="49" charset="0"/>
              </a:rPr>
              <a:t>useEffect</a:t>
            </a:r>
            <a:r>
              <a:rPr lang="en-US" b="0" dirty="0">
                <a:solidFill>
                  <a:srgbClr val="BBBEBF"/>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=&gt;</a:t>
            </a:r>
            <a:r>
              <a:rPr lang="en-US" b="0" dirty="0">
                <a:solidFill>
                  <a:srgbClr val="BBBEBF"/>
                </a:solidFill>
                <a:effectLst/>
                <a:latin typeface="Cascadia Code" panose="020B0609020000020004" pitchFamily="49" charset="0"/>
              </a:rPr>
              <a:t> </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const</a:t>
            </a:r>
            <a:r>
              <a:rPr lang="en-US" b="0" dirty="0">
                <a:solidFill>
                  <a:srgbClr val="C9D1D9"/>
                </a:solidFill>
                <a:effectLst/>
                <a:latin typeface="Cascadia Code" panose="020B0609020000020004" pitchFamily="49" charset="0"/>
              </a:rPr>
              <a:t> </a:t>
            </a:r>
            <a:r>
              <a:rPr lang="en-US" b="0" dirty="0">
                <a:solidFill>
                  <a:srgbClr val="D2A8FF"/>
                </a:solidFill>
                <a:effectLst/>
                <a:latin typeface="Cascadia Code" panose="020B0609020000020004" pitchFamily="49" charset="0"/>
              </a:rPr>
              <a:t>handler</a:t>
            </a:r>
            <a:r>
              <a:rPr lang="en-US" b="0" dirty="0">
                <a:solidFill>
                  <a:srgbClr val="C9D1D9"/>
                </a:solidFill>
                <a:effectLst/>
                <a:latin typeface="Cascadia Code" panose="020B0609020000020004" pitchFamily="49" charset="0"/>
              </a:rPr>
              <a:t>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FFA657"/>
                </a:solidFill>
                <a:effectLst/>
                <a:latin typeface="Cascadia Code" panose="020B0609020000020004" pitchFamily="49" charset="0"/>
              </a:rPr>
              <a:t>e</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err="1">
                <a:solidFill>
                  <a:srgbClr val="4EC9B0"/>
                </a:solidFill>
                <a:effectLst/>
                <a:latin typeface="Cascadia Code" panose="020B0609020000020004" pitchFamily="49" charset="0"/>
              </a:rPr>
              <a:t>AddPrescriptionEvent</a:t>
            </a: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=&gt;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err="1">
                <a:solidFill>
                  <a:srgbClr val="D2A8FF"/>
                </a:solidFill>
                <a:effectLst/>
                <a:latin typeface="Cascadia Code" panose="020B0609020000020004" pitchFamily="49" charset="0"/>
              </a:rPr>
              <a:t>setPrescriptionItems</a:t>
            </a:r>
            <a:r>
              <a:rPr lang="en-US" b="0" dirty="0">
                <a:solidFill>
                  <a:srgbClr val="C9D1D9"/>
                </a:solidFill>
                <a:effectLst/>
                <a:latin typeface="Cascadia Code" panose="020B0609020000020004" pitchFamily="49" charset="0"/>
              </a:rPr>
              <a:t>((</a:t>
            </a:r>
            <a:r>
              <a:rPr lang="en-US" b="0" dirty="0" err="1">
                <a:solidFill>
                  <a:srgbClr val="FFA657"/>
                </a:solidFill>
                <a:effectLst/>
                <a:latin typeface="Cascadia Code" panose="020B0609020000020004" pitchFamily="49" charset="0"/>
              </a:rPr>
              <a:t>prev</a:t>
            </a: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=&gt;</a:t>
            </a:r>
            <a:r>
              <a:rPr lang="en-US" b="0" dirty="0">
                <a:solidFill>
                  <a:srgbClr val="C9D1D9"/>
                </a:solidFill>
                <a:effectLst/>
                <a:latin typeface="Cascadia Code" panose="020B0609020000020004" pitchFamily="49" charset="0"/>
              </a:rPr>
              <a:t> [</a:t>
            </a:r>
            <a:r>
              <a:rPr lang="en-US" b="0" dirty="0">
                <a:solidFill>
                  <a:srgbClr val="D4D4D4"/>
                </a:solidFill>
                <a:effectLst/>
                <a:latin typeface="Cascadia Code" panose="020B0609020000020004" pitchFamily="49" charset="0"/>
              </a:rPr>
              <a:t>...</a:t>
            </a:r>
            <a:r>
              <a:rPr lang="en-US" b="0" dirty="0" err="1">
                <a:solidFill>
                  <a:srgbClr val="FFA657"/>
                </a:solidFill>
                <a:effectLst/>
                <a:latin typeface="Cascadia Code" panose="020B0609020000020004" pitchFamily="49" charset="0"/>
              </a:rPr>
              <a:t>prev</a:t>
            </a:r>
            <a:r>
              <a:rPr lang="en-US" b="0" dirty="0">
                <a:solidFill>
                  <a:srgbClr val="C9D1D9"/>
                </a:solidFill>
                <a:effectLst/>
                <a:latin typeface="Cascadia Code" panose="020B0609020000020004" pitchFamily="49" charset="0"/>
              </a:rPr>
              <a:t>, </a:t>
            </a:r>
            <a:r>
              <a:rPr lang="en-US" b="0" dirty="0" err="1">
                <a:solidFill>
                  <a:srgbClr val="FFA657"/>
                </a:solidFill>
                <a:effectLst/>
                <a:latin typeface="Cascadia Code" panose="020B0609020000020004" pitchFamily="49" charset="0"/>
              </a:rPr>
              <a:t>e</a:t>
            </a:r>
            <a:r>
              <a:rPr lang="en-US" b="0" dirty="0" err="1">
                <a:solidFill>
                  <a:srgbClr val="C9D1D9"/>
                </a:solidFill>
                <a:effectLst/>
                <a:latin typeface="Cascadia Code" panose="020B0609020000020004" pitchFamily="49" charset="0"/>
              </a:rPr>
              <a:t>.detail</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err="1">
                <a:solidFill>
                  <a:srgbClr val="79C0FF"/>
                </a:solidFill>
                <a:effectLst/>
                <a:latin typeface="Cascadia Code" panose="020B0609020000020004" pitchFamily="49" charset="0"/>
              </a:rPr>
              <a:t>window</a:t>
            </a:r>
            <a:r>
              <a:rPr lang="en-US" b="0" dirty="0" err="1">
                <a:solidFill>
                  <a:srgbClr val="C9D1D9"/>
                </a:solidFill>
                <a:effectLst/>
                <a:latin typeface="Cascadia Code" panose="020B0609020000020004" pitchFamily="49" charset="0"/>
              </a:rPr>
              <a:t>.</a:t>
            </a:r>
            <a:r>
              <a:rPr lang="en-US" b="0" dirty="0" err="1">
                <a:solidFill>
                  <a:srgbClr val="D2A8FF"/>
                </a:solidFill>
                <a:effectLst/>
                <a:latin typeface="Cascadia Code" panose="020B0609020000020004" pitchFamily="49" charset="0"/>
              </a:rPr>
              <a:t>addEventListener</a:t>
            </a:r>
            <a:r>
              <a:rPr lang="en-US" b="0" dirty="0">
                <a:solidFill>
                  <a:srgbClr val="C9D1D9"/>
                </a:solidFill>
                <a:effectLst/>
                <a:latin typeface="Cascadia Code" panose="020B0609020000020004" pitchFamily="49" charset="0"/>
              </a:rPr>
              <a:t>(</a:t>
            </a:r>
            <a:r>
              <a:rPr lang="en-US" b="0" dirty="0">
                <a:solidFill>
                  <a:srgbClr val="A5D6FF"/>
                </a:solidFill>
                <a:effectLst/>
                <a:latin typeface="Cascadia Code" panose="020B0609020000020004" pitchFamily="49" charset="0"/>
              </a:rPr>
              <a:t>"</a:t>
            </a:r>
            <a:r>
              <a:rPr lang="en-US" b="0" dirty="0" err="1">
                <a:solidFill>
                  <a:srgbClr val="A5D6FF"/>
                </a:solidFill>
                <a:effectLst/>
                <a:latin typeface="Cascadia Code" panose="020B0609020000020004" pitchFamily="49" charset="0"/>
              </a:rPr>
              <a:t>addPrescription</a:t>
            </a:r>
            <a:r>
              <a:rPr lang="en-US" b="0" dirty="0">
                <a:solidFill>
                  <a:srgbClr val="A5D6FF"/>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D2A8FF"/>
                </a:solidFill>
                <a:effectLst/>
                <a:latin typeface="Cascadia Code" panose="020B0609020000020004" pitchFamily="49" charset="0"/>
              </a:rPr>
              <a:t>handler</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C586C0"/>
                </a:solidFill>
                <a:effectLst/>
                <a:latin typeface="Cascadia Code" panose="020B0609020000020004" pitchFamily="49" charset="0"/>
              </a:rPr>
              <a:t>return</a:t>
            </a:r>
            <a:r>
              <a:rPr lang="en-US" b="0" dirty="0">
                <a:solidFill>
                  <a:srgbClr val="C9D1D9"/>
                </a:solidFill>
                <a:effectLst/>
                <a:latin typeface="Cascadia Code" panose="020B0609020000020004" pitchFamily="49" charset="0"/>
              </a:rPr>
              <a:t> () </a:t>
            </a:r>
            <a:r>
              <a:rPr lang="en-US" b="0" dirty="0">
                <a:solidFill>
                  <a:srgbClr val="FF7B72"/>
                </a:solidFill>
                <a:effectLst/>
                <a:latin typeface="Cascadia Code" panose="020B0609020000020004" pitchFamily="49" charset="0"/>
              </a:rPr>
              <a:t>=&gt;</a:t>
            </a:r>
            <a:r>
              <a:rPr lang="en-US" b="0" dirty="0">
                <a:solidFill>
                  <a:srgbClr val="C9D1D9"/>
                </a:solidFill>
                <a:effectLst/>
                <a:latin typeface="Cascadia Code" panose="020B0609020000020004" pitchFamily="49" charset="0"/>
              </a:rPr>
              <a:t> </a:t>
            </a:r>
            <a:r>
              <a:rPr lang="en-US" b="0" dirty="0" err="1">
                <a:solidFill>
                  <a:srgbClr val="79C0FF"/>
                </a:solidFill>
                <a:effectLst/>
                <a:latin typeface="Cascadia Code" panose="020B0609020000020004" pitchFamily="49" charset="0"/>
              </a:rPr>
              <a:t>window</a:t>
            </a:r>
            <a:r>
              <a:rPr lang="en-US" b="0" dirty="0" err="1">
                <a:solidFill>
                  <a:srgbClr val="C9D1D9"/>
                </a:solidFill>
                <a:effectLst/>
                <a:latin typeface="Cascadia Code" panose="020B0609020000020004" pitchFamily="49" charset="0"/>
              </a:rPr>
              <a:t>.</a:t>
            </a:r>
            <a:r>
              <a:rPr lang="en-US" b="0" dirty="0" err="1">
                <a:solidFill>
                  <a:srgbClr val="D2A8FF"/>
                </a:solidFill>
                <a:effectLst/>
                <a:latin typeface="Cascadia Code" panose="020B0609020000020004" pitchFamily="49" charset="0"/>
              </a:rPr>
              <a:t>removeEventListener</a:t>
            </a:r>
            <a:r>
              <a:rPr lang="en-US" b="0" dirty="0">
                <a:solidFill>
                  <a:srgbClr val="C9D1D9"/>
                </a:solidFill>
                <a:effectLst/>
                <a:latin typeface="Cascadia Code" panose="020B0609020000020004" pitchFamily="49" charset="0"/>
              </a:rPr>
              <a:t>(</a:t>
            </a:r>
            <a:r>
              <a:rPr lang="en-US" b="0" dirty="0">
                <a:solidFill>
                  <a:srgbClr val="A5D6FF"/>
                </a:solidFill>
                <a:effectLst/>
                <a:latin typeface="Cascadia Code" panose="020B0609020000020004" pitchFamily="49" charset="0"/>
              </a:rPr>
              <a:t>"</a:t>
            </a:r>
            <a:r>
              <a:rPr lang="en-US" b="0" dirty="0" err="1">
                <a:solidFill>
                  <a:srgbClr val="A5D6FF"/>
                </a:solidFill>
                <a:effectLst/>
                <a:latin typeface="Cascadia Code" panose="020B0609020000020004" pitchFamily="49" charset="0"/>
              </a:rPr>
              <a:t>addPrescription</a:t>
            </a:r>
            <a:r>
              <a:rPr lang="en-US" b="0" dirty="0">
                <a:solidFill>
                  <a:srgbClr val="A5D6FF"/>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D2A8FF"/>
                </a:solidFill>
                <a:effectLst/>
                <a:latin typeface="Cascadia Code" panose="020B0609020000020004" pitchFamily="49" charset="0"/>
              </a:rPr>
              <a:t>handler</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a:t>
            </a:r>
            <a:r>
              <a:rPr lang="en-US" b="0" dirty="0">
                <a:solidFill>
                  <a:srgbClr val="BBBEBF"/>
                </a:solidFill>
                <a:effectLst/>
                <a:latin typeface="Cascadia Code" panose="020B0609020000020004" pitchFamily="49" charset="0"/>
              </a:rPr>
              <a:t>, []);</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bg>
      <p:bgPr>
        <a:solidFill>
          <a:srgbClr val="0C0C0C"/>
        </a:solidFill>
        <a:effectLst/>
      </p:bgPr>
    </p:bg>
    <p:spTree>
      <p:nvGrpSpPr>
        <p:cNvPr id="1" name="">
          <a:extLst>
            <a:ext uri="{FF2B5EF4-FFF2-40B4-BE49-F238E27FC236}">
              <a16:creationId xmlns:a16="http://schemas.microsoft.com/office/drawing/2014/main" id="{24FE5D79-5CD0-B97E-2697-5F79449D6A79}"/>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021D4B7C-4A30-24EF-1012-761CB49B4133}"/>
              </a:ext>
            </a:extLst>
          </p:cNvPr>
          <p:cNvSpPr/>
          <p:nvPr/>
        </p:nvSpPr>
        <p:spPr>
          <a:xfrm>
            <a:off x="512206" y="0"/>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Prefer events over shared state</a:t>
            </a:r>
            <a:endParaRPr lang="en-US" sz="3300" dirty="0"/>
          </a:p>
        </p:txBody>
      </p:sp>
      <p:sp>
        <p:nvSpPr>
          <p:cNvPr id="7" name="TextBox 6">
            <a:extLst>
              <a:ext uri="{FF2B5EF4-FFF2-40B4-BE49-F238E27FC236}">
                <a16:creationId xmlns:a16="http://schemas.microsoft.com/office/drawing/2014/main" id="{CECFE2CF-8D3F-9D2B-2ED0-BC252968ADAE}"/>
              </a:ext>
            </a:extLst>
          </p:cNvPr>
          <p:cNvSpPr txBox="1"/>
          <p:nvPr/>
        </p:nvSpPr>
        <p:spPr>
          <a:xfrm>
            <a:off x="506252" y="1536057"/>
            <a:ext cx="11292840" cy="3270639"/>
          </a:xfrm>
          <a:prstGeom prst="rect">
            <a:avLst/>
          </a:prstGeom>
          <a:noFill/>
        </p:spPr>
        <p:txBody>
          <a:bodyPr wrap="square">
            <a:spAutoFit/>
          </a:bodyPr>
          <a:lstStyle/>
          <a:p>
            <a:pPr>
              <a:lnSpc>
                <a:spcPct val="150000"/>
              </a:lnSpc>
              <a:buNone/>
            </a:pPr>
            <a:r>
              <a:rPr lang="en-US" sz="2000" b="0" dirty="0">
                <a:solidFill>
                  <a:srgbClr val="569CD6"/>
                </a:solidFill>
                <a:effectLst/>
                <a:latin typeface="Cascadia Code" panose="020B0609020000020004" pitchFamily="49" charset="0"/>
              </a:rPr>
              <a:t>declare</a:t>
            </a:r>
            <a:r>
              <a:rPr lang="en-US" sz="2000" b="0" dirty="0">
                <a:solidFill>
                  <a:srgbClr val="BBBEBF"/>
                </a:solidFill>
                <a:effectLst/>
                <a:latin typeface="Cascadia Code" panose="020B0609020000020004" pitchFamily="49" charset="0"/>
              </a:rPr>
              <a:t> </a:t>
            </a:r>
            <a:r>
              <a:rPr lang="en-US" sz="2000" b="0" dirty="0">
                <a:solidFill>
                  <a:srgbClr val="4EC9B0"/>
                </a:solidFill>
                <a:effectLst/>
                <a:latin typeface="Cascadia Code" panose="020B0609020000020004" pitchFamily="49" charset="0"/>
              </a:rPr>
              <a:t>global</a:t>
            </a:r>
            <a:r>
              <a:rPr lang="en-US" sz="2000" b="0" dirty="0">
                <a:solidFill>
                  <a:srgbClr val="BBBEBF"/>
                </a:solidFill>
                <a:effectLst/>
                <a:latin typeface="Cascadia Code" panose="020B0609020000020004" pitchFamily="49" charset="0"/>
              </a:rPr>
              <a:t> </a:t>
            </a:r>
            <a:r>
              <a:rPr lang="en-US" sz="2000" b="0" dirty="0">
                <a:solidFill>
                  <a:srgbClr val="C9D1D9"/>
                </a:solidFill>
                <a:effectLst/>
                <a:latin typeface="Cascadia Code" panose="020B0609020000020004" pitchFamily="49" charset="0"/>
              </a:rPr>
              <a: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FF7B72"/>
                </a:solidFill>
                <a:effectLst/>
                <a:latin typeface="Cascadia Code" panose="020B0609020000020004" pitchFamily="49" charset="0"/>
              </a:rPr>
              <a:t>interface</a:t>
            </a:r>
            <a:r>
              <a:rPr lang="en-US" sz="2000" b="0" dirty="0">
                <a:solidFill>
                  <a:srgbClr val="C9D1D9"/>
                </a:solidFill>
                <a:effectLst/>
                <a:latin typeface="Cascadia Code" panose="020B0609020000020004" pitchFamily="49" charset="0"/>
              </a:rPr>
              <a:t> </a:t>
            </a:r>
            <a:r>
              <a:rPr lang="en-US" sz="2000" b="0" dirty="0" err="1">
                <a:solidFill>
                  <a:srgbClr val="4EC9B0"/>
                </a:solidFill>
                <a:effectLst/>
                <a:latin typeface="Cascadia Code" panose="020B0609020000020004" pitchFamily="49" charset="0"/>
              </a:rPr>
              <a:t>WindowEventMap</a:t>
            </a:r>
            <a:r>
              <a:rPr lang="en-US" sz="2000" b="0" dirty="0">
                <a:solidFill>
                  <a:srgbClr val="C9D1D9"/>
                </a:solidFill>
                <a:effectLst/>
                <a:latin typeface="Cascadia Code" panose="020B0609020000020004" pitchFamily="49" charset="0"/>
              </a:rPr>
              <a:t>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err="1">
                <a:solidFill>
                  <a:srgbClr val="C9D1D9"/>
                </a:solidFill>
                <a:effectLst/>
                <a:latin typeface="Cascadia Code" panose="020B0609020000020004" pitchFamily="49" charset="0"/>
              </a:rPr>
              <a:t>addPrescription</a:t>
            </a:r>
            <a:r>
              <a:rPr lang="en-US" sz="2000" b="0" dirty="0">
                <a:solidFill>
                  <a:srgbClr val="D4D4D4"/>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r>
              <a:rPr lang="en-US" sz="2000" b="0" dirty="0" err="1">
                <a:solidFill>
                  <a:srgbClr val="4EC9B0"/>
                </a:solidFill>
                <a:effectLst/>
                <a:latin typeface="Cascadia Code" panose="020B0609020000020004" pitchFamily="49" charset="0"/>
              </a:rPr>
              <a:t>AddPrescriptionEvent</a:t>
            </a:r>
            <a:r>
              <a:rPr lang="en-US" sz="2000" b="0" dirty="0">
                <a:solidFill>
                  <a:srgbClr val="C9D1D9"/>
                </a:solidFill>
                <a:effectLst/>
                <a:latin typeface="Cascadia Code" panose="020B0609020000020004" pitchFamily="49" charset="0"/>
              </a:rPr>
              <a: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err="1">
                <a:solidFill>
                  <a:srgbClr val="C9D1D9"/>
                </a:solidFill>
                <a:effectLst/>
                <a:latin typeface="Cascadia Code" panose="020B0609020000020004" pitchFamily="49" charset="0"/>
              </a:rPr>
              <a:t>navigateToModule</a:t>
            </a:r>
            <a:r>
              <a:rPr lang="en-US" sz="2000" b="0" dirty="0">
                <a:solidFill>
                  <a:srgbClr val="D4D4D4"/>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r>
              <a:rPr lang="en-US" sz="2000" b="0" dirty="0" err="1">
                <a:solidFill>
                  <a:srgbClr val="4EC9B0"/>
                </a:solidFill>
                <a:effectLst/>
                <a:latin typeface="Cascadia Code" panose="020B0609020000020004" pitchFamily="49" charset="0"/>
              </a:rPr>
              <a:t>CustomEvent</a:t>
            </a:r>
            <a:r>
              <a:rPr lang="en-US" sz="2000" b="0" dirty="0">
                <a:solidFill>
                  <a:srgbClr val="C9D1D9"/>
                </a:solidFill>
                <a:effectLst/>
                <a:latin typeface="Cascadia Code" panose="020B0609020000020004" pitchFamily="49" charset="0"/>
              </a:rPr>
              <a:t>&lt;{ module</a:t>
            </a:r>
            <a:r>
              <a:rPr lang="en-US" sz="2000" b="0" dirty="0">
                <a:solidFill>
                  <a:srgbClr val="D4D4D4"/>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"home"</a:t>
            </a:r>
            <a:r>
              <a:rPr lang="en-US" sz="2000" b="0" dirty="0">
                <a:solidFill>
                  <a:srgbClr val="C9D1D9"/>
                </a:solidFill>
                <a:effectLst/>
                <a:latin typeface="Cascadia Code" panose="020B0609020000020004" pitchFamily="49" charset="0"/>
              </a:rPr>
              <a:t> </a:t>
            </a:r>
            <a:r>
              <a:rPr lang="en-US" sz="2000" b="0" dirty="0">
                <a:solidFill>
                  <a:srgbClr val="D4D4D4"/>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"records"</a:t>
            </a:r>
            <a:r>
              <a:rPr lang="en-US" sz="2000" b="0" dirty="0">
                <a:solidFill>
                  <a:srgbClr val="C9D1D9"/>
                </a:solidFill>
                <a:effectLst/>
                <a:latin typeface="Cascadia Code" panose="020B0609020000020004" pitchFamily="49" charset="0"/>
              </a:rPr>
              <a:t> </a:t>
            </a:r>
            <a:r>
              <a:rPr lang="en-US" sz="2000" b="0" dirty="0">
                <a:solidFill>
                  <a:srgbClr val="D4D4D4"/>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 }&gt;;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err="1">
                <a:solidFill>
                  <a:srgbClr val="FFA657"/>
                </a:solidFill>
                <a:effectLst/>
                <a:latin typeface="Cascadia Code" panose="020B0609020000020004" pitchFamily="49" charset="0"/>
              </a:rPr>
              <a:t>themeChange</a:t>
            </a:r>
            <a:r>
              <a:rPr lang="en-US" sz="2000" b="0" dirty="0">
                <a:solidFill>
                  <a:srgbClr val="D4D4D4"/>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r>
              <a:rPr lang="en-US" sz="2000" b="0" dirty="0" err="1">
                <a:solidFill>
                  <a:srgbClr val="4EC9B0"/>
                </a:solidFill>
                <a:effectLst/>
                <a:latin typeface="Cascadia Code" panose="020B0609020000020004" pitchFamily="49" charset="0"/>
              </a:rPr>
              <a:t>ThemeChangeEvent</a:t>
            </a:r>
            <a:r>
              <a:rPr lang="en-US" sz="2000" b="0" dirty="0">
                <a:solidFill>
                  <a:srgbClr val="C9D1D9"/>
                </a:solidFill>
                <a:effectLst/>
                <a:latin typeface="Cascadia Code" panose="020B0609020000020004" pitchFamily="49" charset="0"/>
              </a:rPr>
              <a: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a:t>
            </a:r>
            <a:endParaRPr lang="en-US" sz="2000" b="0" dirty="0">
              <a:solidFill>
                <a:srgbClr val="BBBEBF"/>
              </a:solidFill>
              <a:effectLst/>
              <a:latin typeface="Cascadia Code" panose="020B0609020000020004" pitchFamily="49" charset="0"/>
            </a:endParaRPr>
          </a:p>
        </p:txBody>
      </p:sp>
    </p:spTree>
    <p:extLst>
      <p:ext uri="{BB962C8B-B14F-4D97-AF65-F5344CB8AC3E}">
        <p14:creationId xmlns:p14="http://schemas.microsoft.com/office/powerpoint/2010/main" val="82674618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48D92EEC-F99D-6E3A-015E-51DCF972D104}"/>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Prefer events over shared state</a:t>
            </a:r>
            <a:endParaRPr lang="en-US" sz="3300" dirty="0">
              <a:solidFill>
                <a:schemeClr val="tx1">
                  <a:lumMod val="95000"/>
                  <a:lumOff val="5000"/>
                </a:schemeClr>
              </a:solidFill>
            </a:endParaRPr>
          </a:p>
        </p:txBody>
      </p:sp>
      <p:sp>
        <p:nvSpPr>
          <p:cNvPr id="5" name="Text 6">
            <a:extLst>
              <a:ext uri="{FF2B5EF4-FFF2-40B4-BE49-F238E27FC236}">
                <a16:creationId xmlns:a16="http://schemas.microsoft.com/office/drawing/2014/main" id="{F96AB674-C4AE-79FF-80B1-8B452266F247}"/>
              </a:ext>
            </a:extLst>
          </p:cNvPr>
          <p:cNvSpPr/>
          <p:nvPr/>
        </p:nvSpPr>
        <p:spPr>
          <a:xfrm>
            <a:off x="548640" y="2474259"/>
            <a:ext cx="11064240" cy="3291840"/>
          </a:xfrm>
          <a:prstGeom prst="rect">
            <a:avLst/>
          </a:prstGeom>
          <a:noFill/>
          <a:ln/>
        </p:spPr>
        <p:txBody>
          <a:bodyPr wrap="square" rtlCol="0" anchor="t"/>
          <a:lstStyle/>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No direct cross-module imports</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Shell stays the only router owner</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Works across deployments when the event contract stays compatible</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Framework-agnostic (React, Vue, Svelte)</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Typed via WindowEventMap augmentation</a:t>
            </a:r>
            <a:endParaRPr lang="en-US" sz="2400" dirty="0">
              <a:solidFill>
                <a:schemeClr val="tx1">
                  <a:lumMod val="95000"/>
                  <a:lumOff val="5000"/>
                </a:schemeClr>
              </a:solidFill>
            </a:endParaRPr>
          </a:p>
        </p:txBody>
      </p:sp>
    </p:spTree>
    <p:extLst>
      <p:ext uri="{BB962C8B-B14F-4D97-AF65-F5344CB8AC3E}">
        <p14:creationId xmlns:p14="http://schemas.microsoft.com/office/powerpoint/2010/main" val="258323817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46D2C31A-9631-8861-A387-D11C77608896}"/>
              </a:ext>
            </a:extLst>
          </p:cNvPr>
          <p:cNvGraphicFramePr>
            <a:graphicFrameLocks noGrp="1"/>
          </p:cNvGraphicFramePr>
          <p:nvPr>
            <p:extLst>
              <p:ext uri="{D42A27DB-BD31-4B8C-83A1-F6EECF244321}">
                <p14:modId xmlns:p14="http://schemas.microsoft.com/office/powerpoint/2010/main" val="780093546"/>
              </p:ext>
            </p:extLst>
          </p:nvPr>
        </p:nvGraphicFramePr>
        <p:xfrm>
          <a:off x="362857" y="1320800"/>
          <a:ext cx="11654972" cy="5455967"/>
        </p:xfrm>
        <a:graphic>
          <a:graphicData uri="http://schemas.openxmlformats.org/drawingml/2006/table">
            <a:tbl>
              <a:tblPr/>
              <a:tblGrid>
                <a:gridCol w="3178629">
                  <a:extLst>
                    <a:ext uri="{9D8B030D-6E8A-4147-A177-3AD203B41FA5}">
                      <a16:colId xmlns:a16="http://schemas.microsoft.com/office/drawing/2014/main" val="607345058"/>
                    </a:ext>
                  </a:extLst>
                </a:gridCol>
                <a:gridCol w="2975428">
                  <a:extLst>
                    <a:ext uri="{9D8B030D-6E8A-4147-A177-3AD203B41FA5}">
                      <a16:colId xmlns:a16="http://schemas.microsoft.com/office/drawing/2014/main" val="2182254365"/>
                    </a:ext>
                  </a:extLst>
                </a:gridCol>
                <a:gridCol w="5500915">
                  <a:extLst>
                    <a:ext uri="{9D8B030D-6E8A-4147-A177-3AD203B41FA5}">
                      <a16:colId xmlns:a16="http://schemas.microsoft.com/office/drawing/2014/main" val="3397293518"/>
                    </a:ext>
                  </a:extLst>
                </a:gridCol>
              </a:tblGrid>
              <a:tr h="416364">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Event</a:t>
                      </a:r>
                    </a:p>
                  </a:txBody>
                  <a:tcPr marL="76200" marR="76200" marT="38100" marB="38100" anchor="ctr">
                    <a:lnL>
                      <a:noFill/>
                    </a:lnL>
                    <a:lnR>
                      <a:noFill/>
                    </a:lnR>
                    <a:lnT>
                      <a:noFill/>
                    </a:lnT>
                    <a:lnB>
                      <a:noFill/>
                    </a:lnB>
                    <a:noFill/>
                  </a:tcPr>
                </a:tc>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Who broadcasts</a:t>
                      </a:r>
                    </a:p>
                  </a:txBody>
                  <a:tcPr marL="76200" marR="76200" marT="38100" marB="38100" anchor="ctr">
                    <a:lnL>
                      <a:noFill/>
                    </a:lnL>
                    <a:lnR>
                      <a:noFill/>
                    </a:lnR>
                    <a:lnT>
                      <a:noFill/>
                    </a:lnT>
                    <a:lnB>
                      <a:noFill/>
                    </a:lnB>
                    <a:noFill/>
                  </a:tcPr>
                </a:tc>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Why</a:t>
                      </a:r>
                    </a:p>
                  </a:txBody>
                  <a:tcPr marL="76200" marR="76200" marT="38100" marB="38100" anchor="ctr">
                    <a:lnL>
                      <a:noFill/>
                    </a:lnL>
                    <a:lnR>
                      <a:noFill/>
                    </a:lnR>
                    <a:lnT>
                      <a:noFill/>
                    </a:lnT>
                    <a:lnB>
                      <a:noFill/>
                    </a:lnB>
                    <a:noFill/>
                  </a:tcPr>
                </a:tc>
                <a:extLst>
                  <a:ext uri="{0D108BD9-81ED-4DB2-BD59-A6C34878D82A}">
                    <a16:rowId xmlns:a16="http://schemas.microsoft.com/office/drawing/2014/main" val="3074802040"/>
                  </a:ext>
                </a:extLst>
              </a:tr>
              <a:tr h="735957">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themeChange</a:t>
                      </a:r>
                    </a:p>
                  </a:txBody>
                  <a:tcPr marL="76200" marR="76200" marT="38100" marB="38100" anchor="ctr">
                    <a:lnL>
                      <a:noFill/>
                    </a:lnL>
                    <a:lnR>
                      <a:noFill/>
                    </a:lnR>
                    <a:lnT>
                      <a:noFill/>
                    </a:lnT>
                    <a:lnB>
                      <a:noFill/>
                    </a:lnB>
                    <a:noFill/>
                  </a:tcPr>
                </a:tc>
                <a:tc>
                  <a:txBody>
                    <a:bodyPr/>
                    <a:lstStyle/>
                    <a:p>
                      <a:pPr algn="l">
                        <a:buNone/>
                      </a:pPr>
                      <a:r>
                        <a:rPr lang="en-US" sz="2400" b="1" i="0">
                          <a:solidFill>
                            <a:srgbClr val="3B3B3B"/>
                          </a:solidFill>
                          <a:effectLst/>
                          <a:latin typeface="Cascadia Code" panose="020B0609020000020004" pitchFamily="49" charset="0"/>
                          <a:cs typeface="Cascadia Code" panose="020B0609020000020004" pitchFamily="49" charset="0"/>
                        </a:rPr>
                        <a:t>shell only</a:t>
                      </a:r>
                      <a:endParaRPr lang="en-US" sz="2400" b="0" i="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The shell owns the theme</a:t>
                      </a:r>
                    </a:p>
                  </a:txBody>
                  <a:tcPr marL="76200" marR="76200" marT="38100" marB="38100" anchor="ctr">
                    <a:lnL>
                      <a:noFill/>
                    </a:lnL>
                    <a:lnR>
                      <a:noFill/>
                    </a:lnR>
                    <a:lnT>
                      <a:noFill/>
                    </a:lnT>
                    <a:lnB>
                      <a:noFill/>
                    </a:lnB>
                    <a:noFill/>
                  </a:tcPr>
                </a:tc>
                <a:extLst>
                  <a:ext uri="{0D108BD9-81ED-4DB2-BD59-A6C34878D82A}">
                    <a16:rowId xmlns:a16="http://schemas.microsoft.com/office/drawing/2014/main" val="240654752"/>
                  </a:ext>
                </a:extLst>
              </a:tr>
              <a:tr h="735957">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moduleChange</a:t>
                      </a:r>
                    </a:p>
                  </a:txBody>
                  <a:tcPr marL="76200" marR="76200" marT="38100" marB="38100" anchor="ctr">
                    <a:lnL>
                      <a:noFill/>
                    </a:lnL>
                    <a:lnR>
                      <a:noFill/>
                    </a:lnR>
                    <a:lnT>
                      <a:noFill/>
                    </a:lnT>
                    <a:lnB>
                      <a:noFill/>
                    </a:lnB>
                    <a:noFill/>
                  </a:tcPr>
                </a:tc>
                <a:tc>
                  <a:txBody>
                    <a:bodyPr/>
                    <a:lstStyle/>
                    <a:p>
                      <a:pPr algn="l">
                        <a:buNone/>
                      </a:pPr>
                      <a:r>
                        <a:rPr lang="en-US" sz="2400" b="1" i="0">
                          <a:solidFill>
                            <a:srgbClr val="3B3B3B"/>
                          </a:solidFill>
                          <a:effectLst/>
                          <a:latin typeface="Cascadia Code" panose="020B0609020000020004" pitchFamily="49" charset="0"/>
                          <a:cs typeface="Cascadia Code" panose="020B0609020000020004" pitchFamily="49" charset="0"/>
                        </a:rPr>
                        <a:t>shell only</a:t>
                      </a:r>
                      <a:endParaRPr lang="en-US" sz="2400" b="0" i="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The shell owns the router</a:t>
                      </a:r>
                    </a:p>
                  </a:txBody>
                  <a:tcPr marL="76200" marR="76200" marT="38100" marB="38100" anchor="ctr">
                    <a:lnL>
                      <a:noFill/>
                    </a:lnL>
                    <a:lnR>
                      <a:noFill/>
                    </a:lnR>
                    <a:lnT>
                      <a:noFill/>
                    </a:lnT>
                    <a:lnB>
                      <a:noFill/>
                    </a:lnB>
                    <a:noFill/>
                  </a:tcPr>
                </a:tc>
                <a:extLst>
                  <a:ext uri="{0D108BD9-81ED-4DB2-BD59-A6C34878D82A}">
                    <a16:rowId xmlns:a16="http://schemas.microsoft.com/office/drawing/2014/main" val="1750626137"/>
                  </a:ext>
                </a:extLst>
              </a:tr>
              <a:tr h="1069222">
                <a:tc>
                  <a:txBody>
                    <a:bodyPr/>
                    <a:lstStyle/>
                    <a:p>
                      <a:pPr algn="l">
                        <a:buNone/>
                      </a:pPr>
                      <a:r>
                        <a:rPr lang="en-US" sz="2400" b="0" i="0" dirty="0" err="1">
                          <a:solidFill>
                            <a:srgbClr val="3B3B3B"/>
                          </a:solidFill>
                          <a:effectLst/>
                          <a:latin typeface="Cascadia Code" panose="020B0609020000020004" pitchFamily="49" charset="0"/>
                          <a:cs typeface="Cascadia Code" panose="020B0609020000020004" pitchFamily="49" charset="0"/>
                        </a:rPr>
                        <a:t>addPrescription</a:t>
                      </a:r>
                      <a:endParaRPr lang="en-US" sz="2400" b="0" i="0" dirty="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1" i="0" dirty="0">
                          <a:solidFill>
                            <a:srgbClr val="3B3B3B"/>
                          </a:solidFill>
                          <a:effectLst/>
                          <a:latin typeface="Cascadia Code" panose="020B0609020000020004" pitchFamily="49" charset="0"/>
                          <a:cs typeface="Cascadia Code" panose="020B0609020000020004" pitchFamily="49" charset="0"/>
                        </a:rPr>
                        <a:t>records</a:t>
                      </a:r>
                      <a:endParaRPr lang="en-US" sz="2400" b="0" i="0" dirty="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Records owns "a prescription was requested"</a:t>
                      </a:r>
                    </a:p>
                  </a:txBody>
                  <a:tcPr marL="76200" marR="76200" marT="38100" marB="38100" anchor="ctr">
                    <a:lnL>
                      <a:noFill/>
                    </a:lnL>
                    <a:lnR>
                      <a:noFill/>
                    </a:lnR>
                    <a:lnT>
                      <a:noFill/>
                    </a:lnT>
                    <a:lnB>
                      <a:noFill/>
                    </a:lnB>
                    <a:noFill/>
                  </a:tcPr>
                </a:tc>
                <a:extLst>
                  <a:ext uri="{0D108BD9-81ED-4DB2-BD59-A6C34878D82A}">
                    <a16:rowId xmlns:a16="http://schemas.microsoft.com/office/drawing/2014/main" val="1485486134"/>
                  </a:ext>
                </a:extLst>
              </a:tr>
              <a:tr h="1402485">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showNotification</a:t>
                      </a:r>
                    </a:p>
                  </a:txBody>
                  <a:tcPr marL="76200" marR="76200" marT="38100" marB="38100" anchor="ctr">
                    <a:lnL>
                      <a:noFill/>
                    </a:lnL>
                    <a:lnR>
                      <a:noFill/>
                    </a:lnR>
                    <a:lnT>
                      <a:noFill/>
                    </a:lnT>
                    <a:lnB>
                      <a:noFill/>
                    </a:lnB>
                    <a:noFill/>
                  </a:tcPr>
                </a:tc>
                <a:tc>
                  <a:txBody>
                    <a:bodyPr/>
                    <a:lstStyle/>
                    <a:p>
                      <a:pPr algn="l">
                        <a:buNone/>
                      </a:pPr>
                      <a:r>
                        <a:rPr lang="en-US" sz="2400" b="1" i="0">
                          <a:solidFill>
                            <a:srgbClr val="3B3B3B"/>
                          </a:solidFill>
                          <a:effectLst/>
                          <a:latin typeface="Cascadia Code" panose="020B0609020000020004" pitchFamily="49" charset="0"/>
                          <a:cs typeface="Cascadia Code" panose="020B0609020000020004" pitchFamily="49" charset="0"/>
                        </a:rPr>
                        <a:t>any module</a:t>
                      </a:r>
                      <a:endParaRPr lang="en-US" sz="2400" b="0" i="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Anyone can have something to say; the shell owns the &lt;Toaster /&gt;</a:t>
                      </a:r>
                    </a:p>
                  </a:txBody>
                  <a:tcPr marL="76200" marR="76200" marT="38100" marB="38100" anchor="ctr">
                    <a:lnL>
                      <a:noFill/>
                    </a:lnL>
                    <a:lnR>
                      <a:noFill/>
                    </a:lnR>
                    <a:lnT>
                      <a:noFill/>
                    </a:lnT>
                    <a:lnB>
                      <a:noFill/>
                    </a:lnB>
                    <a:noFill/>
                  </a:tcPr>
                </a:tc>
                <a:extLst>
                  <a:ext uri="{0D108BD9-81ED-4DB2-BD59-A6C34878D82A}">
                    <a16:rowId xmlns:a16="http://schemas.microsoft.com/office/drawing/2014/main" val="3065737248"/>
                  </a:ext>
                </a:extLst>
              </a:tr>
              <a:tr h="1070386">
                <a:tc>
                  <a:txBody>
                    <a:bodyPr/>
                    <a:lstStyle/>
                    <a:p>
                      <a:pPr algn="l">
                        <a:buNone/>
                      </a:pPr>
                      <a:r>
                        <a:rPr lang="en-US" sz="2400" b="0" i="0" dirty="0" err="1">
                          <a:solidFill>
                            <a:srgbClr val="3B3B3B"/>
                          </a:solidFill>
                          <a:effectLst/>
                          <a:latin typeface="Cascadia Code" panose="020B0609020000020004" pitchFamily="49" charset="0"/>
                          <a:cs typeface="Cascadia Code" panose="020B0609020000020004" pitchFamily="49" charset="0"/>
                        </a:rPr>
                        <a:t>counterChange</a:t>
                      </a:r>
                      <a:endParaRPr lang="en-US" sz="2400" b="0" i="0" dirty="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1" i="0">
                          <a:solidFill>
                            <a:srgbClr val="3B3B3B"/>
                          </a:solidFill>
                          <a:effectLst/>
                          <a:latin typeface="Cascadia Code" panose="020B0609020000020004" pitchFamily="49" charset="0"/>
                          <a:cs typeface="Cascadia Code" panose="020B0609020000020004" pitchFamily="49" charset="0"/>
                        </a:rPr>
                        <a:t>any module</a:t>
                      </a:r>
                      <a:endParaRPr lang="en-US" sz="2400" b="0" i="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0" i="0" dirty="0">
                          <a:solidFill>
                            <a:srgbClr val="3B3B3B"/>
                          </a:solidFill>
                          <a:effectLst/>
                          <a:latin typeface="Cascadia Code" panose="020B0609020000020004" pitchFamily="49" charset="0"/>
                          <a:cs typeface="Cascadia Code" panose="020B0609020000020004" pitchFamily="49" charset="0"/>
                        </a:rPr>
                        <a:t>Nobody owns the counter — it's genuinely peer state</a:t>
                      </a:r>
                    </a:p>
                  </a:txBody>
                  <a:tcPr marL="76200" marR="76200" marT="38100" marB="38100" anchor="ctr">
                    <a:lnL>
                      <a:noFill/>
                    </a:lnL>
                    <a:lnR>
                      <a:noFill/>
                    </a:lnR>
                    <a:lnT>
                      <a:noFill/>
                    </a:lnT>
                    <a:lnB>
                      <a:noFill/>
                    </a:lnB>
                    <a:noFill/>
                  </a:tcPr>
                </a:tc>
                <a:extLst>
                  <a:ext uri="{0D108BD9-81ED-4DB2-BD59-A6C34878D82A}">
                    <a16:rowId xmlns:a16="http://schemas.microsoft.com/office/drawing/2014/main" val="1091983602"/>
                  </a:ext>
                </a:extLst>
              </a:tr>
            </a:tbl>
          </a:graphicData>
        </a:graphic>
      </p:graphicFrame>
      <p:sp>
        <p:nvSpPr>
          <p:cNvPr id="4" name="TextBox 3">
            <a:extLst>
              <a:ext uri="{FF2B5EF4-FFF2-40B4-BE49-F238E27FC236}">
                <a16:creationId xmlns:a16="http://schemas.microsoft.com/office/drawing/2014/main" id="{FCBFEC0A-AD33-0E5A-BF45-ABD21D98423F}"/>
              </a:ext>
            </a:extLst>
          </p:cNvPr>
          <p:cNvSpPr txBox="1"/>
          <p:nvPr/>
        </p:nvSpPr>
        <p:spPr>
          <a:xfrm>
            <a:off x="362857" y="231614"/>
            <a:ext cx="11161486" cy="646331"/>
          </a:xfrm>
          <a:prstGeom prst="rect">
            <a:avLst/>
          </a:prstGeom>
          <a:noFill/>
        </p:spPr>
        <p:txBody>
          <a:bodyPr wrap="square">
            <a:spAutoFit/>
          </a:bodyPr>
          <a:lstStyle/>
          <a:p>
            <a:r>
              <a:rPr lang="en-US" sz="3600" i="1" dirty="0"/>
              <a:t>The ownership rule </a:t>
            </a:r>
            <a:endParaRPr lang="en-GB" sz="4800" i="1" dirty="0"/>
          </a:p>
        </p:txBody>
      </p:sp>
    </p:spTree>
    <p:extLst>
      <p:ext uri="{BB962C8B-B14F-4D97-AF65-F5344CB8AC3E}">
        <p14:creationId xmlns:p14="http://schemas.microsoft.com/office/powerpoint/2010/main" val="317472316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177067D6-BE87-AD69-1C20-9125336CF2E5}"/>
              </a:ext>
            </a:extLst>
          </p:cNvPr>
          <p:cNvSpPr/>
          <p:nvPr/>
        </p:nvSpPr>
        <p:spPr>
          <a:xfrm>
            <a:off x="530352" y="0"/>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Shell-owned theming across the federation</a:t>
            </a:r>
            <a:endParaRPr lang="en-US" sz="3300" dirty="0">
              <a:solidFill>
                <a:schemeClr val="tx1">
                  <a:lumMod val="95000"/>
                  <a:lumOff val="5000"/>
                </a:schemeClr>
              </a:solidFill>
            </a:endParaRPr>
          </a:p>
        </p:txBody>
      </p:sp>
      <p:sp>
        <p:nvSpPr>
          <p:cNvPr id="5" name="Text 5">
            <a:extLst>
              <a:ext uri="{FF2B5EF4-FFF2-40B4-BE49-F238E27FC236}">
                <a16:creationId xmlns:a16="http://schemas.microsoft.com/office/drawing/2014/main" id="{956EBAC9-BB98-ECDE-8693-BBDC50395DCE}"/>
              </a:ext>
            </a:extLst>
          </p:cNvPr>
          <p:cNvSpPr/>
          <p:nvPr/>
        </p:nvSpPr>
        <p:spPr>
          <a:xfrm>
            <a:off x="536448" y="777240"/>
            <a:ext cx="11064240" cy="4741433"/>
          </a:xfrm>
          <a:prstGeom prst="rect">
            <a:avLst/>
          </a:prstGeom>
          <a:noFill/>
          <a:ln/>
        </p:spPr>
        <p:txBody>
          <a:bodyPr wrap="square" rtlCol="0" anchor="t"/>
          <a:lstStyle/>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Shell (owns theme)</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Persists to localStorage ("mf-demo-theme")</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Applies CSS variables to document.documentElement</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Exposes window.__MF_THEME__ bridge</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Broadcasts "themeChange" event</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Records       → useActiveTheme()</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Prescriptions → useActiveTheme()</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Analytics     → useActiveTheme()</a:t>
            </a:r>
          </a:p>
        </p:txBody>
      </p:sp>
    </p:spTree>
    <p:extLst>
      <p:ext uri="{BB962C8B-B14F-4D97-AF65-F5344CB8AC3E}">
        <p14:creationId xmlns:p14="http://schemas.microsoft.com/office/powerpoint/2010/main" val="317173830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bg>
      <p:bgPr>
        <a:solidFill>
          <a:srgbClr val="0C0C0C"/>
        </a:solidFill>
        <a:effectLst/>
      </p:bgPr>
    </p:bg>
    <p:spTree>
      <p:nvGrpSpPr>
        <p:cNvPr id="1" name="">
          <a:extLst>
            <a:ext uri="{FF2B5EF4-FFF2-40B4-BE49-F238E27FC236}">
              <a16:creationId xmlns:a16="http://schemas.microsoft.com/office/drawing/2014/main" id="{89E97B58-0CD3-AD55-4AEF-098ADBAE585B}"/>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E15D9AD5-FE72-143D-F9C7-A2ABF94A9B96}"/>
              </a:ext>
            </a:extLst>
          </p:cNvPr>
          <p:cNvSpPr/>
          <p:nvPr/>
        </p:nvSpPr>
        <p:spPr>
          <a:xfrm>
            <a:off x="408432" y="0"/>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Shell-owned theming across the federation</a:t>
            </a:r>
            <a:endParaRPr lang="en-US" sz="3300" dirty="0"/>
          </a:p>
        </p:txBody>
      </p:sp>
      <p:sp>
        <p:nvSpPr>
          <p:cNvPr id="6" name="TextBox 5">
            <a:extLst>
              <a:ext uri="{FF2B5EF4-FFF2-40B4-BE49-F238E27FC236}">
                <a16:creationId xmlns:a16="http://schemas.microsoft.com/office/drawing/2014/main" id="{ADB8661F-7859-C976-7A08-6DB82C4352FB}"/>
              </a:ext>
            </a:extLst>
          </p:cNvPr>
          <p:cNvSpPr txBox="1"/>
          <p:nvPr/>
        </p:nvSpPr>
        <p:spPr>
          <a:xfrm>
            <a:off x="214234" y="777240"/>
            <a:ext cx="11827659" cy="5030288"/>
          </a:xfrm>
          <a:prstGeom prst="rect">
            <a:avLst/>
          </a:prstGeom>
          <a:noFill/>
        </p:spPr>
        <p:txBody>
          <a:bodyPr wrap="square">
            <a:spAutoFit/>
          </a:bodyPr>
          <a:lstStyle/>
          <a:p>
            <a:pPr>
              <a:lnSpc>
                <a:spcPct val="150000"/>
              </a:lnSpc>
              <a:buNone/>
            </a:pPr>
            <a:r>
              <a:rPr lang="en-US" b="0" dirty="0">
                <a:solidFill>
                  <a:srgbClr val="C586C0"/>
                </a:solidFill>
                <a:effectLst/>
                <a:latin typeface="Cascadia Code" panose="020B0609020000020004" pitchFamily="49" charset="0"/>
              </a:rPr>
              <a:t>export</a:t>
            </a:r>
            <a:r>
              <a:rPr lang="en-US" b="0" dirty="0">
                <a:solidFill>
                  <a:srgbClr val="BBBEBF"/>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function</a:t>
            </a:r>
            <a:r>
              <a:rPr lang="en-US" b="0" dirty="0">
                <a:solidFill>
                  <a:srgbClr val="BBBEBF"/>
                </a:solidFill>
                <a:effectLst/>
                <a:latin typeface="Cascadia Code" panose="020B0609020000020004" pitchFamily="49" charset="0"/>
              </a:rPr>
              <a:t> </a:t>
            </a:r>
            <a:r>
              <a:rPr lang="en-US" b="0" dirty="0" err="1">
                <a:solidFill>
                  <a:srgbClr val="D2A8FF"/>
                </a:solidFill>
                <a:effectLst/>
                <a:latin typeface="Cascadia Code" panose="020B0609020000020004" pitchFamily="49" charset="0"/>
              </a:rPr>
              <a:t>useActiveTheme</a:t>
            </a:r>
            <a:r>
              <a:rPr lang="en-US" b="0" dirty="0">
                <a:solidFill>
                  <a:srgbClr val="BBBEBF"/>
                </a:solidFill>
                <a:effectLst/>
                <a:latin typeface="Cascadia Code" panose="020B0609020000020004" pitchFamily="49" charset="0"/>
              </a:rPr>
              <a:t>() </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const</a:t>
            </a:r>
            <a:r>
              <a:rPr lang="en-US" b="0" dirty="0">
                <a:solidFill>
                  <a:srgbClr val="C9D1D9"/>
                </a:solidFill>
                <a:effectLst/>
                <a:latin typeface="Cascadia Code" panose="020B0609020000020004" pitchFamily="49" charset="0"/>
              </a:rPr>
              <a:t> [</a:t>
            </a:r>
            <a:r>
              <a:rPr lang="en-US" b="0" dirty="0">
                <a:solidFill>
                  <a:srgbClr val="79C0FF"/>
                </a:solidFill>
                <a:effectLst/>
                <a:latin typeface="Cascadia Code" panose="020B0609020000020004" pitchFamily="49" charset="0"/>
              </a:rPr>
              <a:t>theme</a:t>
            </a:r>
            <a:r>
              <a:rPr lang="en-US" b="0" dirty="0">
                <a:solidFill>
                  <a:srgbClr val="C9D1D9"/>
                </a:solidFill>
                <a:effectLst/>
                <a:latin typeface="Cascadia Code" panose="020B0609020000020004" pitchFamily="49" charset="0"/>
              </a:rPr>
              <a:t>, </a:t>
            </a:r>
            <a:r>
              <a:rPr lang="en-US" b="0" dirty="0" err="1">
                <a:solidFill>
                  <a:srgbClr val="79C0FF"/>
                </a:solidFill>
                <a:effectLst/>
                <a:latin typeface="Cascadia Code" panose="020B0609020000020004" pitchFamily="49" charset="0"/>
              </a:rPr>
              <a:t>setTheme</a:t>
            </a:r>
            <a:r>
              <a:rPr lang="en-US" b="0" dirty="0">
                <a:solidFill>
                  <a:srgbClr val="C9D1D9"/>
                </a:solidFill>
                <a:effectLst/>
                <a:latin typeface="Cascadia Code" panose="020B0609020000020004" pitchFamily="49" charset="0"/>
              </a:rPr>
              <a:t>]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err="1">
                <a:solidFill>
                  <a:srgbClr val="D2A8FF"/>
                </a:solidFill>
                <a:effectLst/>
                <a:latin typeface="Cascadia Code" panose="020B0609020000020004" pitchFamily="49" charset="0"/>
              </a:rPr>
              <a:t>useState</a:t>
            </a: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=&gt;</a:t>
            </a:r>
            <a:r>
              <a:rPr lang="en-US" dirty="0">
                <a:solidFill>
                  <a:srgbClr val="BBBEBF"/>
                </a:solidFill>
                <a:latin typeface="Cascadia Code" panose="020B0609020000020004" pitchFamily="49" charset="0"/>
              </a:rPr>
              <a:t> </a:t>
            </a:r>
            <a:r>
              <a:rPr lang="en-US" b="0" dirty="0">
                <a:solidFill>
                  <a:srgbClr val="79C0FF"/>
                </a:solidFill>
                <a:effectLst/>
                <a:latin typeface="Cascadia Code" panose="020B0609020000020004" pitchFamily="49" charset="0"/>
              </a:rPr>
              <a:t>window</a:t>
            </a:r>
            <a:r>
              <a:rPr lang="en-US" b="0" dirty="0">
                <a:solidFill>
                  <a:srgbClr val="C9D1D9"/>
                </a:solidFill>
                <a:effectLst/>
                <a:latin typeface="Cascadia Code" panose="020B0609020000020004" pitchFamily="49" charset="0"/>
              </a:rPr>
              <a:t>.__MF_THEME__?.</a:t>
            </a:r>
            <a:r>
              <a:rPr lang="en-US" b="0" dirty="0" err="1">
                <a:solidFill>
                  <a:srgbClr val="D2A8FF"/>
                </a:solidFill>
                <a:effectLst/>
                <a:latin typeface="Cascadia Code" panose="020B0609020000020004" pitchFamily="49" charset="0"/>
              </a:rPr>
              <a:t>getTheme</a:t>
            </a:r>
            <a:r>
              <a:rPr lang="en-US" b="0" dirty="0">
                <a:solidFill>
                  <a:srgbClr val="C9D1D9"/>
                </a:solidFill>
                <a:effectLst/>
                <a:latin typeface="Cascadia Code" panose="020B0609020000020004" pitchFamily="49" charset="0"/>
              </a:rPr>
              <a:t>()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A5D6FF"/>
                </a:solidFill>
                <a:effectLst/>
                <a:latin typeface="Cascadia Code" panose="020B0609020000020004" pitchFamily="49" charset="0"/>
              </a:rPr>
              <a:t>"dark"</a:t>
            </a:r>
            <a:r>
              <a:rPr lang="en-US" b="0" dirty="0">
                <a:solidFill>
                  <a:srgbClr val="C9D1D9"/>
                </a:solidFill>
                <a:effectLst/>
                <a:latin typeface="Cascadia Code" panose="020B0609020000020004" pitchFamily="49" charset="0"/>
              </a:rPr>
              <a:t>);</a:t>
            </a:r>
          </a:p>
          <a:p>
            <a:pPr>
              <a:lnSpc>
                <a:spcPct val="150000"/>
              </a:lnSpc>
              <a:buNone/>
            </a:pP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err="1">
                <a:solidFill>
                  <a:srgbClr val="D2A8FF"/>
                </a:solidFill>
                <a:effectLst/>
                <a:latin typeface="Cascadia Code" panose="020B0609020000020004" pitchFamily="49" charset="0"/>
              </a:rPr>
              <a:t>useEffect</a:t>
            </a: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=&gt;</a:t>
            </a:r>
            <a:r>
              <a:rPr lang="en-US" b="0" dirty="0">
                <a:solidFill>
                  <a:srgbClr val="C9D1D9"/>
                </a:solidFill>
                <a:effectLst/>
                <a:latin typeface="Cascadia Code" panose="020B0609020000020004" pitchFamily="49" charset="0"/>
              </a:rPr>
              <a:t> {</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const</a:t>
            </a:r>
            <a:r>
              <a:rPr lang="en-US" b="0" dirty="0">
                <a:solidFill>
                  <a:srgbClr val="C9D1D9"/>
                </a:solidFill>
                <a:effectLst/>
                <a:latin typeface="Cascadia Code" panose="020B0609020000020004" pitchFamily="49" charset="0"/>
              </a:rPr>
              <a:t> </a:t>
            </a:r>
            <a:r>
              <a:rPr lang="en-US" b="0" dirty="0">
                <a:solidFill>
                  <a:srgbClr val="D2A8FF"/>
                </a:solidFill>
                <a:effectLst/>
                <a:latin typeface="Cascadia Code" panose="020B0609020000020004" pitchFamily="49" charset="0"/>
              </a:rPr>
              <a:t>handler</a:t>
            </a:r>
            <a:r>
              <a:rPr lang="en-US" b="0" dirty="0">
                <a:solidFill>
                  <a:srgbClr val="C9D1D9"/>
                </a:solidFill>
                <a:effectLst/>
                <a:latin typeface="Cascadia Code" panose="020B0609020000020004" pitchFamily="49" charset="0"/>
              </a:rPr>
              <a:t>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FFA657"/>
                </a:solidFill>
                <a:effectLst/>
                <a:latin typeface="Cascadia Code" panose="020B0609020000020004" pitchFamily="49" charset="0"/>
              </a:rPr>
              <a:t>e</a:t>
            </a: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=&gt;</a:t>
            </a:r>
            <a:r>
              <a:rPr lang="en-US" b="0" dirty="0">
                <a:solidFill>
                  <a:srgbClr val="C9D1D9"/>
                </a:solidFill>
                <a:effectLst/>
                <a:latin typeface="Cascadia Code" panose="020B0609020000020004" pitchFamily="49" charset="0"/>
              </a:rPr>
              <a:t> </a:t>
            </a:r>
            <a:r>
              <a:rPr lang="en-US" b="0" dirty="0" err="1">
                <a:solidFill>
                  <a:srgbClr val="D2A8FF"/>
                </a:solidFill>
                <a:effectLst/>
                <a:latin typeface="Cascadia Code" panose="020B0609020000020004" pitchFamily="49" charset="0"/>
              </a:rPr>
              <a:t>setTheme</a:t>
            </a:r>
            <a:r>
              <a:rPr lang="en-US" b="0" dirty="0">
                <a:solidFill>
                  <a:srgbClr val="C9D1D9"/>
                </a:solidFill>
                <a:effectLst/>
                <a:latin typeface="Cascadia Code" panose="020B0609020000020004" pitchFamily="49" charset="0"/>
              </a:rPr>
              <a:t>(</a:t>
            </a:r>
            <a:r>
              <a:rPr lang="en-US" b="0" dirty="0" err="1">
                <a:solidFill>
                  <a:srgbClr val="FFA657"/>
                </a:solidFill>
                <a:effectLst/>
                <a:latin typeface="Cascadia Code" panose="020B0609020000020004" pitchFamily="49" charset="0"/>
              </a:rPr>
              <a:t>e</a:t>
            </a:r>
            <a:r>
              <a:rPr lang="en-US" b="0" dirty="0" err="1">
                <a:solidFill>
                  <a:srgbClr val="C9D1D9"/>
                </a:solidFill>
                <a:effectLst/>
                <a:latin typeface="Cascadia Code" panose="020B0609020000020004" pitchFamily="49" charset="0"/>
              </a:rPr>
              <a:t>.detail.theme</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err="1">
                <a:solidFill>
                  <a:srgbClr val="79C0FF"/>
                </a:solidFill>
                <a:effectLst/>
                <a:latin typeface="Cascadia Code" panose="020B0609020000020004" pitchFamily="49" charset="0"/>
              </a:rPr>
              <a:t>window</a:t>
            </a:r>
            <a:r>
              <a:rPr lang="en-US" b="0" dirty="0" err="1">
                <a:solidFill>
                  <a:srgbClr val="C9D1D9"/>
                </a:solidFill>
                <a:effectLst/>
                <a:latin typeface="Cascadia Code" panose="020B0609020000020004" pitchFamily="49" charset="0"/>
              </a:rPr>
              <a:t>.</a:t>
            </a:r>
            <a:r>
              <a:rPr lang="en-US" b="0" dirty="0" err="1">
                <a:solidFill>
                  <a:srgbClr val="D2A8FF"/>
                </a:solidFill>
                <a:effectLst/>
                <a:latin typeface="Cascadia Code" panose="020B0609020000020004" pitchFamily="49" charset="0"/>
              </a:rPr>
              <a:t>addEventListener</a:t>
            </a:r>
            <a:r>
              <a:rPr lang="en-US" b="0" dirty="0">
                <a:solidFill>
                  <a:srgbClr val="C9D1D9"/>
                </a:solidFill>
                <a:effectLst/>
                <a:latin typeface="Cascadia Code" panose="020B0609020000020004" pitchFamily="49" charset="0"/>
              </a:rPr>
              <a:t>(</a:t>
            </a:r>
            <a:r>
              <a:rPr lang="en-US" b="0" dirty="0">
                <a:solidFill>
                  <a:srgbClr val="A5D6FF"/>
                </a:solidFill>
                <a:effectLst/>
                <a:latin typeface="Cascadia Code" panose="020B0609020000020004" pitchFamily="49" charset="0"/>
              </a:rPr>
              <a:t>"</a:t>
            </a:r>
            <a:r>
              <a:rPr lang="en-US" b="0" dirty="0" err="1">
                <a:solidFill>
                  <a:srgbClr val="A5D6FF"/>
                </a:solidFill>
                <a:effectLst/>
                <a:latin typeface="Cascadia Code" panose="020B0609020000020004" pitchFamily="49" charset="0"/>
              </a:rPr>
              <a:t>themeChange</a:t>
            </a:r>
            <a:r>
              <a:rPr lang="en-US" b="0" dirty="0">
                <a:solidFill>
                  <a:srgbClr val="A5D6FF"/>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D2A8FF"/>
                </a:solidFill>
                <a:effectLst/>
                <a:latin typeface="Cascadia Code" panose="020B0609020000020004" pitchFamily="49" charset="0"/>
              </a:rPr>
              <a:t>handler</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C586C0"/>
                </a:solidFill>
                <a:effectLst/>
                <a:latin typeface="Cascadia Code" panose="020B0609020000020004" pitchFamily="49" charset="0"/>
              </a:rPr>
              <a:t>return</a:t>
            </a:r>
            <a:r>
              <a:rPr lang="en-US" b="0" dirty="0">
                <a:solidFill>
                  <a:srgbClr val="C9D1D9"/>
                </a:solidFill>
                <a:effectLst/>
                <a:latin typeface="Cascadia Code" panose="020B0609020000020004" pitchFamily="49" charset="0"/>
              </a:rPr>
              <a:t> () </a:t>
            </a:r>
            <a:r>
              <a:rPr lang="en-US" b="0" dirty="0">
                <a:solidFill>
                  <a:srgbClr val="FF7B72"/>
                </a:solidFill>
                <a:effectLst/>
                <a:latin typeface="Cascadia Code" panose="020B0609020000020004" pitchFamily="49" charset="0"/>
              </a:rPr>
              <a:t>=&gt;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err="1">
                <a:solidFill>
                  <a:srgbClr val="79C0FF"/>
                </a:solidFill>
                <a:effectLst/>
                <a:latin typeface="Cascadia Code" panose="020B0609020000020004" pitchFamily="49" charset="0"/>
              </a:rPr>
              <a:t>window</a:t>
            </a:r>
            <a:r>
              <a:rPr lang="en-US" b="0" dirty="0" err="1">
                <a:solidFill>
                  <a:srgbClr val="C9D1D9"/>
                </a:solidFill>
                <a:effectLst/>
                <a:latin typeface="Cascadia Code" panose="020B0609020000020004" pitchFamily="49" charset="0"/>
              </a:rPr>
              <a:t>.</a:t>
            </a:r>
            <a:r>
              <a:rPr lang="en-US" b="0" dirty="0" err="1">
                <a:solidFill>
                  <a:srgbClr val="D2A8FF"/>
                </a:solidFill>
                <a:effectLst/>
                <a:latin typeface="Cascadia Code" panose="020B0609020000020004" pitchFamily="49" charset="0"/>
              </a:rPr>
              <a:t>removeEventListener</a:t>
            </a:r>
            <a:r>
              <a:rPr lang="en-US" b="0" dirty="0">
                <a:solidFill>
                  <a:srgbClr val="C9D1D9"/>
                </a:solidFill>
                <a:effectLst/>
                <a:latin typeface="Cascadia Code" panose="020B0609020000020004" pitchFamily="49" charset="0"/>
              </a:rPr>
              <a:t>(</a:t>
            </a:r>
            <a:r>
              <a:rPr lang="en-US" b="0" dirty="0">
                <a:solidFill>
                  <a:srgbClr val="A5D6FF"/>
                </a:solidFill>
                <a:effectLst/>
                <a:latin typeface="Cascadia Code" panose="020B0609020000020004" pitchFamily="49" charset="0"/>
              </a:rPr>
              <a:t>"</a:t>
            </a:r>
            <a:r>
              <a:rPr lang="en-US" b="0" dirty="0" err="1">
                <a:solidFill>
                  <a:srgbClr val="A5D6FF"/>
                </a:solidFill>
                <a:effectLst/>
                <a:latin typeface="Cascadia Code" panose="020B0609020000020004" pitchFamily="49" charset="0"/>
              </a:rPr>
              <a:t>themeChange</a:t>
            </a:r>
            <a:r>
              <a:rPr lang="en-US" b="0" dirty="0">
                <a:solidFill>
                  <a:srgbClr val="A5D6FF"/>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D2A8FF"/>
                </a:solidFill>
                <a:effectLst/>
                <a:latin typeface="Cascadia Code" panose="020B0609020000020004" pitchFamily="49" charset="0"/>
              </a:rPr>
              <a:t>handler</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 []);</a:t>
            </a:r>
          </a:p>
          <a:p>
            <a:pPr>
              <a:lnSpc>
                <a:spcPct val="150000"/>
              </a:lnSpc>
              <a:buNone/>
            </a:pP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C586C0"/>
                </a:solidFill>
                <a:effectLst/>
                <a:latin typeface="Cascadia Code" panose="020B0609020000020004" pitchFamily="49" charset="0"/>
              </a:rPr>
              <a:t>return</a:t>
            </a:r>
            <a:r>
              <a:rPr lang="en-US" b="0" dirty="0">
                <a:solidFill>
                  <a:srgbClr val="C9D1D9"/>
                </a:solidFill>
                <a:effectLst/>
                <a:latin typeface="Cascadia Code" panose="020B0609020000020004" pitchFamily="49" charset="0"/>
              </a:rPr>
              <a:t> { theme, label</a:t>
            </a:r>
            <a:r>
              <a:rPr lang="en-US" b="0" dirty="0">
                <a:solidFill>
                  <a:srgbClr val="9CDCFE"/>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79C0FF"/>
                </a:solidFill>
                <a:effectLst/>
                <a:latin typeface="Cascadia Code" panose="020B0609020000020004" pitchFamily="49" charset="0"/>
              </a:rPr>
              <a:t>THEME_LABELS</a:t>
            </a:r>
            <a:r>
              <a:rPr lang="en-US" b="0" dirty="0">
                <a:solidFill>
                  <a:srgbClr val="C9D1D9"/>
                </a:solidFill>
                <a:effectLst/>
                <a:latin typeface="Cascadia Code" panose="020B0609020000020004" pitchFamily="49" charset="0"/>
              </a:rPr>
              <a:t>[</a:t>
            </a:r>
            <a:r>
              <a:rPr lang="en-US" b="0" dirty="0">
                <a:solidFill>
                  <a:srgbClr val="79C0FF"/>
                </a:solidFill>
                <a:effectLst/>
                <a:latin typeface="Cascadia Code" panose="020B0609020000020004" pitchFamily="49" charset="0"/>
              </a:rPr>
              <a:t>theme</a:t>
            </a:r>
            <a:r>
              <a:rPr lang="en-US" b="0" dirty="0">
                <a:solidFill>
                  <a:srgbClr val="C9D1D9"/>
                </a:solidFill>
                <a:effectLst/>
                <a:latin typeface="Cascadia Code" panose="020B0609020000020004" pitchFamily="49" charset="0"/>
              </a:rPr>
              <a:t>] };</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p:txBody>
      </p:sp>
    </p:spTree>
    <p:extLst>
      <p:ext uri="{BB962C8B-B14F-4D97-AF65-F5344CB8AC3E}">
        <p14:creationId xmlns:p14="http://schemas.microsoft.com/office/powerpoint/2010/main" val="36337422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name="Slide 13">
    <p:bg>
      <p:bgPr>
        <a:solidFill>
          <a:srgbClr val="0C0C0C"/>
        </a:solidFill>
        <a:effectLst/>
      </p:bgPr>
    </p:bg>
    <p:spTree>
      <p:nvGrpSpPr>
        <p:cNvPr id="1" name=""/>
        <p:cNvGrpSpPr/>
        <p:nvPr/>
      </p:nvGrpSpPr>
      <p:grpSpPr>
        <a:xfrm>
          <a:off x="0" y="0"/>
          <a:ext cx="0" cy="0"/>
          <a:chOff x="0" y="0"/>
          <a:chExt cx="0" cy="0"/>
        </a:xfrm>
      </p:grpSpPr>
      <p:sp>
        <p:nvSpPr>
          <p:cNvPr id="4" name="Text 2"/>
          <p:cNvSpPr/>
          <p:nvPr/>
        </p:nvSpPr>
        <p:spPr>
          <a:xfrm>
            <a:off x="245187" y="35778"/>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Two-tier preloading: eager on mount, hover on demand</a:t>
            </a:r>
            <a:endParaRPr lang="en-US" sz="3300" dirty="0"/>
          </a:p>
        </p:txBody>
      </p:sp>
      <p:sp>
        <p:nvSpPr>
          <p:cNvPr id="6" name="TextBox 5">
            <a:extLst>
              <a:ext uri="{FF2B5EF4-FFF2-40B4-BE49-F238E27FC236}">
                <a16:creationId xmlns:a16="http://schemas.microsoft.com/office/drawing/2014/main" id="{1D8490F4-0DAA-31B1-E2C3-4C604C983C01}"/>
              </a:ext>
            </a:extLst>
          </p:cNvPr>
          <p:cNvSpPr txBox="1"/>
          <p:nvPr/>
        </p:nvSpPr>
        <p:spPr>
          <a:xfrm>
            <a:off x="268090" y="903414"/>
            <a:ext cx="11920735" cy="4481676"/>
          </a:xfrm>
          <a:prstGeom prst="rect">
            <a:avLst/>
          </a:prstGeom>
          <a:noFill/>
        </p:spPr>
        <p:txBody>
          <a:bodyPr wrap="square">
            <a:spAutoFit/>
          </a:bodyPr>
          <a:lstStyle/>
          <a:p>
            <a:pPr>
              <a:lnSpc>
                <a:spcPct val="150000"/>
              </a:lnSpc>
              <a:buNone/>
            </a:pPr>
            <a:r>
              <a:rPr lang="en-US" sz="1600" b="0" dirty="0">
                <a:solidFill>
                  <a:srgbClr val="FF7B72"/>
                </a:solidFill>
                <a:effectLst/>
                <a:latin typeface="Cascadia Code" panose="020B0609020000020004" pitchFamily="49" charset="0"/>
              </a:rPr>
              <a:t>const</a:t>
            </a:r>
            <a:r>
              <a:rPr lang="en-US" sz="1600" b="0" dirty="0">
                <a:solidFill>
                  <a:srgbClr val="BBBEBF"/>
                </a:solidFill>
                <a:effectLst/>
                <a:latin typeface="Cascadia Code" panose="020B0609020000020004" pitchFamily="49" charset="0"/>
              </a:rPr>
              <a:t> </a:t>
            </a:r>
            <a:r>
              <a:rPr lang="en-US" sz="1600" b="0" dirty="0">
                <a:solidFill>
                  <a:srgbClr val="79C0FF"/>
                </a:solidFill>
                <a:effectLst/>
                <a:latin typeface="Cascadia Code" panose="020B0609020000020004" pitchFamily="49" charset="0"/>
              </a:rPr>
              <a:t>PREFETCHERS</a:t>
            </a:r>
            <a:r>
              <a:rPr lang="en-US" sz="1600" b="0" dirty="0">
                <a:solidFill>
                  <a:srgbClr val="D4D4D4"/>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a:t>
            </a:r>
            <a:r>
              <a:rPr lang="en-US" sz="1600" b="0" dirty="0">
                <a:solidFill>
                  <a:srgbClr val="4EC9B0"/>
                </a:solidFill>
                <a:effectLst/>
                <a:latin typeface="Cascadia Code" panose="020B0609020000020004" pitchFamily="49" charset="0"/>
              </a:rPr>
              <a:t>Record</a:t>
            </a:r>
            <a:r>
              <a:rPr lang="en-US" sz="1600" b="0" dirty="0">
                <a:solidFill>
                  <a:srgbClr val="BBBEBF"/>
                </a:solidFill>
                <a:effectLst/>
                <a:latin typeface="Cascadia Code" panose="020B0609020000020004" pitchFamily="49" charset="0"/>
              </a:rPr>
              <a:t>&lt;</a:t>
            </a:r>
            <a:r>
              <a:rPr lang="en-US" sz="1600" b="0" dirty="0" err="1">
                <a:solidFill>
                  <a:srgbClr val="4EC9B0"/>
                </a:solidFill>
                <a:effectLst/>
                <a:latin typeface="Cascadia Code" panose="020B0609020000020004" pitchFamily="49" charset="0"/>
              </a:rPr>
              <a:t>ModuleType</a:t>
            </a:r>
            <a:r>
              <a:rPr lang="en-US" sz="1600" b="0" dirty="0">
                <a:solidFill>
                  <a:srgbClr val="BBBEBF"/>
                </a:solidFill>
                <a:effectLst/>
                <a:latin typeface="Cascadia Code" panose="020B0609020000020004" pitchFamily="49" charset="0"/>
              </a:rPr>
              <a:t>, () </a:t>
            </a:r>
            <a:r>
              <a:rPr lang="en-US" sz="1600" b="0" dirty="0">
                <a:solidFill>
                  <a:srgbClr val="FF7B72"/>
                </a:solidFill>
                <a:effectLst/>
                <a:latin typeface="Cascadia Code" panose="020B0609020000020004" pitchFamily="49" charset="0"/>
              </a:rPr>
              <a:t>=&gt;</a:t>
            </a:r>
            <a:r>
              <a:rPr lang="en-US" sz="1600" b="0" dirty="0">
                <a:solidFill>
                  <a:srgbClr val="BBBEBF"/>
                </a:solidFill>
                <a:effectLst/>
                <a:latin typeface="Cascadia Code" panose="020B0609020000020004" pitchFamily="49" charset="0"/>
              </a:rPr>
              <a:t> </a:t>
            </a:r>
            <a:r>
              <a:rPr lang="en-US" sz="1600" b="0" dirty="0">
                <a:solidFill>
                  <a:srgbClr val="4EC9B0"/>
                </a:solidFill>
                <a:effectLst/>
                <a:latin typeface="Cascadia Code" panose="020B0609020000020004" pitchFamily="49" charset="0"/>
              </a:rPr>
              <a:t>Promise</a:t>
            </a:r>
            <a:r>
              <a:rPr lang="en-US" sz="1600" b="0" dirty="0">
                <a:solidFill>
                  <a:srgbClr val="BBBEBF"/>
                </a:solidFill>
                <a:effectLst/>
                <a:latin typeface="Cascadia Code" panose="020B0609020000020004" pitchFamily="49" charset="0"/>
              </a:rPr>
              <a:t>&lt;</a:t>
            </a:r>
            <a:r>
              <a:rPr lang="en-US" sz="1600" b="0" dirty="0">
                <a:solidFill>
                  <a:srgbClr val="4EC9B0"/>
                </a:solidFill>
                <a:effectLst/>
                <a:latin typeface="Cascadia Code" panose="020B0609020000020004" pitchFamily="49" charset="0"/>
              </a:rPr>
              <a:t>unknown</a:t>
            </a:r>
            <a:r>
              <a:rPr lang="en-US" sz="1600" b="0" dirty="0">
                <a:solidFill>
                  <a:srgbClr val="BBBEBF"/>
                </a:solidFill>
                <a:effectLst/>
                <a:latin typeface="Cascadia Code" panose="020B0609020000020004" pitchFamily="49" charset="0"/>
              </a:rPr>
              <a:t>&gt;&gt; </a:t>
            </a:r>
            <a:r>
              <a:rPr lang="en-US" sz="1600" b="0" dirty="0">
                <a:solidFill>
                  <a:srgbClr val="D4D4D4"/>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a:t>
            </a:r>
          </a:p>
          <a:p>
            <a:pPr>
              <a:lnSpc>
                <a:spcPct val="150000"/>
              </a:lnSpc>
              <a:buNone/>
            </a:pP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home</a:t>
            </a:r>
            <a:r>
              <a:rPr lang="en-US" sz="1600" b="0" dirty="0">
                <a:solidFill>
                  <a:srgbClr val="9CDCFE"/>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          ()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import</a:t>
            </a:r>
            <a:r>
              <a:rPr lang="en-US" sz="1600" b="0" dirty="0">
                <a:solidFill>
                  <a:srgbClr val="C9D1D9"/>
                </a:solidFill>
                <a:effectLst/>
                <a:latin typeface="Cascadia Code" panose="020B0609020000020004" pitchFamily="49" charset="0"/>
              </a:rPr>
              <a:t>(</a:t>
            </a:r>
            <a:r>
              <a:rPr lang="en-US" sz="1600" b="0" dirty="0">
                <a:solidFill>
                  <a:srgbClr val="A5D6FF"/>
                </a:solidFill>
                <a:effectLst/>
                <a:latin typeface="Cascadia Code" panose="020B0609020000020004" pitchFamily="49" charset="0"/>
              </a:rPr>
              <a:t>"home/Home"</a:t>
            </a:r>
            <a:r>
              <a:rPr lang="en-US" sz="1600" b="0" dirty="0">
                <a:solidFill>
                  <a:srgbClr val="C9D1D9"/>
                </a:solidFill>
                <a:effectLst/>
                <a:latin typeface="Cascadia Code" panose="020B0609020000020004" pitchFamily="49" charset="0"/>
              </a:rPr>
              <a:t>).</a:t>
            </a:r>
            <a:r>
              <a:rPr lang="en-US" sz="1600" b="0" dirty="0">
                <a:solidFill>
                  <a:srgbClr val="D2A8FF"/>
                </a:solidFill>
                <a:effectLst/>
                <a:latin typeface="Cascadia Code" panose="020B0609020000020004" pitchFamily="49" charset="0"/>
              </a:rPr>
              <a:t>catch</a:t>
            </a:r>
            <a:r>
              <a:rPr lang="en-US" sz="1600" b="0" dirty="0">
                <a:solidFill>
                  <a:srgbClr val="C9D1D9"/>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undefined</a:t>
            </a:r>
            <a:r>
              <a:rPr lang="en-US" sz="1600" b="0" dirty="0">
                <a:solidFill>
                  <a:srgbClr val="C9D1D9"/>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a:t>
            </a:r>
          </a:p>
          <a:p>
            <a:pPr>
              <a:lnSpc>
                <a:spcPct val="150000"/>
              </a:lnSpc>
              <a:buNone/>
            </a:pP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records</a:t>
            </a:r>
            <a:r>
              <a:rPr lang="en-US" sz="1600" b="0" dirty="0">
                <a:solidFill>
                  <a:srgbClr val="9CDCFE"/>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       ()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import</a:t>
            </a:r>
            <a:r>
              <a:rPr lang="en-US" sz="1600" b="0" dirty="0">
                <a:solidFill>
                  <a:srgbClr val="C9D1D9"/>
                </a:solidFill>
                <a:effectLst/>
                <a:latin typeface="Cascadia Code" panose="020B0609020000020004" pitchFamily="49" charset="0"/>
              </a:rPr>
              <a:t>(</a:t>
            </a:r>
            <a:r>
              <a:rPr lang="en-US" sz="1600" b="0" dirty="0">
                <a:solidFill>
                  <a:srgbClr val="A5D6FF"/>
                </a:solidFill>
                <a:effectLst/>
                <a:latin typeface="Cascadia Code" panose="020B0609020000020004" pitchFamily="49" charset="0"/>
              </a:rPr>
              <a:t>"records/</a:t>
            </a:r>
            <a:r>
              <a:rPr lang="en-US" sz="1600" b="0" dirty="0" err="1">
                <a:solidFill>
                  <a:srgbClr val="A5D6FF"/>
                </a:solidFill>
                <a:effectLst/>
                <a:latin typeface="Cascadia Code" panose="020B0609020000020004" pitchFamily="49" charset="0"/>
              </a:rPr>
              <a:t>MedicalRecords</a:t>
            </a:r>
            <a:r>
              <a:rPr lang="en-US" sz="1600" b="0" dirty="0">
                <a:solidFill>
                  <a:srgbClr val="A5D6FF"/>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a:t>
            </a:r>
            <a:r>
              <a:rPr lang="en-US" sz="1600" b="0" dirty="0">
                <a:solidFill>
                  <a:srgbClr val="D2A8FF"/>
                </a:solidFill>
                <a:effectLst/>
                <a:latin typeface="Cascadia Code" panose="020B0609020000020004" pitchFamily="49" charset="0"/>
              </a:rPr>
              <a:t>catch</a:t>
            </a:r>
            <a:r>
              <a:rPr lang="en-US" sz="1600" b="0" dirty="0">
                <a:solidFill>
                  <a:srgbClr val="C9D1D9"/>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undefined</a:t>
            </a:r>
            <a:r>
              <a:rPr lang="en-US" sz="1600" b="0" dirty="0">
                <a:solidFill>
                  <a:srgbClr val="C9D1D9"/>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a:t>
            </a:r>
          </a:p>
          <a:p>
            <a:pPr>
              <a:lnSpc>
                <a:spcPct val="150000"/>
              </a:lnSpc>
              <a:buNone/>
            </a:pP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prescriptions</a:t>
            </a:r>
            <a:r>
              <a:rPr lang="en-US" sz="1600" b="0" dirty="0">
                <a:solidFill>
                  <a:srgbClr val="9CDCFE"/>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 ()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import</a:t>
            </a:r>
            <a:r>
              <a:rPr lang="en-US" sz="1600" b="0" dirty="0">
                <a:solidFill>
                  <a:srgbClr val="C9D1D9"/>
                </a:solidFill>
                <a:effectLst/>
                <a:latin typeface="Cascadia Code" panose="020B0609020000020004" pitchFamily="49" charset="0"/>
              </a:rPr>
              <a:t>(</a:t>
            </a:r>
            <a:r>
              <a:rPr lang="en-US" sz="1600" b="0" dirty="0">
                <a:solidFill>
                  <a:srgbClr val="A5D6FF"/>
                </a:solidFill>
                <a:effectLst/>
                <a:latin typeface="Cascadia Code" panose="020B0609020000020004" pitchFamily="49" charset="0"/>
              </a:rPr>
              <a:t>"prescriptions/</a:t>
            </a:r>
            <a:r>
              <a:rPr lang="en-US" sz="1600" b="0" dirty="0" err="1">
                <a:solidFill>
                  <a:srgbClr val="A5D6FF"/>
                </a:solidFill>
                <a:effectLst/>
                <a:latin typeface="Cascadia Code" panose="020B0609020000020004" pitchFamily="49" charset="0"/>
              </a:rPr>
              <a:t>StreamingPrescriptionOrders</a:t>
            </a:r>
            <a:r>
              <a:rPr lang="en-US" sz="1600" b="0" dirty="0">
                <a:solidFill>
                  <a:srgbClr val="A5D6FF"/>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a:t>
            </a:r>
            <a:r>
              <a:rPr lang="en-US" sz="1600" b="0" dirty="0">
                <a:solidFill>
                  <a:srgbClr val="D2A8FF"/>
                </a:solidFill>
                <a:effectLst/>
                <a:latin typeface="Cascadia Code" panose="020B0609020000020004" pitchFamily="49" charset="0"/>
              </a:rPr>
              <a:t>catch</a:t>
            </a:r>
            <a:r>
              <a:rPr lang="en-US" sz="1600" b="0" dirty="0">
                <a:solidFill>
                  <a:srgbClr val="C9D1D9"/>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undefined</a:t>
            </a:r>
            <a:r>
              <a:rPr lang="en-US" sz="1600" b="0" dirty="0">
                <a:solidFill>
                  <a:srgbClr val="C9D1D9"/>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a:t>
            </a:r>
          </a:p>
          <a:p>
            <a:pPr>
              <a:lnSpc>
                <a:spcPct val="150000"/>
              </a:lnSpc>
              <a:buNone/>
            </a:pP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analytics</a:t>
            </a:r>
            <a:r>
              <a:rPr lang="en-US" sz="1600" b="0" dirty="0">
                <a:solidFill>
                  <a:srgbClr val="9CDCFE"/>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     ()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import</a:t>
            </a:r>
            <a:r>
              <a:rPr lang="en-US" sz="1600" b="0" dirty="0">
                <a:solidFill>
                  <a:srgbClr val="C9D1D9"/>
                </a:solidFill>
                <a:effectLst/>
                <a:latin typeface="Cascadia Code" panose="020B0609020000020004" pitchFamily="49" charset="0"/>
              </a:rPr>
              <a:t>(</a:t>
            </a:r>
            <a:r>
              <a:rPr lang="en-US" sz="1600" b="0" dirty="0">
                <a:solidFill>
                  <a:srgbClr val="A5D6FF"/>
                </a:solidFill>
                <a:effectLst/>
                <a:latin typeface="Cascadia Code" panose="020B0609020000020004" pitchFamily="49" charset="0"/>
              </a:rPr>
              <a:t>"analytics/</a:t>
            </a:r>
            <a:r>
              <a:rPr lang="en-US" sz="1600" b="0" dirty="0" err="1">
                <a:solidFill>
                  <a:srgbClr val="A5D6FF"/>
                </a:solidFill>
                <a:effectLst/>
                <a:latin typeface="Cascadia Code" panose="020B0609020000020004" pitchFamily="49" charset="0"/>
              </a:rPr>
              <a:t>StreamingClinicalAnalytics</a:t>
            </a:r>
            <a:r>
              <a:rPr lang="en-US" sz="1600" b="0" dirty="0">
                <a:solidFill>
                  <a:srgbClr val="A5D6FF"/>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a:t>
            </a:r>
            <a:r>
              <a:rPr lang="en-US" sz="1600" b="0" dirty="0">
                <a:solidFill>
                  <a:srgbClr val="D2A8FF"/>
                </a:solidFill>
                <a:effectLst/>
                <a:latin typeface="Cascadia Code" panose="020B0609020000020004" pitchFamily="49" charset="0"/>
              </a:rPr>
              <a:t>catch</a:t>
            </a:r>
            <a:r>
              <a:rPr lang="en-US" sz="1600" b="0" dirty="0">
                <a:solidFill>
                  <a:srgbClr val="C9D1D9"/>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undefined</a:t>
            </a:r>
            <a:r>
              <a:rPr lang="en-US" sz="1600" b="0" dirty="0">
                <a:solidFill>
                  <a:srgbClr val="C9D1D9"/>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a:t>
            </a:r>
          </a:p>
          <a:p>
            <a:pPr>
              <a:lnSpc>
                <a:spcPct val="150000"/>
              </a:lnSpc>
              <a:buNone/>
            </a:pPr>
            <a:r>
              <a:rPr lang="en-US" sz="1600" b="0" dirty="0">
                <a:solidFill>
                  <a:srgbClr val="BBBEBF"/>
                </a:solidFill>
                <a:effectLst/>
                <a:latin typeface="Cascadia Code" panose="020B0609020000020004" pitchFamily="49" charset="0"/>
              </a:rPr>
              <a:t>};</a:t>
            </a:r>
          </a:p>
          <a:p>
            <a:pPr>
              <a:lnSpc>
                <a:spcPct val="150000"/>
              </a:lnSpc>
              <a:buNone/>
            </a:pP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8B949E"/>
                </a:solidFill>
                <a:effectLst/>
                <a:latin typeface="Cascadia Code" panose="020B0609020000020004" pitchFamily="49" charset="0"/>
              </a:rPr>
              <a:t>// EAGER — preload on shell mount</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C586C0"/>
                </a:solidFill>
                <a:effectLst/>
                <a:latin typeface="Cascadia Code" panose="020B0609020000020004" pitchFamily="49" charset="0"/>
              </a:rPr>
              <a:t>for</a:t>
            </a:r>
            <a:r>
              <a:rPr lang="en-US" sz="1600" b="0" dirty="0">
                <a:solidFill>
                  <a:srgbClr val="BBBEBF"/>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const</a:t>
            </a:r>
            <a:r>
              <a:rPr lang="en-US" sz="1600" b="0" dirty="0">
                <a:solidFill>
                  <a:srgbClr val="BBBEBF"/>
                </a:solidFill>
                <a:effectLst/>
                <a:latin typeface="Cascadia Code" panose="020B0609020000020004" pitchFamily="49" charset="0"/>
              </a:rPr>
              <a:t> </a:t>
            </a:r>
            <a:r>
              <a:rPr lang="en-US" sz="1600" b="0" dirty="0">
                <a:solidFill>
                  <a:srgbClr val="79C0FF"/>
                </a:solidFill>
                <a:effectLst/>
                <a:latin typeface="Cascadia Code" panose="020B0609020000020004" pitchFamily="49" charset="0"/>
              </a:rPr>
              <a:t>m</a:t>
            </a:r>
            <a:r>
              <a:rPr lang="en-US" sz="1600" b="0" dirty="0">
                <a:solidFill>
                  <a:srgbClr val="BBBEBF"/>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of</a:t>
            </a:r>
            <a:r>
              <a:rPr lang="en-US" sz="1600" b="0" dirty="0">
                <a:solidFill>
                  <a:srgbClr val="BBBEBF"/>
                </a:solidFill>
                <a:effectLst/>
                <a:latin typeface="Cascadia Code" panose="020B0609020000020004" pitchFamily="49" charset="0"/>
              </a:rPr>
              <a:t> </a:t>
            </a:r>
            <a:r>
              <a:rPr lang="en-US" sz="1600" b="0" dirty="0" err="1">
                <a:solidFill>
                  <a:srgbClr val="79C0FF"/>
                </a:solidFill>
                <a:effectLst/>
                <a:latin typeface="Cascadia Code" panose="020B0609020000020004" pitchFamily="49" charset="0"/>
              </a:rPr>
              <a:t>MODULES</a:t>
            </a:r>
            <a:r>
              <a:rPr lang="en-US" sz="1600" b="0" dirty="0" err="1">
                <a:solidFill>
                  <a:srgbClr val="BBBEBF"/>
                </a:solidFill>
                <a:effectLst/>
                <a:latin typeface="Cascadia Code" panose="020B0609020000020004" pitchFamily="49" charset="0"/>
              </a:rPr>
              <a:t>.</a:t>
            </a:r>
            <a:r>
              <a:rPr lang="en-US" sz="1600" b="0" dirty="0" err="1">
                <a:solidFill>
                  <a:srgbClr val="D2A8FF"/>
                </a:solidFill>
                <a:effectLst/>
                <a:latin typeface="Cascadia Code" panose="020B0609020000020004" pitchFamily="49" charset="0"/>
              </a:rPr>
              <a:t>filter</a:t>
            </a:r>
            <a:r>
              <a:rPr lang="en-US" sz="1600" b="0" dirty="0">
                <a:solidFill>
                  <a:srgbClr val="BBBEBF"/>
                </a:solidFill>
                <a:effectLst/>
                <a:latin typeface="Cascadia Code" panose="020B0609020000020004" pitchFamily="49" charset="0"/>
              </a:rPr>
              <a:t>((</a:t>
            </a:r>
            <a:r>
              <a:rPr lang="en-US" sz="1600" b="0" dirty="0">
                <a:solidFill>
                  <a:srgbClr val="FFA657"/>
                </a:solidFill>
                <a:effectLst/>
                <a:latin typeface="Cascadia Code" panose="020B0609020000020004" pitchFamily="49" charset="0"/>
              </a:rPr>
              <a:t>m</a:t>
            </a:r>
            <a:r>
              <a:rPr lang="en-US" sz="1600" b="0" dirty="0">
                <a:solidFill>
                  <a:srgbClr val="BBBEBF"/>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BBBEBF"/>
                </a:solidFill>
                <a:effectLst/>
                <a:latin typeface="Cascadia Code" panose="020B0609020000020004" pitchFamily="49" charset="0"/>
              </a:rPr>
              <a:t> </a:t>
            </a:r>
            <a:r>
              <a:rPr lang="en-US" sz="1600" b="0" dirty="0" err="1">
                <a:solidFill>
                  <a:srgbClr val="FFA657"/>
                </a:solidFill>
                <a:effectLst/>
                <a:latin typeface="Cascadia Code" panose="020B0609020000020004" pitchFamily="49" charset="0"/>
              </a:rPr>
              <a:t>m</a:t>
            </a:r>
            <a:r>
              <a:rPr lang="en-US" sz="1600" b="0" dirty="0" err="1">
                <a:solidFill>
                  <a:srgbClr val="BBBEBF"/>
                </a:solidFill>
                <a:effectLst/>
                <a:latin typeface="Cascadia Code" panose="020B0609020000020004" pitchFamily="49" charset="0"/>
              </a:rPr>
              <a:t>.</a:t>
            </a:r>
            <a:r>
              <a:rPr lang="en-US" sz="1600" b="0" dirty="0" err="1">
                <a:solidFill>
                  <a:srgbClr val="C9D1D9"/>
                </a:solidFill>
                <a:effectLst/>
                <a:latin typeface="Cascadia Code" panose="020B0609020000020004" pitchFamily="49" charset="0"/>
              </a:rPr>
              <a:t>loadStrategy</a:t>
            </a:r>
            <a:r>
              <a:rPr lang="en-US" sz="1600" b="0" dirty="0">
                <a:solidFill>
                  <a:srgbClr val="BBBEBF"/>
                </a:solidFill>
                <a:effectLst/>
                <a:latin typeface="Cascadia Code" panose="020B0609020000020004" pitchFamily="49" charset="0"/>
              </a:rPr>
              <a:t> </a:t>
            </a:r>
            <a:r>
              <a:rPr lang="en-US" sz="1600" b="0" dirty="0">
                <a:solidFill>
                  <a:srgbClr val="D4D4D4"/>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a:t>
            </a:r>
            <a:r>
              <a:rPr lang="en-US" sz="1600" b="0" dirty="0">
                <a:solidFill>
                  <a:srgbClr val="A5D6FF"/>
                </a:solidFill>
                <a:effectLst/>
                <a:latin typeface="Cascadia Code" panose="020B0609020000020004" pitchFamily="49" charset="0"/>
              </a:rPr>
              <a:t>"eager"</a:t>
            </a:r>
            <a:r>
              <a:rPr lang="en-US" sz="1600" b="0" dirty="0">
                <a:solidFill>
                  <a:srgbClr val="BBBEBF"/>
                </a:solidFill>
                <a:effectLst/>
                <a:latin typeface="Cascadia Code" panose="020B0609020000020004" pitchFamily="49" charset="0"/>
              </a:rPr>
              <a:t>)) </a:t>
            </a:r>
            <a:r>
              <a:rPr lang="en-US" sz="1600" b="0" dirty="0">
                <a:solidFill>
                  <a:srgbClr val="79C0FF"/>
                </a:solidFill>
                <a:effectLst/>
                <a:latin typeface="Cascadia Code" panose="020B0609020000020004" pitchFamily="49" charset="0"/>
              </a:rPr>
              <a:t>PREFETCHERS</a:t>
            </a:r>
            <a:r>
              <a:rPr lang="en-US" sz="1600" b="0" dirty="0">
                <a:solidFill>
                  <a:srgbClr val="BBBEBF"/>
                </a:solidFill>
                <a:effectLst/>
                <a:latin typeface="Cascadia Code" panose="020B0609020000020004" pitchFamily="49" charset="0"/>
              </a:rPr>
              <a:t>[</a:t>
            </a:r>
            <a:r>
              <a:rPr lang="en-US" sz="1600" b="0" dirty="0">
                <a:solidFill>
                  <a:srgbClr val="79C0FF"/>
                </a:solidFill>
                <a:effectLst/>
                <a:latin typeface="Cascadia Code" panose="020B0609020000020004" pitchFamily="49" charset="0"/>
              </a:rPr>
              <a:t>m</a:t>
            </a:r>
            <a:r>
              <a:rPr lang="en-US" sz="1600" b="0" dirty="0">
                <a:solidFill>
                  <a:srgbClr val="BBBEBF"/>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id</a:t>
            </a:r>
            <a:r>
              <a:rPr lang="en-US" sz="1600" b="0" dirty="0">
                <a:solidFill>
                  <a:srgbClr val="BBBEBF"/>
                </a:solidFill>
                <a:effectLst/>
                <a:latin typeface="Cascadia Code" panose="020B0609020000020004" pitchFamily="49" charset="0"/>
              </a:rPr>
              <a:t>]();</a:t>
            </a:r>
          </a:p>
          <a:p>
            <a:pPr>
              <a:lnSpc>
                <a:spcPct val="150000"/>
              </a:lnSpc>
              <a:buNone/>
            </a:pP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8B949E"/>
                </a:solidFill>
                <a:effectLst/>
                <a:latin typeface="Cascadia Code" panose="020B0609020000020004" pitchFamily="49" charset="0"/>
              </a:rPr>
              <a:t>// HOVER — prefetch on tab hover</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D4D4D4"/>
                </a:solidFill>
                <a:effectLst/>
                <a:latin typeface="Cascadia Code" panose="020B0609020000020004" pitchFamily="49" charset="0"/>
              </a:rPr>
              <a:t>&lt;</a:t>
            </a:r>
            <a:r>
              <a:rPr lang="en-US" sz="1600" b="0" dirty="0" err="1">
                <a:solidFill>
                  <a:srgbClr val="4EC9B0"/>
                </a:solidFill>
                <a:effectLst/>
                <a:latin typeface="Cascadia Code" panose="020B0609020000020004" pitchFamily="49" charset="0"/>
              </a:rPr>
              <a:t>NavLink</a:t>
            </a:r>
            <a:r>
              <a:rPr lang="en-US" sz="1600" b="0" dirty="0">
                <a:solidFill>
                  <a:srgbClr val="BBBEBF"/>
                </a:solidFill>
                <a:effectLst/>
                <a:latin typeface="Cascadia Code" panose="020B0609020000020004" pitchFamily="49" charset="0"/>
              </a:rPr>
              <a:t> </a:t>
            </a:r>
            <a:r>
              <a:rPr lang="en-US" sz="1600" b="0" dirty="0" err="1">
                <a:solidFill>
                  <a:srgbClr val="C9D1D9"/>
                </a:solidFill>
                <a:effectLst/>
                <a:latin typeface="Cascadia Code" panose="020B0609020000020004" pitchFamily="49" charset="0"/>
              </a:rPr>
              <a:t>onMouseEnter</a:t>
            </a:r>
            <a:r>
              <a:rPr lang="en-US" sz="1600" b="0" dirty="0">
                <a:solidFill>
                  <a:srgbClr val="D4D4D4"/>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=&gt; </a:t>
            </a:r>
            <a:r>
              <a:rPr lang="en-US" sz="1600" b="0" dirty="0">
                <a:solidFill>
                  <a:srgbClr val="79C0FF"/>
                </a:solidFill>
                <a:effectLst/>
                <a:latin typeface="Cascadia Code" panose="020B0609020000020004" pitchFamily="49" charset="0"/>
              </a:rPr>
              <a:t>PREFETCHERS</a:t>
            </a:r>
            <a:r>
              <a:rPr lang="en-US" sz="1600" b="0" dirty="0">
                <a:solidFill>
                  <a:srgbClr val="9CDCFE"/>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module</a:t>
            </a:r>
            <a:r>
              <a:rPr lang="en-US" sz="1600" b="0" dirty="0">
                <a:solidFill>
                  <a:srgbClr val="9CDCFE"/>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id</a:t>
            </a:r>
            <a:r>
              <a:rPr lang="en-US" sz="1600" b="0" dirty="0">
                <a:solidFill>
                  <a:srgbClr val="9CDCFE"/>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a:t>
            </a:r>
            <a:r>
              <a:rPr lang="en-US" sz="1600" b="0" dirty="0">
                <a:solidFill>
                  <a:srgbClr val="D4D4D4"/>
                </a:solidFill>
                <a:effectLst/>
                <a:latin typeface="Cascadia Code" panose="020B0609020000020004" pitchFamily="49" charset="0"/>
              </a:rPr>
              <a:t>/&gt;</a:t>
            </a:r>
            <a:endParaRPr lang="en-US" sz="1600" b="0" dirty="0">
              <a:solidFill>
                <a:srgbClr val="BBBEBF"/>
              </a:solidFill>
              <a:effectLst/>
              <a:latin typeface="Cascadia Code" panose="020B0609020000020004" pitchFamily="49" charset="0"/>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71A9CA60-7D30-2150-A7B8-47F46A40441E}"/>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Two-tier preloading: eager on mount, hover on demand</a:t>
            </a:r>
            <a:endParaRPr lang="en-US" sz="3300" dirty="0">
              <a:solidFill>
                <a:schemeClr val="tx1">
                  <a:lumMod val="95000"/>
                  <a:lumOff val="5000"/>
                </a:schemeClr>
              </a:solidFill>
            </a:endParaRPr>
          </a:p>
        </p:txBody>
      </p:sp>
      <p:graphicFrame>
        <p:nvGraphicFramePr>
          <p:cNvPr id="5" name="Table 0">
            <a:extLst>
              <a:ext uri="{FF2B5EF4-FFF2-40B4-BE49-F238E27FC236}">
                <a16:creationId xmlns:a16="http://schemas.microsoft.com/office/drawing/2014/main" id="{48D1E0C3-A9F2-6530-FB9F-3E86D646F9DB}"/>
              </a:ext>
            </a:extLst>
          </p:cNvPr>
          <p:cNvGraphicFramePr>
            <a:graphicFrameLocks noGrp="1"/>
          </p:cNvGraphicFramePr>
          <p:nvPr>
            <p:extLst>
              <p:ext uri="{D42A27DB-BD31-4B8C-83A1-F6EECF244321}">
                <p14:modId xmlns:p14="http://schemas.microsoft.com/office/powerpoint/2010/main" val="180649158"/>
              </p:ext>
            </p:extLst>
          </p:nvPr>
        </p:nvGraphicFramePr>
        <p:xfrm>
          <a:off x="548640" y="2302742"/>
          <a:ext cx="11064240" cy="2252516"/>
        </p:xfrm>
        <a:graphic>
          <a:graphicData uri="http://schemas.openxmlformats.org/drawingml/2006/table">
            <a:tbl>
              <a:tblPr/>
              <a:tblGrid>
                <a:gridCol w="1645920">
                  <a:extLst>
                    <a:ext uri="{9D8B030D-6E8A-4147-A177-3AD203B41FA5}">
                      <a16:colId xmlns:a16="http://schemas.microsoft.com/office/drawing/2014/main" val="20000"/>
                    </a:ext>
                  </a:extLst>
                </a:gridCol>
                <a:gridCol w="576072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41241">
                <a:tc>
                  <a:txBody>
                    <a:bodyPr/>
                    <a:lstStyle/>
                    <a:p>
                      <a:pPr marL="0" indent="0">
                        <a:buNone/>
                      </a:pPr>
                      <a:r>
                        <a:rPr lang="en-US" sz="1400" b="1" kern="0" spc="200" dirty="0">
                          <a:solidFill>
                            <a:srgbClr val="D4FF00"/>
                          </a:solidFill>
                          <a:latin typeface="IBM Plex Mono" pitchFamily="34" charset="0"/>
                          <a:ea typeface="IBM Plex Mono" pitchFamily="34" charset="-122"/>
                          <a:cs typeface="IBM Plex Mono" pitchFamily="34" charset="-120"/>
                        </a:rPr>
                        <a:t>STRATEGY</a:t>
                      </a:r>
                      <a:endParaRPr lang="en-US" sz="14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400" b="1" kern="0" spc="200" dirty="0">
                          <a:solidFill>
                            <a:srgbClr val="D4FF00"/>
                          </a:solidFill>
                          <a:latin typeface="IBM Plex Mono" pitchFamily="34" charset="0"/>
                          <a:ea typeface="IBM Plex Mono" pitchFamily="34" charset="-122"/>
                          <a:cs typeface="IBM Plex Mono" pitchFamily="34" charset="-120"/>
                        </a:rPr>
                        <a:t>WHEN IT LOADS</a:t>
                      </a:r>
                      <a:endParaRPr lang="en-US" sz="14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400" b="1" kern="0" spc="200" dirty="0">
                          <a:solidFill>
                            <a:srgbClr val="D4FF00"/>
                          </a:solidFill>
                          <a:latin typeface="IBM Plex Mono" pitchFamily="34" charset="0"/>
                          <a:ea typeface="IBM Plex Mono" pitchFamily="34" charset="-122"/>
                          <a:cs typeface="IBM Plex Mono" pitchFamily="34" charset="-120"/>
                        </a:rPr>
                        <a:t>EXAMPLE</a:t>
                      </a:r>
                      <a:endParaRPr lang="en-US" sz="14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570425">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Instant</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Chunk fetched lazily, no streaming delay</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Home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570425">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Eager</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Preloaded the moment the shell mounts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Records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570425">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Hover</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Prefetched when the user hovers a tab</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Prescriptions, Analytics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83517879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EF027E61-C1A6-D975-A2F7-55C2DC49228C}"/>
              </a:ext>
            </a:extLst>
          </p:cNvPr>
          <p:cNvSpPr/>
          <p:nvPr/>
        </p:nvSpPr>
        <p:spPr>
          <a:xfrm>
            <a:off x="566801" y="0"/>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Seven things to remember</a:t>
            </a:r>
            <a:endParaRPr lang="en-US" sz="3300" dirty="0">
              <a:solidFill>
                <a:schemeClr val="tx1">
                  <a:lumMod val="95000"/>
                  <a:lumOff val="5000"/>
                </a:schemeClr>
              </a:solidFill>
            </a:endParaRPr>
          </a:p>
        </p:txBody>
      </p:sp>
      <p:sp>
        <p:nvSpPr>
          <p:cNvPr id="5" name="Text 5">
            <a:extLst>
              <a:ext uri="{FF2B5EF4-FFF2-40B4-BE49-F238E27FC236}">
                <a16:creationId xmlns:a16="http://schemas.microsoft.com/office/drawing/2014/main" id="{EFF2B295-89D0-700E-1CD6-1F0E290DD0E1}"/>
              </a:ext>
            </a:extLst>
          </p:cNvPr>
          <p:cNvSpPr/>
          <p:nvPr/>
        </p:nvSpPr>
        <p:spPr>
          <a:xfrm>
            <a:off x="566801" y="777240"/>
            <a:ext cx="11182985" cy="5824728"/>
          </a:xfrm>
          <a:prstGeom prst="rect">
            <a:avLst/>
          </a:prstGeom>
          <a:noFill/>
          <a:ln/>
        </p:spPr>
        <p:txBody>
          <a:bodyPr wrap="square" rtlCol="0" anchor="t"/>
          <a:lstStyle/>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Micro-frontends solve a people problem: team scale, not bundle size</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Suspense fallbacks cover load UX. Module Federation covers team DX</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Prefer events over shared state: CustomEvents survive independent deploys</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Host owns routing: remotes request navigation, only the shell mutates it</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Ship fault isolation on purpose: .catch() + ErrorBoundary per module</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err="1">
                <a:solidFill>
                  <a:schemeClr val="tx1">
                    <a:lumMod val="95000"/>
                    <a:lumOff val="5000"/>
                  </a:schemeClr>
                </a:solidFill>
                <a:latin typeface="DM Sans" pitchFamily="34" charset="0"/>
                <a:ea typeface="DM Sans" pitchFamily="34" charset="-122"/>
                <a:cs typeface="DM Sans" pitchFamily="34" charset="-120"/>
              </a:rPr>
              <a:t>Rspack</a:t>
            </a:r>
            <a:r>
              <a:rPr lang="en-US" sz="2400" dirty="0">
                <a:solidFill>
                  <a:schemeClr val="tx1">
                    <a:lumMod val="95000"/>
                    <a:lumOff val="5000"/>
                  </a:schemeClr>
                </a:solidFill>
                <a:latin typeface="DM Sans" pitchFamily="34" charset="0"/>
                <a:ea typeface="DM Sans" pitchFamily="34" charset="-122"/>
                <a:cs typeface="DM Sans" pitchFamily="34" charset="-120"/>
              </a:rPr>
              <a:t> keeps the monorepo fast: sub-second HMR, Rust React Compiler, cache</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Match load strategy to content: instant / eager / streamed</a:t>
            </a:r>
            <a:endParaRPr lang="en-US" sz="2400" dirty="0">
              <a:solidFill>
                <a:schemeClr val="tx1">
                  <a:lumMod val="95000"/>
                  <a:lumOff val="5000"/>
                </a:schemeClr>
              </a:solidFill>
            </a:endParaRPr>
          </a:p>
        </p:txBody>
      </p:sp>
    </p:spTree>
    <p:extLst>
      <p:ext uri="{BB962C8B-B14F-4D97-AF65-F5344CB8AC3E}">
        <p14:creationId xmlns:p14="http://schemas.microsoft.com/office/powerpoint/2010/main" val="100895474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AC10217-0EAC-9F13-AEFC-6AB11AA41BCD}"/>
              </a:ext>
            </a:extLst>
          </p:cNvPr>
          <p:cNvPicPr>
            <a:picLocks noChangeAspect="1"/>
          </p:cNvPicPr>
          <p:nvPr/>
        </p:nvPicPr>
        <p:blipFill>
          <a:blip r:embed="rId3"/>
          <a:stretch>
            <a:fillRect/>
          </a:stretch>
        </p:blipFill>
        <p:spPr>
          <a:xfrm>
            <a:off x="1" y="138017"/>
            <a:ext cx="12188475" cy="6719090"/>
          </a:xfrm>
          <a:prstGeom prst="rect">
            <a:avLst/>
          </a:prstGeom>
        </p:spPr>
      </p:pic>
    </p:spTree>
    <p:extLst>
      <p:ext uri="{BB962C8B-B14F-4D97-AF65-F5344CB8AC3E}">
        <p14:creationId xmlns:p14="http://schemas.microsoft.com/office/powerpoint/2010/main" val="347024113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1">
            <a:extLst>
              <a:ext uri="{FF2B5EF4-FFF2-40B4-BE49-F238E27FC236}">
                <a16:creationId xmlns:a16="http://schemas.microsoft.com/office/drawing/2014/main" id="{B9B17927-D537-2054-3DCD-46D230E54D61}"/>
              </a:ext>
            </a:extLst>
          </p:cNvPr>
          <p:cNvSpPr/>
          <p:nvPr/>
        </p:nvSpPr>
        <p:spPr>
          <a:xfrm>
            <a:off x="548640" y="2331720"/>
            <a:ext cx="11064240" cy="1280160"/>
          </a:xfrm>
          <a:prstGeom prst="rect">
            <a:avLst/>
          </a:prstGeom>
          <a:noFill/>
          <a:ln/>
        </p:spPr>
        <p:txBody>
          <a:bodyPr wrap="square" rtlCol="0" anchor="ctr"/>
          <a:lstStyle/>
          <a:p>
            <a:pPr marL="0" indent="0">
              <a:buNone/>
            </a:pPr>
            <a:r>
              <a:rPr lang="en-US" sz="6000" i="1" dirty="0">
                <a:solidFill>
                  <a:schemeClr val="tx1">
                    <a:lumMod val="95000"/>
                    <a:lumOff val="5000"/>
                  </a:schemeClr>
                </a:solidFill>
                <a:latin typeface="Instrument Serif" pitchFamily="34" charset="0"/>
                <a:ea typeface="Instrument Serif" pitchFamily="34" charset="-122"/>
                <a:cs typeface="Instrument Serif" pitchFamily="34" charset="-120"/>
              </a:rPr>
              <a:t>Thank you.</a:t>
            </a:r>
            <a:endParaRPr lang="en-US" sz="6000" dirty="0">
              <a:solidFill>
                <a:schemeClr val="tx1">
                  <a:lumMod val="95000"/>
                  <a:lumOff val="5000"/>
                </a:schemeClr>
              </a:solidFill>
            </a:endParaRPr>
          </a:p>
        </p:txBody>
      </p:sp>
      <p:sp>
        <p:nvSpPr>
          <p:cNvPr id="7" name="Text 2">
            <a:extLst>
              <a:ext uri="{FF2B5EF4-FFF2-40B4-BE49-F238E27FC236}">
                <a16:creationId xmlns:a16="http://schemas.microsoft.com/office/drawing/2014/main" id="{74B31B54-B88A-D269-A665-00C530BE9093}"/>
              </a:ext>
            </a:extLst>
          </p:cNvPr>
          <p:cNvSpPr/>
          <p:nvPr/>
        </p:nvSpPr>
        <p:spPr>
          <a:xfrm>
            <a:off x="640080" y="3703320"/>
            <a:ext cx="10972800" cy="457200"/>
          </a:xfrm>
          <a:prstGeom prst="rect">
            <a:avLst/>
          </a:prstGeom>
          <a:noFill/>
          <a:ln/>
        </p:spPr>
        <p:txBody>
          <a:bodyPr wrap="square" rtlCol="0" anchor="ctr"/>
          <a:lstStyle/>
          <a:p>
            <a:pPr marL="0" indent="0">
              <a:buNone/>
            </a:pPr>
            <a:r>
              <a:rPr lang="en-US" sz="2800" dirty="0">
                <a:solidFill>
                  <a:schemeClr val="tx1">
                    <a:lumMod val="95000"/>
                    <a:lumOff val="5000"/>
                  </a:schemeClr>
                </a:solidFill>
                <a:latin typeface="DM Sans" pitchFamily="34" charset="0"/>
                <a:ea typeface="DM Sans" pitchFamily="34" charset="-122"/>
                <a:cs typeface="DM Sans" pitchFamily="34" charset="-120"/>
              </a:rPr>
              <a:t>@DevlinDuldulao</a:t>
            </a:r>
            <a:endParaRPr lang="en-US" sz="2800" dirty="0">
              <a:solidFill>
                <a:schemeClr val="tx1">
                  <a:lumMod val="95000"/>
                  <a:lumOff val="5000"/>
                </a:schemeClr>
              </a:solidFill>
            </a:endParaRPr>
          </a:p>
        </p:txBody>
      </p:sp>
      <p:pic>
        <p:nvPicPr>
          <p:cNvPr id="11" name="Picture 10">
            <a:extLst>
              <a:ext uri="{FF2B5EF4-FFF2-40B4-BE49-F238E27FC236}">
                <a16:creationId xmlns:a16="http://schemas.microsoft.com/office/drawing/2014/main" id="{EE42FC8F-E622-B57A-8D17-21F71B4A521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90945" y="534340"/>
            <a:ext cx="4874920" cy="4874920"/>
          </a:xfrm>
          <a:prstGeom prst="rect">
            <a:avLst/>
          </a:prstGeom>
        </p:spPr>
      </p:pic>
      <p:sp>
        <p:nvSpPr>
          <p:cNvPr id="13" name="Text 3">
            <a:extLst>
              <a:ext uri="{FF2B5EF4-FFF2-40B4-BE49-F238E27FC236}">
                <a16:creationId xmlns:a16="http://schemas.microsoft.com/office/drawing/2014/main" id="{C8E8866F-ACA3-AC4B-2C7F-ED97CBE40635}"/>
              </a:ext>
            </a:extLst>
          </p:cNvPr>
          <p:cNvSpPr/>
          <p:nvPr/>
        </p:nvSpPr>
        <p:spPr>
          <a:xfrm>
            <a:off x="7022465" y="5294960"/>
            <a:ext cx="3611880" cy="228600"/>
          </a:xfrm>
          <a:prstGeom prst="rect">
            <a:avLst/>
          </a:prstGeom>
          <a:noFill/>
          <a:ln/>
        </p:spPr>
        <p:txBody>
          <a:bodyPr wrap="square" rtlCol="0" anchor="ctr"/>
          <a:lstStyle/>
          <a:p>
            <a:pPr marL="0" indent="0" algn="ctr">
              <a:buNone/>
            </a:pPr>
            <a:r>
              <a:rPr lang="en-US" sz="2000" kern="0" spc="100" dirty="0">
                <a:solidFill>
                  <a:schemeClr val="tx1">
                    <a:lumMod val="95000"/>
                    <a:lumOff val="5000"/>
                  </a:schemeClr>
                </a:solidFill>
                <a:latin typeface="Brush Script MT" panose="03060802040406070304" pitchFamily="66" charset="0"/>
                <a:ea typeface="IBM Plex Mono" pitchFamily="34" charset="-122"/>
                <a:cs typeface="IBM Plex Mono" pitchFamily="34" charset="-120"/>
              </a:rPr>
              <a:t>Social links</a:t>
            </a:r>
            <a:endParaRPr lang="en-US" sz="2000" dirty="0">
              <a:solidFill>
                <a:schemeClr val="tx1">
                  <a:lumMod val="95000"/>
                  <a:lumOff val="5000"/>
                </a:schemeClr>
              </a:solidFill>
              <a:latin typeface="Brush Script MT" panose="03060802040406070304" pitchFamily="66" charset="0"/>
            </a:endParaRPr>
          </a:p>
        </p:txBody>
      </p:sp>
    </p:spTree>
    <p:extLst>
      <p:ext uri="{BB962C8B-B14F-4D97-AF65-F5344CB8AC3E}">
        <p14:creationId xmlns:p14="http://schemas.microsoft.com/office/powerpoint/2010/main" val="291726545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48141450-2387-4aca-b41f-19cd6be9dd3c}" enabled="1" method="Standard" siteId="{adf10e2b-b6e9-41d6-be2f-c12bb566019c}" contentBits="0" removed="0"/>
</clbl:labelList>
</file>

<file path=docProps/app.xml><?xml version="1.0" encoding="utf-8"?>
<Properties xmlns="http://schemas.openxmlformats.org/officeDocument/2006/extended-properties" xmlns:vt="http://schemas.openxmlformats.org/officeDocument/2006/docPropsVTypes">
  <TotalTime>1800</TotalTime>
  <Words>4601</Words>
  <Application>Microsoft Office PowerPoint</Application>
  <PresentationFormat>Custom</PresentationFormat>
  <Paragraphs>406</Paragraphs>
  <Slides>44</Slides>
  <Notes>44</Notes>
  <HiddenSlides>18</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44</vt:i4>
      </vt:variant>
    </vt:vector>
  </HeadingPairs>
  <TitlesOfParts>
    <vt:vector size="53" baseType="lpstr">
      <vt:lpstr>Aptos</vt:lpstr>
      <vt:lpstr>Arial</vt:lpstr>
      <vt:lpstr>Brush Script MT</vt:lpstr>
      <vt:lpstr>Cascadia Code</vt:lpstr>
      <vt:lpstr>Cascadia Code NF</vt:lpstr>
      <vt:lpstr>DM Sans</vt:lpstr>
      <vt:lpstr>IBM Plex Mono</vt:lpstr>
      <vt:lpstr>Instrument Serif</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5 Devs to 200 — Micro-Frontends That Scale Your Team and Keep the UI Responsive</dc:title>
  <dc:subject>PptxGenJS Presentation</dc:subject>
  <dc:creator>Module Federation Demo</dc:creator>
  <cp:lastModifiedBy>Duldulao, Devlin (DNV External)</cp:lastModifiedBy>
  <cp:revision>228</cp:revision>
  <dcterms:created xsi:type="dcterms:W3CDTF">2026-07-26T17:49:56Z</dcterms:created>
  <dcterms:modified xsi:type="dcterms:W3CDTF">2026-08-30T21:03:09Z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ocumentInfoFinished">
    <vt:lpwstr>True</vt:lpwstr>
  </property>
</Properties>
</file>