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Override PartName="/docMetadata/LabelInfo.xml" ContentType="application/vnd.ms-office.classificationlabel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5" Type="http://schemas.microsoft.com/office/2020/02/relationships/classificationlabels" Target="docMetadata/LabelInfo.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54"/>
  </p:notesMasterIdLst>
  <p:sldIdLst>
    <p:sldId id="298" r:id="rId2"/>
    <p:sldId id="301" r:id="rId3"/>
    <p:sldId id="300" r:id="rId4"/>
    <p:sldId id="313" r:id="rId5"/>
    <p:sldId id="312" r:id="rId6"/>
    <p:sldId id="299" r:id="rId7"/>
    <p:sldId id="314" r:id="rId8"/>
    <p:sldId id="311" r:id="rId9"/>
    <p:sldId id="315" r:id="rId10"/>
    <p:sldId id="317" r:id="rId11"/>
    <p:sldId id="316" r:id="rId12"/>
    <p:sldId id="318" r:id="rId13"/>
    <p:sldId id="276" r:id="rId14"/>
    <p:sldId id="319" r:id="rId15"/>
    <p:sldId id="279" r:id="rId16"/>
    <p:sldId id="320" r:id="rId17"/>
    <p:sldId id="278" r:id="rId18"/>
    <p:sldId id="259" r:id="rId19"/>
    <p:sldId id="280" r:id="rId20"/>
    <p:sldId id="260" r:id="rId21"/>
    <p:sldId id="281" r:id="rId22"/>
    <p:sldId id="282" r:id="rId23"/>
    <p:sldId id="261" r:id="rId24"/>
    <p:sldId id="283" r:id="rId25"/>
    <p:sldId id="284" r:id="rId26"/>
    <p:sldId id="262" r:id="rId27"/>
    <p:sldId id="285" r:id="rId28"/>
    <p:sldId id="294" r:id="rId29"/>
    <p:sldId id="263" r:id="rId30"/>
    <p:sldId id="286" r:id="rId31"/>
    <p:sldId id="295" r:id="rId32"/>
    <p:sldId id="264" r:id="rId33"/>
    <p:sldId id="287" r:id="rId34"/>
    <p:sldId id="265" r:id="rId35"/>
    <p:sldId id="288" r:id="rId36"/>
    <p:sldId id="289" r:id="rId37"/>
    <p:sldId id="266" r:id="rId38"/>
    <p:sldId id="290" r:id="rId39"/>
    <p:sldId id="291" r:id="rId40"/>
    <p:sldId id="267" r:id="rId41"/>
    <p:sldId id="296" r:id="rId42"/>
    <p:sldId id="297" r:id="rId43"/>
    <p:sldId id="268" r:id="rId44"/>
    <p:sldId id="292" r:id="rId45"/>
    <p:sldId id="269" r:id="rId46"/>
    <p:sldId id="293" r:id="rId47"/>
    <p:sldId id="271" r:id="rId48"/>
    <p:sldId id="272" r:id="rId49"/>
    <p:sldId id="273" r:id="rId50"/>
    <p:sldId id="310" r:id="rId51"/>
    <p:sldId id="274" r:id="rId52"/>
    <p:sldId id="275" r:id="rId53"/>
  </p:sldIdLst>
  <p:sldSz cx="12188825" cy="6858000"/>
  <p:notesSz cx="6858000" cy="1218882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8286" autoAdjust="0"/>
    <p:restoredTop sz="70370" autoAdjust="0"/>
  </p:normalViewPr>
  <p:slideViewPr>
    <p:cSldViewPr snapToGrid="0" snapToObjects="1">
      <p:cViewPr varScale="1">
        <p:scale>
          <a:sx n="44" d="100"/>
          <a:sy n="44" d="100"/>
        </p:scale>
        <p:origin x="1396" y="44"/>
      </p:cViewPr>
      <p:guideLst/>
    </p:cSldViewPr>
  </p:slideViewPr>
  <p:notesTextViewPr>
    <p:cViewPr>
      <p:scale>
        <a:sx n="125" d="100"/>
        <a:sy n="125"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presProps" Target="presProp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230111162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71889847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2968103838"/>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endParaRPr lang="en-GB" dirty="0"/>
          </a:p>
        </p:txBody>
      </p:sp>
    </p:spTree>
    <p:extLst>
      <p:ext uri="{BB962C8B-B14F-4D97-AF65-F5344CB8AC3E}">
        <p14:creationId xmlns:p14="http://schemas.microsoft.com/office/powerpoint/2010/main" val="38420750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Here's the first. </a:t>
            </a:r>
            <a:endParaRPr lang="en-GB" dirty="0"/>
          </a:p>
        </p:txBody>
      </p:sp>
    </p:spTree>
    <p:extLst>
      <p:ext uri="{BB962C8B-B14F-4D97-AF65-F5344CB8AC3E}">
        <p14:creationId xmlns:p14="http://schemas.microsoft.com/office/powerpoint/2010/main" val="249890947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The distinction that matters is between </a:t>
            </a:r>
            <a:r>
              <a:rPr lang="en-US" i="1" dirty="0"/>
              <a:t>build</a:t>
            </a:r>
            <a:r>
              <a:rPr lang="en-US" dirty="0"/>
              <a:t> coupling and </a:t>
            </a:r>
            <a:r>
              <a:rPr lang="en-US" i="1" dirty="0"/>
              <a:t>deploy</a:t>
            </a:r>
            <a:r>
              <a:rPr lang="en-US" dirty="0"/>
              <a:t> coupling — teams can share a repo happily, but sharing a release train means one team's red build becomes everyone's problem.</a:t>
            </a:r>
            <a:endParaRPr lang="en-GB" dirty="0"/>
          </a:p>
        </p:txBody>
      </p:sp>
    </p:spTree>
    <p:extLst>
      <p:ext uri="{BB962C8B-B14F-4D97-AF65-F5344CB8AC3E}">
        <p14:creationId xmlns:p14="http://schemas.microsoft.com/office/powerpoint/2010/main" val="2823272529"/>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8480B2-0347-0147-6484-CB7C0C98DF2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378B400-BACB-AE2D-62B3-0672518FE268}"/>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E6A56066-4C22-F547-B213-2B9B212608B3}"/>
              </a:ext>
            </a:extLst>
          </p:cNvPr>
          <p:cNvSpPr>
            <a:spLocks noGrp="1"/>
          </p:cNvSpPr>
          <p:nvPr>
            <p:ph type="body" idx="1"/>
          </p:nvPr>
        </p:nvSpPr>
        <p:spPr>
          <a:xfrm>
            <a:off x="685800" y="5865813"/>
            <a:ext cx="5486400" cy="4799012"/>
          </a:xfrm>
          <a:prstGeom prst="rect">
            <a:avLst/>
          </a:prstGeom>
        </p:spPr>
        <p:txBody>
          <a:bodyPr/>
          <a:lstStyle/>
          <a:p>
            <a:r>
              <a:rPr lang="en-US" dirty="0"/>
              <a:t>Second reason</a:t>
            </a:r>
            <a:endParaRPr lang="en-GB" dirty="0"/>
          </a:p>
        </p:txBody>
      </p:sp>
    </p:spTree>
    <p:extLst>
      <p:ext uri="{BB962C8B-B14F-4D97-AF65-F5344CB8AC3E}">
        <p14:creationId xmlns:p14="http://schemas.microsoft.com/office/powerpoint/2010/main" val="102597591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subtler because the failure is gradual. Nobody decides to violate a boundary; someone is just on a deadline and reaches across, and the import survives review because it looks like every other import. Deploy boundaries make that reach physically visible.</a:t>
            </a:r>
            <a:endParaRPr lang="en-GB" dirty="0"/>
          </a:p>
        </p:txBody>
      </p:sp>
    </p:spTree>
    <p:extLst>
      <p:ext uri="{BB962C8B-B14F-4D97-AF65-F5344CB8AC3E}">
        <p14:creationId xmlns:p14="http://schemas.microsoft.com/office/powerpoint/2010/main" val="38896813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0A92F6-6578-1D28-7844-337ACD0A370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8FDA50D-8E9C-8787-3767-F6A995568A93}"/>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69EA5E55-6DC6-A1B1-0CE4-0AA4473B1AAC}"/>
              </a:ext>
            </a:extLst>
          </p:cNvPr>
          <p:cNvSpPr>
            <a:spLocks noGrp="1"/>
          </p:cNvSpPr>
          <p:nvPr>
            <p:ph type="body" idx="1"/>
          </p:nvPr>
        </p:nvSpPr>
        <p:spPr>
          <a:xfrm>
            <a:off x="685800" y="5865813"/>
            <a:ext cx="5486400" cy="4799012"/>
          </a:xfrm>
          <a:prstGeom prst="rect">
            <a:avLst/>
          </a:prstGeom>
        </p:spPr>
        <p:txBody>
          <a:bodyPr/>
          <a:lstStyle/>
          <a:p>
            <a:r>
              <a:rPr lang="en-US" dirty="0"/>
              <a:t>Third reason</a:t>
            </a:r>
            <a:endParaRPr lang="en-GB" dirty="0"/>
          </a:p>
        </p:txBody>
      </p:sp>
    </p:spTree>
    <p:extLst>
      <p:ext uri="{BB962C8B-B14F-4D97-AF65-F5344CB8AC3E}">
        <p14:creationId xmlns:p14="http://schemas.microsoft.com/office/powerpoint/2010/main" val="56018857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people underrate. It isn't about total lines of code — it's about how much of the system a person must hold in their head before they can safely change one line of it.</a:t>
            </a:r>
            <a:endParaRPr lang="en-GB" dirty="0"/>
          </a:p>
        </p:txBody>
      </p:sp>
    </p:spTree>
    <p:extLst>
      <p:ext uri="{BB962C8B-B14F-4D97-AF65-F5344CB8AC3E}">
        <p14:creationId xmlns:p14="http://schemas.microsoft.com/office/powerpoint/2010/main" val="327819991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D9F887-00EC-F6D6-6E74-7210AAE8D71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C64D492-9C48-B97E-9725-E950E22EAA19}"/>
              </a:ext>
            </a:extLst>
          </p:cNvPr>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a:extLst>
              <a:ext uri="{FF2B5EF4-FFF2-40B4-BE49-F238E27FC236}">
                <a16:creationId xmlns:a16="http://schemas.microsoft.com/office/drawing/2014/main" id="{A5FFBA45-FE90-16C8-2B3F-345A708DB695}"/>
              </a:ext>
            </a:extLst>
          </p:cNvPr>
          <p:cNvSpPr>
            <a:spLocks noGrp="1"/>
          </p:cNvSpPr>
          <p:nvPr>
            <p:ph type="body" idx="1"/>
          </p:nvPr>
        </p:nvSpPr>
        <p:spPr>
          <a:xfrm>
            <a:off x="685800" y="5865813"/>
            <a:ext cx="5486400" cy="4799012"/>
          </a:xfrm>
          <a:prstGeom prst="rect">
            <a:avLst/>
          </a:prstGeom>
        </p:spPr>
        <p:txBody>
          <a:bodyPr/>
          <a:lstStyle/>
          <a:p>
            <a:r>
              <a:rPr lang="en-US" dirty="0"/>
              <a:t>Last, but not the least. This is actually my first experience in micro-frontend when we were removing little pieces of Angular version 1, which is plain JavaScript, to the latest version of Angular.</a:t>
            </a:r>
            <a:endParaRPr lang="en-GB" dirty="0"/>
          </a:p>
        </p:txBody>
      </p:sp>
    </p:spTree>
    <p:extLst>
      <p:ext uri="{BB962C8B-B14F-4D97-AF65-F5344CB8AC3E}">
        <p14:creationId xmlns:p14="http://schemas.microsoft.com/office/powerpoint/2010/main" val="3529675833"/>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This is the one that stands on its own even when the others don't apply. The key detail is that both stacks serve real traffic the entire time, which is what makes it reversible.</a:t>
            </a:r>
            <a:endParaRPr lang="en-GB" dirty="0"/>
          </a:p>
        </p:txBody>
      </p:sp>
    </p:spTree>
    <p:extLst>
      <p:ext uri="{BB962C8B-B14F-4D97-AF65-F5344CB8AC3E}">
        <p14:creationId xmlns:p14="http://schemas.microsoft.com/office/powerpoint/2010/main" val="3631577675"/>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6264C9-CBBA-A379-0F18-AC511CA5219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1400835-96D6-34E4-242C-D4E1576F850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14C2021-8BA1-759E-7582-FC72580C7018}"/>
              </a:ext>
            </a:extLst>
          </p:cNvPr>
          <p:cNvSpPr>
            <a:spLocks noGrp="1"/>
          </p:cNvSpPr>
          <p:nvPr>
            <p:ph type="body" idx="1"/>
          </p:nvPr>
        </p:nvSpPr>
        <p:spPr/>
        <p:txBody>
          <a:bodyPr/>
          <a:lstStyle/>
          <a:p>
            <a:r>
              <a:rPr lang="en-US" dirty="0"/>
              <a:t>This is a diagram of the demo app. It is a running healthcare shell. </a:t>
            </a:r>
          </a:p>
          <a:p>
            <a:r>
              <a:rPr lang="en-US" dirty="0"/>
              <a:t>The host is on port 3000. Home is on 3004 and loads instantly. </a:t>
            </a:r>
          </a:p>
          <a:p>
            <a:r>
              <a:rPr lang="en-US" dirty="0"/>
              <a:t>Records is on 3001 and is eagerly preloaded. </a:t>
            </a:r>
          </a:p>
          <a:p>
            <a:r>
              <a:rPr lang="en-US" dirty="0"/>
              <a:t>Prescriptions is on 3002 and streams on demand. </a:t>
            </a:r>
          </a:p>
          <a:p>
            <a:r>
              <a:rPr lang="en-US" dirty="0"/>
              <a:t>Analytics is on 3003 and does the same.</a:t>
            </a:r>
          </a:p>
          <a:p>
            <a:endParaRPr lang="en-US" dirty="0"/>
          </a:p>
          <a:p>
            <a:r>
              <a:rPr lang="en-US" dirty="0"/>
              <a:t>Five independent React apps. Each has its own bundler config, its own dev server, and its own test suite. They compose at runtime through Module Federation. React 19. </a:t>
            </a:r>
            <a:r>
              <a:rPr lang="en-US" dirty="0" err="1"/>
              <a:t>Rspack</a:t>
            </a:r>
            <a:r>
              <a:rPr lang="en-US" dirty="0"/>
              <a:t> 2.1. TypeScript 7. Tailwind CSS v4. You can clone this after the talk and run it.</a:t>
            </a:r>
          </a:p>
          <a:p>
            <a:endParaRPr lang="en-US" dirty="0"/>
          </a:p>
          <a:p>
            <a:r>
              <a:rPr lang="en-US" dirty="0"/>
              <a:t>Two promises. Module Federation gives growing teams better developer experience. Suspense fallbacks give visitors better user experience. We are going to prove both, live, in the same architecture.</a:t>
            </a:r>
          </a:p>
          <a:p>
            <a:endParaRPr lang="en-US" dirty="0"/>
          </a:p>
        </p:txBody>
      </p:sp>
      <p:sp>
        <p:nvSpPr>
          <p:cNvPr id="4" name="Slide Number Placeholder 3">
            <a:extLst>
              <a:ext uri="{FF2B5EF4-FFF2-40B4-BE49-F238E27FC236}">
                <a16:creationId xmlns:a16="http://schemas.microsoft.com/office/drawing/2014/main" id="{BF5BDD75-7889-D9B0-B939-E9B065792DC3}"/>
              </a:ext>
            </a:extLst>
          </p:cNvPr>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84827231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Module Federation is for developers and teams. Independent builds. Independent deploys. Onboarding that actually scales.</a:t>
            </a:r>
          </a:p>
          <a:p>
            <a:r>
              <a:rPr lang="en-US" dirty="0"/>
              <a:t>Suspense and skeletons are for end users. Instant perceived load. No blank screens at runtime.</a:t>
            </a:r>
          </a:p>
          <a:p>
            <a:endParaRPr lang="en-GB" dirty="0"/>
          </a:p>
        </p:txBody>
      </p:sp>
    </p:spTree>
    <p:extLst>
      <p:ext uri="{BB962C8B-B14F-4D97-AF65-F5344CB8AC3E}">
        <p14:creationId xmlns:p14="http://schemas.microsoft.com/office/powerpoint/2010/main" val="44711520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FAD1B04-4E78-C9F9-56EF-5D9FE742647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76A9942-CB06-4B60-71A3-7C5D8195BFD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8E096CB-B466-F273-E12D-531262EBFCBA}"/>
              </a:ext>
            </a:extLst>
          </p:cNvPr>
          <p:cNvSpPr>
            <a:spLocks noGrp="1"/>
          </p:cNvSpPr>
          <p:nvPr>
            <p:ph type="body" idx="1"/>
          </p:nvPr>
        </p:nvSpPr>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Each remote owns its own loading choreography.</a:t>
            </a:r>
          </a:p>
        </p:txBody>
      </p:sp>
      <p:sp>
        <p:nvSpPr>
          <p:cNvPr id="4" name="Slide Number Placeholder 3">
            <a:extLst>
              <a:ext uri="{FF2B5EF4-FFF2-40B4-BE49-F238E27FC236}">
                <a16:creationId xmlns:a16="http://schemas.microsoft.com/office/drawing/2014/main" id="{E9996F37-0157-CA8B-7614-4AAEB204C783}"/>
              </a:ext>
            </a:extLst>
          </p:cNvPr>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3984704725"/>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5425" y="1524000"/>
            <a:ext cx="7308850" cy="4113213"/>
          </a:xfrm>
          <a:prstGeom prst="rect">
            <a:avLst/>
          </a:prstGeom>
          <a:noFill/>
          <a:ln w="12700">
            <a:solidFill>
              <a:prstClr val="black"/>
            </a:solidFill>
          </a:ln>
        </p:spPr>
      </p:sp>
      <p:sp>
        <p:nvSpPr>
          <p:cNvPr id="3" name="Notes Placeholder 2"/>
          <p:cNvSpPr>
            <a:spLocks noGrp="1"/>
          </p:cNvSpPr>
          <p:nvPr>
            <p:ph type="body" idx="1"/>
          </p:nvPr>
        </p:nvSpPr>
        <p:spPr>
          <a:xfrm>
            <a:off x="685800" y="5865813"/>
            <a:ext cx="5486400" cy="4799012"/>
          </a:xfrm>
          <a:prstGeom prst="rect">
            <a:avLst/>
          </a:prstGeom>
        </p:spPr>
        <p:txBody>
          <a:bodyPr/>
          <a:lstStyle/>
          <a:p>
            <a:r>
              <a:rPr lang="en-US" dirty="0"/>
              <a:t>You can have one without the other. Plenty of teams do. You can federate four remotes and still show a blank screen and a spinner every time someone clicks a tab. That is slow user experience even when team ownership is solid.</a:t>
            </a:r>
          </a:p>
          <a:p>
            <a:r>
              <a:rPr lang="en-US" dirty="0"/>
              <a:t>With Suspense, the user clicks a tab, a skeleton appears immediately, and the content resolves when it is ready. </a:t>
            </a:r>
            <a:r>
              <a:rPr lang="en-US"/>
              <a:t>Each remote owns its own loading choreography.</a:t>
            </a:r>
          </a:p>
          <a:p>
            <a:endParaRPr lang="en-GB"/>
          </a:p>
        </p:txBody>
      </p:sp>
    </p:spTree>
    <p:extLst>
      <p:ext uri="{BB962C8B-B14F-4D97-AF65-F5344CB8AC3E}">
        <p14:creationId xmlns:p14="http://schemas.microsoft.com/office/powerpoint/2010/main" val="267209346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78DE58-641F-D4EF-F92D-164F381DE5B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8096E71-A24C-FF67-2D84-360E52BD6D12}"/>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14D38B-BEEB-60F0-E344-FBC8643D3C67}"/>
              </a:ext>
            </a:extLst>
          </p:cNvPr>
          <p:cNvSpPr>
            <a:spLocks noGrp="1"/>
          </p:cNvSpPr>
          <p:nvPr>
            <p:ph type="body" idx="1"/>
          </p:nvPr>
        </p:nvSpPr>
        <p:spPr/>
        <p:txBody>
          <a:bodyPr/>
          <a:lstStyle/>
          <a:p>
            <a:r>
              <a:rPr lang="en-US"/>
              <a:t>The </a:t>
            </a:r>
            <a:r>
              <a:rPr lang="en-US" dirty="0"/>
              <a:t>shell does not know how long a remote takes to load. It renders Suspense and moves on.</a:t>
            </a:r>
          </a:p>
          <a:p>
            <a:r>
              <a:rPr lang="en-US" dirty="0"/>
              <a:t>The shell owns composition. The remote owns how long it takes to become ready. No isLoading props leak across module boundaries.</a:t>
            </a:r>
          </a:p>
          <a:p>
            <a:r>
              <a:rPr lang="en-US" dirty="0"/>
              <a:t>Module Federation scales the team. Suspense scales the loading experience. This demo runs both in the same architecture.</a:t>
            </a:r>
          </a:p>
        </p:txBody>
      </p:sp>
      <p:sp>
        <p:nvSpPr>
          <p:cNvPr id="4" name="Slide Number Placeholder 3">
            <a:extLst>
              <a:ext uri="{FF2B5EF4-FFF2-40B4-BE49-F238E27FC236}">
                <a16:creationId xmlns:a16="http://schemas.microsoft.com/office/drawing/2014/main" id="{9D53B53F-8B64-3E61-0BA7-B058A4E21B84}"/>
              </a:ext>
            </a:extLst>
          </p:cNvPr>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3294149759"/>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shape of the app. One shell on port 3000. It owns navigation, the router, the theme, and a status strip that reads Instant, Eager, or Streaming.</a:t>
            </a:r>
          </a:p>
          <a:p>
            <a:r>
              <a:rPr lang="en-US" dirty="0"/>
              <a:t>Every remote is wrapped the same way. An error boundary. Then Suspense with a skeleton fallback. Then the remote module itself.</a:t>
            </a:r>
          </a:p>
          <a:p>
            <a:r>
              <a:rPr lang="en-US" dirty="0"/>
              <a:t>Four remotes hang off that shell. Home on 3004, instant. Records on 3001, eager. Prescriptions on 3002, streamed. Analytics on 3003, streamed. Not every module should load the same way. Content priority decides the strategy.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713A3E-C7F0-2233-B733-B9ACB80A9FD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350BB0-F555-3C5C-7A20-CDC6D394590F}"/>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C6C95943-B99B-FC07-1724-6715F76BD103}"/>
              </a:ext>
            </a:extLst>
          </p:cNvPr>
          <p:cNvSpPr>
            <a:spLocks noGrp="1"/>
          </p:cNvSpPr>
          <p:nvPr>
            <p:ph type="body" idx="1"/>
          </p:nvPr>
        </p:nvSpPr>
        <p:spPr/>
        <p:txBody>
          <a:bodyPr/>
          <a:lstStyle/>
          <a:p>
            <a:r>
              <a:rPr lang="en-US" dirty="0"/>
              <a:t>Home is the landing page. It is lazy for code splitting, with no artificial delay. It renders the moment the chunk arrives. The status strip says Instant.</a:t>
            </a:r>
          </a:p>
          <a:p>
            <a:r>
              <a:rPr lang="en-US" dirty="0"/>
              <a:t>Records is high-value content. It is preloaded the moment the shell mounts. By the time the user clicks, it is already cached. The status strip says Eager.</a:t>
            </a:r>
          </a:p>
          <a:p>
            <a:r>
              <a:rPr lang="en-US" dirty="0"/>
              <a:t>Prescriptions and Analytics are secondary. They load on demand. The user sees a purpose-built skeleton while the module resolves. The status strip says Streaming.</a:t>
            </a:r>
          </a:p>
          <a:p>
            <a:r>
              <a:rPr lang="en-US" dirty="0"/>
              <a:t>When we get to the live demo, watch that status strip. It is the scoreboard for this architecture.</a:t>
            </a:r>
          </a:p>
        </p:txBody>
      </p:sp>
      <p:sp>
        <p:nvSpPr>
          <p:cNvPr id="4" name="Slide Number Placeholder 3">
            <a:extLst>
              <a:ext uri="{FF2B5EF4-FFF2-40B4-BE49-F238E27FC236}">
                <a16:creationId xmlns:a16="http://schemas.microsoft.com/office/drawing/2014/main" id="{887DEF23-3DA2-7779-D0F9-38259F856850}"/>
              </a:ext>
            </a:extLst>
          </p:cNvPr>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55760448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module in this repo is a standalone app. Open one package folder. Run pnpm install and pnpm run dev. You have a working React app with hot module replacement. No shell. No other remotes.</a:t>
            </a:r>
          </a:p>
          <a:p>
            <a:r>
              <a:rPr lang="en-US" dirty="0"/>
              <a:t>The stack is React 19.2, because Suspense fallbacks are built into the runtime. Rspack 2.1, because Module Federation is native, the React Compiler runs in Rust, and hot reload is sub-second. TypeScript 7 in strict mode, so the event contracts are typed. Tailwind v4 for theme tokens. Vitest 4.1 for component tests.</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2274E12-9E8D-AFB5-3041-D4CE3F6A61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1BB1D06-B6BA-E8F9-8521-8BC0BE9DE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DFC480-5001-6921-742A-B8CE57747570}"/>
              </a:ext>
            </a:extLst>
          </p:cNvPr>
          <p:cNvSpPr>
            <a:spLocks noGrp="1"/>
          </p:cNvSpPr>
          <p:nvPr>
            <p:ph type="body" idx="1"/>
          </p:nvPr>
        </p:nvSpPr>
        <p:spPr/>
        <p:txBody>
          <a:bodyPr/>
          <a:lstStyle/>
          <a:p>
            <a:r>
              <a:rPr lang="en-US" dirty="0"/>
              <a:t>There is one trick that makes standalone mode possible. The entire entry file of every module is one line: import bootstrap. </a:t>
            </a:r>
          </a:p>
        </p:txBody>
      </p:sp>
      <p:sp>
        <p:nvSpPr>
          <p:cNvPr id="4" name="Slide Number Placeholder 3">
            <a:extLst>
              <a:ext uri="{FF2B5EF4-FFF2-40B4-BE49-F238E27FC236}">
                <a16:creationId xmlns:a16="http://schemas.microsoft.com/office/drawing/2014/main" id="{B988A9D4-A6F8-268D-8EA4-5DB05D5E7B79}"/>
              </a:ext>
            </a:extLst>
          </p:cNvPr>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91017187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136AC3-6EF3-7107-D76D-63DD64E263E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31433DC-A735-7F16-61AA-6F23B022A745}"/>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2C706371-E97C-24F1-680A-BB10D527C906}"/>
              </a:ext>
            </a:extLst>
          </p:cNvPr>
          <p:cNvSpPr>
            <a:spLocks noGrp="1"/>
          </p:cNvSpPr>
          <p:nvPr>
            <p:ph type="body" idx="1"/>
          </p:nvPr>
        </p:nvSpPr>
        <p:spPr/>
        <p:txBody>
          <a:bodyPr/>
          <a:lstStyle/>
          <a:p>
            <a:r>
              <a:rPr lang="en-US" dirty="0"/>
              <a:t>That dynamic import is an async boundary.</a:t>
            </a:r>
          </a:p>
          <a:p>
            <a:r>
              <a:rPr lang="en-US" dirty="0"/>
              <a:t>Module Federation shares React with eager set to false. Shared React has to be negotiated before any React code runs. Import React synchronously in the entry file and you get a white screen and a loadShareSync error.</a:t>
            </a:r>
          </a:p>
          <a:p>
            <a:r>
              <a:rPr lang="en-US" dirty="0"/>
              <a:t>With the bootstrap split, Module Federation finishes the handshake, then bootstrap renders. All five packages use this pattern. Do not remove it.</a:t>
            </a:r>
          </a:p>
        </p:txBody>
      </p:sp>
      <p:sp>
        <p:nvSpPr>
          <p:cNvPr id="4" name="Slide Number Placeholder 3">
            <a:extLst>
              <a:ext uri="{FF2B5EF4-FFF2-40B4-BE49-F238E27FC236}">
                <a16:creationId xmlns:a16="http://schemas.microsoft.com/office/drawing/2014/main" id="{3D4262D7-F1FB-BF43-C3BD-EB90E311C904}"/>
              </a:ext>
            </a:extLst>
          </p:cNvPr>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94457964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DF27352-62A6-3D30-235F-DEF05E76ADB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26BE2BF-F444-EE59-A848-9CDF6B7084B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B09170A9-22A8-3819-594D-A62521FD6FE6}"/>
              </a:ext>
            </a:extLst>
          </p:cNvPr>
          <p:cNvSpPr>
            <a:spLocks noGrp="1"/>
          </p:cNvSpPr>
          <p:nvPr>
            <p:ph type="body" idx="1"/>
          </p:nvPr>
        </p:nvSpPr>
        <p:spPr/>
        <p:txBody>
          <a:bodyPr/>
          <a:lstStyle/>
          <a:p>
            <a:r>
              <a:rPr lang="en-US" dirty="0"/>
              <a:t>Everything else in the Rspack config is a normal bundler config. Entry. Rules. Dev server. Optimization. You would write the same file for a single React app.</a:t>
            </a:r>
          </a:p>
          <a:p>
            <a:r>
              <a:rPr lang="en-US" dirty="0"/>
              <a:t>The one plugin that turns five unrelated apps into a federated architecture is Module Federation Plugin. Three properties do all the work.</a:t>
            </a:r>
          </a:p>
          <a:p>
            <a:r>
              <a:rPr lang="en-US" dirty="0"/>
              <a:t>Exposes lives on remotes. It is the team's public API. Records exposes Medical Records. That is the contract other apps are allowed to import.</a:t>
            </a:r>
          </a:p>
        </p:txBody>
      </p:sp>
      <p:sp>
        <p:nvSpPr>
          <p:cNvPr id="4" name="Slide Number Placeholder 3">
            <a:extLst>
              <a:ext uri="{FF2B5EF4-FFF2-40B4-BE49-F238E27FC236}">
                <a16:creationId xmlns:a16="http://schemas.microsoft.com/office/drawing/2014/main" id="{FA70525B-D3B6-E14A-F089-2399DD061F3A}"/>
              </a:ext>
            </a:extLst>
          </p:cNvPr>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97393480"/>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15E2713-F49A-FD71-10C7-47A9752BE38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93EFE41-3650-0E71-3E18-DB581D3F1F69}"/>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E00856A-6BA5-44D9-C6FF-82B3AF58BDA4}"/>
              </a:ext>
            </a:extLst>
          </p:cNvPr>
          <p:cNvSpPr>
            <a:spLocks noGrp="1"/>
          </p:cNvSpPr>
          <p:nvPr>
            <p:ph type="body" idx="1"/>
          </p:nvPr>
        </p:nvSpPr>
        <p:spPr/>
        <p:txBody>
          <a:bodyPr/>
          <a:lstStyle/>
          <a:p>
            <a:r>
              <a:rPr lang="en-US" dirty="0"/>
              <a:t>Remotes lives on the host. It is runtime discovery. A scope name, an at sign, and a URL to remoteEntry.js. The shell does not build Records. It finds Records at runtime on port 3001.</a:t>
            </a:r>
          </a:p>
          <a:p>
            <a:r>
              <a:rPr lang="en-US" dirty="0"/>
              <a:t>Shared lives on both sides. Singleton true means one React for everyone. Remove that, and you get invalid hook call errors, because each remote loads its own React.</a:t>
            </a:r>
          </a:p>
          <a:p>
            <a:r>
              <a:rPr lang="en-US" dirty="0"/>
              <a:t>Remove the plugin and you have five normal, unrelated apps. Add it back and they become a micro-frontend architecture. That is the entire infrastructure story.</a:t>
            </a:r>
          </a:p>
        </p:txBody>
      </p:sp>
      <p:sp>
        <p:nvSpPr>
          <p:cNvPr id="4" name="Slide Number Placeholder 3">
            <a:extLst>
              <a:ext uri="{FF2B5EF4-FFF2-40B4-BE49-F238E27FC236}">
                <a16:creationId xmlns:a16="http://schemas.microsoft.com/office/drawing/2014/main" id="{7A820ED3-3B4A-E649-B627-307736353FA6}"/>
              </a:ext>
            </a:extLst>
          </p:cNvPr>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34322176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how a client-side Suspense fallback works inside a federated remote.</a:t>
            </a:r>
          </a:p>
          <a:p>
            <a:r>
              <a:rPr lang="en-US" dirty="0"/>
              <a:t>Create resource takes an async function. It starts the promise immediately. Then it returns an object with one method, named read. Read is synchronous on purpose. If the promise is still pending, read throws that promise. Suspense in the shell catches the throw and shows the skeleton. If it failed, the error boundary catches it. If it succeeded, read returns the result.</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8C6E8F-68F2-7DE6-8A16-F1660960A6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2AB30D-70F0-E61A-5B1F-331B266C563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E368599-2723-988B-D373-F40624E3A1CE}"/>
              </a:ext>
            </a:extLst>
          </p:cNvPr>
          <p:cNvSpPr>
            <a:spLocks noGrp="1"/>
          </p:cNvSpPr>
          <p:nvPr>
            <p:ph type="body" idx="1"/>
          </p:nvPr>
        </p:nvSpPr>
        <p:spPr/>
        <p:txBody>
          <a:bodyPr/>
          <a:lstStyle/>
          <a:p>
            <a:r>
              <a:rPr lang="en-US" dirty="0"/>
              <a:t>The streaming wrapper is tiny. Get the cached resource. Call read. Render the real component. The wrapper's only job is to trigger Suspense. The actual UI lives in the standalone component.</a:t>
            </a:r>
          </a:p>
        </p:txBody>
      </p:sp>
      <p:sp>
        <p:nvSpPr>
          <p:cNvPr id="4" name="Slide Number Placeholder 3">
            <a:extLst>
              <a:ext uri="{FF2B5EF4-FFF2-40B4-BE49-F238E27FC236}">
                <a16:creationId xmlns:a16="http://schemas.microsoft.com/office/drawing/2014/main" id="{01FCE381-4F52-4DC6-711F-88510CB09BD6}"/>
              </a:ext>
            </a:extLst>
          </p:cNvPr>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4075274772"/>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9E7D766-93F4-424B-6020-F4DD1CBDF43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650B8E0-7731-AD9A-DA66-E53B8CC7F0D8}"/>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C78FBD5-15B8-7FF6-E848-D324DE6EBF8B}"/>
              </a:ext>
            </a:extLst>
          </p:cNvPr>
          <p:cNvSpPr>
            <a:spLocks noGrp="1"/>
          </p:cNvSpPr>
          <p:nvPr>
            <p:ph type="body" idx="1"/>
          </p:nvPr>
        </p:nvSpPr>
        <p:spPr/>
        <p:txBody>
          <a:bodyPr/>
          <a:lstStyle/>
          <a:p>
            <a:r>
              <a:rPr lang="en-US" dirty="0"/>
              <a:t>This demo delays a client-side promise so you can see the skeleton on stage. Prescriptions waits two and a half seconds. Analytics waits four. That is not streaming server-side rendering. It is a teaching device. In production you pair this with a Suspense-compatible cached data layer. React 19's use hook can read that promise the same way.</a:t>
            </a:r>
          </a:p>
          <a:p>
            <a:r>
              <a:rPr lang="en-US" dirty="0"/>
              <a:t>The cache matters. The resource is created once, outside render. Create a new promise on every render, and Suspense will loop forever.</a:t>
            </a:r>
          </a:p>
        </p:txBody>
      </p:sp>
      <p:sp>
        <p:nvSpPr>
          <p:cNvPr id="4" name="Slide Number Placeholder 3">
            <a:extLst>
              <a:ext uri="{FF2B5EF4-FFF2-40B4-BE49-F238E27FC236}">
                <a16:creationId xmlns:a16="http://schemas.microsoft.com/office/drawing/2014/main" id="{8CE50C26-15D5-625B-2507-BA71CF89893E}"/>
              </a:ext>
            </a:extLst>
          </p:cNvPr>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616147166"/>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is where the three loading strategies live, in one file.</a:t>
            </a:r>
          </a:p>
          <a:p>
            <a:r>
              <a:rPr lang="en-US" dirty="0"/>
              <a:t>Home is instant. A lazy import of Home. No streaming delay. When the chunk arrives, it renders.</a:t>
            </a:r>
          </a:p>
          <a:p>
            <a:r>
              <a:rPr lang="en-US" dirty="0"/>
              <a:t>Records is eager. A lazy import of the standalone component. At shell init we fire that import and warm the cache. When the user clicks Records, lazy resolves from cache. No skeleton. No delay.</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17A8DCB-D4D9-7F2B-D0CD-0E409379A08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CF1C5C2-521E-4323-98CF-1626A3486C6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6107DE1-4805-2FD7-B1DC-C03DCB8A66E3}"/>
              </a:ext>
            </a:extLst>
          </p:cNvPr>
          <p:cNvSpPr>
            <a:spLocks noGrp="1"/>
          </p:cNvSpPr>
          <p:nvPr>
            <p:ph type="body" idx="1"/>
          </p:nvPr>
        </p:nvSpPr>
        <p:spPr/>
        <p:txBody>
          <a:bodyPr/>
          <a:lstStyle/>
          <a:p>
            <a:r>
              <a:rPr lang="en-US" dirty="0"/>
              <a:t>Prescriptions and Analytics are streamed. They load on demand, behind per-module skeletons.</a:t>
            </a:r>
          </a:p>
          <a:p>
            <a:r>
              <a:rPr lang="en-US" dirty="0"/>
              <a:t>Every strategy still gets three layers of resilience. A catch on lazy, so an unreachable remote becomes a fallback instead of a white screen. Suspense, so a loading remote shows its own skeleton. An error boundary, so a runtime crash in one remote does not take down the app.</a:t>
            </a:r>
          </a:p>
        </p:txBody>
      </p:sp>
      <p:sp>
        <p:nvSpPr>
          <p:cNvPr id="4" name="Slide Number Placeholder 3">
            <a:extLst>
              <a:ext uri="{FF2B5EF4-FFF2-40B4-BE49-F238E27FC236}">
                <a16:creationId xmlns:a16="http://schemas.microsoft.com/office/drawing/2014/main" id="{E3A8A273-B24E-3476-EA69-1FA378736BC7}"/>
              </a:ext>
            </a:extLst>
          </p:cNvPr>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752608983"/>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278172-9C71-CFA3-B675-B4062A38A558}"/>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21221CC-AE50-C79F-6A55-FAE5370B25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0E6DA320-0162-1F23-628E-717E8A32B846}"/>
              </a:ext>
            </a:extLst>
          </p:cNvPr>
          <p:cNvSpPr>
            <a:spLocks noGrp="1"/>
          </p:cNvSpPr>
          <p:nvPr>
            <p:ph type="body" idx="1"/>
          </p:nvPr>
        </p:nvSpPr>
        <p:spPr/>
        <p:txBody>
          <a:bodyPr/>
          <a:lstStyle/>
          <a:p>
            <a:r>
              <a:rPr lang="en-US" dirty="0"/>
              <a:t>People always ask why we use lazy for eager modules. You cannot use a static import with Module Federation. The remote is a separate build on a separate server, resolved at runtime. So we fire import at shell init, the browser caches the module, and when React later calls the same import inside lazy, it resolves instantly.</a:t>
            </a:r>
          </a:p>
          <a:p>
            <a:r>
              <a:rPr lang="en-US" dirty="0"/>
              <a:t>Different content, different priority. The landing page is instant. High-value content is eager. Secondary content streams on demand.</a:t>
            </a:r>
          </a:p>
        </p:txBody>
      </p:sp>
      <p:sp>
        <p:nvSpPr>
          <p:cNvPr id="4" name="Slide Number Placeholder 3">
            <a:extLst>
              <a:ext uri="{FF2B5EF4-FFF2-40B4-BE49-F238E27FC236}">
                <a16:creationId xmlns:a16="http://schemas.microsoft.com/office/drawing/2014/main" id="{5E0E3512-F25A-DA7B-BCA6-BF249EB0FCB0}"/>
              </a:ext>
            </a:extLst>
          </p:cNvPr>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393139931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shell header exposes three buttons. Settings, Commands, and Lab. They are how I will run the live demo without hunting for UI.</a:t>
            </a:r>
          </a:p>
          <a:p>
            <a:r>
              <a:rPr lang="en-US" dirty="0"/>
              <a:t>Settings is a drawer. Dark or light. The shell rewrites CSS variables on the root, persists the choice to local storage, and dispatches a typed theme-change event. Every remote reacts. No shared imports. No prop drilling.</a:t>
            </a:r>
          </a:p>
          <a:p>
            <a:r>
              <a:rPr lang="en-US" dirty="0"/>
              <a:t>Commands is a Control K palette. Type kill records, or canary, or dark, and the list filters in real time. Navigation, theme, kill switches, and deployment rings are all keyboard actions.</a:t>
            </a:r>
          </a:p>
          <a:p>
            <a:r>
              <a:rPr lang="en-US" dirty="0"/>
              <a:t>Lab is the Federation Lab. Four remotes. </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E46C20B-4A97-425B-9490-9DCB56D8340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4A6AA92-E4A6-E6FA-B226-EA06DA333F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4AF670C-0428-B0E1-DB0B-324F0BBE39F8}"/>
              </a:ext>
            </a:extLst>
          </p:cNvPr>
          <p:cNvSpPr>
            <a:spLocks noGrp="1"/>
          </p:cNvSpPr>
          <p:nvPr>
            <p:ph type="body" idx="1"/>
          </p:nvPr>
        </p:nvSpPr>
        <p:spPr/>
        <p:txBody>
          <a:bodyPr/>
          <a:lstStyle/>
          <a:p>
            <a:r>
              <a:rPr lang="en-US" dirty="0"/>
              <a:t>A health monitor that polls remoteEntry.js every five seconds. Kill switches. An A/B deployment ring. That panel is the money shot of this talk. I can take a module down in front of you and show you that the rest of the app keeps running.</a:t>
            </a:r>
          </a:p>
        </p:txBody>
      </p:sp>
      <p:sp>
        <p:nvSpPr>
          <p:cNvPr id="4" name="Slide Number Placeholder 3">
            <a:extLst>
              <a:ext uri="{FF2B5EF4-FFF2-40B4-BE49-F238E27FC236}">
                <a16:creationId xmlns:a16="http://schemas.microsoft.com/office/drawing/2014/main" id="{069010F3-8DE1-A2AD-7962-CBD9E92C139D}"/>
              </a:ext>
            </a:extLst>
          </p:cNvPr>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2770988812"/>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Is this like microservices? For the ninety-nine percent case, yes.</a:t>
            </a:r>
          </a:p>
          <a:p>
            <a:r>
              <a:rPr lang="en-US" dirty="0"/>
              <a:t>Microservices isolate at the operating-system level. Separate processes. Separate memory. If one crashes, the others keep running. Micro-frontends in this demo isolate at the React level. An error boundary per module. If Records crashes, Prescriptions keeps rendering. If an import fails, the catch shows a fallback and a Retry button.</a:t>
            </a:r>
          </a:p>
          <a:p>
            <a:r>
              <a:rPr lang="en-US" dirty="0"/>
              <a:t>We do four things to get that isolation. A per-module error boundary. Per-module Suspense, so a slow remote shows only its own skeleton. A catch on lazy, so a down server becomes a fallback instead of a white screen. And route-based rendering, so only one module is the primary view at a time.</a:t>
            </a:r>
          </a:p>
          <a:p>
            <a:r>
              <a:rPr lang="en-US" dirty="0"/>
              <a:t>The honest caveat is the one percent. All modules share one browser tab. A true infinite loop or a massive memory leak freezes everything.</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7A1912-E24A-9E27-C788-ACFFD48D3E1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73AF508-8758-6268-6306-0D9856C0AD4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91F613F-4A57-0D3E-5FB0-6CFA8E8992DE}"/>
              </a:ext>
            </a:extLst>
          </p:cNvPr>
          <p:cNvSpPr>
            <a:spLocks noGrp="1"/>
          </p:cNvSpPr>
          <p:nvPr>
            <p:ph type="body" idx="1"/>
          </p:nvPr>
        </p:nvSpPr>
        <p:spPr/>
        <p:txBody>
          <a:bodyPr/>
          <a:lstStyle/>
          <a:p>
            <a:r>
              <a:rPr lang="en-US" dirty="0"/>
              <a:t>That is the cost of a shared runtime. Iframes would give you process-level isolation, and they would break shared React context, theming, and routing. </a:t>
            </a:r>
          </a:p>
        </p:txBody>
      </p:sp>
      <p:sp>
        <p:nvSpPr>
          <p:cNvPr id="4" name="Slide Number Placeholder 3">
            <a:extLst>
              <a:ext uri="{FF2B5EF4-FFF2-40B4-BE49-F238E27FC236}">
                <a16:creationId xmlns:a16="http://schemas.microsoft.com/office/drawing/2014/main" id="{2DB2F394-5D10-D8EE-7474-5EEF70B2FC3E}"/>
              </a:ext>
            </a:extLst>
          </p:cNvPr>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782489888"/>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92CE6E-03C9-D1D6-1D33-3F050B10A1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CAAEB6-440A-A57B-CD63-A754855FE2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16BB98E-6CAC-F776-C2BE-DACC5779010F}"/>
              </a:ext>
            </a:extLst>
          </p:cNvPr>
          <p:cNvSpPr>
            <a:spLocks noGrp="1"/>
          </p:cNvSpPr>
          <p:nvPr>
            <p:ph type="body" idx="1"/>
          </p:nvPr>
        </p:nvSpPr>
        <p:spPr/>
        <p:txBody>
          <a:bodyPr/>
          <a:lstStyle/>
          <a:p>
            <a:r>
              <a:rPr lang="en-US" dirty="0"/>
              <a:t>Most Module Federation setups accept the tradeoff.</a:t>
            </a:r>
          </a:p>
          <a:p>
            <a:r>
              <a:rPr lang="en-US" dirty="0"/>
              <a:t>When we get to the Lab, I will kill Records live. Prescriptions and Analytics will keep working. That is the proof.</a:t>
            </a:r>
          </a:p>
        </p:txBody>
      </p:sp>
      <p:sp>
        <p:nvSpPr>
          <p:cNvPr id="4" name="Slide Number Placeholder 3">
            <a:extLst>
              <a:ext uri="{FF2B5EF4-FFF2-40B4-BE49-F238E27FC236}">
                <a16:creationId xmlns:a16="http://schemas.microsoft.com/office/drawing/2014/main" id="{F8E5A6AA-E95C-FBC9-44A1-A3F9E8CEC77D}"/>
              </a:ext>
            </a:extLst>
          </p:cNvPr>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33571810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Records talks to Prescriptions. How, if Records has never imported a line from Prescriptions? Events. Not a shared Redux store. Not a shared npm package. A typed custom event on window.</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0DFE8B-97DB-D0BA-766B-B3EFA9A10B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FB18322A-E0B5-3857-3675-136EAC9592BB}"/>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68D6C5C9-E7A5-DAAB-BF9F-4836EA2881D8}"/>
              </a:ext>
            </a:extLst>
          </p:cNvPr>
          <p:cNvSpPr>
            <a:spLocks noGrp="1"/>
          </p:cNvSpPr>
          <p:nvPr>
            <p:ph type="body" idx="1"/>
          </p:nvPr>
        </p:nvSpPr>
        <p:spPr/>
        <p:txBody>
          <a:bodyPr/>
          <a:lstStyle/>
          <a:p>
            <a:r>
              <a:rPr lang="en-US" dirty="0"/>
              <a:t>Records dispatches addPrescription with an id, a name, a price, and a quantity. Prescriptions listens, updates its own state, and never imports Records. Records also dispatches showNotification, and the shell shows a toast. Prescriptions can dispatch navigateToModule. The shell is still the only owner of the router. A remote may ask to navigate. It may not mutate the route itself.</a:t>
            </a:r>
          </a:p>
        </p:txBody>
      </p:sp>
      <p:sp>
        <p:nvSpPr>
          <p:cNvPr id="4" name="Slide Number Placeholder 3">
            <a:extLst>
              <a:ext uri="{FF2B5EF4-FFF2-40B4-BE49-F238E27FC236}">
                <a16:creationId xmlns:a16="http://schemas.microsoft.com/office/drawing/2014/main" id="{F485BAE6-6536-F140-F006-C93FF92ADB6D}"/>
              </a:ext>
            </a:extLst>
          </p:cNvPr>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3852074179"/>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ADF92F-1432-B155-F69A-449695794E1B}"/>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AFD1928-9456-CC27-B942-39DE05D198F0}"/>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42560C42-5436-02AD-F4EC-6EFD0E350CD3}"/>
              </a:ext>
            </a:extLst>
          </p:cNvPr>
          <p:cNvSpPr>
            <a:spLocks noGrp="1"/>
          </p:cNvSpPr>
          <p:nvPr>
            <p:ph type="body" idx="1"/>
          </p:nvPr>
        </p:nvSpPr>
        <p:spPr/>
        <p:txBody>
          <a:bodyPr/>
          <a:lstStyle/>
          <a:p>
            <a:r>
              <a:rPr lang="en-US" dirty="0"/>
              <a:t>Why events instead of a shared store? A shared store is a shared dependency. Version coupling between teams. Events survive independent deploys. They even survive framework diversity. A Vue remote and a React remote can talk through the same window contract.</a:t>
            </a:r>
          </a:p>
          <a:p>
            <a:r>
              <a:rPr lang="en-US" dirty="0"/>
              <a:t>The payload is still a versioned contract. Keep it backward compatible. Each remote defines the same event shapes in its own types file by augmenting WindowEventMap. No shared package is required. addEventListener is fully typed.</a:t>
            </a:r>
          </a:p>
        </p:txBody>
      </p:sp>
      <p:sp>
        <p:nvSpPr>
          <p:cNvPr id="4" name="Slide Number Placeholder 3">
            <a:extLst>
              <a:ext uri="{FF2B5EF4-FFF2-40B4-BE49-F238E27FC236}">
                <a16:creationId xmlns:a16="http://schemas.microsoft.com/office/drawing/2014/main" id="{CFDF3C66-8E85-C62D-CCBB-7C7F6A8FC8DC}"/>
              </a:ext>
            </a:extLst>
          </p:cNvPr>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320502705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Theming is a cross-cutting concern, and the shell owns it.</a:t>
            </a:r>
          </a:p>
          <a:p>
            <a:r>
              <a:rPr lang="en-US" dirty="0"/>
              <a:t>The shell persists the choice to local storage. It applies CSS variables to the document element. It exposes a small bridge on window so a remote can read or set the theme without importing host code. And it broadcasts a theme-change event.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13CAA7-9985-05A8-54F2-CCF3F6B12B7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B941509-2BEA-EF7A-F3FB-001DE8FC860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308E4D37-CD85-804A-C20E-AD8765FFB94D}"/>
              </a:ext>
            </a:extLst>
          </p:cNvPr>
          <p:cNvSpPr>
            <a:spLocks noGrp="1"/>
          </p:cNvSpPr>
          <p:nvPr>
            <p:ph type="body" idx="1"/>
          </p:nvPr>
        </p:nvSpPr>
        <p:spPr/>
        <p:txBody>
          <a:bodyPr/>
          <a:lstStyle/>
          <a:p>
            <a:r>
              <a:rPr lang="en-US" dirty="0"/>
              <a:t>Every remote has a useActiveTheme hook. It tries the host bridge first, falls back to local storage, and defaults to dark. Then it listens for theme-change and updates. Remotes style with Tailwind classes that point at those CSS variables. When the shell rewrites the variables, every remote repaints. No shared CSS build step.</a:t>
            </a:r>
          </a:p>
          <a:p>
            <a:r>
              <a:rPr lang="en-US" dirty="0"/>
              <a:t>Two palettes. Dark is editorial noir. Light is clean white.</a:t>
            </a:r>
          </a:p>
        </p:txBody>
      </p:sp>
      <p:sp>
        <p:nvSpPr>
          <p:cNvPr id="4" name="Slide Number Placeholder 3">
            <a:extLst>
              <a:ext uri="{FF2B5EF4-FFF2-40B4-BE49-F238E27FC236}">
                <a16:creationId xmlns:a16="http://schemas.microsoft.com/office/drawing/2014/main" id="{FFCE2B23-CA02-7023-FC3C-A6851775B8B1}"/>
              </a:ext>
            </a:extLst>
          </p:cNvPr>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559982868"/>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3E29B8-5372-5A08-6FEF-A81B7745CC50}"/>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932AE8A2-A2AD-2435-B7E5-CEB34558473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9C69E0C0-C363-E26C-0C13-E39FD76D3F77}"/>
              </a:ext>
            </a:extLst>
          </p:cNvPr>
          <p:cNvSpPr>
            <a:spLocks noGrp="1"/>
          </p:cNvSpPr>
          <p:nvPr>
            <p:ph type="body" idx="1"/>
          </p:nvPr>
        </p:nvSpPr>
        <p:spPr/>
        <p:txBody>
          <a:bodyPr/>
          <a:lstStyle/>
          <a:p>
            <a:r>
              <a:rPr lang="en-US" dirty="0"/>
              <a:t>In the demo I will flip this live, and you will watch Records, Prescriptions, and Analytics change together.</a:t>
            </a:r>
          </a:p>
        </p:txBody>
      </p:sp>
      <p:sp>
        <p:nvSpPr>
          <p:cNvPr id="4" name="Slide Number Placeholder 3">
            <a:extLst>
              <a:ext uri="{FF2B5EF4-FFF2-40B4-BE49-F238E27FC236}">
                <a16:creationId xmlns:a16="http://schemas.microsoft.com/office/drawing/2014/main" id="{D0CA3F0D-B84A-84C7-CCE7-445B4B705FE5}"/>
              </a:ext>
            </a:extLst>
          </p:cNvPr>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848263606"/>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layers of preloading. Eager on mount. Hover on demand.</a:t>
            </a:r>
          </a:p>
          <a:p>
            <a:r>
              <a:rPr lang="en-US" dirty="0"/>
              <a:t>There is a prefetchers map. One function per module. Each function is a bare import of that remote. At shell init, we fire the ones marked eager. Records starts loading before the user has clicked anything.</a:t>
            </a:r>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6FB5B6-0DF2-E16B-E1D9-35F7D6214CD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AFC2C72-EDD9-0D4A-2760-C04D209B4C61}"/>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A744DD75-C028-A81B-525F-F327E2D97F76}"/>
              </a:ext>
            </a:extLst>
          </p:cNvPr>
          <p:cNvSpPr>
            <a:spLocks noGrp="1"/>
          </p:cNvSpPr>
          <p:nvPr>
            <p:ph type="body" idx="1"/>
          </p:nvPr>
        </p:nvSpPr>
        <p:spPr/>
        <p:txBody>
          <a:bodyPr/>
          <a:lstStyle/>
          <a:p>
            <a:r>
              <a:rPr lang="en-US" dirty="0"/>
              <a:t>For the rest, the nav link fires on mouse enter. When the cursor touches Prescriptions or Analytics, the chunk starts fetching in the background. Click, and it is often already cached.</a:t>
            </a:r>
          </a:p>
          <a:p>
            <a:r>
              <a:rPr lang="en-US" dirty="0"/>
              <a:t>Instant means the landing page fetches lazily, with no streaming delay. Eager means preloaded the moment the shell mounts. Hover means prefetched when the user aims at a tab. That is why Records feels instant even though it is a separate app on a separate server. The work happened at mount.</a:t>
            </a:r>
          </a:p>
        </p:txBody>
      </p:sp>
      <p:sp>
        <p:nvSpPr>
          <p:cNvPr id="4" name="Slide Number Placeholder 3">
            <a:extLst>
              <a:ext uri="{FF2B5EF4-FFF2-40B4-BE49-F238E27FC236}">
                <a16:creationId xmlns:a16="http://schemas.microsoft.com/office/drawing/2014/main" id="{4A8E4828-C077-AAD4-21B4-A2F633E12E1E}"/>
              </a:ext>
            </a:extLst>
          </p:cNvPr>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5019387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do you test a federated component without standing up five dev servers? The trick is a Vitest alias. Records slash MedicalRecords does not point at a remote entry. It points at the source file. Same pattern for Home, Prescriptions, and Analytics.</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F26C10-5D7C-A85E-149B-F65345F1B10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E46B9F6-6EF9-6BC9-7EA4-3AB5EDA61526}"/>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1EC1DEFD-09F3-8687-46CF-C0B8C4D8062C}"/>
              </a:ext>
            </a:extLst>
          </p:cNvPr>
          <p:cNvSpPr>
            <a:spLocks noGrp="1"/>
          </p:cNvSpPr>
          <p:nvPr>
            <p:ph type="body" idx="1"/>
          </p:nvPr>
        </p:nvSpPr>
        <p:spPr/>
        <p:txBody>
          <a:bodyPr/>
          <a:lstStyle/>
          <a:p>
            <a:r>
              <a:rPr lang="en-US" dirty="0"/>
              <a:t>Then a normal React Testing Library test works. Render Medical Records. Click the button that creates a prescription for Sarah Chen. Assert that a window event fired, once, with the right payload.</a:t>
            </a:r>
          </a:p>
          <a:p>
            <a:r>
              <a:rPr lang="en-US" dirty="0"/>
              <a:t>Every module is tested in isolation. No network. No remoteEntry.js. Two hundred and ten tests across twenty-one files. All green. A broken prescriptions test does not block the records team. A new hire runs the tests for one folder and understands the contract.</a:t>
            </a:r>
          </a:p>
          <a:p>
            <a:r>
              <a:rPr lang="en-US" dirty="0"/>
              <a:t>If we have time in the demo, I will run pnpm test in front of you.</a:t>
            </a:r>
          </a:p>
        </p:txBody>
      </p:sp>
      <p:sp>
        <p:nvSpPr>
          <p:cNvPr id="4" name="Slide Number Placeholder 3">
            <a:extLst>
              <a:ext uri="{FF2B5EF4-FFF2-40B4-BE49-F238E27FC236}">
                <a16:creationId xmlns:a16="http://schemas.microsoft.com/office/drawing/2014/main" id="{D5EA6B86-EE6A-571F-57B3-8F35F807385D}"/>
              </a:ext>
            </a:extLst>
          </p:cNvPr>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71122290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switching to the running app now. This is localhost 3000. Everything you see is four separate React apps composed at runtime inside one shell.</a:t>
            </a:r>
          </a:p>
          <a:p>
            <a:r>
              <a:rPr lang="en-US" dirty="0"/>
              <a:t>Watch the status strip. Home says Instant. It rendered the moment its chunk arrived. No artificial delay. No skeleton.</a:t>
            </a:r>
          </a:p>
          <a:p>
            <a:r>
              <a:rPr lang="en-US" dirty="0"/>
              <a:t>I am opening Records. Records appears immediately too, but for a different reason. It was preloaded the moment the shell mounted. By the time I clicked, the chunk was already in the browser cache. The status strip says Eager.</a:t>
            </a:r>
          </a:p>
          <a:p>
            <a:r>
              <a:rPr lang="en-US" dirty="0"/>
              <a:t>I am opening Prescriptions, and I am going to let the skeleton play. This is the third strategy. Prescriptions loads on demand. The skeleton renders immediately. Then the route content replaces it when its simulated resource resolves. The shell does not know that timing. It rendered a Suspense boundary and moved on.</a:t>
            </a:r>
          </a:p>
          <a:p>
            <a:r>
              <a:rPr lang="en-US" dirty="0"/>
              <a:t>Analytics is the same story. Second skeleton. On demand. Streaming.</a:t>
            </a:r>
          </a:p>
          <a:p>
            <a:r>
              <a:rPr lang="en-US" dirty="0"/>
              <a:t>Three strategies. Three content priorities. The landing page is instant. High-value content is eager. Secondary content shows a fallback while it resolves. What you cannot see is that each of these is a separate app on a separate dev server.</a:t>
            </a:r>
          </a:p>
          <a:p>
            <a:r>
              <a:rPr lang="en-US" dirty="0"/>
              <a:t>I am going back to Records. I am adding Sarah Chen's prescription. That toast did not come from Records importing a toast library from the shell. Records dispatched a typed event. The shell listened and showed the notification.</a:t>
            </a:r>
          </a:p>
          <a:p>
            <a:r>
              <a:rPr lang="en-US" dirty="0"/>
              <a:t>I am opening Prescriptions. The item is here. Records just talked to Prescriptions, and Records has never imported a line from Prescriptions. That was a custom event on window. It avoids direct import coupling, as long as the payload stays backward compatible. It can also cross framework boundaries.</a:t>
            </a:r>
          </a:p>
          <a:p>
            <a:r>
              <a:rPr lang="en-US" dirty="0"/>
              <a:t>I am removing the items. I am clicking Browse Records. Navigation works the same way. The remote asked the shell to navigate. Only the shell owns the router.</a:t>
            </a:r>
          </a:p>
          <a:p>
            <a:r>
              <a:rPr lang="en-US" dirty="0"/>
              <a:t>I am pressing Control K and opening the Federation Lab. Four remotes. Four health dots. Each one polls that module's remoteEntry.js every five seconds.</a:t>
            </a:r>
          </a:p>
          <a:p>
            <a:r>
              <a:rPr lang="en-US" dirty="0"/>
              <a:t>I am toggling the kill switch for Records. I am opening Records. The Records team just shipped a broken deploy. Their module is down.</a:t>
            </a:r>
          </a:p>
          <a:p>
            <a:r>
              <a:rPr lang="en-US" dirty="0"/>
              <a:t>I am opening Prescriptions. I am opening Analytics. Both work. Independent deploys are the developer-experience win. Contained failures are the user-experience win. One error boundary per module. A catch on every lazy import. Same idea as a microservice going down.</a:t>
            </a:r>
          </a:p>
          <a:p>
            <a:r>
              <a:rPr lang="en-US" dirty="0"/>
              <a:t>Is this microservices? Yes, for the ninety-nine percent case. Crashes, network failures, bad deploys: fully contained. The one percent gap: all modules share one browser tab, so a true infinite loop freezes everything. That is the cost of a shared runtime, and most Module Federation setups accept it.</a:t>
            </a:r>
          </a:p>
          <a:p>
            <a:r>
              <a:rPr lang="en-US" dirty="0"/>
              <a:t>I am restoring all remotes.</a:t>
            </a:r>
          </a:p>
          <a:p>
            <a:r>
              <a:rPr lang="en-US" dirty="0"/>
              <a:t>Each remote can run a different version. I am switching the ring from Stable to Canary. In production, this toggle is a routing decision on remoteEntry URLs. You canary one team's module while everything else stays stable. I am switching back to Stable.</a:t>
            </a:r>
          </a:p>
          <a:p>
            <a:r>
              <a:rPr lang="en-US" dirty="0"/>
              <a:t>One more cross-cutting concern: theming. I am switching to light. The shell rewrote CSS variables, persisted to local storage, and broadcast a typed event. Every remote reacted with zero shared imports. I am switching back to dark.</a:t>
            </a:r>
          </a:p>
          <a:p>
            <a:r>
              <a:rPr lang="en-US" dirty="0"/>
              <a:t>If we still have time, I am walking the code. The entire entry file of every module is one line: import bootstrap. That dynamic import is the async boundary Module Federation needs to negotiate the shared React copy before any React code runs.</a:t>
            </a:r>
          </a:p>
          <a:p>
            <a:r>
              <a:rPr lang="en-US" dirty="0"/>
              <a:t>The records Rspack config is a normal bundler config. The one thing that makes this a micro-frontend is Module Federation Plugin. Exposes is the team's public API. Shared with singleton true means one React for everyone.</a:t>
            </a:r>
          </a:p>
          <a:p>
            <a:r>
              <a:rPr lang="en-US" dirty="0"/>
              <a:t>The host mirror maps a scope to a remoteEntry URL, resolved at runtime. The three strategies are data: load strategy instant, eager, or streamed. Three layers of resilience: catch on the import, Suspense for the skeleton, error boundary for runtime errors.</a:t>
            </a:r>
          </a:p>
          <a:p>
            <a:r>
              <a:rPr lang="en-US" dirty="0"/>
              <a:t>The entire client-side Suspense pattern is about forty lines. Read throws the promise while pending. Suspense catches it. The wrapper's only job is to trigger Suspense. The real UI lives in the standalone component.</a:t>
            </a:r>
          </a:p>
          <a:p>
            <a:r>
              <a:rPr lang="en-US" dirty="0"/>
              <a:t>The event contract is one types file. Augment WindowEventMap, and every addEventListener is fully typed. No shared npm package.</a:t>
            </a:r>
          </a:p>
          <a:p>
            <a:r>
              <a:rPr lang="en-US" dirty="0"/>
              <a:t>I am running the tests. Every module is tested in isolation. No dev servers. The trick is a Vitest alias that resolves federated imports to the source file. Two hundred and ten tests. Twenty-one files. All green.</a:t>
            </a:r>
          </a:p>
          <a:p>
            <a:r>
              <a:rPr lang="en-US" dirty="0"/>
              <a:t>One workflow per module. When the Records team pushes, only Records CI runs. One big workflow that rebuilds everything on every push couples your deploys and defeats the entire point of micro-frontends.</a:t>
            </a:r>
          </a:p>
          <a:p>
            <a:r>
              <a:rPr lang="en-US" dirty="0"/>
              <a:t>So what should you remember tomorrow morning?</a:t>
            </a:r>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Seven things to take with you.</a:t>
            </a:r>
          </a:p>
          <a:p>
            <a:r>
              <a:rPr lang="en-US" dirty="0"/>
              <a:t>One. Micro-frontends solve a people problem. Adopt this when your team is growing and the monolith cannot keep up. Independent modules let independent teams ship without blocking each other. Team size is the signal, not bundle size.</a:t>
            </a:r>
          </a:p>
          <a:p>
            <a:r>
              <a:rPr lang="en-US" dirty="0"/>
              <a:t>Two. Suspense fallbacks cover load UX. Module Federation covers team DX. You want both. This demo runs both together.</a:t>
            </a:r>
          </a:p>
          <a:p>
            <a:r>
              <a:rPr lang="en-US" dirty="0"/>
              <a:t>Three. Prefer events over shared state. A custom event on window gives you decoupled communication that survives independent deploys. Keep the payload backward compatible.</a:t>
            </a:r>
          </a:p>
          <a:p>
            <a:r>
              <a:rPr lang="en-US" dirty="0"/>
              <a:t>Four. The host owns routing. Remotes can ask for navigation with navigateToModule. Only the shell mutates router state.</a:t>
            </a:r>
          </a:p>
          <a:p>
            <a:r>
              <a:rPr lang="en-US" dirty="0"/>
              <a:t>Five. Ship fault isolation on purpose. A catch on every lazy import, plus an error boundary per module, keeps one broken remote from taking down the app.</a:t>
            </a:r>
          </a:p>
          <a:p>
            <a:r>
              <a:rPr lang="en-US" dirty="0"/>
              <a:t>Six. Rspack keeps the monorepo fast. Sub-second hot reload across four applications. Module Federation is built in. Rspack 2.1 ships the Rust React Compiler, and persistent caching for faster builds and faster restarts.</a:t>
            </a:r>
          </a:p>
          <a:p>
            <a:r>
              <a:rPr lang="en-US" dirty="0"/>
              <a:t>Seven. Match load strategy to content priority. Instant for the landing page. Eager for high-value content. Streamed for secondary modules, with skeletons. Do not load every remote the same way.</a:t>
            </a:r>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are ready for this architecture when you recognize these signals.</a:t>
            </a:r>
          </a:p>
          <a:p>
            <a:r>
              <a:rPr lang="en-US" dirty="0"/>
              <a:t>If multiple teams ship the same single-page app and block each other on releases, reach for Module Federation. Independent builds. Deploys can follow.</a:t>
            </a:r>
          </a:p>
          <a:p>
            <a:r>
              <a:rPr lang="en-US" dirty="0"/>
              <a:t>If users wait for a full bundle before they see anything, reach for Suspense fallbacks. Skeletons render immediately. Content replaces them when it is ready.</a:t>
            </a:r>
          </a:p>
          <a:p>
            <a:r>
              <a:rPr lang="en-US" dirty="0"/>
              <a:t>If one broken feature takes down the whole page, wrap every module in an error boundary and a catch on lazy.</a:t>
            </a:r>
          </a:p>
          <a:p>
            <a:r>
              <a:rPr lang="en-US" dirty="0"/>
              <a:t>If shared state libraries create invisible coupling between features, replace the shared store with custom events on window. No direct imports. Explicit contracts.</a:t>
            </a:r>
          </a:p>
          <a:p>
            <a:r>
              <a:rPr lang="en-US" dirty="0"/>
              <a:t>If you need canary releases at the feature level, version remotes independently. Deploy one remote without touching the others.</a:t>
            </a:r>
          </a:p>
          <a:p>
            <a:r>
              <a:rPr lang="en-US" dirty="0"/>
              <a:t>If testing one feature requires the full app running, use the Vitest alias trick. Test any remote in isolation. No servers.</a:t>
            </a:r>
          </a:p>
          <a:p>
            <a:r>
              <a:rPr lang="en-US" dirty="0"/>
              <a:t>Typical domains already look like this. Healthcare platforms. SaaS dashboards. Enterprise portals. Media platforms. You do not rewrite everything. You extract one slow-moving feature into a remote. Keep the rest in the shell. Prove the pattern. Then expand.</a:t>
            </a:r>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685800" y="1143000"/>
            <a:ext cx="5486400" cy="3086100"/>
          </a:xfrm>
          <a:prstGeom prst="rect">
            <a:avLst/>
          </a:prstGeom>
          <a:noFill/>
          <a:ln w="12700">
            <a:solidFill>
              <a:prstClr val="black"/>
            </a:solidFill>
          </a:ln>
        </p:spPr>
      </p:sp>
      <p:sp>
        <p:nvSpPr>
          <p:cNvPr id="3" name="Notes Placeholder 2"/>
          <p:cNvSpPr>
            <a:spLocks noGrp="1"/>
          </p:cNvSpPr>
          <p:nvPr>
            <p:ph type="body" idx="1"/>
          </p:nvPr>
        </p:nvSpPr>
        <p:spPr>
          <a:xfrm>
            <a:off x="685800" y="4400550"/>
            <a:ext cx="5486400" cy="3600450"/>
          </a:xfrm>
          <a:prstGeom prst="rect">
            <a:avLst/>
          </a:prstGeom>
        </p:spPr>
        <p:txBody>
          <a:bodyPr/>
          <a:lstStyle/>
          <a:p>
            <a:endParaRPr lang="en-GB" dirty="0"/>
          </a:p>
        </p:txBody>
      </p:sp>
    </p:spTree>
    <p:extLst>
      <p:ext uri="{BB962C8B-B14F-4D97-AF65-F5344CB8AC3E}">
        <p14:creationId xmlns:p14="http://schemas.microsoft.com/office/powerpoint/2010/main" val="922607855"/>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a:t>
            </a:r>
          </a:p>
          <a:p>
            <a:r>
              <a:rPr lang="en-US" dirty="0"/>
              <a:t>The repo is public. Install with pnpm, run pnpm run dev, open localhost 3000, and start exploring. You will find the five packages, the two hundred and ten tests, and the Federation Lab we used on stage.</a:t>
            </a:r>
          </a:p>
          <a:p>
            <a:r>
              <a:rPr lang="en-US" dirty="0"/>
              <a:t>I'm Devlin Duldulao. You can find me at Devlin Duldulao on social.</a:t>
            </a:r>
          </a:p>
          <a:p>
            <a:r>
              <a:rPr lang="en-US" dirty="0"/>
              <a:t>If you want to argue about React 19 Suspense, here is the short version. The nearest fallback can commit sooner, then React pre-warms suspended siblings. Boundary design and caching still matter.</a:t>
            </a:r>
          </a:p>
          <a:p>
            <a:r>
              <a:rPr lang="en-US" dirty="0"/>
              <a:t>I would love your questions. Ask me about kill switches, about events versus a shared store, about why lazy for eager modules, or about when this architecture is too much. The floor is yours.</a:t>
            </a:r>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FC2CCDA-413C-579A-A6E3-FCAC060139A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A152B59-B5BB-262E-4E52-04028D80331D}"/>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FAC81E29-5D7C-64C4-E6E9-53F214DF5393}"/>
              </a:ext>
            </a:extLst>
          </p:cNvPr>
          <p:cNvSpPr>
            <a:spLocks noGrp="1"/>
          </p:cNvSpPr>
          <p:nvPr>
            <p:ph type="body" idx="1"/>
          </p:nvPr>
        </p:nvSpPr>
        <p:spPr/>
        <p:txBody>
          <a:bodyPr/>
          <a:lstStyle/>
          <a:p>
            <a:endParaRPr lang="en-US" dirty="0"/>
          </a:p>
        </p:txBody>
      </p:sp>
      <p:sp>
        <p:nvSpPr>
          <p:cNvPr id="4" name="Slide Number Placeholder 3">
            <a:extLst>
              <a:ext uri="{FF2B5EF4-FFF2-40B4-BE49-F238E27FC236}">
                <a16:creationId xmlns:a16="http://schemas.microsoft.com/office/drawing/2014/main" id="{681EF55D-6E38-CC0E-C3A3-165FF21AA885}"/>
              </a:ext>
            </a:extLst>
          </p:cNvPr>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376436328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8/29/2026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339887625"/>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B7053B5D-29EA-AE09-763F-669E2CB6A66B}"/>
              </a:ext>
            </a:extLst>
          </p:cNvPr>
          <p:cNvSpPr/>
          <p:nvPr/>
        </p:nvSpPr>
        <p:spPr>
          <a:xfrm>
            <a:off x="548640" y="0"/>
            <a:ext cx="11064240" cy="4184073"/>
          </a:xfrm>
          <a:prstGeom prst="rect">
            <a:avLst/>
          </a:prstGeom>
          <a:noFill/>
          <a:ln/>
        </p:spPr>
        <p:txBody>
          <a:bodyPr wrap="square" rtlCol="0" anchor="ctr"/>
          <a:lstStyle/>
          <a:p>
            <a:r>
              <a:rPr lang="en-US" sz="6600" dirty="0">
                <a:solidFill>
                  <a:schemeClr val="tx1">
                    <a:lumMod val="95000"/>
                    <a:lumOff val="5000"/>
                  </a:schemeClr>
                </a:solidFill>
                <a:latin typeface="Instrument Serif" pitchFamily="34" charset="0"/>
                <a:ea typeface="Instrument Serif" pitchFamily="34" charset="-122"/>
                <a:cs typeface="Instrument Serif" pitchFamily="34" charset="-120"/>
              </a:rPr>
              <a:t>Streaming Micro-Frontends: React 19 Meets Module Federation</a:t>
            </a:r>
            <a:endParaRPr lang="en-US" sz="6600" dirty="0">
              <a:solidFill>
                <a:schemeClr val="tx1">
                  <a:lumMod val="95000"/>
                  <a:lumOff val="5000"/>
                </a:schemeClr>
              </a:solidFill>
            </a:endParaRPr>
          </a:p>
        </p:txBody>
      </p:sp>
      <p:sp>
        <p:nvSpPr>
          <p:cNvPr id="5" name="Text 5">
            <a:extLst>
              <a:ext uri="{FF2B5EF4-FFF2-40B4-BE49-F238E27FC236}">
                <a16:creationId xmlns:a16="http://schemas.microsoft.com/office/drawing/2014/main" id="{20F4622D-BBA0-5770-FF0A-7D2BEDE063C9}"/>
              </a:ext>
            </a:extLst>
          </p:cNvPr>
          <p:cNvSpPr/>
          <p:nvPr/>
        </p:nvSpPr>
        <p:spPr>
          <a:xfrm>
            <a:off x="640080" y="5486400"/>
            <a:ext cx="10972800" cy="1001486"/>
          </a:xfrm>
          <a:prstGeom prst="rect">
            <a:avLst/>
          </a:prstGeom>
          <a:noFill/>
          <a:ln/>
        </p:spPr>
        <p:txBody>
          <a:bodyPr wrap="square" rtlCol="0" anchor="ctr"/>
          <a:lstStyle/>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@DevlinDuldulao</a:t>
            </a:r>
          </a:p>
          <a:p>
            <a:pPr marL="0" indent="0">
              <a:lnSpc>
                <a:spcPct val="150000"/>
              </a:lnSpc>
              <a:buNone/>
            </a:pPr>
            <a:r>
              <a:rPr lang="en-US" sz="2800" kern="0" spc="200" dirty="0">
                <a:solidFill>
                  <a:schemeClr val="tx1">
                    <a:lumMod val="95000"/>
                    <a:lumOff val="5000"/>
                  </a:schemeClr>
                </a:solidFill>
                <a:latin typeface="IBM Plex Mono" pitchFamily="34" charset="0"/>
                <a:ea typeface="IBM Plex Mono" pitchFamily="34" charset="-122"/>
                <a:cs typeface="IBM Plex Mono" pitchFamily="34" charset="-120"/>
              </a:rPr>
              <a:t>Senior consultant at SoftwareOne Norway</a:t>
            </a:r>
          </a:p>
        </p:txBody>
      </p:sp>
    </p:spTree>
    <p:extLst>
      <p:ext uri="{BB962C8B-B14F-4D97-AF65-F5344CB8AC3E}">
        <p14:creationId xmlns:p14="http://schemas.microsoft.com/office/powerpoint/2010/main" val="176237005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5FB71C00-2A0F-52B9-7571-DF6FB0B264F7}"/>
              </a:ext>
            </a:extLst>
          </p:cNvPr>
          <p:cNvPicPr>
            <a:picLocks noChangeAspect="1"/>
          </p:cNvPicPr>
          <p:nvPr/>
        </p:nvPicPr>
        <p:blipFill>
          <a:blip r:embed="rId3"/>
          <a:stretch>
            <a:fillRect/>
          </a:stretch>
        </p:blipFill>
        <p:spPr>
          <a:xfrm>
            <a:off x="1651" y="0"/>
            <a:ext cx="12185522" cy="6858000"/>
          </a:xfrm>
          <a:prstGeom prst="rect">
            <a:avLst/>
          </a:prstGeom>
        </p:spPr>
      </p:pic>
    </p:spTree>
    <p:extLst>
      <p:ext uri="{BB962C8B-B14F-4D97-AF65-F5344CB8AC3E}">
        <p14:creationId xmlns:p14="http://schemas.microsoft.com/office/powerpoint/2010/main" val="1299750436"/>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9B9A376A-3636-76E5-D24F-AF8C7DF7CA35}"/>
              </a:ext>
            </a:extLst>
          </p:cNvPr>
          <p:cNvPicPr>
            <a:picLocks noChangeAspect="1"/>
          </p:cNvPicPr>
          <p:nvPr/>
        </p:nvPicPr>
        <p:blipFill>
          <a:blip r:embed="rId3"/>
          <a:stretch>
            <a:fillRect/>
          </a:stretch>
        </p:blipFill>
        <p:spPr>
          <a:xfrm>
            <a:off x="47418" y="30185"/>
            <a:ext cx="12093988" cy="6797629"/>
          </a:xfrm>
          <a:prstGeom prst="rect">
            <a:avLst/>
          </a:prstGeom>
        </p:spPr>
      </p:pic>
      <p:pic>
        <p:nvPicPr>
          <p:cNvPr id="5" name="Picture 4">
            <a:extLst>
              <a:ext uri="{FF2B5EF4-FFF2-40B4-BE49-F238E27FC236}">
                <a16:creationId xmlns:a16="http://schemas.microsoft.com/office/drawing/2014/main" id="{538E6DFA-D017-C2D3-DD79-3073AC4B07D2}"/>
              </a:ext>
            </a:extLst>
          </p:cNvPr>
          <p:cNvPicPr>
            <a:picLocks noChangeAspect="1"/>
          </p:cNvPicPr>
          <p:nvPr/>
        </p:nvPicPr>
        <p:blipFill>
          <a:blip r:embed="rId4"/>
          <a:stretch>
            <a:fillRect/>
          </a:stretch>
        </p:blipFill>
        <p:spPr>
          <a:xfrm>
            <a:off x="7431314" y="4198348"/>
            <a:ext cx="4372594" cy="2629466"/>
          </a:xfrm>
          <a:prstGeom prst="rect">
            <a:avLst/>
          </a:prstGeom>
        </p:spPr>
      </p:pic>
    </p:spTree>
    <p:extLst>
      <p:ext uri="{BB962C8B-B14F-4D97-AF65-F5344CB8AC3E}">
        <p14:creationId xmlns:p14="http://schemas.microsoft.com/office/powerpoint/2010/main" val="107000793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a:extLst>
              <a:ext uri="{FF2B5EF4-FFF2-40B4-BE49-F238E27FC236}">
                <a16:creationId xmlns:a16="http://schemas.microsoft.com/office/drawing/2014/main" id="{6E014679-5AD2-B7E1-FFC9-B9A93814AA10}"/>
              </a:ext>
            </a:extLst>
          </p:cNvPr>
          <p:cNvSpPr txBox="1"/>
          <p:nvPr/>
        </p:nvSpPr>
        <p:spPr>
          <a:xfrm>
            <a:off x="3748972" y="2782669"/>
            <a:ext cx="5713167" cy="707886"/>
          </a:xfrm>
          <a:prstGeom prst="rect">
            <a:avLst/>
          </a:prstGeom>
          <a:noFill/>
        </p:spPr>
        <p:txBody>
          <a:bodyPr wrap="none" rtlCol="0">
            <a:spAutoFit/>
          </a:bodyPr>
          <a:lstStyle/>
          <a:p>
            <a:pPr algn="ctr"/>
            <a:r>
              <a:rPr lang="en-US" sz="4000" dirty="0"/>
              <a:t>What are we solving here?</a:t>
            </a:r>
            <a:endParaRPr lang="en-GB" sz="4000" dirty="0"/>
          </a:p>
        </p:txBody>
      </p:sp>
    </p:spTree>
    <p:extLst>
      <p:ext uri="{BB962C8B-B14F-4D97-AF65-F5344CB8AC3E}">
        <p14:creationId xmlns:p14="http://schemas.microsoft.com/office/powerpoint/2010/main" val="683204387"/>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1">
            <a:extLst>
              <a:ext uri="{FF2B5EF4-FFF2-40B4-BE49-F238E27FC236}">
                <a16:creationId xmlns:a16="http://schemas.microsoft.com/office/drawing/2014/main" id="{E2C1F190-E834-235E-DD1A-000447BDF89A}"/>
              </a:ext>
            </a:extLst>
          </p:cNvPr>
          <p:cNvSpPr txBox="1"/>
          <p:nvPr/>
        </p:nvSpPr>
        <p:spPr>
          <a:xfrm>
            <a:off x="522514" y="391886"/>
            <a:ext cx="9118074" cy="646331"/>
          </a:xfrm>
          <a:prstGeom prst="rect">
            <a:avLst/>
          </a:prstGeom>
          <a:noFill/>
        </p:spPr>
        <p:txBody>
          <a:bodyPr wrap="none" rtlCol="0">
            <a:spAutoFit/>
          </a:bodyPr>
          <a:lstStyle/>
          <a:p>
            <a:r>
              <a:rPr lang="en-US" sz="3600" dirty="0"/>
              <a:t>Independent deploys, and a smaller blast radius</a:t>
            </a:r>
            <a:endParaRPr lang="en-GB" sz="3600" dirty="0"/>
          </a:p>
        </p:txBody>
      </p:sp>
    </p:spTree>
    <p:extLst>
      <p:ext uri="{BB962C8B-B14F-4D97-AF65-F5344CB8AC3E}">
        <p14:creationId xmlns:p14="http://schemas.microsoft.com/office/powerpoint/2010/main" val="140118530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2704CADF-316C-61D9-61BD-A1F136C01873}"/>
              </a:ext>
            </a:extLst>
          </p:cNvPr>
          <p:cNvPicPr>
            <a:picLocks noChangeAspect="1"/>
          </p:cNvPicPr>
          <p:nvPr/>
        </p:nvPicPr>
        <p:blipFill>
          <a:blip r:embed="rId3"/>
          <a:stretch>
            <a:fillRect/>
          </a:stretch>
        </p:blipFill>
        <p:spPr>
          <a:xfrm>
            <a:off x="819028" y="0"/>
            <a:ext cx="10550769" cy="6858000"/>
          </a:xfrm>
          <a:prstGeom prst="rect">
            <a:avLst/>
          </a:prstGeom>
        </p:spPr>
      </p:pic>
    </p:spTree>
    <p:extLst>
      <p:ext uri="{BB962C8B-B14F-4D97-AF65-F5344CB8AC3E}">
        <p14:creationId xmlns:p14="http://schemas.microsoft.com/office/powerpoint/2010/main" val="97700598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FCDCF2-6C93-ECFA-136A-D291D018D0BC}"/>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C2F6432A-EC7A-50D9-539A-ECCE5FD7C886}"/>
              </a:ext>
            </a:extLst>
          </p:cNvPr>
          <p:cNvSpPr txBox="1"/>
          <p:nvPr/>
        </p:nvSpPr>
        <p:spPr>
          <a:xfrm>
            <a:off x="522514" y="391886"/>
            <a:ext cx="8292014" cy="646331"/>
          </a:xfrm>
          <a:prstGeom prst="rect">
            <a:avLst/>
          </a:prstGeom>
          <a:noFill/>
        </p:spPr>
        <p:txBody>
          <a:bodyPr wrap="none" rtlCol="0">
            <a:spAutoFit/>
          </a:bodyPr>
          <a:lstStyle/>
          <a:p>
            <a:r>
              <a:rPr lang="en-US" sz="3600" dirty="0"/>
              <a:t>Ownership becomes structural, not cultural</a:t>
            </a:r>
            <a:endParaRPr lang="en-GB" sz="3600" dirty="0"/>
          </a:p>
        </p:txBody>
      </p:sp>
    </p:spTree>
    <p:extLst>
      <p:ext uri="{BB962C8B-B14F-4D97-AF65-F5344CB8AC3E}">
        <p14:creationId xmlns:p14="http://schemas.microsoft.com/office/powerpoint/2010/main" val="106365514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799CAB62-D9FA-E52A-A2DB-1DB5AC024453}"/>
              </a:ext>
            </a:extLst>
          </p:cNvPr>
          <p:cNvPicPr>
            <a:picLocks noChangeAspect="1"/>
          </p:cNvPicPr>
          <p:nvPr/>
        </p:nvPicPr>
        <p:blipFill>
          <a:blip r:embed="rId3"/>
          <a:stretch>
            <a:fillRect/>
          </a:stretch>
        </p:blipFill>
        <p:spPr>
          <a:xfrm>
            <a:off x="0" y="5374"/>
            <a:ext cx="12188825" cy="6847252"/>
          </a:xfrm>
          <a:prstGeom prst="rect">
            <a:avLst/>
          </a:prstGeom>
        </p:spPr>
      </p:pic>
    </p:spTree>
    <p:extLst>
      <p:ext uri="{BB962C8B-B14F-4D97-AF65-F5344CB8AC3E}">
        <p14:creationId xmlns:p14="http://schemas.microsoft.com/office/powerpoint/2010/main" val="295683451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AD6755-A1FF-B7BF-A56D-3C072B5FA70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182A6AB0-2C3E-4789-A6C8-9C5F7D502F44}"/>
              </a:ext>
            </a:extLst>
          </p:cNvPr>
          <p:cNvSpPr txBox="1"/>
          <p:nvPr/>
        </p:nvSpPr>
        <p:spPr>
          <a:xfrm>
            <a:off x="522514" y="391886"/>
            <a:ext cx="8431219" cy="646331"/>
          </a:xfrm>
          <a:prstGeom prst="rect">
            <a:avLst/>
          </a:prstGeom>
          <a:noFill/>
        </p:spPr>
        <p:txBody>
          <a:bodyPr wrap="none" rtlCol="0">
            <a:spAutoFit/>
          </a:bodyPr>
          <a:lstStyle/>
          <a:p>
            <a:r>
              <a:rPr lang="en-US" sz="3600" dirty="0"/>
              <a:t>Bounded cognitive load as headcount grows</a:t>
            </a:r>
            <a:endParaRPr lang="en-GB" sz="3600" dirty="0"/>
          </a:p>
        </p:txBody>
      </p:sp>
    </p:spTree>
    <p:extLst>
      <p:ext uri="{BB962C8B-B14F-4D97-AF65-F5344CB8AC3E}">
        <p14:creationId xmlns:p14="http://schemas.microsoft.com/office/powerpoint/2010/main" val="50730104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3A78FAD2-EDC1-87B8-794D-98B00BB06363}"/>
              </a:ext>
            </a:extLst>
          </p:cNvPr>
          <p:cNvPicPr>
            <a:picLocks noChangeAspect="1"/>
          </p:cNvPicPr>
          <p:nvPr/>
        </p:nvPicPr>
        <p:blipFill>
          <a:blip r:embed="rId3"/>
          <a:stretch>
            <a:fillRect/>
          </a:stretch>
        </p:blipFill>
        <p:spPr>
          <a:xfrm>
            <a:off x="0" y="561041"/>
            <a:ext cx="12188825" cy="5735918"/>
          </a:xfrm>
          <a:prstGeom prst="rect">
            <a:avLst/>
          </a:prstGeom>
        </p:spPr>
      </p:pic>
    </p:spTree>
    <p:extLst>
      <p:ext uri="{BB962C8B-B14F-4D97-AF65-F5344CB8AC3E}">
        <p14:creationId xmlns:p14="http://schemas.microsoft.com/office/powerpoint/2010/main" val="7819243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C81C19D-B8B5-A045-8540-E8EFA319618E}"/>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2C35973B-F87B-8B33-54C3-EA899AFACDA5}"/>
              </a:ext>
            </a:extLst>
          </p:cNvPr>
          <p:cNvSpPr txBox="1"/>
          <p:nvPr/>
        </p:nvSpPr>
        <p:spPr>
          <a:xfrm>
            <a:off x="522514" y="391886"/>
            <a:ext cx="8087150" cy="646331"/>
          </a:xfrm>
          <a:prstGeom prst="rect">
            <a:avLst/>
          </a:prstGeom>
          <a:noFill/>
        </p:spPr>
        <p:txBody>
          <a:bodyPr wrap="none" rtlCol="0">
            <a:spAutoFit/>
          </a:bodyPr>
          <a:lstStyle/>
          <a:p>
            <a:r>
              <a:rPr lang="en-US" sz="3600" dirty="0"/>
              <a:t>Incremental migration instead of a rewrite</a:t>
            </a:r>
            <a:endParaRPr lang="en-GB" sz="3600" dirty="0"/>
          </a:p>
        </p:txBody>
      </p:sp>
    </p:spTree>
    <p:extLst>
      <p:ext uri="{BB962C8B-B14F-4D97-AF65-F5344CB8AC3E}">
        <p14:creationId xmlns:p14="http://schemas.microsoft.com/office/powerpoint/2010/main" val="167854375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8E1DEDB-C2B7-7D6B-CA16-7849717E9A36}"/>
              </a:ext>
            </a:extLst>
          </p:cNvPr>
          <p:cNvPicPr>
            <a:picLocks noChangeAspect="1"/>
          </p:cNvPicPr>
          <p:nvPr/>
        </p:nvPicPr>
        <p:blipFill>
          <a:blip r:embed="rId3"/>
          <a:stretch>
            <a:fillRect/>
          </a:stretch>
        </p:blipFill>
        <p:spPr>
          <a:xfrm>
            <a:off x="0" y="274245"/>
            <a:ext cx="12188825" cy="6309509"/>
          </a:xfrm>
          <a:prstGeom prst="rect">
            <a:avLst/>
          </a:prstGeom>
        </p:spPr>
      </p:pic>
    </p:spTree>
    <p:extLst>
      <p:ext uri="{BB962C8B-B14F-4D97-AF65-F5344CB8AC3E}">
        <p14:creationId xmlns:p14="http://schemas.microsoft.com/office/powerpoint/2010/main" val="4066867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E6E5659-012F-9DB5-24D7-BCB6DF4F0BD8}"/>
            </a:ext>
          </a:extLst>
        </p:cNvPr>
        <p:cNvGrpSpPr/>
        <p:nvPr/>
      </p:nvGrpSpPr>
      <p:grpSpPr>
        <a:xfrm>
          <a:off x="0" y="0"/>
          <a:ext cx="0" cy="0"/>
          <a:chOff x="0" y="0"/>
          <a:chExt cx="0" cy="0"/>
        </a:xfrm>
      </p:grpSpPr>
      <p:sp>
        <p:nvSpPr>
          <p:cNvPr id="3" name="Text 4">
            <a:extLst>
              <a:ext uri="{FF2B5EF4-FFF2-40B4-BE49-F238E27FC236}">
                <a16:creationId xmlns:a16="http://schemas.microsoft.com/office/drawing/2014/main" id="{97970F93-03A9-E039-C72E-6674A13A62F6}"/>
              </a:ext>
            </a:extLst>
          </p:cNvPr>
          <p:cNvSpPr/>
          <p:nvPr/>
        </p:nvSpPr>
        <p:spPr>
          <a:xfrm>
            <a:off x="651325" y="1025090"/>
            <a:ext cx="10886173" cy="4807819"/>
          </a:xfrm>
          <a:prstGeom prst="rect">
            <a:avLst/>
          </a:prstGeom>
          <a:noFill/>
          <a:ln/>
        </p:spPr>
        <p:txBody>
          <a:bodyPr wrap="square" rtlCol="0" anchor="t"/>
          <a:lstStyle/>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Shell (host)      :3000</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Home          :3004   INSTANT</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Records       :3001   EAGER</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Prescriptions :3002   STREAMED</a:t>
            </a:r>
          </a:p>
          <a:p>
            <a:pPr marL="0" indent="0" algn="l">
              <a:lnSpc>
                <a:spcPct val="150000"/>
              </a:lnSpc>
              <a:buNone/>
            </a:pPr>
            <a:r>
              <a:rPr lang="en-US" sz="4000" dirty="0">
                <a:solidFill>
                  <a:schemeClr val="bg1">
                    <a:lumMod val="95000"/>
                  </a:schemeClr>
                </a:solidFill>
                <a:latin typeface="Cascadia Code NF" pitchFamily="50" charset="0"/>
                <a:ea typeface="Cascadia Code NF" pitchFamily="50" charset="0"/>
                <a:cs typeface="Cascadia Code NF" pitchFamily="50" charset="0"/>
              </a:rPr>
              <a:t>└── Analytics     :3003   STREAMED</a:t>
            </a:r>
          </a:p>
        </p:txBody>
      </p:sp>
    </p:spTree>
    <p:extLst>
      <p:ext uri="{BB962C8B-B14F-4D97-AF65-F5344CB8AC3E}">
        <p14:creationId xmlns:p14="http://schemas.microsoft.com/office/powerpoint/2010/main" val="4017365065"/>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 2">
            <a:extLst>
              <a:ext uri="{FF2B5EF4-FFF2-40B4-BE49-F238E27FC236}">
                <a16:creationId xmlns:a16="http://schemas.microsoft.com/office/drawing/2014/main" id="{9A9DEAA5-4B4B-A105-176E-3D92BDE4A29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chemeClr val="tx1">
                    <a:lumMod val="95000"/>
                    <a:lumOff val="5000"/>
                  </a:schemeClr>
                </a:solidFill>
                <a:latin typeface="Instrument Serif" pitchFamily="34" charset="0"/>
                <a:ea typeface="Instrument Serif" pitchFamily="34" charset="-122"/>
                <a:cs typeface="Instrument Serif" pitchFamily="34" charset="-120"/>
              </a:rPr>
              <a:t>Module Federation for teams, Suspense for load UX</a:t>
            </a:r>
            <a:endParaRPr lang="en-US" sz="3300" dirty="0">
              <a:solidFill>
                <a:schemeClr val="tx1">
                  <a:lumMod val="95000"/>
                  <a:lumOff val="5000"/>
                </a:schemeClr>
              </a:solidFill>
            </a:endParaRPr>
          </a:p>
        </p:txBody>
      </p:sp>
      <p:graphicFrame>
        <p:nvGraphicFramePr>
          <p:cNvPr id="5" name="Table 0">
            <a:extLst>
              <a:ext uri="{FF2B5EF4-FFF2-40B4-BE49-F238E27FC236}">
                <a16:creationId xmlns:a16="http://schemas.microsoft.com/office/drawing/2014/main" id="{BEEF10F7-35A9-BC5C-5D04-700AD07AB51B}"/>
              </a:ext>
            </a:extLst>
          </p:cNvPr>
          <p:cNvGraphicFramePr>
            <a:graphicFrameLocks noGrp="1"/>
          </p:cNvGraphicFramePr>
          <p:nvPr>
            <p:extLst>
              <p:ext uri="{D42A27DB-BD31-4B8C-83A1-F6EECF244321}">
                <p14:modId xmlns:p14="http://schemas.microsoft.com/office/powerpoint/2010/main" val="525117784"/>
              </p:ext>
            </p:extLst>
          </p:nvPr>
        </p:nvGraphicFramePr>
        <p:xfrm>
          <a:off x="548640" y="2811780"/>
          <a:ext cx="11064240" cy="1950720"/>
        </p:xfrm>
        <a:graphic>
          <a:graphicData uri="http://schemas.openxmlformats.org/drawingml/2006/table">
            <a:tbl>
              <a:tblPr/>
              <a:tblGrid>
                <a:gridCol w="283464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5486400">
                  <a:extLst>
                    <a:ext uri="{9D8B030D-6E8A-4147-A177-3AD203B41FA5}">
                      <a16:colId xmlns:a16="http://schemas.microsoft.com/office/drawing/2014/main" val="20002"/>
                    </a:ext>
                  </a:extLst>
                </a:gridCol>
              </a:tblGrid>
              <a:tr h="411480">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CONCERN</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WHO BENEFITS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WHAT IT SOLVES</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Module Federation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Developers &amp; teams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Independent builds, deploys, onboarding at scale, slow rewrite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411480">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Suspense + skeletons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End users &amp; visitors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 perceived load, no blank screens at runtime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bl>
          </a:graphicData>
        </a:graphic>
      </p:graphicFrame>
    </p:spTree>
    <p:extLst>
      <p:ext uri="{BB962C8B-B14F-4D97-AF65-F5344CB8AC3E}">
        <p14:creationId xmlns:p14="http://schemas.microsoft.com/office/powerpoint/2010/main" val="235597849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0A67CB0-AE6E-AD3B-6D88-D277ECEDAF2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C70C28A-1A5B-7612-2C17-02763C9EB0FC}"/>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9" name="Text 5">
            <a:extLst>
              <a:ext uri="{FF2B5EF4-FFF2-40B4-BE49-F238E27FC236}">
                <a16:creationId xmlns:a16="http://schemas.microsoft.com/office/drawing/2014/main" id="{3A7F6CFF-8EAD-5CE4-CB88-B19F4A45DF12}"/>
              </a:ext>
            </a:extLst>
          </p:cNvPr>
          <p:cNvSpPr/>
          <p:nvPr/>
        </p:nvSpPr>
        <p:spPr>
          <a:xfrm>
            <a:off x="530352" y="3027145"/>
            <a:ext cx="11064240" cy="1645920"/>
          </a:xfrm>
          <a:prstGeom prst="rect">
            <a:avLst/>
          </a:prstGeom>
          <a:noFill/>
          <a:ln/>
        </p:spPr>
        <p:txBody>
          <a:bodyPr wrap="square" rtlCol="0" anchor="t"/>
          <a:lstStyle/>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Without Suspense:  click tab → blank screen → spinner → content</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(slow UX even when team ownership is solid)</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With Suspense:     click tab → skeleton instantly → content resolves</a:t>
            </a:r>
            <a:endParaRPr lang="en-US" sz="2000" dirty="0">
              <a:latin typeface="Cascadia Code" panose="020B0609020000020004" pitchFamily="49" charset="0"/>
              <a:cs typeface="Cascadia Code" panose="020B0609020000020004" pitchFamily="49" charset="0"/>
            </a:endParaRPr>
          </a:p>
          <a:p>
            <a:pPr marL="0" indent="0" algn="l">
              <a:lnSpc>
                <a:spcPts val="1750"/>
              </a:lnSpc>
              <a:buNone/>
            </a:pPr>
            <a:r>
              <a:rPr lang="en-US" sz="2000" dirty="0">
                <a:solidFill>
                  <a:srgbClr val="FAFAF9"/>
                </a:solidFill>
                <a:latin typeface="Cascadia Code" panose="020B0609020000020004" pitchFamily="49" charset="0"/>
                <a:ea typeface="IBM Plex Mono" pitchFamily="34" charset="-122"/>
                <a:cs typeface="Cascadia Code" panose="020B0609020000020004" pitchFamily="49" charset="0"/>
              </a:rPr>
              <a:t>                   (each remote owns its loading choreography)</a:t>
            </a:r>
            <a:endParaRPr lang="en-US" sz="2000" dirty="0">
              <a:latin typeface="Cascadia Code" panose="020B0609020000020004" pitchFamily="49" charset="0"/>
              <a:cs typeface="Cascadia Code" panose="020B0609020000020004" pitchFamily="49" charset="0"/>
            </a:endParaRPr>
          </a:p>
        </p:txBody>
      </p:sp>
    </p:spTree>
    <p:extLst>
      <p:ext uri="{BB962C8B-B14F-4D97-AF65-F5344CB8AC3E}">
        <p14:creationId xmlns:p14="http://schemas.microsoft.com/office/powerpoint/2010/main" val="1974817718"/>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3018527268"/>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A10F704-B53B-2EED-1193-FEE7EC4B028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9E9EA13-4FFE-24D7-7EF5-D34B3A05794A}"/>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Module Federation for teams, Suspense for load UX</a:t>
            </a:r>
            <a:endParaRPr lang="en-US" sz="3300" dirty="0"/>
          </a:p>
        </p:txBody>
      </p:sp>
      <p:sp>
        <p:nvSpPr>
          <p:cNvPr id="10" name="Shape 6">
            <a:extLst>
              <a:ext uri="{FF2B5EF4-FFF2-40B4-BE49-F238E27FC236}">
                <a16:creationId xmlns:a16="http://schemas.microsoft.com/office/drawing/2014/main" id="{5FEB58D6-ECDE-E02B-8FA7-14EBCCF04027}"/>
              </a:ext>
            </a:extLst>
          </p:cNvPr>
          <p:cNvSpPr/>
          <p:nvPr/>
        </p:nvSpPr>
        <p:spPr>
          <a:xfrm>
            <a:off x="548640" y="3007413"/>
            <a:ext cx="32004" cy="530352"/>
          </a:xfrm>
          <a:prstGeom prst="rect">
            <a:avLst/>
          </a:prstGeom>
          <a:solidFill>
            <a:srgbClr val="D4FF00"/>
          </a:solidFill>
          <a:ln/>
        </p:spPr>
        <p:txBody>
          <a:bodyPr/>
          <a:lstStyle/>
          <a:p>
            <a:endParaRPr lang="en-GB" sz="2800"/>
          </a:p>
        </p:txBody>
      </p:sp>
      <p:sp>
        <p:nvSpPr>
          <p:cNvPr id="11" name="Text 7">
            <a:extLst>
              <a:ext uri="{FF2B5EF4-FFF2-40B4-BE49-F238E27FC236}">
                <a16:creationId xmlns:a16="http://schemas.microsoft.com/office/drawing/2014/main" id="{88163821-EBBD-A8F8-6236-54ADD9F8E353}"/>
              </a:ext>
            </a:extLst>
          </p:cNvPr>
          <p:cNvSpPr/>
          <p:nvPr/>
        </p:nvSpPr>
        <p:spPr>
          <a:xfrm>
            <a:off x="731520" y="2952549"/>
            <a:ext cx="10881360" cy="640080"/>
          </a:xfrm>
          <a:prstGeom prst="rect">
            <a:avLst/>
          </a:prstGeom>
          <a:noFill/>
          <a:ln/>
        </p:spPr>
        <p:txBody>
          <a:bodyPr wrap="square" rtlCol="0" anchor="ctr"/>
          <a:lstStyle/>
          <a:p>
            <a:pPr marL="0" indent="0">
              <a:buNone/>
            </a:pPr>
            <a:r>
              <a:rPr lang="en-US" sz="2200" i="1" dirty="0">
                <a:solidFill>
                  <a:srgbClr val="A8A29E"/>
                </a:solidFill>
                <a:latin typeface="Instrument Serif" pitchFamily="34" charset="0"/>
                <a:ea typeface="Instrument Serif" pitchFamily="34" charset="-122"/>
                <a:cs typeface="Instrument Serif" pitchFamily="34" charset="-120"/>
              </a:rPr>
              <a:t>The shell does not know how long a remote takes to load. It renders &lt;Suspense&gt; and moves on.</a:t>
            </a:r>
            <a:endParaRPr lang="en-US" sz="2200" dirty="0"/>
          </a:p>
        </p:txBody>
      </p:sp>
    </p:spTree>
    <p:extLst>
      <p:ext uri="{BB962C8B-B14F-4D97-AF65-F5344CB8AC3E}">
        <p14:creationId xmlns:p14="http://schemas.microsoft.com/office/powerpoint/2010/main" val="360590705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sp>
        <p:nvSpPr>
          <p:cNvPr id="8" name="Text 5"/>
          <p:cNvSpPr/>
          <p:nvPr/>
        </p:nvSpPr>
        <p:spPr>
          <a:xfrm>
            <a:off x="562292" y="2764715"/>
            <a:ext cx="11064240" cy="2834640"/>
          </a:xfrm>
          <a:prstGeom prst="rect">
            <a:avLst/>
          </a:prstGeom>
          <a:noFill/>
          <a:ln/>
        </p:spPr>
        <p:txBody>
          <a:bodyPr wrap="square" rtlCol="0" anchor="t"/>
          <a:lstStyle/>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SHELL :3000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Nav · Router · Theme · Status strip (INSTANT|EAGER|STREAMING)│</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 fallback={&lt;Skeleton /&gt;}&gt;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&lt;RemoteModule /&gt;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&lt;/Suspense&gt;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&lt;/ErrorBoundary&gt;                                           │</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Home :3004  Records :3001  Prescriptions :3002  Analytics :3003</a:t>
            </a:r>
          </a:p>
          <a:p>
            <a:pPr marL="0" indent="0" algn="l">
              <a:lnSpc>
                <a:spcPts val="1610"/>
              </a:lnSpc>
              <a:buNone/>
            </a:pPr>
            <a:r>
              <a:rPr lang="en-US" dirty="0">
                <a:solidFill>
                  <a:schemeClr val="bg1">
                    <a:lumMod val="85000"/>
                  </a:schemeClr>
                </a:solidFill>
                <a:latin typeface="Cascadia Code NF" pitchFamily="50" charset="0"/>
                <a:ea typeface="Cascadia Code NF" pitchFamily="50" charset="0"/>
                <a:cs typeface="Cascadia Code NF" pitchFamily="50" charset="0"/>
              </a:rPr>
              <a:t>     INSTANT     EAGER          STREAMED             STREAMED</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AA861A1-5766-0100-F48C-0BC60C67416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CB3714C4-0515-4143-27BF-EEB17E8FB0B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One shell, four remotes, three loading strategies</a:t>
            </a:r>
            <a:endParaRPr lang="en-US" sz="3300" dirty="0"/>
          </a:p>
        </p:txBody>
      </p:sp>
      <p:graphicFrame>
        <p:nvGraphicFramePr>
          <p:cNvPr id="7" name="Table 0">
            <a:extLst>
              <a:ext uri="{FF2B5EF4-FFF2-40B4-BE49-F238E27FC236}">
                <a16:creationId xmlns:a16="http://schemas.microsoft.com/office/drawing/2014/main" id="{CB1C1346-8D95-7C56-504F-F3B2D438CB92}"/>
              </a:ext>
            </a:extLst>
          </p:cNvPr>
          <p:cNvGraphicFramePr>
            <a:graphicFrameLocks noGrp="1"/>
          </p:cNvGraphicFramePr>
          <p:nvPr>
            <p:extLst>
              <p:ext uri="{D42A27DB-BD31-4B8C-83A1-F6EECF244321}">
                <p14:modId xmlns:p14="http://schemas.microsoft.com/office/powerpoint/2010/main" val="1991796272"/>
              </p:ext>
            </p:extLst>
          </p:nvPr>
        </p:nvGraphicFramePr>
        <p:xfrm>
          <a:off x="754380" y="1889760"/>
          <a:ext cx="11064240" cy="3078480"/>
        </p:xfrm>
        <a:graphic>
          <a:graphicData uri="http://schemas.openxmlformats.org/drawingml/2006/table">
            <a:tbl>
              <a:tblPr/>
              <a:tblGrid>
                <a:gridCol w="155448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766560">
                  <a:extLst>
                    <a:ext uri="{9D8B030D-6E8A-4147-A177-3AD203B41FA5}">
                      <a16:colId xmlns:a16="http://schemas.microsoft.com/office/drawing/2014/main" val="20002"/>
                    </a:ext>
                  </a:extLst>
                </a:gridCol>
              </a:tblGrid>
              <a:tr h="310896">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STRATEGY</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MODULE</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800" b="1" kern="0" spc="200" dirty="0">
                          <a:solidFill>
                            <a:srgbClr val="D4FF00"/>
                          </a:solidFill>
                          <a:latin typeface="IBM Plex Mono" pitchFamily="34" charset="0"/>
                          <a:ea typeface="IBM Plex Mono" pitchFamily="34" charset="-122"/>
                          <a:cs typeface="IBM Plex Mono" pitchFamily="34" charset="-120"/>
                        </a:rPr>
                        <a:t>BEHAVIOR</a:t>
                      </a:r>
                      <a:endParaRPr lang="en-US" sz="18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Instant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Lazy for code splitting, no artificial resource delay; renders when the chunk arrives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Eager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Records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Standalone component, preloaded on shell mount; cached before the click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Streamed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Prescriptions, Analytics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On demand, per-module skeletons + error isolation</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19304397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5">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TECH STACK</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61525050"/>
              </p:ext>
            </p:extLst>
          </p:nvPr>
        </p:nvGraphicFramePr>
        <p:xfrm>
          <a:off x="548640" y="1691640"/>
          <a:ext cx="11064240" cy="3718560"/>
        </p:xfrm>
        <a:graphic>
          <a:graphicData uri="http://schemas.openxmlformats.org/drawingml/2006/table">
            <a:tbl>
              <a:tblPr/>
              <a:tblGrid>
                <a:gridCol w="2194560">
                  <a:extLst>
                    <a:ext uri="{9D8B030D-6E8A-4147-A177-3AD203B41FA5}">
                      <a16:colId xmlns:a16="http://schemas.microsoft.com/office/drawing/2014/main" val="20000"/>
                    </a:ext>
                  </a:extLst>
                </a:gridCol>
                <a:gridCol w="1371600">
                  <a:extLst>
                    <a:ext uri="{9D8B030D-6E8A-4147-A177-3AD203B41FA5}">
                      <a16:colId xmlns:a16="http://schemas.microsoft.com/office/drawing/2014/main" val="20001"/>
                    </a:ext>
                  </a:extLst>
                </a:gridCol>
                <a:gridCol w="7498080">
                  <a:extLst>
                    <a:ext uri="{9D8B030D-6E8A-4147-A177-3AD203B41FA5}">
                      <a16:colId xmlns:a16="http://schemas.microsoft.com/office/drawing/2014/main" val="20002"/>
                    </a:ext>
                  </a:extLst>
                </a:gridCol>
              </a:tblGrid>
              <a:tr h="310896">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TECHNOLOGY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VERSION</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React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19.2</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Suspense fallbacks and lazy loading built into the runtime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Rspack</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2.1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Native Module Federation, Rust React Compiler, sub-second HMR</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TypeScript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7.0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Strict mode, type-safe event contracts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Tailwind CSS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4.0</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@theme tokens for the design system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31089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Vitest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4.1</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Fast component tests with jsdom</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E41C2E6-274A-617F-FA6A-C9AD445E1315}"/>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CD485FF-BBBD-8ADC-3004-A1148011900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6" name="TextBox 5">
            <a:extLst>
              <a:ext uri="{FF2B5EF4-FFF2-40B4-BE49-F238E27FC236}">
                <a16:creationId xmlns:a16="http://schemas.microsoft.com/office/drawing/2014/main" id="{53C79525-4666-8067-9A45-F918748095D8}"/>
              </a:ext>
            </a:extLst>
          </p:cNvPr>
          <p:cNvSpPr txBox="1"/>
          <p:nvPr/>
        </p:nvSpPr>
        <p:spPr>
          <a:xfrm>
            <a:off x="530352" y="1856232"/>
            <a:ext cx="11082528"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index.tsx</a:t>
            </a:r>
            <a:r>
              <a:rPr lang="en-US" sz="2000" b="0" dirty="0">
                <a:solidFill>
                  <a:srgbClr val="8B949E"/>
                </a:solidFill>
                <a:effectLst/>
                <a:latin typeface="Cascadia Code" panose="020B0609020000020004" pitchFamily="49" charset="0"/>
              </a:rPr>
              <a:t> — the ENTIRE file (async boundary for MF)</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"./bootstrap"</a:t>
            </a:r>
            <a:r>
              <a:rPr lang="en-US" sz="2000" b="0" dirty="0">
                <a:solidFill>
                  <a:srgbClr val="BBBEBF"/>
                </a:solidFill>
                <a:effectLst/>
                <a:latin typeface="Cascadia Code" panose="020B0609020000020004" pitchFamily="49" charset="0"/>
              </a:rPr>
              <a:t>);</a:t>
            </a:r>
          </a:p>
          <a:p>
            <a:pPr>
              <a:lnSpc>
                <a:spcPct val="150000"/>
              </a:lnSpc>
              <a:buNone/>
            </a:pP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bootstrap.tsx</a:t>
            </a:r>
            <a:r>
              <a:rPr lang="en-US" sz="2000" b="0" dirty="0">
                <a:solidFill>
                  <a:srgbClr val="8B949E"/>
                </a:solidFill>
                <a:effectLst/>
                <a:latin typeface="Cascadia Code" panose="020B0609020000020004" pitchFamily="49" charset="0"/>
              </a:rPr>
              <a:t> — actual React rendering</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ReactDOM</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"react-</a:t>
            </a:r>
            <a:r>
              <a:rPr lang="en-US" sz="2000" b="0" dirty="0" err="1">
                <a:solidFill>
                  <a:srgbClr val="A5D6FF"/>
                </a:solidFill>
                <a:effectLst/>
                <a:latin typeface="Cascadia Code" panose="020B0609020000020004" pitchFamily="49" charset="0"/>
              </a:rPr>
              <a:t>dom</a:t>
            </a:r>
            <a:r>
              <a:rPr lang="en-US" sz="2000" b="0" dirty="0">
                <a:solidFill>
                  <a:srgbClr val="A5D6FF"/>
                </a:solidFill>
                <a:effectLst/>
                <a:latin typeface="Cascadia Code" panose="020B0609020000020004" pitchFamily="49" charset="0"/>
              </a:rPr>
              <a:t>/client"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C586C0"/>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C586C0"/>
                </a:solidFill>
                <a:effectLst/>
                <a:latin typeface="Cascadia Code" panose="020B0609020000020004" pitchFamily="49" charset="0"/>
              </a:rPr>
              <a:t>from</a:t>
            </a:r>
            <a:r>
              <a:rPr lang="en-US" sz="2000" b="0" dirty="0">
                <a:solidFill>
                  <a:srgbClr val="BBBEBF"/>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err="1">
                <a:solidFill>
                  <a:srgbClr val="C9D1D9"/>
                </a:solidFill>
                <a:effectLst/>
                <a:latin typeface="Cascadia Code" panose="020B0609020000020004" pitchFamily="49" charset="0"/>
              </a:rPr>
              <a:t>ReactDOM</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createRoot</a:t>
            </a:r>
            <a:r>
              <a:rPr lang="en-US" sz="2000" b="0" dirty="0">
                <a:solidFill>
                  <a:srgbClr val="BBBEBF"/>
                </a:solidFill>
                <a:effectLst/>
                <a:latin typeface="Cascadia Code" panose="020B0609020000020004" pitchFamily="49" charset="0"/>
              </a:rPr>
              <a:t>(</a:t>
            </a:r>
            <a:r>
              <a:rPr lang="en-US" sz="2000" b="0" dirty="0" err="1">
                <a:solidFill>
                  <a:srgbClr val="79C0FF"/>
                </a:solidFill>
                <a:effectLst/>
                <a:latin typeface="Cascadia Code" panose="020B0609020000020004" pitchFamily="49" charset="0"/>
              </a:rPr>
              <a:t>document</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getElementById</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"root"</a:t>
            </a:r>
            <a:r>
              <a:rPr lang="en-US" sz="2000" b="0" dirty="0">
                <a:solidFill>
                  <a:srgbClr val="BBBEBF"/>
                </a:solidFill>
                <a:effectLst/>
                <a:latin typeface="Cascadia Code" panose="020B0609020000020004" pitchFamily="49" charset="0"/>
              </a:rPr>
              <a:t>)</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render</a:t>
            </a:r>
            <a:r>
              <a:rPr lang="en-US" sz="2000" b="0" dirty="0">
                <a:solidFill>
                  <a:srgbClr val="BBBEBF"/>
                </a:solidFill>
                <a:effectLst/>
                <a:latin typeface="Cascadia Code" panose="020B0609020000020004" pitchFamily="49" charset="0"/>
              </a:rPr>
              <a:t>(&lt;</a:t>
            </a:r>
            <a:r>
              <a:rPr lang="en-US" sz="2000" b="0" dirty="0" err="1">
                <a:solidFill>
                  <a:srgbClr val="4EC9B0"/>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/&gt;);</a:t>
            </a:r>
          </a:p>
        </p:txBody>
      </p:sp>
    </p:spTree>
    <p:extLst>
      <p:ext uri="{BB962C8B-B14F-4D97-AF65-F5344CB8AC3E}">
        <p14:creationId xmlns:p14="http://schemas.microsoft.com/office/powerpoint/2010/main" val="205453186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83573FA-C24E-CF40-B6E5-09DF31276067}"/>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AD6F17-18CF-5F23-57EC-FA67F08DCA5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Every module is a standalone app</a:t>
            </a:r>
            <a:endParaRPr lang="en-US" sz="3300" dirty="0"/>
          </a:p>
        </p:txBody>
      </p:sp>
      <p:sp>
        <p:nvSpPr>
          <p:cNvPr id="10" name="Text 6">
            <a:extLst>
              <a:ext uri="{FF2B5EF4-FFF2-40B4-BE49-F238E27FC236}">
                <a16:creationId xmlns:a16="http://schemas.microsoft.com/office/drawing/2014/main" id="{2954C471-BE84-C1CE-67C3-2B05D53E3227}"/>
              </a:ext>
            </a:extLst>
          </p:cNvPr>
          <p:cNvSpPr/>
          <p:nvPr/>
        </p:nvSpPr>
        <p:spPr>
          <a:xfrm>
            <a:off x="530352" y="2713616"/>
            <a:ext cx="10991088" cy="3030968"/>
          </a:xfrm>
          <a:prstGeom prst="rect">
            <a:avLst/>
          </a:prstGeom>
          <a:noFill/>
          <a:ln/>
        </p:spPr>
        <p:txBody>
          <a:bodyPr wrap="square" rtlCol="0" anchor="t"/>
          <a:lstStyle/>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Async boundary lets MF negotiate shared deps first</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Without it: white screen + loadShareSync error</a:t>
            </a:r>
            <a:endParaRPr lang="en-US" sz="2800" dirty="0"/>
          </a:p>
          <a:p>
            <a:pPr marL="177800" indent="-177800">
              <a:lnSpc>
                <a:spcPct val="150000"/>
              </a:lnSpc>
              <a:buSzPct val="100000"/>
              <a:buChar char="•"/>
            </a:pPr>
            <a:r>
              <a:rPr lang="en-US" sz="2800" dirty="0">
                <a:solidFill>
                  <a:srgbClr val="FAFAF9"/>
                </a:solidFill>
                <a:latin typeface="DM Sans" pitchFamily="34" charset="0"/>
                <a:ea typeface="DM Sans" pitchFamily="34" charset="-122"/>
                <a:cs typeface="DM Sans" pitchFamily="34" charset="-120"/>
              </a:rPr>
              <a:t>All 5 packages use this pattern</a:t>
            </a:r>
            <a:endParaRPr lang="en-US" sz="2800" dirty="0"/>
          </a:p>
        </p:txBody>
      </p:sp>
    </p:spTree>
    <p:extLst>
      <p:ext uri="{BB962C8B-B14F-4D97-AF65-F5344CB8AC3E}">
        <p14:creationId xmlns:p14="http://schemas.microsoft.com/office/powerpoint/2010/main" val="1928773399"/>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6">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graphicFrame>
        <p:nvGraphicFramePr>
          <p:cNvPr id="7" name="Table 0"/>
          <p:cNvGraphicFramePr>
            <a:graphicFrameLocks noGrp="1"/>
          </p:cNvGraphicFramePr>
          <p:nvPr>
            <p:extLst>
              <p:ext uri="{D42A27DB-BD31-4B8C-83A1-F6EECF244321}">
                <p14:modId xmlns:p14="http://schemas.microsoft.com/office/powerpoint/2010/main" val="371954"/>
              </p:ext>
            </p:extLst>
          </p:nvPr>
        </p:nvGraphicFramePr>
        <p:xfrm>
          <a:off x="543799" y="2466190"/>
          <a:ext cx="11064240" cy="3181576"/>
        </p:xfrm>
        <a:graphic>
          <a:graphicData uri="http://schemas.openxmlformats.org/drawingml/2006/table">
            <a:tbl>
              <a:tblPr/>
              <a:tblGrid>
                <a:gridCol w="1554480">
                  <a:extLst>
                    <a:ext uri="{9D8B030D-6E8A-4147-A177-3AD203B41FA5}">
                      <a16:colId xmlns:a16="http://schemas.microsoft.com/office/drawing/2014/main" val="20000"/>
                    </a:ext>
                  </a:extLst>
                </a:gridCol>
                <a:gridCol w="1591594">
                  <a:extLst>
                    <a:ext uri="{9D8B030D-6E8A-4147-A177-3AD203B41FA5}">
                      <a16:colId xmlns:a16="http://schemas.microsoft.com/office/drawing/2014/main" val="20001"/>
                    </a:ext>
                  </a:extLst>
                </a:gridCol>
                <a:gridCol w="7918166">
                  <a:extLst>
                    <a:ext uri="{9D8B030D-6E8A-4147-A177-3AD203B41FA5}">
                      <a16:colId xmlns:a16="http://schemas.microsoft.com/office/drawing/2014/main" val="20002"/>
                    </a:ext>
                  </a:extLst>
                </a:gridCol>
              </a:tblGrid>
              <a:tr h="671150">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PROPERTY</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WHERE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600" b="1" kern="0" spc="200" dirty="0">
                          <a:solidFill>
                            <a:srgbClr val="D4FF00"/>
                          </a:solidFill>
                          <a:latin typeface="IBM Plex Mono" pitchFamily="34" charset="0"/>
                          <a:ea typeface="IBM Plex Mono" pitchFamily="34" charset="-122"/>
                          <a:cs typeface="IBM Plex Mono" pitchFamily="34" charset="-120"/>
                        </a:rPr>
                        <a:t>PURPOSE</a:t>
                      </a:r>
                      <a:endParaRPr lang="en-US" sz="16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1062846">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exposes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Public API: which components this team shares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remotes</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Host</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Runtime discovery: scope@URL for each remote</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23790">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shared</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Both</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400" dirty="0">
                          <a:solidFill>
                            <a:srgbClr val="FAFAF9"/>
                          </a:solidFill>
                          <a:latin typeface="DM Sans" pitchFamily="34" charset="0"/>
                          <a:ea typeface="DM Sans" pitchFamily="34" charset="-122"/>
                          <a:cs typeface="DM Sans" pitchFamily="34" charset="-120"/>
                        </a:rPr>
                        <a:t>Deduplication: singleton: true means one React for all</a:t>
                      </a:r>
                      <a:endParaRPr lang="en-US" sz="24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CA4228EE-B8FB-46C8-72DC-7E6F4F53BF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DF8527CA-669F-AC37-E066-4F44E5276675}"/>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7" name="TextBox 6">
            <a:extLst>
              <a:ext uri="{FF2B5EF4-FFF2-40B4-BE49-F238E27FC236}">
                <a16:creationId xmlns:a16="http://schemas.microsoft.com/office/drawing/2014/main" id="{3F0CA410-3EBD-0681-3D16-93BE8F3BDC97}"/>
              </a:ext>
            </a:extLst>
          </p:cNvPr>
          <p:cNvSpPr txBox="1"/>
          <p:nvPr/>
        </p:nvSpPr>
        <p:spPr>
          <a:xfrm>
            <a:off x="548640" y="1645920"/>
            <a:ext cx="10902625"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records (remote)</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filename: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"remoteEntry.js"</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exposes: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shared:</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9CDCFE"/>
                </a:solidFill>
                <a:effectLst/>
                <a:latin typeface="Cascadia Code" panose="020B0609020000020004" pitchFamily="49" charset="0"/>
              </a:rPr>
              <a:t>react:</a:t>
            </a:r>
            <a:r>
              <a:rPr lang="en-US" sz="2000" b="0" dirty="0">
                <a:solidFill>
                  <a:srgbClr val="C9D1D9"/>
                </a:solidFill>
                <a:effectLst/>
                <a:latin typeface="Cascadia Code" panose="020B0609020000020004" pitchFamily="49" charset="0"/>
              </a:rPr>
              <a:t> { </a:t>
            </a:r>
            <a:r>
              <a:rPr lang="en-US" sz="2000" b="0" dirty="0">
                <a:solidFill>
                  <a:srgbClr val="9CDCFE"/>
                </a:solidFill>
                <a:effectLst/>
                <a:latin typeface="Cascadia Code" panose="020B0609020000020004" pitchFamily="49" charset="0"/>
              </a:rPr>
              <a:t>singleton:</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148808055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D7FCC17-6B60-FE0A-4A6D-4BD139AEC90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A2BF33E-44BC-F5C0-410E-54DAC42040F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one plugin that makes it federated</a:t>
            </a:r>
            <a:endParaRPr lang="en-US" sz="3300" dirty="0"/>
          </a:p>
        </p:txBody>
      </p:sp>
      <p:sp>
        <p:nvSpPr>
          <p:cNvPr id="6" name="TextBox 5">
            <a:extLst>
              <a:ext uri="{FF2B5EF4-FFF2-40B4-BE49-F238E27FC236}">
                <a16:creationId xmlns:a16="http://schemas.microsoft.com/office/drawing/2014/main" id="{3E190191-0942-FA5F-A48D-1D81D8DC7135}"/>
              </a:ext>
            </a:extLst>
          </p:cNvPr>
          <p:cNvSpPr txBox="1"/>
          <p:nvPr/>
        </p:nvSpPr>
        <p:spPr>
          <a:xfrm>
            <a:off x="560832" y="1645920"/>
            <a:ext cx="11109960" cy="6040628"/>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shell (host)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569CD6"/>
                </a:solidFill>
                <a:effectLst/>
                <a:latin typeface="Cascadia Code" panose="020B0609020000020004" pitchFamily="49" charset="0"/>
              </a:rPr>
              <a:t>new</a:t>
            </a:r>
            <a:r>
              <a:rPr lang="en-US" sz="2000" b="0" dirty="0">
                <a:solidFill>
                  <a:srgbClr val="BBBEBF"/>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rspack</a:t>
            </a:r>
            <a:r>
              <a:rPr lang="en-US" sz="2000" b="0" dirty="0" err="1">
                <a:solidFill>
                  <a:srgbClr val="BBBEBF"/>
                </a:solidFill>
                <a:effectLst/>
                <a:latin typeface="Cascadia Code" panose="020B0609020000020004" pitchFamily="49" charset="0"/>
              </a:rPr>
              <a:t>.</a:t>
            </a:r>
            <a:r>
              <a:rPr lang="en-US" sz="2000" b="0" dirty="0" err="1">
                <a:solidFill>
                  <a:srgbClr val="C9D1D9"/>
                </a:solidFill>
                <a:effectLst/>
                <a:latin typeface="Cascadia Code" panose="020B0609020000020004" pitchFamily="49" charset="0"/>
              </a:rPr>
              <a:t>container</a:t>
            </a:r>
            <a:r>
              <a:rPr lang="en-US" sz="2000" b="0" dirty="0" err="1">
                <a:solidFill>
                  <a:srgbClr val="BBBEBF"/>
                </a:solidFill>
                <a:effectLst/>
                <a:latin typeface="Cascadia Code" panose="020B0609020000020004" pitchFamily="49" charset="0"/>
              </a:rPr>
              <a:t>.</a:t>
            </a:r>
            <a:r>
              <a:rPr lang="en-US" sz="2000" b="0" dirty="0" err="1">
                <a:solidFill>
                  <a:srgbClr val="D2A8FF"/>
                </a:solidFill>
                <a:effectLst/>
                <a:latin typeface="Cascadia Code" panose="020B0609020000020004" pitchFamily="49" charset="0"/>
              </a:rPr>
              <a:t>ModuleFederationPlugin</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name</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"shell"</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remotes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records</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records@http</a:t>
            </a:r>
            <a:r>
              <a:rPr lang="en-US" sz="2000" b="0" dirty="0">
                <a:solidFill>
                  <a:srgbClr val="A5D6FF"/>
                </a:solidFill>
                <a:effectLst/>
                <a:latin typeface="Cascadia Code" panose="020B0609020000020004" pitchFamily="49" charset="0"/>
              </a:rPr>
              <a:t>://localhost:3001/remoteEntry.js"</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 prescriptions, analytics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shared</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react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singleton</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true</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a:t>
            </a:r>
          </a:p>
          <a:p>
            <a:pPr>
              <a:lnSpc>
                <a:spcPct val="150000"/>
              </a:lnSpc>
              <a:buNone/>
            </a:pPr>
            <a:br>
              <a:rPr lang="en-US" sz="2000" b="0" dirty="0">
                <a:solidFill>
                  <a:srgbClr val="BBBEBF"/>
                </a:solidFill>
                <a:effectLst/>
                <a:latin typeface="Cascadia Code" panose="020B0609020000020004" pitchFamily="49" charset="0"/>
              </a:rPr>
            </a:b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67755441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27FD7F61-1237-9A90-EDF5-7890683A2CD2}"/>
              </a:ext>
            </a:extLst>
          </p:cNvPr>
          <p:cNvSpPr txBox="1"/>
          <p:nvPr/>
        </p:nvSpPr>
        <p:spPr>
          <a:xfrm>
            <a:off x="548640" y="1645920"/>
            <a:ext cx="11109833" cy="5959004"/>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function</a:t>
            </a:r>
            <a:r>
              <a:rPr lang="en-US" sz="1600" b="0" dirty="0">
                <a:solidFill>
                  <a:srgbClr val="BBBEBF"/>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createResource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err="1">
                <a:solidFill>
                  <a:srgbClr val="D2A8FF"/>
                </a:solidFill>
                <a:effectLst/>
                <a:latin typeface="Cascadia Code" panose="020B0609020000020004" pitchFamily="49" charset="0"/>
              </a:rPr>
              <a:t>asyncFn</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Resource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T</a:t>
            </a:r>
            <a:r>
              <a:rPr lang="en-US" sz="1600" b="0" dirty="0">
                <a:solidFill>
                  <a:srgbClr val="BBBEBF"/>
                </a:solidFill>
                <a:effectLst/>
                <a:latin typeface="Cascadia Code" panose="020B0609020000020004" pitchFamily="49" charset="0"/>
              </a:rPr>
              <a:t>&gt; </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let</a:t>
            </a:r>
            <a:r>
              <a:rPr lang="en-US" sz="1600" b="0" dirty="0">
                <a:solidFill>
                  <a:srgbClr val="C9D1D9"/>
                </a:solidFill>
                <a:effectLst/>
                <a:latin typeface="Cascadia Code" panose="020B0609020000020004" pitchFamily="49" charset="0"/>
              </a:rPr>
              <a:t> result</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err="1">
                <a:solidFill>
                  <a:srgbClr val="D2A8FF"/>
                </a:solidFill>
                <a:effectLst/>
                <a:latin typeface="Cascadia Code" panose="020B0609020000020004" pitchFamily="49" charset="0"/>
              </a:rPr>
              <a:t>asyncFn</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then</a:t>
            </a: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"success"</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data</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result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FFA657"/>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read</a:t>
            </a: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"pending"</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suspender</a:t>
            </a:r>
            <a:r>
              <a:rPr lang="en-US" sz="1600" b="0" dirty="0">
                <a:solidFill>
                  <a:srgbClr val="C9D1D9"/>
                </a:solidFill>
                <a:effectLst/>
                <a:latin typeface="Cascadia Code" panose="020B0609020000020004" pitchFamily="49" charset="0"/>
              </a:rPr>
              <a:t>; </a:t>
            </a:r>
            <a:r>
              <a:rPr lang="en-US" sz="1600" b="0" dirty="0">
                <a:solidFill>
                  <a:srgbClr val="8B949E"/>
                </a:solidFill>
                <a:effectLst/>
                <a:latin typeface="Cascadia Code" panose="020B0609020000020004" pitchFamily="49" charset="0"/>
              </a:rPr>
              <a:t>// ← Suspense catches this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if</a:t>
            </a:r>
            <a:r>
              <a:rPr lang="en-US" sz="1600" b="0" dirty="0">
                <a:solidFill>
                  <a:srgbClr val="C9D1D9"/>
                </a:solidFill>
                <a:effectLst/>
                <a:latin typeface="Cascadia Code" panose="020B0609020000020004" pitchFamily="49" charset="0"/>
              </a:rPr>
              <a:t> (status </a:t>
            </a:r>
            <a:r>
              <a:rPr lang="en-US" sz="1600" b="0" dirty="0">
                <a:solidFill>
                  <a:srgbClr val="D4D4D4"/>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"error"</a:t>
            </a: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throw</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r>
              <a:rPr lang="en-US" sz="1600" b="0" dirty="0">
                <a:solidFill>
                  <a:srgbClr val="C586C0"/>
                </a:solidFill>
                <a:effectLst/>
                <a:latin typeface="Cascadia Code" panose="020B0609020000020004" pitchFamily="49" charset="0"/>
              </a:rPr>
              <a:t>return</a:t>
            </a:r>
            <a:r>
              <a:rPr lang="en-US" sz="1600" b="0" dirty="0">
                <a:solidFill>
                  <a:srgbClr val="C9D1D9"/>
                </a:solidFill>
                <a:effectLst/>
                <a:latin typeface="Cascadia Code" panose="020B0609020000020004" pitchFamily="49" charset="0"/>
              </a:rPr>
              <a:t> result;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  };</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9D1D9"/>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br>
              <a:rPr lang="en-US" sz="1600" b="0" dirty="0">
                <a:solidFill>
                  <a:srgbClr val="BBBEBF"/>
                </a:solidFill>
                <a:effectLst/>
                <a:latin typeface="Cascadia Code" panose="020B0609020000020004" pitchFamily="49" charset="0"/>
              </a:rPr>
            </a:b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F36B11C2-498C-E3A7-5ECB-71525134B7D1}"/>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5475B689-567C-3783-9E00-B59A44A1460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6" name="TextBox 5">
            <a:extLst>
              <a:ext uri="{FF2B5EF4-FFF2-40B4-BE49-F238E27FC236}">
                <a16:creationId xmlns:a16="http://schemas.microsoft.com/office/drawing/2014/main" id="{AA734C86-9C50-2B8F-51EC-5D8342DDDB2E}"/>
              </a:ext>
            </a:extLst>
          </p:cNvPr>
          <p:cNvSpPr txBox="1"/>
          <p:nvPr/>
        </p:nvSpPr>
        <p:spPr>
          <a:xfrm>
            <a:off x="530352" y="2368100"/>
            <a:ext cx="11064240" cy="2537298"/>
          </a:xfrm>
          <a:prstGeom prst="rect">
            <a:avLst/>
          </a:prstGeom>
          <a:noFill/>
        </p:spPr>
        <p:txBody>
          <a:bodyPr wrap="square">
            <a:spAutoFit/>
          </a:bodyPr>
          <a:lstStyle/>
          <a:p>
            <a:pPr>
              <a:lnSpc>
                <a:spcPct val="150000"/>
              </a:lnSpc>
              <a:buNone/>
            </a:pPr>
            <a:r>
              <a:rPr lang="en-US" b="0" dirty="0">
                <a:solidFill>
                  <a:srgbClr val="FF7B72"/>
                </a:solidFill>
                <a:effectLst/>
                <a:latin typeface="Cascadia Code" panose="020B0609020000020004" pitchFamily="49" charset="0"/>
              </a:rPr>
              <a:t>const</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StreamingMedicalRecords</a:t>
            </a:r>
            <a:r>
              <a:rPr lang="en-US" b="0" dirty="0">
                <a:solidFill>
                  <a:srgbClr val="BBBEBF"/>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resource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getResource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"records-initial"</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2500</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module-level cache</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resource</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read</a:t>
            </a:r>
            <a:r>
              <a:rPr lang="en-US" b="0" dirty="0">
                <a:solidFill>
                  <a:srgbClr val="C9D1D9"/>
                </a:solidFill>
                <a:effectLst/>
                <a:latin typeface="Cascadia Code" panose="020B0609020000020004" pitchFamily="49" charset="0"/>
              </a:rPr>
              <a:t>(); </a:t>
            </a:r>
            <a:r>
              <a:rPr lang="en-US" b="0" dirty="0">
                <a:solidFill>
                  <a:srgbClr val="8B949E"/>
                </a:solidFill>
                <a:effectLst/>
                <a:latin typeface="Cascadia Code" panose="020B0609020000020004" pitchFamily="49" charset="0"/>
              </a:rPr>
              <a:t>// throws while pending → triggers &lt;Suspense&gt; in the shell</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020074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18A4A315-B74B-1B71-8626-7F0E57F72AB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7B7BFD4-D324-3489-F03A-7DD5649CE21D}"/>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The resource pattern: a client-side Suspense fallback</a:t>
            </a:r>
            <a:endParaRPr lang="en-US" sz="3300" dirty="0"/>
          </a:p>
        </p:txBody>
      </p:sp>
      <p:sp>
        <p:nvSpPr>
          <p:cNvPr id="9" name="Text 6">
            <a:extLst>
              <a:ext uri="{FF2B5EF4-FFF2-40B4-BE49-F238E27FC236}">
                <a16:creationId xmlns:a16="http://schemas.microsoft.com/office/drawing/2014/main" id="{F1D9788B-1743-2132-9E8A-B0F6A0099510}"/>
              </a:ext>
            </a:extLst>
          </p:cNvPr>
          <p:cNvSpPr/>
          <p:nvPr/>
        </p:nvSpPr>
        <p:spPr>
          <a:xfrm>
            <a:off x="548640" y="2280621"/>
            <a:ext cx="11109960" cy="2947595"/>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Wrapper only triggers Suspense</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UI lives in the standalone component</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Cache prevents re-fetch on re-render</a:t>
            </a:r>
            <a:endParaRPr lang="en-US" sz="2400" dirty="0">
              <a:latin typeface="Cascadia Code NF" pitchFamily="50" charset="0"/>
              <a:ea typeface="Cascadia Code NF" pitchFamily="50" charset="0"/>
              <a:cs typeface="Cascadia Code NF" pitchFamily="50" charset="0"/>
            </a:endParaRPr>
          </a:p>
          <a:p>
            <a:pPr marL="342900" indent="-342900">
              <a:lnSpc>
                <a:spcPct val="150000"/>
              </a:lnSpc>
              <a:buSzPct val="100000"/>
              <a:buFont typeface="Arial" panose="020B0604020202020204" pitchFamily="34" charset="0"/>
              <a:buChar char="•"/>
            </a:pPr>
            <a:r>
              <a:rPr lang="en-US" sz="2400" dirty="0">
                <a:solidFill>
                  <a:srgbClr val="FAFAF9"/>
                </a:solidFill>
                <a:latin typeface="Cascadia Code NF" pitchFamily="50" charset="0"/>
                <a:ea typeface="Cascadia Code NF" pitchFamily="50" charset="0"/>
                <a:cs typeface="Cascadia Code NF" pitchFamily="50" charset="0"/>
              </a:rPr>
              <a:t>use() hook is the React 19 successor — migration optional</a:t>
            </a:r>
            <a:endParaRPr lang="en-US" sz="24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12939236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6" name="TextBox 5">
            <a:extLst>
              <a:ext uri="{FF2B5EF4-FFF2-40B4-BE49-F238E27FC236}">
                <a16:creationId xmlns:a16="http://schemas.microsoft.com/office/drawing/2014/main" id="{8EACBDE7-07DB-55BB-BB2B-1362F99D6B5A}"/>
              </a:ext>
            </a:extLst>
          </p:cNvPr>
          <p:cNvSpPr txBox="1"/>
          <p:nvPr/>
        </p:nvSpPr>
        <p:spPr>
          <a:xfrm>
            <a:off x="548640" y="1490472"/>
            <a:ext cx="11109959" cy="5220340"/>
          </a:xfrm>
          <a:prstGeom prst="rect">
            <a:avLst/>
          </a:prstGeom>
          <a:noFill/>
        </p:spPr>
        <p:txBody>
          <a:bodyPr wrap="square">
            <a:spAutoFit/>
          </a:bodyPr>
          <a:lstStyle/>
          <a:p>
            <a:pPr>
              <a:lnSpc>
                <a:spcPct val="150000"/>
              </a:lnSpc>
              <a:buNone/>
            </a:pPr>
            <a:r>
              <a:rPr lang="en-US" sz="1600" b="0" dirty="0">
                <a:solidFill>
                  <a:srgbClr val="8B949E"/>
                </a:solidFill>
                <a:effectLst/>
                <a:latin typeface="Cascadia Code" panose="020B0609020000020004" pitchFamily="49" charset="0"/>
              </a:rPr>
              <a:t>// INSTANT — renders the moment the chunk arrives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Home</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BBBEBF"/>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default</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&lt;</a:t>
            </a:r>
            <a:r>
              <a:rPr lang="en-US" sz="1600" b="0" dirty="0" err="1">
                <a:solidFill>
                  <a:srgbClr val="4EC9B0"/>
                </a:solidFill>
                <a:effectLst/>
                <a:latin typeface="Cascadia Code" panose="020B0609020000020004" pitchFamily="49" charset="0"/>
              </a:rPr>
              <a:t>ModuleFallback</a:t>
            </a:r>
            <a:r>
              <a:rPr lang="en-US" sz="1600" b="0" dirty="0">
                <a:solidFill>
                  <a:srgbClr val="C9D1D9"/>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title</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 Unavailable"</a:t>
            </a:r>
            <a:r>
              <a:rPr lang="en-US" sz="1600" b="0" dirty="0">
                <a:solidFill>
                  <a:srgbClr val="C9D1D9"/>
                </a:solidFill>
                <a:effectLst/>
                <a:latin typeface="Cascadia Code" panose="020B0609020000020004" pitchFamily="49" charset="0"/>
              </a:rPr>
              <a:t> /&gt; </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preloaded at shell </a:t>
            </a:r>
            <a:r>
              <a:rPr lang="en-US" sz="1600" b="0" dirty="0" err="1">
                <a:solidFill>
                  <a:srgbClr val="8B949E"/>
                </a:solidFill>
                <a:effectLst/>
                <a:latin typeface="Cascadia Code" panose="020B0609020000020004" pitchFamily="49" charset="0"/>
              </a:rPr>
              <a:t>init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MedicalRecords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STREAMED — on demand with skeletons</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StreamingPrescriptionOrders</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lazy</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BBBEBF"/>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catch</a:t>
            </a:r>
            <a:r>
              <a:rPr lang="en-US" sz="1600" b="0" dirty="0">
                <a:solidFill>
                  <a:srgbClr val="BBBEBF"/>
                </a:solidFill>
                <a:effectLst/>
                <a:latin typeface="Cascadia Code" panose="020B0609020000020004" pitchFamily="49" charset="0"/>
              </a:rPr>
              <a:t>(</a:t>
            </a:r>
            <a:r>
              <a:rPr lang="en-US" sz="1600" b="0" dirty="0">
                <a:solidFill>
                  <a:srgbClr val="8B949E"/>
                </a:solidFill>
                <a:effectLst/>
                <a:latin typeface="Cascadia Code" panose="020B0609020000020004" pitchFamily="49" charset="0"/>
              </a:rPr>
              <a:t>/* fallback */</a:t>
            </a:r>
            <a:r>
              <a:rPr lang="en-US" sz="1600" b="0" dirty="0">
                <a:solidFill>
                  <a:srgbClr val="BBBEBF"/>
                </a:solidFill>
                <a:effectLst/>
                <a:latin typeface="Cascadia Code" panose="020B0609020000020004" pitchFamily="49" charset="0"/>
              </a:rPr>
              <a:t>));</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D9A13BE4-D97B-41AC-C490-09834266D3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70290A1-7021-6741-BCD0-264AA8DB4D5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9" name="Text 6">
            <a:extLst>
              <a:ext uri="{FF2B5EF4-FFF2-40B4-BE49-F238E27FC236}">
                <a16:creationId xmlns:a16="http://schemas.microsoft.com/office/drawing/2014/main" id="{E94D408B-07D3-4042-5C51-61B10B31D198}"/>
              </a:ext>
            </a:extLst>
          </p:cNvPr>
          <p:cNvSpPr/>
          <p:nvPr/>
        </p:nvSpPr>
        <p:spPr>
          <a:xfrm>
            <a:off x="548640" y="2850776"/>
            <a:ext cx="10854466" cy="2377440"/>
          </a:xfrm>
          <a:prstGeom prst="rect">
            <a:avLst/>
          </a:prstGeom>
          <a:noFill/>
          <a:ln/>
        </p:spPr>
        <p:txBody>
          <a:bodyPr wrap="square" rtlCol="0" anchor="t"/>
          <a:lstStyle/>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1: lazy() + .catch() if remote is unreachable</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2: &lt;Suspense&gt; skeleton while loading</a:t>
            </a:r>
            <a:endParaRPr lang="en-US" sz="2800" dirty="0">
              <a:latin typeface="Cascadia Code NF" pitchFamily="50" charset="0"/>
              <a:ea typeface="Cascadia Code NF" pitchFamily="50" charset="0"/>
              <a:cs typeface="Cascadia Code NF" pitchFamily="50" charset="0"/>
            </a:endParaRPr>
          </a:p>
          <a:p>
            <a:pPr>
              <a:lnSpc>
                <a:spcPct val="150000"/>
              </a:lnSpc>
              <a:buSzPct val="100000"/>
            </a:pPr>
            <a:r>
              <a:rPr lang="en-US" sz="2800" dirty="0">
                <a:solidFill>
                  <a:srgbClr val="FAFAF9"/>
                </a:solidFill>
                <a:latin typeface="Cascadia Code NF" pitchFamily="50" charset="0"/>
                <a:ea typeface="Cascadia Code NF" pitchFamily="50" charset="0"/>
                <a:cs typeface="Cascadia Code NF" pitchFamily="50" charset="0"/>
              </a:rPr>
              <a:t>Layer 3: &lt;ErrorBoundary&gt; for runtime errors</a:t>
            </a:r>
            <a:endParaRPr lang="en-US" sz="2800" dirty="0">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45681252"/>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023C68B3-071B-AD8B-3884-8C61D0BFEBB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B92C51D0-4CA1-22EB-417E-6CAEC42D023B}"/>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Three strategies, three layers of resilience</a:t>
            </a:r>
            <a:endParaRPr lang="en-US" sz="3300" dirty="0"/>
          </a:p>
        </p:txBody>
      </p:sp>
      <p:sp>
        <p:nvSpPr>
          <p:cNvPr id="10" name="Shape 7">
            <a:extLst>
              <a:ext uri="{FF2B5EF4-FFF2-40B4-BE49-F238E27FC236}">
                <a16:creationId xmlns:a16="http://schemas.microsoft.com/office/drawing/2014/main" id="{8F73D7A0-8F1C-ACAC-55C3-FF301E5AEA11}"/>
              </a:ext>
            </a:extLst>
          </p:cNvPr>
          <p:cNvSpPr/>
          <p:nvPr/>
        </p:nvSpPr>
        <p:spPr>
          <a:xfrm>
            <a:off x="546354" y="3742046"/>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F3EEE425-EC44-7E52-FB56-0D0C2DD506C0}"/>
              </a:ext>
            </a:extLst>
          </p:cNvPr>
          <p:cNvSpPr/>
          <p:nvPr/>
        </p:nvSpPr>
        <p:spPr>
          <a:xfrm>
            <a:off x="713232" y="3108959"/>
            <a:ext cx="10881360" cy="1796527"/>
          </a:xfrm>
          <a:prstGeom prst="rect">
            <a:avLst/>
          </a:prstGeom>
          <a:noFill/>
          <a:ln/>
        </p:spPr>
        <p:txBody>
          <a:bodyPr wrap="square" rtlCol="0" anchor="ctr"/>
          <a:lstStyle/>
          <a:p>
            <a:pPr marL="0" indent="0">
              <a:buNone/>
            </a:pPr>
            <a:r>
              <a:rPr lang="en-US" sz="2000" i="1" dirty="0">
                <a:solidFill>
                  <a:schemeClr val="bg1">
                    <a:lumMod val="95000"/>
                  </a:schemeClr>
                </a:solidFill>
                <a:latin typeface="Cascadia Code NF" pitchFamily="50" charset="0"/>
                <a:ea typeface="Cascadia Code NF" pitchFamily="50" charset="0"/>
                <a:cs typeface="Cascadia Code NF" pitchFamily="50" charset="0"/>
              </a:rPr>
              <a:t>Why lazy() for eager modules? Remotes are separate builds resolved at runtime. Eager import() warms the cache; lazy() resolves from it.</a:t>
            </a:r>
            <a:endParaRPr lang="en-US" sz="2000" dirty="0">
              <a:solidFill>
                <a:schemeClr val="bg1">
                  <a:lumMod val="95000"/>
                </a:schemeClr>
              </a:solidFill>
              <a:latin typeface="Cascadia Code NF" pitchFamily="50" charset="0"/>
              <a:ea typeface="Cascadia Code NF" pitchFamily="50" charset="0"/>
              <a:cs typeface="Cascadia Code NF" pitchFamily="50" charset="0"/>
            </a:endParaRPr>
          </a:p>
        </p:txBody>
      </p:sp>
    </p:spTree>
    <p:extLst>
      <p:ext uri="{BB962C8B-B14F-4D97-AF65-F5344CB8AC3E}">
        <p14:creationId xmlns:p14="http://schemas.microsoft.com/office/powerpoint/2010/main" val="9959961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9">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graphicFrame>
        <p:nvGraphicFramePr>
          <p:cNvPr id="10" name="Table 0"/>
          <p:cNvGraphicFramePr>
            <a:graphicFrameLocks noGrp="1"/>
          </p:cNvGraphicFramePr>
          <p:nvPr>
            <p:extLst>
              <p:ext uri="{D42A27DB-BD31-4B8C-83A1-F6EECF244321}">
                <p14:modId xmlns:p14="http://schemas.microsoft.com/office/powerpoint/2010/main" val="3572002337"/>
              </p:ext>
            </p:extLst>
          </p:nvPr>
        </p:nvGraphicFramePr>
        <p:xfrm>
          <a:off x="530352" y="2415091"/>
          <a:ext cx="11064240" cy="3148764"/>
        </p:xfrm>
        <a:graphic>
          <a:graphicData uri="http://schemas.openxmlformats.org/drawingml/2006/table">
            <a:tbl>
              <a:tblPr/>
              <a:tblGrid>
                <a:gridCol w="2194560">
                  <a:extLst>
                    <a:ext uri="{9D8B030D-6E8A-4147-A177-3AD203B41FA5}">
                      <a16:colId xmlns:a16="http://schemas.microsoft.com/office/drawing/2014/main" val="20000"/>
                    </a:ext>
                  </a:extLst>
                </a:gridCol>
                <a:gridCol w="2743200">
                  <a:extLst>
                    <a:ext uri="{9D8B030D-6E8A-4147-A177-3AD203B41FA5}">
                      <a16:colId xmlns:a16="http://schemas.microsoft.com/office/drawing/2014/main" val="20001"/>
                    </a:ext>
                  </a:extLst>
                </a:gridCol>
                <a:gridCol w="6126480">
                  <a:extLst>
                    <a:ext uri="{9D8B030D-6E8A-4147-A177-3AD203B41FA5}">
                      <a16:colId xmlns:a16="http://schemas.microsoft.com/office/drawing/2014/main" val="20002"/>
                    </a:ext>
                  </a:extLst>
                </a:gridCol>
              </a:tblGrid>
              <a:tr h="774664">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BUTTON</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OPENS</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PURPOSE</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Settings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Right slide-over drawer</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Shell-owned theme across remotes (CSS vars, localStorage, event)</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99718">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Commands (Ctrl+K)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Searchable palette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Navigate, theme, kill remotes, toggle rings from the keyboard</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74664">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Lab</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Federation Lab panel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Health, kill switches, A/B rings when things break</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EAE97A-93D2-71A3-F8E4-966B5995B41F}"/>
            </a:ext>
          </a:extLst>
        </p:cNvPr>
        <p:cNvGrpSpPr/>
        <p:nvPr/>
      </p:nvGrpSpPr>
      <p:grpSpPr>
        <a:xfrm>
          <a:off x="0" y="0"/>
          <a:ext cx="0" cy="0"/>
          <a:chOff x="0" y="0"/>
          <a:chExt cx="0" cy="0"/>
        </a:xfrm>
      </p:grpSpPr>
      <p:sp>
        <p:nvSpPr>
          <p:cNvPr id="2" name="Shape 0">
            <a:extLst>
              <a:ext uri="{FF2B5EF4-FFF2-40B4-BE49-F238E27FC236}">
                <a16:creationId xmlns:a16="http://schemas.microsoft.com/office/drawing/2014/main" id="{CAE0EB35-0F49-4A4B-7DE8-B524718D36BC}"/>
              </a:ext>
            </a:extLst>
          </p:cNvPr>
          <p:cNvSpPr/>
          <p:nvPr/>
        </p:nvSpPr>
        <p:spPr>
          <a:xfrm>
            <a:off x="548640" y="512064"/>
            <a:ext cx="411480" cy="45720"/>
          </a:xfrm>
          <a:prstGeom prst="rect">
            <a:avLst/>
          </a:prstGeom>
          <a:solidFill>
            <a:srgbClr val="D4FF00"/>
          </a:solidFill>
          <a:ln/>
        </p:spPr>
        <p:txBody>
          <a:bodyPr/>
          <a:lstStyle/>
          <a:p>
            <a:endParaRPr lang="en-GB"/>
          </a:p>
        </p:txBody>
      </p:sp>
      <p:sp>
        <p:nvSpPr>
          <p:cNvPr id="3" name="Text 1">
            <a:extLst>
              <a:ext uri="{FF2B5EF4-FFF2-40B4-BE49-F238E27FC236}">
                <a16:creationId xmlns:a16="http://schemas.microsoft.com/office/drawing/2014/main" id="{53444E75-A680-AD3B-9C48-77C02450A2E6}"/>
              </a:ext>
            </a:extLst>
          </p:cNvPr>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 CONTROLS</a:t>
            </a:r>
            <a:endParaRPr lang="en-US" sz="1050" dirty="0"/>
          </a:p>
        </p:txBody>
      </p:sp>
      <p:sp>
        <p:nvSpPr>
          <p:cNvPr id="4" name="Text 2">
            <a:extLst>
              <a:ext uri="{FF2B5EF4-FFF2-40B4-BE49-F238E27FC236}">
                <a16:creationId xmlns:a16="http://schemas.microsoft.com/office/drawing/2014/main" id="{C0E7C841-CD9B-AC06-4ACA-B40050601CD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Settings · Commands · Federation Lab</a:t>
            </a:r>
            <a:endParaRPr lang="en-US" sz="3300" dirty="0"/>
          </a:p>
        </p:txBody>
      </p:sp>
      <p:sp>
        <p:nvSpPr>
          <p:cNvPr id="9" name="Text 5">
            <a:extLst>
              <a:ext uri="{FF2B5EF4-FFF2-40B4-BE49-F238E27FC236}">
                <a16:creationId xmlns:a16="http://schemas.microsoft.com/office/drawing/2014/main" id="{FD4C2A18-B492-69F0-6C3E-D1498154B66D}"/>
              </a:ext>
            </a:extLst>
          </p:cNvPr>
          <p:cNvSpPr/>
          <p:nvPr/>
        </p:nvSpPr>
        <p:spPr>
          <a:xfrm>
            <a:off x="500768" y="2794299"/>
            <a:ext cx="11064240" cy="2286000"/>
          </a:xfrm>
          <a:prstGeom prst="rect">
            <a:avLst/>
          </a:prstGeom>
          <a:noFill/>
          <a:ln/>
        </p:spPr>
        <p:txBody>
          <a:bodyPr wrap="square" rtlCol="0" anchor="t"/>
          <a:lstStyle/>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Health Monitor: polls each remoteEntry.js every 5s, shows latency</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Kill Switches: simulate remote failure; the rest keeps running</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A/B Deployment: toggle Stable ↔ Canary ring, per-module versions</a:t>
            </a:r>
            <a:endParaRPr lang="en-US" sz="2000" dirty="0"/>
          </a:p>
          <a:p>
            <a:pPr marL="285750" indent="-285750">
              <a:lnSpc>
                <a:spcPct val="150000"/>
              </a:lnSpc>
              <a:buSzPct val="100000"/>
              <a:buFont typeface="Arial" panose="020B0604020202020204" pitchFamily="34" charset="0"/>
              <a:buChar char="•"/>
            </a:pPr>
            <a:r>
              <a:rPr lang="en-US" sz="2000" dirty="0">
                <a:solidFill>
                  <a:srgbClr val="FAFAF9"/>
                </a:solidFill>
                <a:latin typeface="DM Sans" pitchFamily="34" charset="0"/>
                <a:ea typeface="DM Sans" pitchFamily="34" charset="-122"/>
                <a:cs typeface="DM Sans" pitchFamily="34" charset="-120"/>
              </a:rPr>
              <a:t>Theme: CSS variables + localStorage + themeChange event, zero shared imports</a:t>
            </a:r>
            <a:endParaRPr lang="en-US" sz="2000" dirty="0"/>
          </a:p>
        </p:txBody>
      </p:sp>
    </p:spTree>
    <p:extLst>
      <p:ext uri="{BB962C8B-B14F-4D97-AF65-F5344CB8AC3E}">
        <p14:creationId xmlns:p14="http://schemas.microsoft.com/office/powerpoint/2010/main" val="3383769051"/>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10">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graphicFrame>
        <p:nvGraphicFramePr>
          <p:cNvPr id="11" name="Table 0"/>
          <p:cNvGraphicFramePr>
            <a:graphicFrameLocks noGrp="1"/>
          </p:cNvGraphicFramePr>
          <p:nvPr>
            <p:extLst>
              <p:ext uri="{D42A27DB-BD31-4B8C-83A1-F6EECF244321}">
                <p14:modId xmlns:p14="http://schemas.microsoft.com/office/powerpoint/2010/main" val="670497951"/>
              </p:ext>
            </p:extLst>
          </p:nvPr>
        </p:nvGraphicFramePr>
        <p:xfrm>
          <a:off x="553212" y="1992854"/>
          <a:ext cx="11064240" cy="3762486"/>
        </p:xfrm>
        <a:graphic>
          <a:graphicData uri="http://schemas.openxmlformats.org/drawingml/2006/table">
            <a:tbl>
              <a:tblPr/>
              <a:tblGrid>
                <a:gridCol w="201168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gridCol w="4846320">
                  <a:extLst>
                    <a:ext uri="{9D8B030D-6E8A-4147-A177-3AD203B41FA5}">
                      <a16:colId xmlns:a16="http://schemas.microsoft.com/office/drawing/2014/main" val="20002"/>
                    </a:ext>
                  </a:extLst>
                </a:gridCol>
              </a:tblGrid>
              <a:tr h="708070">
                <a:tc>
                  <a:txBody>
                    <a:bodyPr/>
                    <a:lstStyle/>
                    <a:p>
                      <a:pPr marL="0" indent="0">
                        <a:buNone/>
                      </a:pP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MICROSERVICES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MICRO-FRONTENDS (THIS DEMO)</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OS-level (separate processes)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React-level (ErrorBoundary per module)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If one crashes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services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Other modules keep rendering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Blast radius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Network call fails → caller handles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import() fails → fallback + Retry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763604">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risk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None (own memory/CPU)</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Shared browser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bl>
          </a:graphicData>
        </a:graphic>
      </p:graphicFrame>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B014BF7B-684E-0B72-30B8-2D2948BA819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F454F36E-74EF-94D2-89F3-32D082A255EF}"/>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6" name="TextBox 5">
            <a:extLst>
              <a:ext uri="{FF2B5EF4-FFF2-40B4-BE49-F238E27FC236}">
                <a16:creationId xmlns:a16="http://schemas.microsoft.com/office/drawing/2014/main" id="{C2ED0651-2501-248C-0C15-9B1BF11906A1}"/>
              </a:ext>
            </a:extLst>
          </p:cNvPr>
          <p:cNvSpPr txBox="1"/>
          <p:nvPr/>
        </p:nvSpPr>
        <p:spPr>
          <a:xfrm>
            <a:off x="530352" y="2255345"/>
            <a:ext cx="11064240" cy="2347309"/>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lazy() with .catch() — fallback when the remote is down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FF7B72"/>
                </a:solidFill>
                <a:effectLst/>
                <a:latin typeface="Cascadia Code" panose="020B0609020000020004" pitchFamily="49" charset="0"/>
              </a:rPr>
              <a:t>const</a:t>
            </a:r>
            <a:r>
              <a:rPr lang="en-US" sz="2000" b="0" dirty="0">
                <a:solidFill>
                  <a:srgbClr val="BBBEBF"/>
                </a:solidFill>
                <a:effectLst/>
                <a:latin typeface="Cascadia Code" panose="020B0609020000020004" pitchFamily="49" charset="0"/>
              </a:rPr>
              <a:t> </a:t>
            </a:r>
            <a:r>
              <a:rPr lang="en-US" sz="2000" b="0" dirty="0" err="1">
                <a:solidFill>
                  <a:srgbClr val="79C0FF"/>
                </a:solidFill>
                <a:effectLst/>
                <a:latin typeface="Cascadia Code" panose="020B0609020000020004" pitchFamily="49" charset="0"/>
              </a:rPr>
              <a:t>MedicalRecords</a:t>
            </a:r>
            <a:r>
              <a:rPr lang="en-US" sz="2000" b="0" dirty="0">
                <a:solidFill>
                  <a:srgbClr val="BBBEBF"/>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lazy</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569CD6"/>
                </a:solidFill>
                <a:effectLst/>
                <a:latin typeface="Cascadia Code" panose="020B0609020000020004" pitchFamily="49" charset="0"/>
              </a:rPr>
              <a:t>import</a:t>
            </a:r>
            <a:r>
              <a:rPr lang="en-US" sz="2000" b="0" dirty="0">
                <a:solidFill>
                  <a:srgbClr val="BBBEBF"/>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r>
              <a:rPr lang="en-US" sz="2000" b="0" dirty="0">
                <a:solidFill>
                  <a:srgbClr val="D2A8FF"/>
                </a:solidFill>
                <a:effectLst/>
                <a:latin typeface="Cascadia Code" panose="020B0609020000020004" pitchFamily="49" charset="0"/>
              </a:rPr>
              <a:t>catch</a:t>
            </a:r>
            <a:r>
              <a:rPr lang="en-US" sz="2000" b="0" dirty="0">
                <a:solidFill>
                  <a:srgbClr val="BBBEBF"/>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=&gt;</a:t>
            </a:r>
            <a:r>
              <a:rPr lang="en-US" sz="2000" b="0" dirty="0">
                <a:solidFill>
                  <a:srgbClr val="BBBEBF"/>
                </a:solidFill>
                <a:effectLst/>
                <a:latin typeface="Cascadia Code" panose="020B0609020000020004" pitchFamily="49" charset="0"/>
              </a:rPr>
              <a:t> ({</a:t>
            </a:r>
          </a:p>
          <a:p>
            <a:pPr>
              <a:lnSpc>
                <a:spcPct val="150000"/>
              </a:lnSpc>
              <a:buNone/>
            </a:pPr>
            <a:r>
              <a:rPr lang="en-US" sz="2000" b="0" dirty="0">
                <a:solidFill>
                  <a:srgbClr val="BBBEBF"/>
                </a:solidFill>
                <a:effectLst/>
                <a:latin typeface="Cascadia Code" panose="020B0609020000020004" pitchFamily="49" charset="0"/>
              </a:rPr>
              <a:t>    </a:t>
            </a:r>
            <a:r>
              <a:rPr lang="en-US" sz="2000" b="0" dirty="0">
                <a:solidFill>
                  <a:srgbClr val="D2A8FF"/>
                </a:solidFill>
                <a:effectLst/>
                <a:latin typeface="Cascadia Code" panose="020B0609020000020004" pitchFamily="49" charset="0"/>
              </a:rPr>
              <a:t>default</a:t>
            </a:r>
            <a:r>
              <a:rPr lang="en-US" sz="2000" b="0" dirty="0">
                <a:solidFill>
                  <a:srgbClr val="9CDCFE"/>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a:t>
            </a:r>
            <a:r>
              <a:rPr lang="en-US" sz="2000" b="0" dirty="0">
                <a:solidFill>
                  <a:srgbClr val="FF7B72"/>
                </a:solidFill>
                <a:effectLst/>
                <a:latin typeface="Cascadia Code" panose="020B0609020000020004" pitchFamily="49" charset="0"/>
              </a:rPr>
              <a:t>=&gt;</a:t>
            </a:r>
            <a:r>
              <a:rPr lang="en-US" sz="2000" b="0" dirty="0">
                <a:solidFill>
                  <a:srgbClr val="C9D1D9"/>
                </a:solidFill>
                <a:effectLst/>
                <a:latin typeface="Cascadia Code" panose="020B0609020000020004" pitchFamily="49" charset="0"/>
              </a:rPr>
              <a:t> &lt;</a:t>
            </a:r>
            <a:r>
              <a:rPr lang="en-US" sz="2000" b="0" dirty="0" err="1">
                <a:solidFill>
                  <a:srgbClr val="4EC9B0"/>
                </a:solidFill>
                <a:effectLst/>
                <a:latin typeface="Cascadia Code" panose="020B0609020000020004" pitchFamily="49" charset="0"/>
              </a:rPr>
              <a:t>ModuleFallback</a:t>
            </a:r>
            <a:r>
              <a:rPr lang="en-US" sz="2000" b="0" dirty="0">
                <a:solidFill>
                  <a:srgbClr val="C9D1D9"/>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title</a:t>
            </a:r>
            <a:r>
              <a:rPr lang="en-US" sz="2000" b="0" dirty="0">
                <a:solidFill>
                  <a:srgbClr val="C9D1D9"/>
                </a:solidFill>
                <a:effectLst/>
                <a:latin typeface="Cascadia Code" panose="020B0609020000020004" pitchFamily="49" charset="0"/>
              </a:rPr>
              <a:t>=</a:t>
            </a:r>
            <a:r>
              <a:rPr lang="en-US" sz="2000" b="0" dirty="0">
                <a:solidFill>
                  <a:srgbClr val="A5D6FF"/>
                </a:solidFill>
                <a:effectLst/>
                <a:latin typeface="Cascadia Code" panose="020B0609020000020004" pitchFamily="49" charset="0"/>
              </a:rPr>
              <a:t>"Records Unavailable"</a:t>
            </a:r>
            <a:r>
              <a:rPr lang="en-US" sz="2000" b="0" dirty="0">
                <a:solidFill>
                  <a:srgbClr val="C9D1D9"/>
                </a:solidFill>
                <a:effectLst/>
                <a:latin typeface="Cascadia Code" panose="020B0609020000020004" pitchFamily="49" charset="0"/>
              </a:rPr>
              <a:t> /&gt;</a:t>
            </a:r>
            <a:r>
              <a:rPr lang="en-US" sz="2000" b="0" dirty="0">
                <a:solidFill>
                  <a:srgbClr val="BBBEBF"/>
                </a:solidFill>
                <a:effectLst/>
                <a:latin typeface="Cascadia Code" panose="020B0609020000020004" pitchFamily="49" charset="0"/>
              </a:rPr>
              <a:t>,</a:t>
            </a:r>
          </a:p>
          <a:p>
            <a:pPr>
              <a:lnSpc>
                <a:spcPct val="150000"/>
              </a:lnSpc>
              <a:buNone/>
            </a:pPr>
            <a:r>
              <a:rPr lang="en-US" sz="2000" b="0" dirty="0">
                <a:solidFill>
                  <a:srgbClr val="BBBEBF"/>
                </a:solidFill>
                <a:effectLst/>
                <a:latin typeface="Cascadia Code" panose="020B0609020000020004" pitchFamily="49" charset="0"/>
              </a:rPr>
              <a:t>  })));</a:t>
            </a:r>
          </a:p>
        </p:txBody>
      </p:sp>
    </p:spTree>
    <p:extLst>
      <p:ext uri="{BB962C8B-B14F-4D97-AF65-F5344CB8AC3E}">
        <p14:creationId xmlns:p14="http://schemas.microsoft.com/office/powerpoint/2010/main" val="303995171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CE81029-41BE-778E-AFC8-6BB992AE563D}"/>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550239F-D497-7C6C-3792-4231184978D4}"/>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Microservices for the frontend: the 99% case</a:t>
            </a:r>
            <a:endParaRPr lang="en-US" sz="3300" dirty="0"/>
          </a:p>
        </p:txBody>
      </p:sp>
      <p:sp>
        <p:nvSpPr>
          <p:cNvPr id="10" name="Shape 6">
            <a:extLst>
              <a:ext uri="{FF2B5EF4-FFF2-40B4-BE49-F238E27FC236}">
                <a16:creationId xmlns:a16="http://schemas.microsoft.com/office/drawing/2014/main" id="{DECF6F4F-7644-EB5A-23A4-E5D466FB9A70}"/>
              </a:ext>
            </a:extLst>
          </p:cNvPr>
          <p:cNvSpPr/>
          <p:nvPr/>
        </p:nvSpPr>
        <p:spPr>
          <a:xfrm>
            <a:off x="516636" y="3162478"/>
            <a:ext cx="32004" cy="530352"/>
          </a:xfrm>
          <a:prstGeom prst="rect">
            <a:avLst/>
          </a:prstGeom>
          <a:solidFill>
            <a:srgbClr val="D4FF00"/>
          </a:solidFill>
          <a:ln/>
        </p:spPr>
        <p:txBody>
          <a:bodyPr/>
          <a:lstStyle/>
          <a:p>
            <a:endParaRPr lang="en-GB"/>
          </a:p>
        </p:txBody>
      </p:sp>
      <p:sp>
        <p:nvSpPr>
          <p:cNvPr id="7" name="Text 7">
            <a:extLst>
              <a:ext uri="{FF2B5EF4-FFF2-40B4-BE49-F238E27FC236}">
                <a16:creationId xmlns:a16="http://schemas.microsoft.com/office/drawing/2014/main" id="{36CEC488-E4E0-2990-E09E-7F561CA76F0C}"/>
              </a:ext>
            </a:extLst>
          </p:cNvPr>
          <p:cNvSpPr/>
          <p:nvPr/>
        </p:nvSpPr>
        <p:spPr>
          <a:xfrm>
            <a:off x="713232" y="2788919"/>
            <a:ext cx="10881360" cy="1277471"/>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Module-level crashes, network failures, and bad deploys are isolated at the boundary. Tab-level resource exhaustion is still a shared-runtime risk.</a:t>
            </a:r>
            <a:endParaRPr lang="en-US" sz="2400" dirty="0">
              <a:solidFill>
                <a:schemeClr val="bg1">
                  <a:lumMod val="95000"/>
                </a:schemeClr>
              </a:solidFill>
            </a:endParaRPr>
          </a:p>
        </p:txBody>
      </p:sp>
    </p:spTree>
    <p:extLst>
      <p:ext uri="{BB962C8B-B14F-4D97-AF65-F5344CB8AC3E}">
        <p14:creationId xmlns:p14="http://schemas.microsoft.com/office/powerpoint/2010/main" val="352831163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11">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6" name="TextBox 5">
            <a:extLst>
              <a:ext uri="{FF2B5EF4-FFF2-40B4-BE49-F238E27FC236}">
                <a16:creationId xmlns:a16="http://schemas.microsoft.com/office/drawing/2014/main" id="{EC89A069-4C8E-07CF-CB27-15FA8E39CCC7}"/>
              </a:ext>
            </a:extLst>
          </p:cNvPr>
          <p:cNvSpPr txBox="1"/>
          <p:nvPr/>
        </p:nvSpPr>
        <p:spPr>
          <a:xfrm>
            <a:off x="526099" y="1412214"/>
            <a:ext cx="11064240" cy="5445786"/>
          </a:xfrm>
          <a:prstGeom prst="rect">
            <a:avLst/>
          </a:prstGeom>
          <a:noFill/>
        </p:spPr>
        <p:txBody>
          <a:bodyPr wrap="square">
            <a:spAutoFit/>
          </a:bodyPr>
          <a:lstStyle/>
          <a:p>
            <a:pPr>
              <a:lnSpc>
                <a:spcPct val="150000"/>
              </a:lnSpc>
              <a:buNone/>
            </a:pPr>
            <a:r>
              <a:rPr lang="en-US" b="0" dirty="0">
                <a:solidFill>
                  <a:srgbClr val="8B949E"/>
                </a:solidFill>
                <a:effectLst/>
                <a:latin typeface="Cascadia Code" panose="020B0609020000020004" pitchFamily="49" charset="0"/>
              </a:rPr>
              <a:t>// Records dispatches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79C0FF"/>
                </a:solidFill>
                <a:effectLst/>
                <a:latin typeface="Cascadia Code" panose="020B0609020000020004" pitchFamily="49" charset="0"/>
              </a:rPr>
              <a:t>window</a:t>
            </a:r>
            <a:r>
              <a:rPr lang="en-US" b="0" dirty="0" err="1">
                <a:solidFill>
                  <a:srgbClr val="BBBEBF"/>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dispatchEvent</a:t>
            </a:r>
            <a:r>
              <a:rPr lang="en-US" b="0" dirty="0">
                <a:solidFill>
                  <a:srgbClr val="BBBEBF"/>
                </a:solidFill>
                <a:effectLst/>
                <a:latin typeface="Cascadia Code" panose="020B0609020000020004" pitchFamily="49" charset="0"/>
              </a:rPr>
              <a:t>(</a:t>
            </a:r>
            <a:r>
              <a:rPr lang="en-US" b="0" dirty="0">
                <a:solidFill>
                  <a:srgbClr val="569CD6"/>
                </a:solidFill>
                <a:effectLst/>
                <a:latin typeface="Cascadia Code" panose="020B0609020000020004" pitchFamily="49" charset="0"/>
              </a:rPr>
              <a:t>new</a:t>
            </a:r>
            <a:r>
              <a:rPr lang="en-US" b="0" dirty="0">
                <a:solidFill>
                  <a:srgbClr val="BBBEBF"/>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CustomEvent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a:p>
            <a:pPr>
              <a:lnSpc>
                <a:spcPct val="150000"/>
              </a:lnSpc>
              <a:buNone/>
            </a:pP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detail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 id</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name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"Sarah Chen prescription"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price</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2499.99</a:t>
            </a:r>
            <a:r>
              <a:rPr lang="en-US" b="0" dirty="0">
                <a:solidFill>
                  <a:srgbClr val="C9D1D9"/>
                </a:solidFill>
                <a:effectLst/>
                <a:latin typeface="Cascadia Code" panose="020B0609020000020004" pitchFamily="49" charset="0"/>
              </a:rPr>
              <a:t>, quantity</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 }</a:t>
            </a:r>
            <a:r>
              <a:rPr lang="en-US" b="0" dirty="0">
                <a:solidFill>
                  <a:srgbClr val="BBBEBF"/>
                </a:solidFill>
                <a:effectLst/>
                <a:latin typeface="Cascadia Code" panose="020B0609020000020004" pitchFamily="49" charset="0"/>
              </a:rPr>
              <a:t>,</a:t>
            </a:r>
          </a:p>
          <a:p>
            <a:pPr>
              <a:lnSpc>
                <a:spcPct val="150000"/>
              </a:lnSpc>
              <a:buNone/>
            </a:pPr>
            <a:r>
              <a:rPr lang="en-US" b="0" dirty="0">
                <a:solidFill>
                  <a:srgbClr val="BBBEBF"/>
                </a:solidFill>
                <a:effectLst/>
                <a:latin typeface="Cascadia Code" panose="020B0609020000020004" pitchFamily="49" charset="0"/>
              </a:rPr>
              <a:t>}));</a:t>
            </a:r>
            <a:endParaRPr lang="en-US" dirty="0">
              <a:solidFill>
                <a:srgbClr val="BBBEBF"/>
              </a:solidFill>
              <a:latin typeface="Cascadia Code" panose="020B0609020000020004" pitchFamily="49" charset="0"/>
            </a:endParaRP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8B949E"/>
                </a:solidFill>
                <a:effectLst/>
                <a:latin typeface="Cascadia Code" panose="020B0609020000020004" pitchFamily="49" charset="0"/>
              </a:rPr>
              <a:t>// Prescriptions listens</a:t>
            </a:r>
            <a:endParaRPr lang="en-US" b="0" dirty="0">
              <a:solidFill>
                <a:srgbClr val="BBBEBF"/>
              </a:solidFill>
              <a:effectLst/>
              <a:latin typeface="Cascadia Code" panose="020B0609020000020004" pitchFamily="49" charset="0"/>
            </a:endParaRPr>
          </a:p>
          <a:p>
            <a:pPr>
              <a:lnSpc>
                <a:spcPct val="150000"/>
              </a:lnSpc>
              <a:buNone/>
            </a:pPr>
            <a:r>
              <a:rPr lang="en-US" b="0" dirty="0" err="1">
                <a:solidFill>
                  <a:srgbClr val="D2A8FF"/>
                </a:solidFill>
                <a:effectLst/>
                <a:latin typeface="Cascadia Code" panose="020B0609020000020004" pitchFamily="49" charset="0"/>
              </a:rPr>
              <a:t>useEffect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4EC9B0"/>
                </a:solidFill>
                <a:effectLst/>
                <a:latin typeface="Cascadia Code" panose="020B0609020000020004" pitchFamily="49" charset="0"/>
              </a:rPr>
              <a:t>AddPrescriptionEvent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setPrescriptionItems</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prev</a:t>
            </a:r>
            <a:r>
              <a:rPr lang="en-US" b="0" dirty="0">
                <a:solidFill>
                  <a:srgbClr val="C9D1D9"/>
                </a:solidFill>
                <a:effectLst/>
                <a:latin typeface="Cascadia Code" panose="020B0609020000020004" pitchFamily="49" charset="0"/>
              </a:rPr>
              <a:t>, </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 []);</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24FE5D79-5CD0-B97E-2697-5F79449D6A79}"/>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021D4B7C-4A30-24EF-1012-761CB49B4133}"/>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7" name="TextBox 6">
            <a:extLst>
              <a:ext uri="{FF2B5EF4-FFF2-40B4-BE49-F238E27FC236}">
                <a16:creationId xmlns:a16="http://schemas.microsoft.com/office/drawing/2014/main" id="{CECFE2CF-8D3F-9D2B-2ED0-BC252968ADAE}"/>
              </a:ext>
            </a:extLst>
          </p:cNvPr>
          <p:cNvSpPr txBox="1"/>
          <p:nvPr/>
        </p:nvSpPr>
        <p:spPr>
          <a:xfrm>
            <a:off x="579262" y="2243193"/>
            <a:ext cx="11292840" cy="3270639"/>
          </a:xfrm>
          <a:prstGeom prst="rect">
            <a:avLst/>
          </a:prstGeom>
          <a:noFill/>
        </p:spPr>
        <p:txBody>
          <a:bodyPr wrap="square">
            <a:spAutoFit/>
          </a:bodyPr>
          <a:lstStyle/>
          <a:p>
            <a:pPr>
              <a:lnSpc>
                <a:spcPct val="150000"/>
              </a:lnSpc>
              <a:buNone/>
            </a:pPr>
            <a:r>
              <a:rPr lang="en-US" sz="2000" b="0" dirty="0">
                <a:solidFill>
                  <a:srgbClr val="569CD6"/>
                </a:solidFill>
                <a:effectLst/>
                <a:latin typeface="Cascadia Code" panose="020B0609020000020004" pitchFamily="49" charset="0"/>
              </a:rPr>
              <a:t>declare</a:t>
            </a:r>
            <a:r>
              <a:rPr lang="en-US" sz="2000" b="0" dirty="0">
                <a:solidFill>
                  <a:srgbClr val="BBBEBF"/>
                </a:solidFill>
                <a:effectLst/>
                <a:latin typeface="Cascadia Code" panose="020B0609020000020004" pitchFamily="49" charset="0"/>
              </a:rPr>
              <a:t> </a:t>
            </a:r>
            <a:r>
              <a:rPr lang="en-US" sz="2000" b="0" dirty="0">
                <a:solidFill>
                  <a:srgbClr val="4EC9B0"/>
                </a:solidFill>
                <a:effectLst/>
                <a:latin typeface="Cascadia Code" panose="020B0609020000020004" pitchFamily="49" charset="0"/>
              </a:rPr>
              <a:t>global</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FF7B72"/>
                </a:solidFill>
                <a:effectLst/>
                <a:latin typeface="Cascadia Code" panose="020B0609020000020004" pitchFamily="49" charset="0"/>
              </a:rPr>
              <a:t>interface</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WindowEventMap</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addPrescription</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AddPrescriptionEvent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navigateToModule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CustomEvent</a:t>
            </a:r>
            <a:r>
              <a:rPr lang="en-US" sz="2000" b="0" dirty="0">
                <a:solidFill>
                  <a:srgbClr val="C9D1D9"/>
                </a:solidFill>
                <a:effectLst/>
                <a:latin typeface="Cascadia Code" panose="020B0609020000020004" pitchFamily="49" charset="0"/>
              </a:rPr>
              <a:t>&lt;{ module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"home"</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a:solidFill>
                  <a:srgbClr val="C9D1D9"/>
                </a:solidFill>
                <a:effectLst/>
                <a:latin typeface="Cascadia Code" panose="020B0609020000020004" pitchFamily="49" charset="0"/>
              </a:rPr>
              <a:t> </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 }&gt;;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FFA657"/>
                </a:solidFill>
                <a:effectLst/>
                <a:latin typeface="Cascadia Code" panose="020B0609020000020004" pitchFamily="49" charset="0"/>
              </a:rPr>
              <a:t>themeChange</a:t>
            </a:r>
            <a:r>
              <a:rPr lang="en-US" sz="2000" b="0" dirty="0">
                <a:solidFill>
                  <a:srgbClr val="D4D4D4"/>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 </a:t>
            </a:r>
            <a:r>
              <a:rPr lang="en-US" sz="2000" b="0" dirty="0" err="1">
                <a:solidFill>
                  <a:srgbClr val="4EC9B0"/>
                </a:solidFill>
                <a:effectLst/>
                <a:latin typeface="Cascadia Code" panose="020B0609020000020004" pitchFamily="49" charset="0"/>
              </a:rPr>
              <a:t>ThemeChangeEvent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826746188"/>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E9266DA0-9E88-2B61-A14C-981001959880}"/>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9AA07FA8-4CA1-BF85-BD19-4998B6EE63F9}"/>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Prefer events over shared state</a:t>
            </a:r>
            <a:endParaRPr lang="en-US" sz="3300" dirty="0"/>
          </a:p>
        </p:txBody>
      </p:sp>
      <p:sp>
        <p:nvSpPr>
          <p:cNvPr id="9" name="Text 6">
            <a:extLst>
              <a:ext uri="{FF2B5EF4-FFF2-40B4-BE49-F238E27FC236}">
                <a16:creationId xmlns:a16="http://schemas.microsoft.com/office/drawing/2014/main" id="{74D97750-5AE7-6359-54C3-EED46048AEDD}"/>
              </a:ext>
            </a:extLst>
          </p:cNvPr>
          <p:cNvSpPr/>
          <p:nvPr/>
        </p:nvSpPr>
        <p:spPr>
          <a:xfrm>
            <a:off x="548640" y="2474259"/>
            <a:ext cx="11064240" cy="3291840"/>
          </a:xfrm>
          <a:prstGeom prst="rect">
            <a:avLst/>
          </a:prstGeom>
          <a:noFill/>
          <a:ln/>
        </p:spPr>
        <p:txBody>
          <a:bodyPr wrap="square" rtlCol="0" anchor="t"/>
          <a:lstStyle/>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No direct cross-module imports</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Shell stays the only router owner</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Works across deployments when the event contract stays compatible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Framework-agnostic (React, Vue, Svelte)</a:t>
            </a:r>
            <a:endParaRPr lang="en-US" sz="2400" dirty="0"/>
          </a:p>
          <a:p>
            <a:pPr marL="342900" indent="-342900">
              <a:lnSpc>
                <a:spcPct val="150000"/>
              </a:lnSpc>
              <a:buSzPct val="100000"/>
              <a:buFont typeface="Arial" panose="020B0604020202020204" pitchFamily="34" charset="0"/>
              <a:buChar char="•"/>
            </a:pPr>
            <a:r>
              <a:rPr lang="en-US" sz="2400" dirty="0">
                <a:solidFill>
                  <a:srgbClr val="FAFAF9"/>
                </a:solidFill>
                <a:latin typeface="DM Sans" pitchFamily="34" charset="0"/>
                <a:ea typeface="DM Sans" pitchFamily="34" charset="-122"/>
                <a:cs typeface="DM Sans" pitchFamily="34" charset="-120"/>
              </a:rPr>
              <a:t>Typed via WindowEventMap augmentation</a:t>
            </a:r>
            <a:endParaRPr lang="en-US" sz="2400" dirty="0"/>
          </a:p>
        </p:txBody>
      </p:sp>
    </p:spTree>
    <p:extLst>
      <p:ext uri="{BB962C8B-B14F-4D97-AF65-F5344CB8AC3E}">
        <p14:creationId xmlns:p14="http://schemas.microsoft.com/office/powerpoint/2010/main" val="9962754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12">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8" name="Text 5"/>
          <p:cNvSpPr/>
          <p:nvPr/>
        </p:nvSpPr>
        <p:spPr>
          <a:xfrm>
            <a:off x="548640" y="1691639"/>
            <a:ext cx="11064240" cy="4741433"/>
          </a:xfrm>
          <a:prstGeom prst="rect">
            <a:avLst/>
          </a:prstGeom>
          <a:noFill/>
          <a:ln/>
        </p:spPr>
        <p:txBody>
          <a:bodyPr wrap="square" rtlCol="0" anchor="t"/>
          <a:lstStyle/>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Shell (owns 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Persists to localStorage ("mf-demo-theme")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Applies CSS variables to document.documentElement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Exposes window.__MF_THEME__ bridge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Broadcasts "themeChange" event</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Records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Prescriptions → useActiveTheme()</a:t>
            </a:r>
            <a:endParaRPr lang="en-US" sz="2400" dirty="0">
              <a:latin typeface="Cascadia Code NF" pitchFamily="50" charset="0"/>
              <a:ea typeface="Cascadia Code NF" pitchFamily="50" charset="0"/>
              <a:cs typeface="Cascadia Code NF" pitchFamily="50" charset="0"/>
            </a:endParaRPr>
          </a:p>
          <a:p>
            <a:pPr marL="0" indent="0" algn="l">
              <a:lnSpc>
                <a:spcPct val="150000"/>
              </a:lnSpc>
              <a:buNone/>
            </a:pPr>
            <a:r>
              <a:rPr lang="en-US" sz="2400" dirty="0">
                <a:solidFill>
                  <a:srgbClr val="FAFAF9"/>
                </a:solidFill>
                <a:latin typeface="Cascadia Code NF" pitchFamily="50" charset="0"/>
                <a:ea typeface="Cascadia Code NF" pitchFamily="50" charset="0"/>
                <a:cs typeface="Cascadia Code NF" pitchFamily="50" charset="0"/>
              </a:rPr>
              <a:t>        └── Analytics     → useActiveTheme()</a:t>
            </a:r>
            <a:endParaRPr lang="en-US" sz="2400" dirty="0">
              <a:latin typeface="Cascadia Code NF" pitchFamily="50" charset="0"/>
              <a:ea typeface="Cascadia Code NF" pitchFamily="50" charset="0"/>
              <a:cs typeface="Cascadia Code NF" pitchFamily="50" charset="0"/>
            </a:endParaRP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89E97B58-0CD3-AD55-4AEF-098ADBAE585B}"/>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15D9AD5-FE72-143D-F9C7-A2ABF94A9B96}"/>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6" name="TextBox 5">
            <a:extLst>
              <a:ext uri="{FF2B5EF4-FFF2-40B4-BE49-F238E27FC236}">
                <a16:creationId xmlns:a16="http://schemas.microsoft.com/office/drawing/2014/main" id="{ADB8661F-7859-C976-7A08-6DB82C4352FB}"/>
              </a:ext>
            </a:extLst>
          </p:cNvPr>
          <p:cNvSpPr txBox="1"/>
          <p:nvPr/>
        </p:nvSpPr>
        <p:spPr>
          <a:xfrm>
            <a:off x="222941" y="1645920"/>
            <a:ext cx="11827659" cy="5030288"/>
          </a:xfrm>
          <a:prstGeom prst="rect">
            <a:avLst/>
          </a:prstGeom>
          <a:noFill/>
        </p:spPr>
        <p:txBody>
          <a:bodyPr wrap="square">
            <a:spAutoFit/>
          </a:bodyPr>
          <a:lstStyle/>
          <a:p>
            <a:pPr>
              <a:lnSpc>
                <a:spcPct val="150000"/>
              </a:lnSpc>
              <a:buNone/>
            </a:pPr>
            <a:r>
              <a:rPr lang="en-US" b="0" dirty="0">
                <a:solidFill>
                  <a:srgbClr val="C586C0"/>
                </a:solidFill>
                <a:effectLst/>
                <a:latin typeface="Cascadia Code" panose="020B0609020000020004" pitchFamily="49" charset="0"/>
              </a:rPr>
              <a:t>export</a:t>
            </a:r>
            <a:r>
              <a:rPr lang="en-US" b="0" dirty="0">
                <a:solidFill>
                  <a:srgbClr val="BBBEBF"/>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function</a:t>
            </a:r>
            <a:r>
              <a:rPr lang="en-US" b="0" dirty="0">
                <a:solidFill>
                  <a:srgbClr val="BBBEBF"/>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useActiveTheme</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useState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dirty="0">
                <a:solidFill>
                  <a:srgbClr val="BBBEBF"/>
                </a:solidFill>
                <a:latin typeface="Cascadia Code" panose="020B0609020000020004" pitchFamily="49" charset="0"/>
              </a:rPr>
              <a:t> </a:t>
            </a:r>
            <a:r>
              <a:rPr lang="en-US" b="0" dirty="0">
                <a:solidFill>
                  <a:srgbClr val="79C0FF"/>
                </a:solidFill>
                <a:effectLst/>
                <a:latin typeface="Cascadia Code" panose="020B0609020000020004" pitchFamily="49" charset="0"/>
              </a:rPr>
              <a:t>window</a:t>
            </a:r>
            <a:r>
              <a:rPr lang="en-US" b="0" dirty="0">
                <a:solidFill>
                  <a:srgbClr val="C9D1D9"/>
                </a:solidFill>
                <a:effectLst/>
                <a:latin typeface="Cascadia Code" panose="020B0609020000020004" pitchFamily="49" charset="0"/>
              </a:rPr>
              <a:t>.__MF_THEME__?.</a:t>
            </a:r>
            <a:r>
              <a:rPr lang="en-US" b="0" dirty="0" err="1">
                <a:solidFill>
                  <a:srgbClr val="D2A8FF"/>
                </a:solidFill>
                <a:effectLst/>
                <a:latin typeface="Cascadia Code" panose="020B0609020000020004" pitchFamily="49" charset="0"/>
              </a:rPr>
              <a:t>getTheme</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A5D6FF"/>
                </a:solidFill>
                <a:effectLst/>
                <a:latin typeface="Cascadia Code" panose="020B0609020000020004" pitchFamily="49" charset="0"/>
              </a:rPr>
              <a:t>"dark"</a:t>
            </a:r>
            <a:r>
              <a:rPr lang="en-US" b="0" dirty="0">
                <a:solidFill>
                  <a:srgbClr val="C9D1D9"/>
                </a:solidFill>
                <a:effectLst/>
                <a:latin typeface="Cascadia Code" panose="020B0609020000020004" pitchFamily="49" charset="0"/>
              </a:rPr>
              <a: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useEffect</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FFA657"/>
                </a:solidFill>
                <a:effectLst/>
                <a:latin typeface="Cascadia Code" panose="020B0609020000020004" pitchFamily="49" charset="0"/>
              </a:rPr>
              <a:t>e</a:t>
            </a: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=&gt;</a:t>
            </a:r>
            <a:r>
              <a:rPr lang="en-US" b="0" dirty="0">
                <a:solidFill>
                  <a:srgbClr val="C9D1D9"/>
                </a:solidFill>
                <a:effectLst/>
                <a:latin typeface="Cascadia Code" panose="020B0609020000020004" pitchFamily="49" charset="0"/>
              </a:rPr>
              <a:t> </a:t>
            </a:r>
            <a:r>
              <a:rPr lang="en-US" b="0" dirty="0" err="1">
                <a:solidFill>
                  <a:srgbClr val="D2A8FF"/>
                </a:solidFill>
                <a:effectLst/>
                <a:latin typeface="Cascadia Code" panose="020B0609020000020004" pitchFamily="49" charset="0"/>
              </a:rPr>
              <a:t>setTheme</a:t>
            </a:r>
            <a:r>
              <a:rPr lang="en-US" b="0" dirty="0">
                <a:solidFill>
                  <a:srgbClr val="C9D1D9"/>
                </a:solidFill>
                <a:effectLst/>
                <a:latin typeface="Cascadia Code" panose="020B0609020000020004" pitchFamily="49" charset="0"/>
              </a:rPr>
              <a:t>(</a:t>
            </a:r>
            <a:r>
              <a:rPr lang="en-US" b="0" dirty="0" err="1">
                <a:solidFill>
                  <a:srgbClr val="FFA657"/>
                </a:solidFill>
                <a:effectLst/>
                <a:latin typeface="Cascadia Code" panose="020B0609020000020004" pitchFamily="49" charset="0"/>
              </a:rPr>
              <a:t>e</a:t>
            </a:r>
            <a:r>
              <a:rPr lang="en-US" b="0" dirty="0" err="1">
                <a:solidFill>
                  <a:srgbClr val="C9D1D9"/>
                </a:solidFill>
                <a:effectLst/>
                <a:latin typeface="Cascadia Code" panose="020B0609020000020004" pitchFamily="49" charset="0"/>
              </a:rPr>
              <a:t>.detail.theme</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removeEventListener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themeChange</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 []);</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return</a:t>
            </a:r>
            <a:r>
              <a:rPr lang="en-US" b="0" dirty="0">
                <a:solidFill>
                  <a:srgbClr val="C9D1D9"/>
                </a:solidFill>
                <a:effectLst/>
                <a:latin typeface="Cascadia Code" panose="020B0609020000020004" pitchFamily="49" charset="0"/>
              </a:rPr>
              <a:t> { theme, label</a:t>
            </a:r>
            <a:r>
              <a:rPr lang="en-US" b="0" dirty="0">
                <a:solidFill>
                  <a:srgbClr val="9CDCFE"/>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THEME_LABELS</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theme</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p:txBody>
      </p:sp>
    </p:spTree>
    <p:extLst>
      <p:ext uri="{BB962C8B-B14F-4D97-AF65-F5344CB8AC3E}">
        <p14:creationId xmlns:p14="http://schemas.microsoft.com/office/powerpoint/2010/main" val="3633742210"/>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B12A6B0-1201-0953-1A3D-8D6D8D8715CC}"/>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DAE27F7-5CB4-3D6D-47FE-B530FCF25510}"/>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Shell-owned theming across the federation</a:t>
            </a:r>
            <a:endParaRPr lang="en-US" sz="3300" dirty="0"/>
          </a:p>
        </p:txBody>
      </p:sp>
      <p:sp>
        <p:nvSpPr>
          <p:cNvPr id="10" name="Shape 7">
            <a:extLst>
              <a:ext uri="{FF2B5EF4-FFF2-40B4-BE49-F238E27FC236}">
                <a16:creationId xmlns:a16="http://schemas.microsoft.com/office/drawing/2014/main" id="{EF6A061B-3435-3C2D-18D5-B7BA9ED059BA}"/>
              </a:ext>
            </a:extLst>
          </p:cNvPr>
          <p:cNvSpPr/>
          <p:nvPr/>
        </p:nvSpPr>
        <p:spPr>
          <a:xfrm>
            <a:off x="548640" y="2903489"/>
            <a:ext cx="32004" cy="530352"/>
          </a:xfrm>
          <a:prstGeom prst="rect">
            <a:avLst/>
          </a:prstGeom>
          <a:solidFill>
            <a:srgbClr val="D4FF00"/>
          </a:solidFill>
          <a:ln/>
        </p:spPr>
        <p:txBody>
          <a:bodyPr/>
          <a:lstStyle/>
          <a:p>
            <a:endParaRPr lang="en-GB"/>
          </a:p>
        </p:txBody>
      </p:sp>
      <p:sp>
        <p:nvSpPr>
          <p:cNvPr id="11" name="Text 8">
            <a:extLst>
              <a:ext uri="{FF2B5EF4-FFF2-40B4-BE49-F238E27FC236}">
                <a16:creationId xmlns:a16="http://schemas.microsoft.com/office/drawing/2014/main" id="{8948693B-5F8E-3F98-F658-8A39BBE550CF}"/>
              </a:ext>
            </a:extLst>
          </p:cNvPr>
          <p:cNvSpPr/>
          <p:nvPr/>
        </p:nvSpPr>
        <p:spPr>
          <a:xfrm>
            <a:off x="731520" y="2848625"/>
            <a:ext cx="10881360" cy="640080"/>
          </a:xfrm>
          <a:prstGeom prst="rect">
            <a:avLst/>
          </a:prstGeom>
          <a:noFill/>
          <a:ln/>
        </p:spPr>
        <p:txBody>
          <a:bodyPr wrap="square" rtlCol="0" anchor="ctr"/>
          <a:lstStyle/>
          <a:p>
            <a:pPr marL="0" indent="0">
              <a:buNone/>
            </a:pPr>
            <a:r>
              <a:rPr lang="en-US" sz="2400" i="1" dirty="0">
                <a:solidFill>
                  <a:schemeClr val="bg1">
                    <a:lumMod val="95000"/>
                  </a:schemeClr>
                </a:solidFill>
                <a:latin typeface="Instrument Serif" pitchFamily="34" charset="0"/>
                <a:ea typeface="Instrument Serif" pitchFamily="34" charset="-122"/>
                <a:cs typeface="Instrument Serif" pitchFamily="34" charset="-120"/>
              </a:rPr>
              <a:t>Every remote reacts immediately. No shared imports, no prop drilling, no re-deploys.</a:t>
            </a:r>
            <a:endParaRPr lang="en-US" sz="2400" dirty="0">
              <a:solidFill>
                <a:schemeClr val="bg1">
                  <a:lumMod val="95000"/>
                </a:schemeClr>
              </a:solidFill>
            </a:endParaRPr>
          </a:p>
        </p:txBody>
      </p:sp>
    </p:spTree>
    <p:extLst>
      <p:ext uri="{BB962C8B-B14F-4D97-AF65-F5344CB8AC3E}">
        <p14:creationId xmlns:p14="http://schemas.microsoft.com/office/powerpoint/2010/main" val="4232498868"/>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13">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sp>
        <p:nvSpPr>
          <p:cNvPr id="6" name="TextBox 5">
            <a:extLst>
              <a:ext uri="{FF2B5EF4-FFF2-40B4-BE49-F238E27FC236}">
                <a16:creationId xmlns:a16="http://schemas.microsoft.com/office/drawing/2014/main" id="{1D8490F4-0DAA-31B1-E2C3-4C604C983C01}"/>
              </a:ext>
            </a:extLst>
          </p:cNvPr>
          <p:cNvSpPr txBox="1"/>
          <p:nvPr/>
        </p:nvSpPr>
        <p:spPr>
          <a:xfrm>
            <a:off x="245187" y="1951926"/>
            <a:ext cx="11920735" cy="4481676"/>
          </a:xfrm>
          <a:prstGeom prst="rect">
            <a:avLst/>
          </a:prstGeom>
          <a:noFill/>
        </p:spPr>
        <p:txBody>
          <a:bodyPr wrap="square">
            <a:spAutoFit/>
          </a:bodyPr>
          <a:lstStyle/>
          <a:p>
            <a:pPr>
              <a:lnSpc>
                <a:spcPct val="150000"/>
              </a:lnSpc>
              <a:buNone/>
            </a:pP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Record</a:t>
            </a:r>
            <a:r>
              <a:rPr lang="en-US" sz="1600" b="0" dirty="0">
                <a:solidFill>
                  <a:srgbClr val="BBBEBF"/>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ModuleType</a:t>
            </a:r>
            <a:r>
              <a:rPr lang="en-US" sz="1600" b="0" dirty="0">
                <a:solidFill>
                  <a:srgbClr val="BBBEBF"/>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a:solidFill>
                  <a:srgbClr val="4EC9B0"/>
                </a:solidFill>
                <a:effectLst/>
                <a:latin typeface="Cascadia Code" panose="020B0609020000020004" pitchFamily="49" charset="0"/>
              </a:rPr>
              <a:t>Promise</a:t>
            </a:r>
            <a:r>
              <a:rPr lang="en-US" sz="1600" b="0" dirty="0">
                <a:solidFill>
                  <a:srgbClr val="BBBEBF"/>
                </a:solidFill>
                <a:effectLst/>
                <a:latin typeface="Cascadia Code" panose="020B0609020000020004" pitchFamily="49" charset="0"/>
              </a:rPr>
              <a:t>&lt;</a:t>
            </a:r>
            <a:r>
              <a:rPr lang="en-US" sz="1600" b="0" dirty="0">
                <a:solidFill>
                  <a:srgbClr val="4EC9B0"/>
                </a:solidFill>
                <a:effectLst/>
                <a:latin typeface="Cascadia Code" panose="020B0609020000020004" pitchFamily="49" charset="0"/>
              </a:rPr>
              <a:t>unknown</a:t>
            </a:r>
            <a:r>
              <a:rPr lang="en-US" sz="1600" b="0" dirty="0">
                <a:solidFill>
                  <a:srgbClr val="BBBEBF"/>
                </a:solidFill>
                <a:effectLst/>
                <a:latin typeface="Cascadia Code" panose="020B0609020000020004" pitchFamily="49" charset="0"/>
              </a:rPr>
              <a:t>&gt;&gt;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home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"home/Home"</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records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"records/</a:t>
            </a:r>
            <a:r>
              <a:rPr lang="en-US" sz="1600" b="0" dirty="0" err="1">
                <a:solidFill>
                  <a:srgbClr val="A5D6FF"/>
                </a:solidFill>
                <a:effectLst/>
                <a:latin typeface="Cascadia Code" panose="020B0609020000020004" pitchFamily="49" charset="0"/>
              </a:rPr>
              <a:t>MedicalRecords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prescriptions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"prescriptions/</a:t>
            </a:r>
            <a:r>
              <a:rPr lang="en-US" sz="1600" b="0" dirty="0" err="1">
                <a:solidFill>
                  <a:srgbClr val="A5D6FF"/>
                </a:solidFill>
                <a:effectLst/>
                <a:latin typeface="Cascadia Code" panose="020B0609020000020004" pitchFamily="49" charset="0"/>
              </a:rPr>
              <a:t>StreamingPrescriptionOrders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  </a:t>
            </a:r>
            <a:r>
              <a:rPr lang="en-US" sz="1600" b="0" dirty="0">
                <a:solidFill>
                  <a:srgbClr val="D2A8FF"/>
                </a:solidFill>
                <a:effectLst/>
                <a:latin typeface="Cascadia Code" panose="020B0609020000020004" pitchFamily="49" charset="0"/>
              </a:rPr>
              <a:t>analytics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     ()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import</a:t>
            </a:r>
            <a:r>
              <a:rPr lang="en-US" sz="1600" b="0" dirty="0">
                <a:solidFill>
                  <a:srgbClr val="C9D1D9"/>
                </a:solidFill>
                <a:effectLst/>
                <a:latin typeface="Cascadia Code" panose="020B0609020000020004" pitchFamily="49" charset="0"/>
              </a:rPr>
              <a:t>(</a:t>
            </a:r>
            <a:r>
              <a:rPr lang="en-US" sz="1600" b="0" dirty="0">
                <a:solidFill>
                  <a:srgbClr val="A5D6FF"/>
                </a:solidFill>
                <a:effectLst/>
                <a:latin typeface="Cascadia Code" panose="020B0609020000020004" pitchFamily="49" charset="0"/>
              </a:rPr>
              <a:t>"analytics/</a:t>
            </a:r>
            <a:r>
              <a:rPr lang="en-US" sz="1600" b="0" dirty="0" err="1">
                <a:solidFill>
                  <a:srgbClr val="A5D6FF"/>
                </a:solidFill>
                <a:effectLst/>
                <a:latin typeface="Cascadia Code" panose="020B0609020000020004" pitchFamily="49" charset="0"/>
              </a:rPr>
              <a:t>StreamingClinicalAnalytics</a:t>
            </a:r>
            <a:r>
              <a:rPr lang="en-US" sz="1600" b="0" dirty="0">
                <a:solidFill>
                  <a:srgbClr val="A5D6F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a:t>
            </a:r>
            <a:r>
              <a:rPr lang="en-US" sz="1600" b="0" dirty="0">
                <a:solidFill>
                  <a:srgbClr val="D2A8FF"/>
                </a:solidFill>
                <a:effectLst/>
                <a:latin typeface="Cascadia Code" panose="020B0609020000020004" pitchFamily="49" charset="0"/>
              </a:rPr>
              <a:t>catch</a:t>
            </a:r>
            <a:r>
              <a:rPr lang="en-US" sz="1600" b="0" dirty="0">
                <a:solidFill>
                  <a:srgbClr val="C9D1D9"/>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C9D1D9"/>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undefined</a:t>
            </a:r>
            <a:r>
              <a:rPr lang="en-US" sz="1600" b="0" dirty="0">
                <a:solidFill>
                  <a:srgbClr val="C9D1D9"/>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a:t>
            </a:r>
          </a:p>
          <a:p>
            <a:pPr>
              <a:lnSpc>
                <a:spcPct val="150000"/>
              </a:lnSpc>
              <a:buNone/>
            </a:pP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EAGER — preload on shell mount</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C586C0"/>
                </a:solidFill>
                <a:effectLst/>
                <a:latin typeface="Cascadia Code" panose="020B0609020000020004" pitchFamily="49" charset="0"/>
              </a:rPr>
              <a:t>for</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const</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569CD6"/>
                </a:solidFill>
                <a:effectLst/>
                <a:latin typeface="Cascadia Code" panose="020B0609020000020004" pitchFamily="49" charset="0"/>
              </a:rPr>
              <a:t>of</a:t>
            </a:r>
            <a:r>
              <a:rPr lang="en-US" sz="1600" b="0" dirty="0">
                <a:solidFill>
                  <a:srgbClr val="BBBEBF"/>
                </a:solidFill>
                <a:effectLst/>
                <a:latin typeface="Cascadia Code" panose="020B0609020000020004" pitchFamily="49" charset="0"/>
              </a:rPr>
              <a:t> </a:t>
            </a:r>
            <a:r>
              <a:rPr lang="en-US" sz="1600" b="0" dirty="0" err="1">
                <a:solidFill>
                  <a:srgbClr val="79C0FF"/>
                </a:solidFill>
                <a:effectLst/>
                <a:latin typeface="Cascadia Code" panose="020B0609020000020004" pitchFamily="49" charset="0"/>
              </a:rPr>
              <a:t>MODULES</a:t>
            </a:r>
            <a:r>
              <a:rPr lang="en-US" sz="1600" b="0" dirty="0" err="1">
                <a:solidFill>
                  <a:srgbClr val="BBBEBF"/>
                </a:solidFill>
                <a:effectLst/>
                <a:latin typeface="Cascadia Code" panose="020B0609020000020004" pitchFamily="49" charset="0"/>
              </a:rPr>
              <a:t>.</a:t>
            </a:r>
            <a:r>
              <a:rPr lang="en-US" sz="1600" b="0" dirty="0" err="1">
                <a:solidFill>
                  <a:srgbClr val="D2A8FF"/>
                </a:solidFill>
                <a:effectLst/>
                <a:latin typeface="Cascadia Code" panose="020B0609020000020004" pitchFamily="49" charset="0"/>
              </a:rPr>
              <a:t>filter</a:t>
            </a:r>
            <a:r>
              <a:rPr lang="en-US" sz="1600" b="0" dirty="0">
                <a:solidFill>
                  <a:srgbClr val="BBBEBF"/>
                </a:solidFill>
                <a:effectLst/>
                <a:latin typeface="Cascadia Code" panose="020B0609020000020004" pitchFamily="49" charset="0"/>
              </a:rPr>
              <a:t>((</a:t>
            </a:r>
            <a:r>
              <a:rPr lang="en-US" sz="1600" b="0" dirty="0">
                <a:solidFill>
                  <a:srgbClr val="FFA657"/>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 </a:t>
            </a:r>
            <a:r>
              <a:rPr lang="en-US" sz="1600" b="0" dirty="0">
                <a:solidFill>
                  <a:srgbClr val="FF7B72"/>
                </a:solidFill>
                <a:effectLst/>
                <a:latin typeface="Cascadia Code" panose="020B0609020000020004" pitchFamily="49" charset="0"/>
              </a:rPr>
              <a:t>=&gt;</a:t>
            </a:r>
            <a:r>
              <a:rPr lang="en-US" sz="1600" b="0" dirty="0">
                <a:solidFill>
                  <a:srgbClr val="BBBEBF"/>
                </a:solidFill>
                <a:effectLst/>
                <a:latin typeface="Cascadia Code" panose="020B0609020000020004" pitchFamily="49" charset="0"/>
              </a:rPr>
              <a:t> </a:t>
            </a:r>
            <a:r>
              <a:rPr lang="en-US" sz="1600" b="0" dirty="0" err="1">
                <a:solidFill>
                  <a:srgbClr val="FFA657"/>
                </a:solidFill>
                <a:effectLst/>
                <a:latin typeface="Cascadia Code" panose="020B0609020000020004" pitchFamily="49" charset="0"/>
              </a:rPr>
              <a:t>m</a:t>
            </a:r>
            <a:r>
              <a:rPr lang="en-US" sz="1600" b="0" dirty="0" err="1">
                <a:solidFill>
                  <a:srgbClr val="BBBEBF"/>
                </a:solidFill>
                <a:effectLst/>
                <a:latin typeface="Cascadia Code" panose="020B0609020000020004" pitchFamily="49" charset="0"/>
              </a:rPr>
              <a:t>.</a:t>
            </a:r>
            <a:r>
              <a:rPr lang="en-US" sz="1600" b="0" dirty="0" err="1">
                <a:solidFill>
                  <a:srgbClr val="C9D1D9"/>
                </a:solidFill>
                <a:effectLst/>
                <a:latin typeface="Cascadia Code" panose="020B0609020000020004" pitchFamily="49" charset="0"/>
              </a:rPr>
              <a:t>loadStrategy</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A5D6FF"/>
                </a:solidFill>
                <a:effectLst/>
                <a:latin typeface="Cascadia Code" panose="020B0609020000020004" pitchFamily="49" charset="0"/>
              </a:rPr>
              <a:t>"eager"</a:t>
            </a:r>
            <a:r>
              <a:rPr lang="en-US" sz="1600" b="0" dirty="0">
                <a:solidFill>
                  <a:srgbClr val="BBBEBF"/>
                </a:solidFill>
                <a:effectLst/>
                <a:latin typeface="Cascadia Code" panose="020B0609020000020004" pitchFamily="49" charset="0"/>
              </a:rPr>
              <a:t>)) </a:t>
            </a:r>
            <a:r>
              <a:rPr lang="en-US" sz="1600" b="0" dirty="0">
                <a:solidFill>
                  <a:srgbClr val="79C0FF"/>
                </a:solidFill>
                <a:effectLst/>
                <a:latin typeface="Cascadia Code" panose="020B0609020000020004" pitchFamily="49" charset="0"/>
              </a:rPr>
              <a:t>PREFETCHERS</a:t>
            </a:r>
            <a:r>
              <a:rPr lang="en-US" sz="1600" b="0" dirty="0">
                <a:solidFill>
                  <a:srgbClr val="BBBEBF"/>
                </a:solidFill>
                <a:effectLst/>
                <a:latin typeface="Cascadia Code" panose="020B0609020000020004" pitchFamily="49" charset="0"/>
              </a:rPr>
              <a:t>[</a:t>
            </a:r>
            <a:r>
              <a:rPr lang="en-US" sz="1600" b="0" dirty="0">
                <a:solidFill>
                  <a:srgbClr val="79C0FF"/>
                </a:solidFill>
                <a:effectLst/>
                <a:latin typeface="Cascadia Code" panose="020B0609020000020004" pitchFamily="49" charset="0"/>
              </a:rPr>
              <a:t>m</a:t>
            </a:r>
            <a:r>
              <a:rPr lang="en-US" sz="1600" b="0" dirty="0">
                <a:solidFill>
                  <a:srgbClr val="BBBEBF"/>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BBBEBF"/>
                </a:solidFill>
                <a:effectLst/>
                <a:latin typeface="Cascadia Code" panose="020B0609020000020004" pitchFamily="49" charset="0"/>
              </a:rPr>
              <a:t>]();</a:t>
            </a:r>
          </a:p>
          <a:p>
            <a:pPr>
              <a:lnSpc>
                <a:spcPct val="150000"/>
              </a:lnSpc>
              <a:buNone/>
            </a:pP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8B949E"/>
                </a:solidFill>
                <a:effectLst/>
                <a:latin typeface="Cascadia Code" panose="020B0609020000020004" pitchFamily="49" charset="0"/>
              </a:rPr>
              <a:t>// HOVER — prefetch on tab hover</a:t>
            </a:r>
            <a:endParaRPr lang="en-US" sz="1600" b="0" dirty="0">
              <a:solidFill>
                <a:srgbClr val="BBBEBF"/>
              </a:solidFill>
              <a:effectLst/>
              <a:latin typeface="Cascadia Code" panose="020B0609020000020004" pitchFamily="49" charset="0"/>
            </a:endParaRPr>
          </a:p>
          <a:p>
            <a:pPr>
              <a:lnSpc>
                <a:spcPct val="150000"/>
              </a:lnSpc>
              <a:buNone/>
            </a:pPr>
            <a:r>
              <a:rPr lang="en-US" sz="1600" b="0" dirty="0">
                <a:solidFill>
                  <a:srgbClr val="D4D4D4"/>
                </a:solidFill>
                <a:effectLst/>
                <a:latin typeface="Cascadia Code" panose="020B0609020000020004" pitchFamily="49" charset="0"/>
              </a:rPr>
              <a:t>&lt;</a:t>
            </a:r>
            <a:r>
              <a:rPr lang="en-US" sz="1600" b="0" dirty="0" err="1">
                <a:solidFill>
                  <a:srgbClr val="4EC9B0"/>
                </a:solidFill>
                <a:effectLst/>
                <a:latin typeface="Cascadia Code" panose="020B0609020000020004" pitchFamily="49" charset="0"/>
              </a:rPr>
              <a:t>NavLink</a:t>
            </a:r>
            <a:r>
              <a:rPr lang="en-US" sz="1600" b="0" dirty="0">
                <a:solidFill>
                  <a:srgbClr val="BBBEBF"/>
                </a:solidFill>
                <a:effectLst/>
                <a:latin typeface="Cascadia Code" panose="020B0609020000020004" pitchFamily="49" charset="0"/>
              </a:rPr>
              <a:t> </a:t>
            </a:r>
            <a:r>
              <a:rPr lang="en-US" sz="1600" b="0" dirty="0" err="1">
                <a:solidFill>
                  <a:srgbClr val="C9D1D9"/>
                </a:solidFill>
                <a:effectLst/>
                <a:latin typeface="Cascadia Code" panose="020B0609020000020004" pitchFamily="49" charset="0"/>
              </a:rPr>
              <a:t>onMouseEnter</a:t>
            </a:r>
            <a:r>
              <a:rPr lang="en-US" sz="1600" b="0" dirty="0">
                <a:solidFill>
                  <a:srgbClr val="D4D4D4"/>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=&gt; </a:t>
            </a:r>
            <a:r>
              <a:rPr lang="en-US" sz="1600" b="0" dirty="0">
                <a:solidFill>
                  <a:srgbClr val="79C0FF"/>
                </a:solidFill>
                <a:effectLst/>
                <a:latin typeface="Cascadia Code" panose="020B0609020000020004" pitchFamily="49" charset="0"/>
              </a:rPr>
              <a:t>PREFETCHERS</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module</a:t>
            </a:r>
            <a:r>
              <a:rPr lang="en-US" sz="1600" b="0" dirty="0">
                <a:solidFill>
                  <a:srgbClr val="9CDCFE"/>
                </a:solidFill>
                <a:effectLst/>
                <a:latin typeface="Cascadia Code" panose="020B0609020000020004" pitchFamily="49" charset="0"/>
              </a:rPr>
              <a:t>.</a:t>
            </a:r>
            <a:r>
              <a:rPr lang="en-US" sz="1600" b="0" dirty="0">
                <a:solidFill>
                  <a:srgbClr val="C9D1D9"/>
                </a:solidFill>
                <a:effectLst/>
                <a:latin typeface="Cascadia Code" panose="020B0609020000020004" pitchFamily="49" charset="0"/>
              </a:rPr>
              <a:t>id</a:t>
            </a:r>
            <a:r>
              <a:rPr lang="en-US" sz="1600" b="0" dirty="0">
                <a:solidFill>
                  <a:srgbClr val="9CDCFE"/>
                </a:solidFill>
                <a:effectLst/>
                <a:latin typeface="Cascadia Code" panose="020B0609020000020004" pitchFamily="49" charset="0"/>
              </a:rPr>
              <a:t>]</a:t>
            </a:r>
            <a:r>
              <a:rPr lang="en-US" sz="1600" b="0" dirty="0">
                <a:solidFill>
                  <a:srgbClr val="BBBEBF"/>
                </a:solidFill>
                <a:effectLst/>
                <a:latin typeface="Cascadia Code" panose="020B0609020000020004" pitchFamily="49" charset="0"/>
              </a:rPr>
              <a:t>()} </a:t>
            </a:r>
            <a:r>
              <a:rPr lang="en-US" sz="1600" b="0" dirty="0">
                <a:solidFill>
                  <a:srgbClr val="D4D4D4"/>
                </a:solidFill>
                <a:effectLst/>
                <a:latin typeface="Cascadia Code" panose="020B0609020000020004" pitchFamily="49" charset="0"/>
              </a:rPr>
              <a:t>/&gt;</a:t>
            </a:r>
            <a:endParaRPr lang="en-US" sz="1600" b="0" dirty="0">
              <a:solidFill>
                <a:srgbClr val="BBBEBF"/>
              </a:solidFill>
              <a:effectLst/>
              <a:latin typeface="Cascadia Code" panose="020B0609020000020004" pitchFamily="49" charset="0"/>
            </a:endParaRP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CB8CB26-EAD0-A4BA-58D8-DA72712EBBC8}"/>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E7133EE0-274E-79C0-1969-AA7D21ADD2C7}"/>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Two-tier preloading: eager on mount, hover on demand</a:t>
            </a:r>
            <a:endParaRPr lang="en-US" sz="3300" dirty="0"/>
          </a:p>
        </p:txBody>
      </p:sp>
      <p:graphicFrame>
        <p:nvGraphicFramePr>
          <p:cNvPr id="14" name="Table 0">
            <a:extLst>
              <a:ext uri="{FF2B5EF4-FFF2-40B4-BE49-F238E27FC236}">
                <a16:creationId xmlns:a16="http://schemas.microsoft.com/office/drawing/2014/main" id="{9BAE6F9B-C4BC-6E02-A3D9-4774F1EB1C34}"/>
              </a:ext>
            </a:extLst>
          </p:cNvPr>
          <p:cNvGraphicFramePr>
            <a:graphicFrameLocks noGrp="1"/>
          </p:cNvGraphicFramePr>
          <p:nvPr>
            <p:extLst>
              <p:ext uri="{D42A27DB-BD31-4B8C-83A1-F6EECF244321}">
                <p14:modId xmlns:p14="http://schemas.microsoft.com/office/powerpoint/2010/main" val="1146919144"/>
              </p:ext>
            </p:extLst>
          </p:nvPr>
        </p:nvGraphicFramePr>
        <p:xfrm>
          <a:off x="548640" y="2302742"/>
          <a:ext cx="11064240" cy="2252516"/>
        </p:xfrm>
        <a:graphic>
          <a:graphicData uri="http://schemas.openxmlformats.org/drawingml/2006/table">
            <a:tbl>
              <a:tblPr/>
              <a:tblGrid>
                <a:gridCol w="1645920">
                  <a:extLst>
                    <a:ext uri="{9D8B030D-6E8A-4147-A177-3AD203B41FA5}">
                      <a16:colId xmlns:a16="http://schemas.microsoft.com/office/drawing/2014/main" val="20000"/>
                    </a:ext>
                  </a:extLst>
                </a:gridCol>
                <a:gridCol w="576072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541241">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STRATEGY</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WHEN IT LOADS</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400" b="1" kern="0" spc="200" dirty="0">
                          <a:solidFill>
                            <a:srgbClr val="D4FF00"/>
                          </a:solidFill>
                          <a:latin typeface="IBM Plex Mono" pitchFamily="34" charset="0"/>
                          <a:ea typeface="IBM Plex Mono" pitchFamily="34" charset="-122"/>
                          <a:cs typeface="IBM Plex Mono" pitchFamily="34" charset="-120"/>
                        </a:rPr>
                        <a:t>EXAMPLE</a:t>
                      </a:r>
                      <a:endParaRPr lang="en-US" sz="14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Instant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Chunk fetched lazily, no streaming delay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Home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Eager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Preloaded the moment the shell mounts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Records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570425">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Hover</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Prefetched when the user hovers a tab</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Prescriptions, Analytics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bl>
          </a:graphicData>
        </a:graphic>
      </p:graphicFrame>
    </p:spTree>
    <p:extLst>
      <p:ext uri="{BB962C8B-B14F-4D97-AF65-F5344CB8AC3E}">
        <p14:creationId xmlns:p14="http://schemas.microsoft.com/office/powerpoint/2010/main" val="3194073394"/>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14">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7930AE88-2656-09B2-3213-D304AD16B128}"/>
              </a:ext>
            </a:extLst>
          </p:cNvPr>
          <p:cNvSpPr txBox="1"/>
          <p:nvPr/>
        </p:nvSpPr>
        <p:spPr>
          <a:xfrm>
            <a:off x="501644" y="2200939"/>
            <a:ext cx="11109960" cy="3732304"/>
          </a:xfrm>
          <a:prstGeom prst="rect">
            <a:avLst/>
          </a:prstGeom>
          <a:noFill/>
        </p:spPr>
        <p:txBody>
          <a:bodyPr wrap="square">
            <a:spAutoFit/>
          </a:bodyPr>
          <a:lstStyle/>
          <a:p>
            <a:pPr>
              <a:lnSpc>
                <a:spcPct val="150000"/>
              </a:lnSpc>
              <a:buNone/>
            </a:pPr>
            <a:r>
              <a:rPr lang="en-US" sz="2000" b="0" dirty="0">
                <a:solidFill>
                  <a:srgbClr val="8B949E"/>
                </a:solidFill>
                <a:effectLst/>
                <a:latin typeface="Cascadia Code" panose="020B0609020000020004" pitchFamily="49" charset="0"/>
              </a:rPr>
              <a:t>// </a:t>
            </a:r>
            <a:r>
              <a:rPr lang="en-US" sz="2000" b="0" dirty="0" err="1">
                <a:solidFill>
                  <a:srgbClr val="8B949E"/>
                </a:solidFill>
                <a:effectLst/>
                <a:latin typeface="Cascadia Code" panose="020B0609020000020004" pitchFamily="49" charset="0"/>
              </a:rPr>
              <a:t>vitest.config.ts</a:t>
            </a:r>
            <a:r>
              <a:rPr lang="en-US" sz="2000" b="0" dirty="0">
                <a:solidFill>
                  <a:srgbClr val="8B949E"/>
                </a:solidFill>
                <a:effectLst/>
                <a:latin typeface="Cascadia Code" panose="020B0609020000020004" pitchFamily="49" charset="0"/>
              </a:rPr>
              <a:t> — resolve MF imports to source files</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8C8C8"/>
                </a:solidFill>
                <a:effectLst/>
                <a:latin typeface="Cascadia Code" panose="020B0609020000020004" pitchFamily="49" charset="0"/>
              </a:rPr>
              <a:t>resolve</a:t>
            </a:r>
            <a:r>
              <a:rPr lang="en-US" sz="2000" b="0" dirty="0">
                <a:solidFill>
                  <a:srgbClr val="BBBEBF"/>
                </a:solidFill>
                <a:effectLst/>
                <a:latin typeface="Cascadia Code" panose="020B0609020000020004" pitchFamily="49" charset="0"/>
              </a:rPr>
              <a:t>: </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C8C8C8"/>
                </a:solidFill>
                <a:effectLst/>
                <a:latin typeface="Cascadia Code" panose="020B0609020000020004" pitchFamily="49" charset="0"/>
              </a:rPr>
              <a:t>alias</a:t>
            </a: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"records/</a:t>
            </a:r>
            <a:r>
              <a:rPr lang="en-US" sz="2000" b="0" dirty="0" err="1">
                <a:solidFill>
                  <a:srgbClr val="A5D6FF"/>
                </a:solidFill>
                <a:effectLst/>
                <a:latin typeface="Cascadia Code" panose="020B0609020000020004" pitchFamily="49" charset="0"/>
              </a:rPr>
              <a:t>MedicalRecords</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err="1">
                <a:solidFill>
                  <a:srgbClr val="C9D1D9"/>
                </a:solidFill>
                <a:effectLst/>
                <a:latin typeface="Cascadia Code" panose="020B0609020000020004" pitchFamily="49" charset="0"/>
              </a:rPr>
              <a:t>path.</a:t>
            </a:r>
            <a:r>
              <a:rPr lang="en-US" sz="2000" b="0" dirty="0" err="1">
                <a:solidFill>
                  <a:srgbClr val="D2A8FF"/>
                </a:solidFill>
                <a:effectLst/>
                <a:latin typeface="Cascadia Code" panose="020B0609020000020004" pitchFamily="49" charset="0"/>
              </a:rPr>
              <a:t>resolve</a:t>
            </a:r>
            <a:r>
              <a:rPr lang="en-US" sz="2000" b="0" dirty="0">
                <a:solidFill>
                  <a:srgbClr val="C9D1D9"/>
                </a:solidFill>
                <a:effectLst/>
                <a:latin typeface="Cascadia Code" panose="020B0609020000020004" pitchFamily="49" charset="0"/>
              </a:rPr>
              <a:t>(__</a:t>
            </a:r>
            <a:r>
              <a:rPr lang="en-US" sz="2000" b="0" dirty="0" err="1">
                <a:solidFill>
                  <a:srgbClr val="C9D1D9"/>
                </a:solidFill>
                <a:effectLst/>
                <a:latin typeface="Cascadia Code" panose="020B0609020000020004" pitchFamily="49" charset="0"/>
              </a:rPr>
              <a:t>dirname</a:t>
            </a:r>
            <a:r>
              <a:rPr lang="en-US" sz="2000" b="0" dirty="0">
                <a:solidFill>
                  <a:srgbClr val="C9D1D9"/>
                </a:solidFill>
                <a:effectLst/>
                <a:latin typeface="Cascadia Code" panose="020B0609020000020004" pitchFamily="49" charset="0"/>
              </a:rPr>
              <a:t>, </a:t>
            </a:r>
            <a:r>
              <a:rPr lang="en-US" sz="2000" b="0" dirty="0">
                <a:solidFill>
                  <a:srgbClr val="A5D6FF"/>
                </a:solidFill>
                <a:effectLst/>
                <a:latin typeface="Cascadia Code" panose="020B0609020000020004" pitchFamily="49" charset="0"/>
              </a:rPr>
              <a:t>"packages/records/</a:t>
            </a:r>
            <a:r>
              <a:rPr lang="en-US" sz="2000" b="0" dirty="0" err="1">
                <a:solidFill>
                  <a:srgbClr val="A5D6FF"/>
                </a:solidFill>
                <a:effectLst/>
                <a:latin typeface="Cascadia Code" panose="020B0609020000020004" pitchFamily="49" charset="0"/>
              </a:rPr>
              <a:t>src</a:t>
            </a:r>
            <a:r>
              <a:rPr lang="en-US" sz="2000" b="0" dirty="0">
                <a:solidFill>
                  <a:srgbClr val="A5D6FF"/>
                </a:solidFill>
                <a:effectLst/>
                <a:latin typeface="Cascadia Code" panose="020B0609020000020004" pitchFamily="49" charset="0"/>
              </a:rPr>
              <a:t>/</a:t>
            </a:r>
            <a:r>
              <a:rPr lang="en-US" sz="2000" b="0" dirty="0" err="1">
                <a:solidFill>
                  <a:srgbClr val="A5D6FF"/>
                </a:solidFill>
                <a:effectLst/>
                <a:latin typeface="Cascadia Code" panose="020B0609020000020004" pitchFamily="49" charset="0"/>
              </a:rPr>
              <a:t>MedicalRecords.tsx</a:t>
            </a:r>
            <a:r>
              <a:rPr lang="en-US" sz="2000" b="0" dirty="0">
                <a:solidFill>
                  <a:srgbClr val="A5D6FF"/>
                </a:solidFill>
                <a:effectLst/>
                <a:latin typeface="Cascadia Code" panose="020B0609020000020004" pitchFamily="49" charset="0"/>
              </a:rPr>
              <a:t>"</a:t>
            </a:r>
            <a:r>
              <a:rPr lang="en-US" sz="2000" b="0" dirty="0">
                <a:solidFill>
                  <a:srgbClr val="C9D1D9"/>
                </a:solidFill>
                <a:effectLst/>
                <a:latin typeface="Cascadia Code" panose="020B0609020000020004" pitchFamily="49" charset="0"/>
              </a:rPr>
              <a:t>),</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r>
              <a:rPr lang="en-US" sz="2000" b="0" dirty="0">
                <a:solidFill>
                  <a:srgbClr val="8B949E"/>
                </a:solidFill>
                <a:effectLst/>
                <a:latin typeface="Cascadia Code" panose="020B0609020000020004" pitchFamily="49" charset="0"/>
              </a:rPr>
              <a:t>// home/Home, prescriptions/…, analytics/… same pattern</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  },</a:t>
            </a:r>
            <a:endParaRPr lang="en-US" sz="2000" b="0" dirty="0">
              <a:solidFill>
                <a:srgbClr val="BBBEBF"/>
              </a:solidFill>
              <a:effectLst/>
              <a:latin typeface="Cascadia Code" panose="020B0609020000020004" pitchFamily="49" charset="0"/>
            </a:endParaRPr>
          </a:p>
          <a:p>
            <a:pPr>
              <a:lnSpc>
                <a:spcPct val="150000"/>
              </a:lnSpc>
              <a:buNone/>
            </a:pPr>
            <a:r>
              <a:rPr lang="en-US" sz="2000" b="0" dirty="0">
                <a:solidFill>
                  <a:srgbClr val="C9D1D9"/>
                </a:solidFill>
                <a:effectLst/>
                <a:latin typeface="Cascadia Code" panose="020B0609020000020004" pitchFamily="49" charset="0"/>
              </a:rPr>
              <a:t>}</a:t>
            </a:r>
            <a:r>
              <a:rPr lang="en-US" sz="2000" b="0" dirty="0">
                <a:solidFill>
                  <a:srgbClr val="BBBEBF"/>
                </a:solidFill>
                <a:effectLst/>
                <a:latin typeface="Cascadia Code" panose="020B0609020000020004" pitchFamily="49" charset="0"/>
              </a:rPr>
              <a:t>,</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59762A32-EF45-7045-4289-16C8D887CF33}"/>
            </a:ext>
          </a:extLst>
        </p:cNvPr>
        <p:cNvGrpSpPr/>
        <p:nvPr/>
      </p:nvGrpSpPr>
      <p:grpSpPr>
        <a:xfrm>
          <a:off x="0" y="0"/>
          <a:ext cx="0" cy="0"/>
          <a:chOff x="0" y="0"/>
          <a:chExt cx="0" cy="0"/>
        </a:xfrm>
      </p:grpSpPr>
      <p:sp>
        <p:nvSpPr>
          <p:cNvPr id="4" name="Text 2">
            <a:extLst>
              <a:ext uri="{FF2B5EF4-FFF2-40B4-BE49-F238E27FC236}">
                <a16:creationId xmlns:a16="http://schemas.microsoft.com/office/drawing/2014/main" id="{315B125C-153E-4C5E-309A-D4E9F04CB5CE}"/>
              </a:ext>
            </a:extLst>
          </p:cNvPr>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Test federated components in isolation — no servers</a:t>
            </a:r>
            <a:endParaRPr lang="en-US" sz="3300" dirty="0"/>
          </a:p>
        </p:txBody>
      </p:sp>
      <p:sp>
        <p:nvSpPr>
          <p:cNvPr id="6" name="TextBox 5">
            <a:extLst>
              <a:ext uri="{FF2B5EF4-FFF2-40B4-BE49-F238E27FC236}">
                <a16:creationId xmlns:a16="http://schemas.microsoft.com/office/drawing/2014/main" id="{D27A1DC3-BA45-4CEA-062D-0081ED20440A}"/>
              </a:ext>
            </a:extLst>
          </p:cNvPr>
          <p:cNvSpPr txBox="1"/>
          <p:nvPr/>
        </p:nvSpPr>
        <p:spPr>
          <a:xfrm>
            <a:off x="548639" y="2296634"/>
            <a:ext cx="11109959" cy="3368294"/>
          </a:xfrm>
          <a:prstGeom prst="rect">
            <a:avLst/>
          </a:prstGeom>
          <a:noFill/>
        </p:spPr>
        <p:txBody>
          <a:bodyPr wrap="square">
            <a:spAutoFit/>
          </a:bodyPr>
          <a:lstStyle/>
          <a:p>
            <a:pPr>
              <a:lnSpc>
                <a:spcPct val="150000"/>
              </a:lnSpc>
              <a:buNone/>
            </a:pPr>
            <a:r>
              <a:rPr lang="en-US" b="0" dirty="0">
                <a:solidFill>
                  <a:srgbClr val="D2A8FF"/>
                </a:solidFill>
                <a:effectLst/>
                <a:latin typeface="Cascadia Code" panose="020B0609020000020004" pitchFamily="49" charset="0"/>
              </a:rPr>
              <a:t>it</a:t>
            </a:r>
            <a:r>
              <a:rPr lang="en-US" b="0" dirty="0">
                <a:solidFill>
                  <a:srgbClr val="BBBEBF"/>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"dispatches </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 event on Add click"</a:t>
            </a:r>
            <a:r>
              <a:rPr lang="en-US" b="0" dirty="0">
                <a:solidFill>
                  <a:srgbClr val="BBBEBF"/>
                </a:solidFill>
                <a:effectLst/>
                <a:latin typeface="Cascadia Code" panose="020B0609020000020004" pitchFamily="49" charset="0"/>
              </a:rPr>
              <a:t>, </a:t>
            </a:r>
            <a:r>
              <a:rPr lang="en-US" b="0" dirty="0">
                <a:solidFill>
                  <a:srgbClr val="569CD6"/>
                </a:solidFill>
                <a:effectLst/>
                <a:latin typeface="Cascadia Code" panose="020B0609020000020004" pitchFamily="49" charset="0"/>
              </a:rPr>
              <a:t>async</a:t>
            </a:r>
            <a:r>
              <a:rPr lang="en-US" b="0" dirty="0">
                <a:solidFill>
                  <a:srgbClr val="BBBEBF"/>
                </a:solidFill>
                <a:effectLst/>
                <a:latin typeface="Cascadia Code" panose="020B0609020000020004" pitchFamily="49" charset="0"/>
              </a:rPr>
              <a:t> () </a:t>
            </a:r>
            <a:r>
              <a:rPr lang="en-US" b="0" dirty="0">
                <a:solidFill>
                  <a:srgbClr val="FF7B72"/>
                </a:solidFill>
                <a:effectLst/>
                <a:latin typeface="Cascadia Code" panose="020B0609020000020004" pitchFamily="49" charset="0"/>
              </a:rPr>
              <a:t>=&gt;</a:t>
            </a:r>
            <a:r>
              <a:rPr lang="en-US" b="0" dirty="0">
                <a:solidFill>
                  <a:srgbClr val="BBBEBF"/>
                </a:solidFill>
                <a:effectLst/>
                <a:latin typeface="Cascadia Code" panose="020B0609020000020004" pitchFamily="49" charset="0"/>
              </a:rPr>
              <a:t> </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FF7B72"/>
                </a:solidFill>
                <a:effectLst/>
                <a:latin typeface="Cascadia Code" panose="020B0609020000020004" pitchFamily="49" charset="0"/>
              </a:rPr>
              <a:t>const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 </a:t>
            </a:r>
            <a:r>
              <a:rPr lang="en-US" b="0" dirty="0">
                <a:solidFill>
                  <a:srgbClr val="D4D4D4"/>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vi.</a:t>
            </a:r>
            <a:r>
              <a:rPr lang="en-US" b="0" dirty="0" err="1">
                <a:solidFill>
                  <a:srgbClr val="D2A8FF"/>
                </a:solidFill>
                <a:effectLst/>
                <a:latin typeface="Cascadia Code" panose="020B0609020000020004" pitchFamily="49" charset="0"/>
              </a:rPr>
              <a:t>fn</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err="1">
                <a:solidFill>
                  <a:srgbClr val="79C0FF"/>
                </a:solidFill>
                <a:effectLst/>
                <a:latin typeface="Cascadia Code" panose="020B0609020000020004" pitchFamily="49" charset="0"/>
              </a:rPr>
              <a:t>window</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addEventListener</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a:t>
            </a:r>
            <a:r>
              <a:rPr lang="en-US" b="0" dirty="0" err="1">
                <a:solidFill>
                  <a:srgbClr val="A5D6FF"/>
                </a:solidFill>
                <a:effectLst/>
                <a:latin typeface="Cascadia Code" panose="020B0609020000020004" pitchFamily="49" charset="0"/>
              </a:rPr>
              <a:t>addPrescription</a:t>
            </a:r>
            <a:r>
              <a:rPr lang="en-US" b="0" dirty="0">
                <a:solidFill>
                  <a:srgbClr val="A5D6FF"/>
                </a:solidFill>
                <a:effectLst/>
                <a:latin typeface="Cascadia Code" panose="020B0609020000020004" pitchFamily="49" charset="0"/>
              </a:rPr>
              <a:t>"</a:t>
            </a:r>
            <a:r>
              <a:rPr lang="en-US" b="0" dirty="0">
                <a:solidFill>
                  <a:srgbClr val="C9D1D9"/>
                </a:solidFill>
                <a:effectLst/>
                <a:latin typeface="Cascadia Code" panose="020B0609020000020004" pitchFamily="49" charset="0"/>
              </a:rPr>
              <a:t>, </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render</a:t>
            </a:r>
            <a:r>
              <a:rPr lang="en-US" b="0" dirty="0">
                <a:solidFill>
                  <a:srgbClr val="C9D1D9"/>
                </a:solidFill>
                <a:effectLst/>
                <a:latin typeface="Cascadia Code" panose="020B0609020000020004" pitchFamily="49" charset="0"/>
              </a:rPr>
              <a:t>(&lt;</a:t>
            </a:r>
            <a:r>
              <a:rPr lang="en-US" b="0" dirty="0" err="1">
                <a:solidFill>
                  <a:srgbClr val="4EC9B0"/>
                </a:solidFill>
                <a:effectLst/>
                <a:latin typeface="Cascadia Code" panose="020B0609020000020004" pitchFamily="49" charset="0"/>
              </a:rPr>
              <a:t>MedicalRecords</a:t>
            </a:r>
            <a:r>
              <a:rPr lang="en-US" b="0" dirty="0">
                <a:solidFill>
                  <a:srgbClr val="C9D1D9"/>
                </a:solidFill>
                <a:effectLst/>
                <a:latin typeface="Cascadia Code" panose="020B0609020000020004" pitchFamily="49" charset="0"/>
              </a:rPr>
              <a:t> /&gt;);</a:t>
            </a:r>
          </a:p>
          <a:p>
            <a:pPr>
              <a:lnSpc>
                <a:spcPct val="150000"/>
              </a:lnSpc>
              <a:buNone/>
            </a:pP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C586C0"/>
                </a:solidFill>
                <a:effectLst/>
                <a:latin typeface="Cascadia Code" panose="020B0609020000020004" pitchFamily="49" charset="0"/>
              </a:rPr>
              <a:t>await</a:t>
            </a:r>
            <a:r>
              <a:rPr lang="en-US" b="0" dirty="0">
                <a:solidFill>
                  <a:srgbClr val="C9D1D9"/>
                </a:solidFill>
                <a:effectLst/>
                <a:latin typeface="Cascadia Code" panose="020B0609020000020004" pitchFamily="49" charset="0"/>
              </a:rPr>
              <a:t> </a:t>
            </a:r>
            <a:r>
              <a:rPr lang="en-US" b="0" dirty="0" err="1">
                <a:solidFill>
                  <a:srgbClr val="C9D1D9"/>
                </a:solidFill>
                <a:effectLst/>
                <a:latin typeface="Cascadia Code" panose="020B0609020000020004" pitchFamily="49" charset="0"/>
              </a:rPr>
              <a:t>user.</a:t>
            </a:r>
            <a:r>
              <a:rPr lang="en-US" b="0" dirty="0" err="1">
                <a:solidFill>
                  <a:srgbClr val="D2A8FF"/>
                </a:solidFill>
                <a:effectLst/>
                <a:latin typeface="Cascadia Code" panose="020B0609020000020004" pitchFamily="49" charset="0"/>
              </a:rPr>
              <a:t>click</a:t>
            </a:r>
            <a:r>
              <a:rPr lang="en-US" b="0" dirty="0">
                <a:solidFill>
                  <a:srgbClr val="C9D1D9"/>
                </a:solidFill>
                <a:effectLst/>
                <a:latin typeface="Cascadia Code" panose="020B0609020000020004" pitchFamily="49" charset="0"/>
              </a:rPr>
              <a:t>(</a:t>
            </a:r>
            <a:r>
              <a:rPr lang="en-US" b="0" dirty="0" err="1">
                <a:solidFill>
                  <a:srgbClr val="79C0FF"/>
                </a:solidFill>
                <a:effectLst/>
                <a:latin typeface="Cascadia Code" panose="020B0609020000020004" pitchFamily="49" charset="0"/>
              </a:rPr>
              <a:t>screen</a:t>
            </a:r>
            <a:r>
              <a:rPr lang="en-US" b="0" dirty="0" err="1">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getByRole</a:t>
            </a:r>
            <a:r>
              <a:rPr lang="en-US" b="0" dirty="0">
                <a:solidFill>
                  <a:srgbClr val="C9D1D9"/>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"button"</a:t>
            </a:r>
            <a:r>
              <a:rPr lang="en-US" b="0" dirty="0">
                <a:solidFill>
                  <a:srgbClr val="C9D1D9"/>
                </a:solidFill>
                <a:effectLst/>
                <a:latin typeface="Cascadia Code" panose="020B0609020000020004" pitchFamily="49" charset="0"/>
              </a:rPr>
              <a:t>, { name</a:t>
            </a:r>
            <a:r>
              <a:rPr lang="en-US" b="0" dirty="0">
                <a:solidFill>
                  <a:srgbClr val="9CDCFE"/>
                </a:solidFill>
                <a:effectLst/>
                <a:latin typeface="Cascadia Code" panose="020B0609020000020004" pitchFamily="49" charset="0"/>
              </a:rPr>
              <a:t>:</a:t>
            </a:r>
            <a:r>
              <a:rPr lang="en-US" b="0" dirty="0">
                <a:solidFill>
                  <a:srgbClr val="A5D6FF"/>
                </a:solidFill>
                <a:effectLst/>
                <a:latin typeface="Cascadia Code" panose="020B0609020000020004" pitchFamily="49" charset="0"/>
              </a:rPr>
              <a:t> /create prescription/</a:t>
            </a:r>
            <a:r>
              <a:rPr lang="en-US" b="0" dirty="0" err="1">
                <a:solidFill>
                  <a:srgbClr val="FF7B72"/>
                </a:solidFill>
                <a:effectLst/>
                <a:latin typeface="Cascadia Code" panose="020B0609020000020004" pitchFamily="49" charset="0"/>
              </a:rPr>
              <a:t>i</a:t>
            </a:r>
            <a:r>
              <a:rPr lang="en-US" b="0" dirty="0">
                <a:solidFill>
                  <a:srgbClr val="C9D1D9"/>
                </a:solidFill>
                <a:effectLst/>
                <a:latin typeface="Cascadia Code" panose="020B0609020000020004" pitchFamily="49" charset="0"/>
              </a:rPr>
              <a:t> }));</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  </a:t>
            </a:r>
            <a:r>
              <a:rPr lang="en-US" b="0" dirty="0">
                <a:solidFill>
                  <a:srgbClr val="D2A8FF"/>
                </a:solidFill>
                <a:effectLst/>
                <a:latin typeface="Cascadia Code" panose="020B0609020000020004" pitchFamily="49" charset="0"/>
              </a:rPr>
              <a:t>expect</a:t>
            </a:r>
            <a:r>
              <a:rPr lang="en-US" b="0" dirty="0">
                <a:solidFill>
                  <a:srgbClr val="C9D1D9"/>
                </a:solidFill>
                <a:effectLst/>
                <a:latin typeface="Cascadia Code" panose="020B0609020000020004" pitchFamily="49" charset="0"/>
              </a:rPr>
              <a:t>(</a:t>
            </a:r>
            <a:r>
              <a:rPr lang="en-US" b="0" dirty="0">
                <a:solidFill>
                  <a:srgbClr val="79C0FF"/>
                </a:solidFill>
                <a:effectLst/>
                <a:latin typeface="Cascadia Code" panose="020B0609020000020004" pitchFamily="49" charset="0"/>
              </a:rPr>
              <a:t>handler</a:t>
            </a:r>
            <a:r>
              <a:rPr lang="en-US" b="0" dirty="0">
                <a:solidFill>
                  <a:srgbClr val="C9D1D9"/>
                </a:solidFill>
                <a:effectLst/>
                <a:latin typeface="Cascadia Code" panose="020B0609020000020004" pitchFamily="49" charset="0"/>
              </a:rPr>
              <a:t>).</a:t>
            </a:r>
            <a:r>
              <a:rPr lang="en-US" b="0" dirty="0" err="1">
                <a:solidFill>
                  <a:srgbClr val="D2A8FF"/>
                </a:solidFill>
                <a:effectLst/>
                <a:latin typeface="Cascadia Code" panose="020B0609020000020004" pitchFamily="49" charset="0"/>
              </a:rPr>
              <a:t>toHaveBeenCalledTimes</a:t>
            </a:r>
            <a:r>
              <a:rPr lang="en-US" b="0" dirty="0">
                <a:solidFill>
                  <a:srgbClr val="C9D1D9"/>
                </a:solidFill>
                <a:effectLst/>
                <a:latin typeface="Cascadia Code" panose="020B0609020000020004" pitchFamily="49" charset="0"/>
              </a:rPr>
              <a:t>(</a:t>
            </a:r>
            <a:r>
              <a:rPr lang="en-US" b="0" dirty="0">
                <a:solidFill>
                  <a:srgbClr val="B5CEA8"/>
                </a:solidFill>
                <a:effectLst/>
                <a:latin typeface="Cascadia Code" panose="020B0609020000020004" pitchFamily="49" charset="0"/>
              </a:rPr>
              <a:t>1</a:t>
            </a:r>
            <a:r>
              <a:rPr lang="en-US" b="0" dirty="0">
                <a:solidFill>
                  <a:srgbClr val="C9D1D9"/>
                </a:solidFill>
                <a:effectLst/>
                <a:latin typeface="Cascadia Code" panose="020B0609020000020004" pitchFamily="49" charset="0"/>
              </a:rPr>
              <a:t>);</a:t>
            </a:r>
            <a:endParaRPr lang="en-US" b="0" dirty="0">
              <a:solidFill>
                <a:srgbClr val="BBBEBF"/>
              </a:solidFill>
              <a:effectLst/>
              <a:latin typeface="Cascadia Code" panose="020B0609020000020004" pitchFamily="49" charset="0"/>
            </a:endParaRPr>
          </a:p>
          <a:p>
            <a:pPr>
              <a:lnSpc>
                <a:spcPct val="150000"/>
              </a:lnSpc>
              <a:buNone/>
            </a:pPr>
            <a:r>
              <a:rPr lang="en-US" b="0" dirty="0">
                <a:solidFill>
                  <a:srgbClr val="C9D1D9"/>
                </a:solidFill>
                <a:effectLst/>
                <a:latin typeface="Cascadia Code" panose="020B0609020000020004" pitchFamily="49" charset="0"/>
              </a:rPr>
              <a:t>}</a:t>
            </a:r>
            <a:r>
              <a:rPr lang="en-US" b="0" dirty="0">
                <a:solidFill>
                  <a:srgbClr val="BBBEBF"/>
                </a:solidFill>
                <a:effectLst/>
                <a:latin typeface="Cascadia Code" panose="020B0609020000020004" pitchFamily="49" charset="0"/>
              </a:rPr>
              <a:t>);</a:t>
            </a:r>
          </a:p>
        </p:txBody>
      </p:sp>
    </p:spTree>
    <p:extLst>
      <p:ext uri="{BB962C8B-B14F-4D97-AF65-F5344CB8AC3E}">
        <p14:creationId xmlns:p14="http://schemas.microsoft.com/office/powerpoint/2010/main" val="161136244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16">
    <p:bg>
      <p:bgPr>
        <a:solidFill>
          <a:srgbClr val="0C0C0C"/>
        </a:solidFill>
        <a:effectLst/>
      </p:bgPr>
    </p:bg>
    <p:spTree>
      <p:nvGrpSpPr>
        <p:cNvPr id="1" name=""/>
        <p:cNvGrpSpPr/>
        <p:nvPr/>
      </p:nvGrpSpPr>
      <p:grpSpPr>
        <a:xfrm>
          <a:off x="0" y="0"/>
          <a:ext cx="0" cy="0"/>
          <a:chOff x="0" y="0"/>
          <a:chExt cx="0" cy="0"/>
        </a:xfrm>
      </p:grpSpPr>
      <p:sp>
        <p:nvSpPr>
          <p:cNvPr id="2" name="Shape 0"/>
          <p:cNvSpPr/>
          <p:nvPr/>
        </p:nvSpPr>
        <p:spPr>
          <a:xfrm>
            <a:off x="548640" y="512064"/>
            <a:ext cx="411480" cy="45720"/>
          </a:xfrm>
          <a:prstGeom prst="rect">
            <a:avLst/>
          </a:prstGeom>
          <a:solidFill>
            <a:srgbClr val="D4FF00"/>
          </a:solidFill>
          <a:ln/>
        </p:spPr>
        <p:txBody>
          <a:bodyPr/>
          <a:lstStyle/>
          <a:p>
            <a:endParaRPr lang="en-GB"/>
          </a:p>
        </p:txBody>
      </p:sp>
      <p:sp>
        <p:nvSpPr>
          <p:cNvPr id="3" name="Text 1"/>
          <p:cNvSpPr/>
          <p:nvPr/>
        </p:nvSpPr>
        <p:spPr>
          <a:xfrm>
            <a:off x="1097280" y="347472"/>
            <a:ext cx="10515600" cy="365760"/>
          </a:xfrm>
          <a:prstGeom prst="rect">
            <a:avLst/>
          </a:prstGeom>
          <a:noFill/>
          <a:ln/>
        </p:spPr>
        <p:txBody>
          <a:bodyPr wrap="square" rtlCol="0" anchor="ctr"/>
          <a:lstStyle/>
          <a:p>
            <a:pPr marL="0" indent="0">
              <a:buNone/>
            </a:pPr>
            <a:r>
              <a:rPr lang="en-US" sz="1050" kern="0" spc="400" dirty="0">
                <a:solidFill>
                  <a:srgbClr val="A8A29E"/>
                </a:solidFill>
                <a:latin typeface="IBM Plex Mono" pitchFamily="34" charset="0"/>
                <a:ea typeface="IBM Plex Mono" pitchFamily="34" charset="-122"/>
                <a:cs typeface="IBM Plex Mono" pitchFamily="34" charset="-120"/>
              </a:rPr>
              <a:t>LIVE DEMO</a:t>
            </a:r>
            <a:endParaRPr lang="en-US" sz="1050" dirty="0"/>
          </a:p>
        </p:txBody>
      </p:sp>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Six segments, ~10 minutes</a:t>
            </a:r>
            <a:endParaRPr lang="en-US" sz="3300" dirty="0"/>
          </a:p>
        </p:txBody>
      </p:sp>
      <p:graphicFrame>
        <p:nvGraphicFramePr>
          <p:cNvPr id="17" name="Table 0"/>
          <p:cNvGraphicFramePr>
            <a:graphicFrameLocks noGrp="1"/>
          </p:cNvGraphicFramePr>
          <p:nvPr>
            <p:extLst>
              <p:ext uri="{D42A27DB-BD31-4B8C-83A1-F6EECF244321}">
                <p14:modId xmlns:p14="http://schemas.microsoft.com/office/powerpoint/2010/main" val="1989974604"/>
              </p:ext>
            </p:extLst>
          </p:nvPr>
        </p:nvGraphicFramePr>
        <p:xfrm>
          <a:off x="530352" y="1645920"/>
          <a:ext cx="11064240" cy="4877449"/>
        </p:xfrm>
        <a:graphic>
          <a:graphicData uri="http://schemas.openxmlformats.org/drawingml/2006/table">
            <a:tbl>
              <a:tblPr/>
              <a:tblGrid>
                <a:gridCol w="457200">
                  <a:extLst>
                    <a:ext uri="{9D8B030D-6E8A-4147-A177-3AD203B41FA5}">
                      <a16:colId xmlns:a16="http://schemas.microsoft.com/office/drawing/2014/main" val="20000"/>
                    </a:ext>
                  </a:extLst>
                </a:gridCol>
                <a:gridCol w="3108960">
                  <a:extLst>
                    <a:ext uri="{9D8B030D-6E8A-4147-A177-3AD203B41FA5}">
                      <a16:colId xmlns:a16="http://schemas.microsoft.com/office/drawing/2014/main" val="20001"/>
                    </a:ext>
                  </a:extLst>
                </a:gridCol>
                <a:gridCol w="992846">
                  <a:extLst>
                    <a:ext uri="{9D8B030D-6E8A-4147-A177-3AD203B41FA5}">
                      <a16:colId xmlns:a16="http://schemas.microsoft.com/office/drawing/2014/main" val="20002"/>
                    </a:ext>
                  </a:extLst>
                </a:gridCol>
                <a:gridCol w="6505234">
                  <a:extLst>
                    <a:ext uri="{9D8B030D-6E8A-4147-A177-3AD203B41FA5}">
                      <a16:colId xmlns:a16="http://schemas.microsoft.com/office/drawing/2014/main" val="20003"/>
                    </a:ext>
                  </a:extLst>
                </a:gridCol>
              </a:tblGrid>
              <a:tr h="574321">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SEGMENT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TIME</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2000" b="1" kern="0" spc="200" dirty="0">
                          <a:solidFill>
                            <a:srgbClr val="D4FF00"/>
                          </a:solidFill>
                          <a:latin typeface="IBM Plex Mono" pitchFamily="34" charset="0"/>
                          <a:ea typeface="IBM Plex Mono" pitchFamily="34" charset="-122"/>
                          <a:cs typeface="IBM Plex Mono" pitchFamily="34" charset="-120"/>
                        </a:rPr>
                        <a:t>MONEY SHOT</a:t>
                      </a:r>
                      <a:endParaRPr lang="en-US" sz="20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 DX story</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Status strip flips INSTANT → EAGER → STREAMING as you navigate</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Federation Lab — fault isolation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2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Kill records; prescriptions &amp; analytics keep running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A/B deployment</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Stable ↔ Canary ring, per-module versions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4</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Theme switching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30 s</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CSS variables update across all remotes, persists on refresh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5</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Code walkthrough</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3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Resource pattern · lazy+catch+Suspense · event flow</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72376">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6</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Testing</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1 min</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2000" dirty="0">
                          <a:solidFill>
                            <a:srgbClr val="FAFAF9"/>
                          </a:solidFill>
                          <a:latin typeface="DM Sans" pitchFamily="34" charset="0"/>
                          <a:ea typeface="DM Sans" pitchFamily="34" charset="-122"/>
                          <a:cs typeface="DM Sans" pitchFamily="34" charset="-120"/>
                        </a:rPr>
                        <a:t>pnpm test — 210 green, vitest alias trick</a:t>
                      </a:r>
                      <a:endParaRPr lang="en-US" sz="20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17">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Seven things to remember</a:t>
            </a:r>
            <a:endParaRPr lang="en-US" sz="3300" dirty="0"/>
          </a:p>
        </p:txBody>
      </p:sp>
      <p:sp>
        <p:nvSpPr>
          <p:cNvPr id="8" name="Text 5"/>
          <p:cNvSpPr/>
          <p:nvPr/>
        </p:nvSpPr>
        <p:spPr>
          <a:xfrm>
            <a:off x="548640" y="1645920"/>
            <a:ext cx="11064240" cy="4389120"/>
          </a:xfrm>
          <a:prstGeom prst="rect">
            <a:avLst/>
          </a:prstGeom>
          <a:noFill/>
          <a:ln/>
        </p:spPr>
        <p:txBody>
          <a:bodyPr wrap="square" rtlCol="0" anchor="t"/>
          <a:lstStyle/>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1 · Micro-frontends solve a people problem: team scale, not bundle size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2 · Suspense fallbacks cover load UX; Module Federation covers team DX</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3 · Prefer events over shared state: CustomEvents survive independent deploys</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4 · Host owns routing: remotes request navigation, only the shell mutates it</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5 · Ship fault isolation on purpose: .catch() + ErrorBoundary per module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6 · Rspack keeps the monorepo fast: sub-second HMR, Rust React Compiler, cache</a:t>
            </a:r>
            <a:endParaRPr lang="en-US" sz="2400" dirty="0"/>
          </a:p>
          <a:p>
            <a:pPr>
              <a:lnSpc>
                <a:spcPct val="150000"/>
              </a:lnSpc>
              <a:buSzPct val="100000"/>
            </a:pPr>
            <a:r>
              <a:rPr lang="en-US" sz="2400" dirty="0">
                <a:solidFill>
                  <a:srgbClr val="FAFAF9"/>
                </a:solidFill>
                <a:latin typeface="DM Sans" pitchFamily="34" charset="0"/>
                <a:ea typeface="DM Sans" pitchFamily="34" charset="-122"/>
                <a:cs typeface="DM Sans" pitchFamily="34" charset="-120"/>
              </a:rPr>
              <a:t>7 · Match load strategy to content: instant / eager / streamed</a:t>
            </a:r>
            <a:endParaRPr lang="en-US" sz="2400"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18">
    <p:bg>
      <p:bgPr>
        <a:solidFill>
          <a:srgbClr val="0C0C0C"/>
        </a:solidFill>
        <a:effectLst/>
      </p:bgPr>
    </p:bg>
    <p:spTree>
      <p:nvGrpSpPr>
        <p:cNvPr id="1" name=""/>
        <p:cNvGrpSpPr/>
        <p:nvPr/>
      </p:nvGrpSpPr>
      <p:grpSpPr>
        <a:xfrm>
          <a:off x="0" y="0"/>
          <a:ext cx="0" cy="0"/>
          <a:chOff x="0" y="0"/>
          <a:chExt cx="0" cy="0"/>
        </a:xfrm>
      </p:grpSpPr>
      <p:sp>
        <p:nvSpPr>
          <p:cNvPr id="4" name="Text 2"/>
          <p:cNvSpPr/>
          <p:nvPr/>
        </p:nvSpPr>
        <p:spPr>
          <a:xfrm>
            <a:off x="530352" y="713232"/>
            <a:ext cx="11109960" cy="777240"/>
          </a:xfrm>
          <a:prstGeom prst="rect">
            <a:avLst/>
          </a:prstGeom>
          <a:noFill/>
          <a:ln/>
        </p:spPr>
        <p:txBody>
          <a:bodyPr wrap="square" rtlCol="0" anchor="ctr"/>
          <a:lstStyle/>
          <a:p>
            <a:pPr marL="0" indent="0">
              <a:buNone/>
            </a:pPr>
            <a:r>
              <a:rPr lang="en-US" sz="3300" i="1" dirty="0">
                <a:solidFill>
                  <a:srgbClr val="FAFAF9"/>
                </a:solidFill>
                <a:latin typeface="Instrument Serif" pitchFamily="34" charset="0"/>
                <a:ea typeface="Instrument Serif" pitchFamily="34" charset="-122"/>
                <a:cs typeface="Instrument Serif" pitchFamily="34" charset="-120"/>
              </a:rPr>
              <a:t>You're ready for this architecture when…</a:t>
            </a:r>
            <a:endParaRPr lang="en-US" sz="3300" dirty="0"/>
          </a:p>
        </p:txBody>
      </p:sp>
      <p:graphicFrame>
        <p:nvGraphicFramePr>
          <p:cNvPr id="19" name="Table 0"/>
          <p:cNvGraphicFramePr>
            <a:graphicFrameLocks noGrp="1"/>
          </p:cNvGraphicFramePr>
          <p:nvPr>
            <p:extLst>
              <p:ext uri="{D42A27DB-BD31-4B8C-83A1-F6EECF244321}">
                <p14:modId xmlns:p14="http://schemas.microsoft.com/office/powerpoint/2010/main" val="2115032014"/>
              </p:ext>
            </p:extLst>
          </p:nvPr>
        </p:nvGraphicFramePr>
        <p:xfrm>
          <a:off x="548640" y="1737360"/>
          <a:ext cx="11064240" cy="4873649"/>
        </p:xfrm>
        <a:graphic>
          <a:graphicData uri="http://schemas.openxmlformats.org/drawingml/2006/table">
            <a:tbl>
              <a:tblPr/>
              <a:tblGrid>
                <a:gridCol w="5760720">
                  <a:extLst>
                    <a:ext uri="{9D8B030D-6E8A-4147-A177-3AD203B41FA5}">
                      <a16:colId xmlns:a16="http://schemas.microsoft.com/office/drawing/2014/main" val="20000"/>
                    </a:ext>
                  </a:extLst>
                </a:gridCol>
                <a:gridCol w="5303520">
                  <a:extLst>
                    <a:ext uri="{9D8B030D-6E8A-4147-A177-3AD203B41FA5}">
                      <a16:colId xmlns:a16="http://schemas.microsoft.com/office/drawing/2014/main" val="20001"/>
                    </a:ext>
                  </a:extLst>
                </a:gridCol>
              </a:tblGrid>
              <a:tr h="474427">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SIGNAL</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tc>
                  <a:txBody>
                    <a:bodyPr/>
                    <a:lstStyle/>
                    <a:p>
                      <a:pPr marL="0" indent="0">
                        <a:buNone/>
                      </a:pPr>
                      <a:r>
                        <a:rPr lang="en-US" sz="1200" b="1" kern="0" spc="200" dirty="0">
                          <a:solidFill>
                            <a:srgbClr val="D4FF00"/>
                          </a:solidFill>
                          <a:latin typeface="IBM Plex Mono" pitchFamily="34" charset="0"/>
                          <a:ea typeface="IBM Plex Mono" pitchFamily="34" charset="-122"/>
                          <a:cs typeface="IBM Plex Mono" pitchFamily="34" charset="-120"/>
                        </a:rPr>
                        <a:t>PATTERN TO ADOPT</a:t>
                      </a:r>
                      <a:endParaRPr lang="en-US" sz="1200" dirty="0">
                        <a:latin typeface="IBM Plex Mono" charset="0"/>
                        <a:ea typeface="IBM Plex Mono" charset="0"/>
                        <a:cs typeface="IBM Plex Mono"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C1C1C"/>
                    </a:solidFill>
                  </a:tcPr>
                </a:tc>
                <a:extLst>
                  <a:ext uri="{0D108BD9-81ED-4DB2-BD59-A6C34878D82A}">
                    <a16:rowId xmlns:a16="http://schemas.microsoft.com/office/drawing/2014/main" val="10000"/>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Teams ship the same SPA and block each other on releases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Module Federation: independent builds; deploys can follow</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1"/>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Users wait for a full bundle before seeing anything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Suspense fallback: skeletons render immediately</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2"/>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One broken feature takes down the whole page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ErrorBoundary + lazy().catch() per module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3"/>
                  </a:ext>
                </a:extLst>
              </a:tr>
              <a:tr h="991981">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Shared state libraries create invisible coupling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CustomEvents on window: no direct imports, explicit contracts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4"/>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You need canary releases at the feature level</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Independent versioning per remote</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5"/>
                  </a:ext>
                </a:extLst>
              </a:tr>
              <a:tr h="603815">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Testing one feature requires the full app running</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tc>
                  <a:txBody>
                    <a:bodyPr/>
                    <a:lstStyle/>
                    <a:p>
                      <a:pPr marL="0" indent="0">
                        <a:buNone/>
                      </a:pPr>
                      <a:r>
                        <a:rPr lang="en-US" sz="1800" dirty="0">
                          <a:solidFill>
                            <a:srgbClr val="FAFAF9"/>
                          </a:solidFill>
                          <a:latin typeface="DM Sans" pitchFamily="34" charset="0"/>
                          <a:ea typeface="DM Sans" pitchFamily="34" charset="-122"/>
                          <a:cs typeface="DM Sans" pitchFamily="34" charset="-120"/>
                        </a:rPr>
                        <a:t>Vitest alias trick: isolation, no servers</a:t>
                      </a:r>
                      <a:endParaRPr lang="en-US" sz="1800" dirty="0">
                        <a:latin typeface="DM Sans" charset="0"/>
                        <a:ea typeface="DM Sans" charset="0"/>
                        <a:cs typeface="DM Sans" charset="0"/>
                      </a:endParaRPr>
                    </a:p>
                  </a:txBody>
                  <a:tcPr marL="76200" marR="76200" marT="76200" marB="76200" anchor="ctr">
                    <a:lnL w="9525" cap="flat" cmpd="sng" algn="ctr">
                      <a:solidFill>
                        <a:srgbClr val="2E2E2E"/>
                      </a:solidFill>
                      <a:prstDash val="solid"/>
                      <a:round/>
                      <a:headEnd type="none" w="med" len="med"/>
                      <a:tailEnd type="none" w="med" len="med"/>
                    </a:lnL>
                    <a:lnR w="9525" cap="flat" cmpd="sng" algn="ctr">
                      <a:solidFill>
                        <a:srgbClr val="2E2E2E"/>
                      </a:solidFill>
                      <a:prstDash val="solid"/>
                      <a:round/>
                      <a:headEnd type="none" w="med" len="med"/>
                      <a:tailEnd type="none" w="med" len="med"/>
                    </a:lnR>
                    <a:lnT w="9525" cap="flat" cmpd="sng" algn="ctr">
                      <a:solidFill>
                        <a:srgbClr val="2E2E2E"/>
                      </a:solidFill>
                      <a:prstDash val="solid"/>
                      <a:round/>
                      <a:headEnd type="none" w="med" len="med"/>
                      <a:tailEnd type="none" w="med" len="med"/>
                    </a:lnT>
                    <a:lnB w="9525" cap="flat" cmpd="sng" algn="ctr">
                      <a:solidFill>
                        <a:srgbClr val="2E2E2E"/>
                      </a:solidFill>
                      <a:prstDash val="solid"/>
                      <a:round/>
                      <a:headEnd type="none" w="med" len="med"/>
                      <a:tailEnd type="none" w="med" len="med"/>
                    </a:lnB>
                    <a:solidFill>
                      <a:srgbClr val="141414"/>
                    </a:solidFill>
                  </a:tcPr>
                </a:tc>
                <a:extLst>
                  <a:ext uri="{0D108BD9-81ED-4DB2-BD59-A6C34878D82A}">
                    <a16:rowId xmlns:a16="http://schemas.microsoft.com/office/drawing/2014/main" val="10006"/>
                  </a:ext>
                </a:extLst>
              </a:tr>
            </a:tbl>
          </a:graphicData>
        </a:graphic>
      </p:graphicFrame>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CAC10217-0EAC-9F13-AEFC-6AB11AA41BCD}"/>
              </a:ext>
            </a:extLst>
          </p:cNvPr>
          <p:cNvPicPr>
            <a:picLocks noChangeAspect="1"/>
          </p:cNvPicPr>
          <p:nvPr/>
        </p:nvPicPr>
        <p:blipFill>
          <a:blip r:embed="rId3"/>
          <a:stretch>
            <a:fillRect/>
          </a:stretch>
        </p:blipFill>
        <p:spPr>
          <a:xfrm>
            <a:off x="1" y="138017"/>
            <a:ext cx="12188475" cy="6719090"/>
          </a:xfrm>
          <a:prstGeom prst="rect">
            <a:avLst/>
          </a:prstGeom>
        </p:spPr>
      </p:pic>
    </p:spTree>
    <p:extLst>
      <p:ext uri="{BB962C8B-B14F-4D97-AF65-F5344CB8AC3E}">
        <p14:creationId xmlns:p14="http://schemas.microsoft.com/office/powerpoint/2010/main" val="347024113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19">
    <p:bg>
      <p:bgPr>
        <a:solidFill>
          <a:srgbClr val="0C0C0C"/>
        </a:solidFill>
        <a:effectLst/>
      </p:bgPr>
    </p:bg>
    <p:spTree>
      <p:nvGrpSpPr>
        <p:cNvPr id="1" name=""/>
        <p:cNvGrpSpPr/>
        <p:nvPr/>
      </p:nvGrpSpPr>
      <p:grpSpPr>
        <a:xfrm>
          <a:off x="0" y="0"/>
          <a:ext cx="0" cy="0"/>
          <a:chOff x="0" y="0"/>
          <a:chExt cx="0" cy="0"/>
        </a:xfrm>
      </p:grpSpPr>
      <p:sp>
        <p:nvSpPr>
          <p:cNvPr id="3" name="Text 1"/>
          <p:cNvSpPr/>
          <p:nvPr/>
        </p:nvSpPr>
        <p:spPr>
          <a:xfrm>
            <a:off x="548640" y="2331720"/>
            <a:ext cx="11064240" cy="1280160"/>
          </a:xfrm>
          <a:prstGeom prst="rect">
            <a:avLst/>
          </a:prstGeom>
          <a:noFill/>
          <a:ln/>
        </p:spPr>
        <p:txBody>
          <a:bodyPr wrap="square" rtlCol="0" anchor="ctr"/>
          <a:lstStyle/>
          <a:p>
            <a:pPr marL="0" indent="0">
              <a:buNone/>
            </a:pPr>
            <a:r>
              <a:rPr lang="en-US" sz="6000" i="1" dirty="0">
                <a:solidFill>
                  <a:srgbClr val="FAFAF9"/>
                </a:solidFill>
                <a:latin typeface="Instrument Serif" pitchFamily="34" charset="0"/>
                <a:ea typeface="Instrument Serif" pitchFamily="34" charset="-122"/>
                <a:cs typeface="Instrument Serif" pitchFamily="34" charset="-120"/>
              </a:rPr>
              <a:t>Thank you.</a:t>
            </a:r>
            <a:endParaRPr lang="en-US" sz="6000" dirty="0"/>
          </a:p>
        </p:txBody>
      </p:sp>
      <p:sp>
        <p:nvSpPr>
          <p:cNvPr id="4" name="Text 2"/>
          <p:cNvSpPr/>
          <p:nvPr/>
        </p:nvSpPr>
        <p:spPr>
          <a:xfrm>
            <a:off x="640080" y="3703320"/>
            <a:ext cx="10972800" cy="457200"/>
          </a:xfrm>
          <a:prstGeom prst="rect">
            <a:avLst/>
          </a:prstGeom>
          <a:noFill/>
          <a:ln/>
        </p:spPr>
        <p:txBody>
          <a:bodyPr wrap="square" rtlCol="0" anchor="ctr"/>
          <a:lstStyle/>
          <a:p>
            <a:pPr marL="0" indent="0">
              <a:buNone/>
            </a:pPr>
            <a:r>
              <a:rPr lang="en-US" sz="2000" dirty="0">
                <a:solidFill>
                  <a:srgbClr val="A8A29E"/>
                </a:solidFill>
                <a:latin typeface="DM Sans" pitchFamily="34" charset="0"/>
                <a:ea typeface="DM Sans" pitchFamily="34" charset="-122"/>
                <a:cs typeface="DM Sans" pitchFamily="34" charset="-120"/>
              </a:rPr>
              <a:t>@DevlinDuldulao</a:t>
            </a:r>
            <a:endParaRPr lang="en-US" sz="2000" dirty="0"/>
          </a:p>
        </p:txBody>
      </p:sp>
      <p:sp>
        <p:nvSpPr>
          <p:cNvPr id="5" name="Text 3"/>
          <p:cNvSpPr/>
          <p:nvPr/>
        </p:nvSpPr>
        <p:spPr>
          <a:xfrm>
            <a:off x="640080" y="4434840"/>
            <a:ext cx="10972800" cy="365760"/>
          </a:xfrm>
          <a:prstGeom prst="rect">
            <a:avLst/>
          </a:prstGeom>
          <a:noFill/>
          <a:ln/>
        </p:spPr>
        <p:txBody>
          <a:bodyPr wrap="square" rtlCol="0" anchor="ctr"/>
          <a:lstStyle/>
          <a:p>
            <a:pPr marL="0" indent="0">
              <a:buNone/>
            </a:pPr>
            <a:r>
              <a:rPr lang="en-US" sz="1300" kern="0" spc="100" dirty="0">
                <a:solidFill>
                  <a:srgbClr val="D4FF00"/>
                </a:solidFill>
                <a:latin typeface="IBM Plex Mono" pitchFamily="34" charset="0"/>
                <a:ea typeface="IBM Plex Mono" pitchFamily="34" charset="-122"/>
                <a:cs typeface="IBM Plex Mono" pitchFamily="34" charset="-120"/>
              </a:rPr>
              <a:t>Social links</a:t>
            </a:r>
            <a:endParaRPr lang="en-US" sz="1300" dirty="0"/>
          </a:p>
        </p:txBody>
      </p:sp>
      <p:pic>
        <p:nvPicPr>
          <p:cNvPr id="7" name="Picture 6">
            <a:extLst>
              <a:ext uri="{FF2B5EF4-FFF2-40B4-BE49-F238E27FC236}">
                <a16:creationId xmlns:a16="http://schemas.microsoft.com/office/drawing/2014/main" id="{7C2162D8-6628-077A-0F25-26D5C44D48DC}"/>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673825" y="717220"/>
            <a:ext cx="4874920" cy="4874920"/>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0C0C0C"/>
        </a:solidFill>
        <a:effectLst/>
      </p:bgPr>
    </p:bg>
    <p:spTree>
      <p:nvGrpSpPr>
        <p:cNvPr id="1" name="">
          <a:extLst>
            <a:ext uri="{FF2B5EF4-FFF2-40B4-BE49-F238E27FC236}">
              <a16:creationId xmlns:a16="http://schemas.microsoft.com/office/drawing/2014/main" id="{6DF1CB5B-7B69-A99D-B5CE-336CB4B74605}"/>
            </a:ext>
          </a:extLst>
        </p:cNvPr>
        <p:cNvGrpSpPr/>
        <p:nvPr/>
      </p:nvGrpSpPr>
      <p:grpSpPr>
        <a:xfrm>
          <a:off x="0" y="0"/>
          <a:ext cx="0" cy="0"/>
          <a:chOff x="0" y="0"/>
          <a:chExt cx="0" cy="0"/>
        </a:xfrm>
      </p:grpSpPr>
    </p:spTree>
    <p:extLst>
      <p:ext uri="{BB962C8B-B14F-4D97-AF65-F5344CB8AC3E}">
        <p14:creationId xmlns:p14="http://schemas.microsoft.com/office/powerpoint/2010/main" val="44020820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Metadata/LabelInfo.xml><?xml version="1.0" encoding="utf-8"?>
<clbl:labelList xmlns:clbl="http://schemas.microsoft.com/office/2020/mipLabelMetadata">
  <clbl:label id="{48141450-2387-4aca-b41f-19cd6be9dd3c}" enabled="1" method="Standard" siteId="{adf10e2b-b6e9-41d6-be2f-c12bb566019c}" contentBits="0" removed="0"/>
</clbl:labelList>
</file>

<file path=docProps/app.xml><?xml version="1.0" encoding="utf-8"?>
<Properties xmlns="http://schemas.openxmlformats.org/officeDocument/2006/extended-properties" xmlns:vt="http://schemas.openxmlformats.org/officeDocument/2006/docPropsVTypes">
  <TotalTime>516</TotalTime>
  <Words>6790</Words>
  <Application>Microsoft Office PowerPoint</Application>
  <PresentationFormat>Custom</PresentationFormat>
  <Paragraphs>546</Paragraphs>
  <Slides>52</Slides>
  <Notes>51</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52</vt:i4>
      </vt:variant>
    </vt:vector>
  </HeadingPairs>
  <TitlesOfParts>
    <vt:vector size="59" baseType="lpstr">
      <vt:lpstr>Arial</vt:lpstr>
      <vt:lpstr>Cascadia Code</vt:lpstr>
      <vt:lpstr>Cascadia Code NF</vt:lpstr>
      <vt:lpstr>DM Sans</vt:lpstr>
      <vt:lpstr>IBM Plex Mono</vt:lpstr>
      <vt:lpstr>Instrument Serif</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From 5 Devs to 200 — Micro-Frontends That Scale Your Team and Keep the UI Responsive</dc:title>
  <dc:subject>PptxGenJS Presentation</dc:subject>
  <dc:creator>Module Federation Demo</dc:creator>
  <cp:lastModifiedBy>Duldulao, Devlin (DNV External)</cp:lastModifiedBy>
  <cp:revision>184</cp:revision>
  <dcterms:created xsi:type="dcterms:W3CDTF">2026-07-26T17:49:56Z</dcterms:created>
  <dcterms:modified xsi:type="dcterms:W3CDTF">2026-08-29T18:01:00Z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ocumentInfoFinished">
    <vt:lpwstr>True</vt:lpwstr>
  </property>
</Properties>
</file>