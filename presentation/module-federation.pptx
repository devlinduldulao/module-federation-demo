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276" r:id="rId14"/>
    <p:sldId id="319" r:id="rId15"/>
    <p:sldId id="320" r:id="rId16"/>
    <p:sldId id="259" r:id="rId17"/>
    <p:sldId id="324" r:id="rId18"/>
    <p:sldId id="281" r:id="rId19"/>
    <p:sldId id="282" r:id="rId20"/>
    <p:sldId id="321" r:id="rId21"/>
    <p:sldId id="283" r:id="rId22"/>
    <p:sldId id="284" r:id="rId23"/>
    <p:sldId id="262" r:id="rId24"/>
    <p:sldId id="285" r:id="rId25"/>
    <p:sldId id="294" r:id="rId26"/>
    <p:sldId id="263" r:id="rId27"/>
    <p:sldId id="327" r:id="rId28"/>
    <p:sldId id="325" r:id="rId29"/>
    <p:sldId id="264" r:id="rId30"/>
    <p:sldId id="287" r:id="rId31"/>
    <p:sldId id="326" r:id="rId32"/>
    <p:sldId id="265" r:id="rId33"/>
    <p:sldId id="288" r:id="rId34"/>
    <p:sldId id="289" r:id="rId35"/>
    <p:sldId id="266" r:id="rId36"/>
    <p:sldId id="290" r:id="rId37"/>
    <p:sldId id="291" r:id="rId38"/>
    <p:sldId id="267" r:id="rId39"/>
    <p:sldId id="296" r:id="rId40"/>
    <p:sldId id="297" r:id="rId41"/>
    <p:sldId id="268" r:id="rId42"/>
    <p:sldId id="323" r:id="rId43"/>
    <p:sldId id="272" r:id="rId44"/>
    <p:sldId id="310" r:id="rId45"/>
    <p:sldId id="322" r:id="rId46"/>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286" autoAdjust="0"/>
    <p:restoredTop sz="69231" autoAdjust="0"/>
  </p:normalViewPr>
  <p:slideViewPr>
    <p:cSldViewPr snapToGrid="0" snapToObjects="1">
      <p:cViewPr varScale="1">
        <p:scale>
          <a:sx n="44" d="100"/>
          <a:sy n="44" d="100"/>
        </p:scale>
        <p:origin x="1396" y="28"/>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 teams can share a repo happily, but sharing a release train means one team's red build becomes everyone's problem.</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subtler because the failure is gradual. Nobody decides to violate a boundary; someone is just on a deadline and reaches across, and the import survives review because it looks like every other import. Deploy boundaries make that reach physically visible.</a:t>
            </a:r>
            <a:endParaRPr lang="en-GB" dirty="0"/>
          </a:p>
        </p:txBody>
      </p:sp>
    </p:spTree>
    <p:extLst>
      <p:ext uri="{BB962C8B-B14F-4D97-AF65-F5344CB8AC3E}">
        <p14:creationId xmlns:p14="http://schemas.microsoft.com/office/powerpoint/2010/main" val="3889681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endParaRPr lang="en-GB" dirty="0"/>
          </a:p>
        </p:txBody>
      </p:sp>
    </p:spTree>
    <p:extLst>
      <p:ext uri="{BB962C8B-B14F-4D97-AF65-F5344CB8AC3E}">
        <p14:creationId xmlns:p14="http://schemas.microsoft.com/office/powerpoint/2010/main" val="5601885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of it.</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endParaRPr lang="en-GB" dirty="0"/>
          </a:p>
        </p:txBody>
      </p:sp>
    </p:spTree>
    <p:extLst>
      <p:ext uri="{BB962C8B-B14F-4D97-AF65-F5344CB8AC3E}">
        <p14:creationId xmlns:p14="http://schemas.microsoft.com/office/powerpoint/2010/main" val="3529675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64C9-CBBA-A379-0F18-AC511CA52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00835-96D6-34E4-242C-D4E1576F8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C2021-8BA1-759E-7582-FC72580C7018}"/>
              </a:ext>
            </a:extLst>
          </p:cNvPr>
          <p:cNvSpPr>
            <a:spLocks noGrp="1"/>
          </p:cNvSpPr>
          <p:nvPr>
            <p:ph type="body" idx="1"/>
          </p:nvPr>
        </p:nvSpPr>
        <p:spPr/>
        <p:txBody>
          <a:bodyPr/>
          <a:lstStyle/>
          <a:p>
            <a:r>
              <a:rPr lang="en-US" dirty="0"/>
              <a:t>This is a diagram of the demo app.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p:txBody>
      </p:sp>
      <p:sp>
        <p:nvSpPr>
          <p:cNvPr id="4" name="Slide Number Placeholder 3">
            <a:extLst>
              <a:ext uri="{FF2B5EF4-FFF2-40B4-BE49-F238E27FC236}">
                <a16:creationId xmlns:a16="http://schemas.microsoft.com/office/drawing/2014/main" id="{BF5BDD75-7889-D9B0-B939-E9B065792DC3}"/>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8482723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Independent builds. Independent deploys. Onboarding that actually scales.</a:t>
            </a:r>
          </a:p>
          <a:p>
            <a:r>
              <a:rPr lang="en-US" dirty="0"/>
              <a:t>Suspense and skeletons are for end users. Instant perceived load.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Home is the landing page. It is lazy for code splitting, with no artificial delay. It renders the moment the chunk arrives. The status strip says Instant.</a:t>
            </a:r>
          </a:p>
          <a:p>
            <a:r>
              <a:rPr lang="en-US" dirty="0"/>
              <a:t>Records is high-value content. It is preloaded the moment the shell mounts. By the time the user clicks, it is already cached. The status strip says Eager.</a:t>
            </a:r>
          </a:p>
          <a:p>
            <a:r>
              <a:rPr lang="en-US" dirty="0"/>
              <a:t>Prescriptions and Analytics are secondary. They load on demand. The user sees a purpose-built skeleton while the module resolves. The status strip says Streaming.</a:t>
            </a:r>
          </a:p>
          <a:p>
            <a:r>
              <a:rPr lang="en-US" dirty="0"/>
              <a:t>When we get to the live demo, watch that status strip. It is the scoreboard for this architecture.</a:t>
            </a:r>
          </a:p>
          <a:p>
            <a:endParaRPr lang="en-GB" dirty="0"/>
          </a:p>
        </p:txBody>
      </p:sp>
    </p:spTree>
    <p:extLst>
      <p:ext uri="{BB962C8B-B14F-4D97-AF65-F5344CB8AC3E}">
        <p14:creationId xmlns:p14="http://schemas.microsoft.com/office/powerpoint/2010/main" val="16517261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74E12-9E8D-AFB5-3041-D4CE3F6A6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B1D06-B6BA-E8F9-8521-8BC0BE9D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FC480-5001-6921-742A-B8CE57747570}"/>
              </a:ext>
            </a:extLst>
          </p:cNvPr>
          <p:cNvSpPr>
            <a:spLocks noGrp="1"/>
          </p:cNvSpPr>
          <p:nvPr>
            <p:ph type="body" idx="1"/>
          </p:nvPr>
        </p:nvSpPr>
        <p:spPr/>
        <p:txBody>
          <a:bodyPr/>
          <a:lstStyle/>
          <a:p>
            <a:r>
              <a:rPr lang="en-US" dirty="0"/>
              <a:t>There is one trick that makes standalone mode possible. The entire entry file of every module is one line: import bootstrap. </a:t>
            </a:r>
          </a:p>
        </p:txBody>
      </p:sp>
      <p:sp>
        <p:nvSpPr>
          <p:cNvPr id="4" name="Slide Number Placeholder 3">
            <a:extLst>
              <a:ext uri="{FF2B5EF4-FFF2-40B4-BE49-F238E27FC236}">
                <a16:creationId xmlns:a16="http://schemas.microsoft.com/office/drawing/2014/main" id="{B988A9D4-A6F8-268D-8EA4-5DB05D5E7B7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9101718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36AC3-6EF3-7107-D76D-63DD64E26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433DC-A735-7F16-61AA-6F23B022A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6371-E97C-24F1-680A-BB10D527C906}"/>
              </a:ext>
            </a:extLst>
          </p:cNvPr>
          <p:cNvSpPr>
            <a:spLocks noGrp="1"/>
          </p:cNvSpPr>
          <p:nvPr>
            <p:ph type="body" idx="1"/>
          </p:nvPr>
        </p:nvSpPr>
        <p:spPr/>
        <p:txBody>
          <a:bodyPr/>
          <a:lstStyle/>
          <a:p>
            <a:r>
              <a:rPr lang="en-US" dirty="0"/>
              <a:t>That dynamic import is an async boundary.</a:t>
            </a:r>
          </a:p>
          <a:p>
            <a:r>
              <a:rPr lang="en-US" dirty="0"/>
              <a:t>Module Federation shares React with eager set to false. Shared React has to be negotiated before any React code runs. Import React synchronously in the entry file and you get a white screen and a loadShareSync error.</a:t>
            </a:r>
          </a:p>
          <a:p>
            <a:r>
              <a:rPr lang="en-US" dirty="0"/>
              <a:t>With the bootstrap split, Module Federation finishes the handshake, then bootstrap renders. All five packages use this pattern. Do not remove it.</a:t>
            </a:r>
          </a:p>
        </p:txBody>
      </p:sp>
      <p:sp>
        <p:nvSpPr>
          <p:cNvPr id="4" name="Slide Number Placeholder 3">
            <a:extLst>
              <a:ext uri="{FF2B5EF4-FFF2-40B4-BE49-F238E27FC236}">
                <a16:creationId xmlns:a16="http://schemas.microsoft.com/office/drawing/2014/main" id="{3D4262D7-F1FB-BF43-C3BD-EB90E311C904}"/>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9445796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Everything else in the </a:t>
            </a:r>
            <a:r>
              <a:rPr lang="en-US" dirty="0" err="1"/>
              <a:t>Rspack</a:t>
            </a:r>
            <a:r>
              <a:rPr lang="en-US" dirty="0"/>
              <a:t>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a:p>
            <a:endParaRPr lang="en-GB" dirty="0"/>
          </a:p>
        </p:txBody>
      </p:sp>
    </p:spTree>
    <p:extLst>
      <p:ext uri="{BB962C8B-B14F-4D97-AF65-F5344CB8AC3E}">
        <p14:creationId xmlns:p14="http://schemas.microsoft.com/office/powerpoint/2010/main" val="39908704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7352-62A6-3D30-235F-DEF05E76A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BE2BF-F444-EE59-A848-9CDF6B708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170A9-22A8-3819-594D-A62521FD6FE6}"/>
              </a:ext>
            </a:extLst>
          </p:cNvPr>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p:txBody>
      </p:sp>
      <p:sp>
        <p:nvSpPr>
          <p:cNvPr id="4" name="Slide Number Placeholder 3">
            <a:extLst>
              <a:ext uri="{FF2B5EF4-FFF2-40B4-BE49-F238E27FC236}">
                <a16:creationId xmlns:a16="http://schemas.microsoft.com/office/drawing/2014/main" id="{FA70525B-D3B6-E14A-F089-2399DD061F3A}"/>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973934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713-F49A-FD71-10C7-47A9752BE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EFE41-3650-0E71-3E18-DB581D3F1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0856A-6BA5-44D9-C6FF-82B3AF58BDA4}"/>
              </a:ext>
            </a:extLst>
          </p:cNvPr>
          <p:cNvSpPr>
            <a:spLocks noGrp="1"/>
          </p:cNvSpPr>
          <p:nvPr>
            <p:ph type="body" idx="1"/>
          </p:nvPr>
        </p:nvSpPr>
        <p:spPr/>
        <p:txBody>
          <a:bodyPr/>
          <a:lstStyle/>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a:extLst>
              <a:ext uri="{FF2B5EF4-FFF2-40B4-BE49-F238E27FC236}">
                <a16:creationId xmlns:a16="http://schemas.microsoft.com/office/drawing/2014/main" id="{7A820ED3-3B4A-E649-B627-307736353FA6}"/>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3432217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client-side Suspense fallback works inside a federated remote.</a:t>
            </a:r>
          </a:p>
          <a:p>
            <a:r>
              <a:rPr lang="en-US" dirty="0"/>
              <a:t>Create resource takes an async function. It starts the promise immediately. Then it returns an object with one method, named read. Read is synchronous on purpose. If the promise is still pending, read throws that promise. Suspense in the shell catches the throw and shows the skeleton. If it failed, the error boundary catches it. If it succeeded, read returns the result.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C6E8F-68F2-7DE6-8A16-F1660960A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AB30D-70F0-E61A-5B1F-331B266C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68599-2723-988B-D373-F40624E3A1CE}"/>
              </a:ext>
            </a:extLst>
          </p:cNvPr>
          <p:cNvSpPr>
            <a:spLocks noGrp="1"/>
          </p:cNvSpPr>
          <p:nvPr>
            <p:ph type="body" idx="1"/>
          </p:nvPr>
        </p:nvSpPr>
        <p:spPr/>
        <p:txBody>
          <a:bodyPr/>
          <a:lstStyle/>
          <a:p>
            <a:r>
              <a:rPr lang="en-US" dirty="0"/>
              <a:t>The streaming wrapper is tiny. Get the cached resource. Call read. Render the real component. The wrapper's only job is to trigger Suspense. The actual UI lives in the standalone component.</a:t>
            </a:r>
          </a:p>
        </p:txBody>
      </p:sp>
      <p:sp>
        <p:nvSpPr>
          <p:cNvPr id="4" name="Slide Number Placeholder 3">
            <a:extLst>
              <a:ext uri="{FF2B5EF4-FFF2-40B4-BE49-F238E27FC236}">
                <a16:creationId xmlns:a16="http://schemas.microsoft.com/office/drawing/2014/main" id="{01FCE381-4F52-4DC6-711F-88510CB09BD6}"/>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0752747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7D766-93F4-424B-6020-F4DD1CBDF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0B8E0-7731-AD9A-DA66-E53B8CC7F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8FBD5-15B8-7FF6-E848-D324DE6EBF8B}"/>
              </a:ext>
            </a:extLst>
          </p:cNvPr>
          <p:cNvSpPr>
            <a:spLocks noGrp="1"/>
          </p:cNvSpPr>
          <p:nvPr>
            <p:ph type="body" idx="1"/>
          </p:nvPr>
        </p:nvSpPr>
        <p:spPr/>
        <p:txBody>
          <a:bodyPr/>
          <a:lstStyle/>
          <a:p>
            <a:r>
              <a:rPr lang="en-US" dirty="0"/>
              <a:t>This demo delays a client-side promise so you can see the skeleton on stage. Prescriptions waits two and a half seconds. Analytics waits four. That is not streaming server-side rendering. It is a teaching device. In production you pair this with a Suspense-compatible cached data layer. React 19's use hook can read that promise the same way.</a:t>
            </a:r>
          </a:p>
          <a:p>
            <a:r>
              <a:rPr lang="en-US" dirty="0"/>
              <a:t>The cache matters. The resource is created once, outside render. Create a new promise on every render, and Suspense will loop forever.</a:t>
            </a:r>
          </a:p>
        </p:txBody>
      </p:sp>
      <p:sp>
        <p:nvSpPr>
          <p:cNvPr id="4" name="Slide Number Placeholder 3">
            <a:extLst>
              <a:ext uri="{FF2B5EF4-FFF2-40B4-BE49-F238E27FC236}">
                <a16:creationId xmlns:a16="http://schemas.microsoft.com/office/drawing/2014/main" id="{8CE50C26-15D5-625B-2507-BA71CF89893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616147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is where the three loading strategies live, in one file.</a:t>
            </a:r>
          </a:p>
          <a:p>
            <a:r>
              <a:rPr lang="en-US" dirty="0"/>
              <a:t>Home is instant. A lazy import of Home. No streaming delay. When the chunk arrives, it renders.</a:t>
            </a:r>
          </a:p>
          <a:p>
            <a:r>
              <a:rPr lang="en-US" dirty="0"/>
              <a:t>Records is eager. A lazy import of the standalone component. At shell init we fire that import and warm the cache. When the user clicks Records, lazy resolves from cache. No skeleton. No delay.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not that static imports are impossible — they work, because </a:t>
            </a:r>
            <a:r>
              <a:rPr lang="en-US" sz="1200" kern="1200" dirty="0" err="1">
                <a:solidFill>
                  <a:schemeClr val="tx1"/>
                </a:solidFill>
                <a:latin typeface="+mn-lt"/>
                <a:ea typeface="+mn-ea"/>
                <a:cs typeface="+mn-cs"/>
              </a:rPr>
              <a:t>index.tsx</a:t>
            </a:r>
            <a:r>
              <a:rPr lang="en-US" dirty="0" err="1"/>
              <a:t>'s</a:t>
            </a:r>
            <a:r>
              <a:rPr lang="en-US" dirty="0"/>
              <a:t> dynamic import already resolved the shared scope. It's that a static import makes the remote block first paint, and leaves nowhere to catch a failed remote. 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header exposes three buttons. Settings, Commands, and Lab. They are how I will run the live demo without hunting for UI.</a:t>
            </a:r>
          </a:p>
          <a:p>
            <a:r>
              <a:rPr lang="en-US" dirty="0"/>
              <a:t>Settings is a drawer. Dark or light. The shell rewrites CSS variables on the root, persists the choice to local storage, and dispatches a typed theme-change event. Every remote reacts. No shared imports. No prop drilling.</a:t>
            </a:r>
          </a:p>
          <a:p>
            <a:r>
              <a:rPr lang="en-US" dirty="0"/>
              <a:t>Commands is a Control K palette. Type kill records, or canary, or dark, and the list filters in real time. Navigation, theme, kill switches, and deployment rings are all keyboard actions.</a:t>
            </a:r>
          </a:p>
          <a:p>
            <a:r>
              <a:rPr lang="en-US" dirty="0"/>
              <a:t>Lab is the Federation Lab. Four remotes.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6C20B-4A97-425B-9490-9DCB56D834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A6AA92-E4A6-E6FA-B226-EA06DA333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F670C-0428-B0E1-DB0B-324F0BBE39F8}"/>
              </a:ext>
            </a:extLst>
          </p:cNvPr>
          <p:cNvSpPr>
            <a:spLocks noGrp="1"/>
          </p:cNvSpPr>
          <p:nvPr>
            <p:ph type="body" idx="1"/>
          </p:nvPr>
        </p:nvSpPr>
        <p:spPr/>
        <p:txBody>
          <a:bodyPr/>
          <a:lstStyle/>
          <a:p>
            <a:r>
              <a:rPr lang="en-US" dirty="0"/>
              <a:t>A health monitor that polls remoteEntry.js every five seconds. Kill switches. An A/B deployment ring. 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endParaRPr lang="en-US" dirty="0"/>
          </a:p>
        </p:txBody>
      </p:sp>
      <p:sp>
        <p:nvSpPr>
          <p:cNvPr id="4" name="Slide Number Placeholder 3">
            <a:extLst>
              <a:ext uri="{FF2B5EF4-FFF2-40B4-BE49-F238E27FC236}">
                <a16:creationId xmlns:a16="http://schemas.microsoft.com/office/drawing/2014/main" id="{069010F3-8DE1-A2AD-7962-CBD9E92C139D}"/>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77098881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A health monitor that polls remoteEntry.js every five seconds. Kill switches. An A/B deployment ring. That panel is for the demo. I can take a module down in front of you and show you that the rest of the app keeps running. </a:t>
            </a:r>
            <a:r>
              <a:rPr lang="en-US"/>
              <a:t>Basically we are going to simulate </a:t>
            </a:r>
            <a:r>
              <a:rPr lang="en-US" sz="1200" i="1">
                <a:solidFill>
                  <a:schemeClr val="bg1">
                    <a:lumMod val="95000"/>
                  </a:schemeClr>
                </a:solidFill>
                <a:latin typeface="Instrument Serif" pitchFamily="34" charset="0"/>
                <a:ea typeface="Instrument Serif" pitchFamily="34" charset="-122"/>
              </a:rPr>
              <a:t>m</a:t>
            </a:r>
            <a:r>
              <a:rPr lang="en-US" sz="1200" i="1">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endParaRPr lang="en-US" dirty="0"/>
          </a:p>
        </p:txBody>
      </p:sp>
    </p:spTree>
    <p:extLst>
      <p:ext uri="{BB962C8B-B14F-4D97-AF65-F5344CB8AC3E}">
        <p14:creationId xmlns:p14="http://schemas.microsoft.com/office/powerpoint/2010/main" val="35995048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1912-E24A-9E27-C788-ACFFD48D3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AF508-8758-6268-6306-0D9856C0A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F613F-4A57-0D3E-5FB0-6CFA8E8992DE}"/>
              </a:ext>
            </a:extLst>
          </p:cNvPr>
          <p:cNvSpPr>
            <a:spLocks noGrp="1"/>
          </p:cNvSpPr>
          <p:nvPr>
            <p:ph type="body" idx="1"/>
          </p:nvPr>
        </p:nvSpPr>
        <p:spPr/>
        <p:txBody>
          <a:bodyPr/>
          <a:lstStyle/>
          <a:p>
            <a:r>
              <a:rPr lang="en-US" dirty="0"/>
              <a:t>That is the cost of a shared runtime. Iframes would give you process-level isolation, and they would break shared React context, theming, and routing. </a:t>
            </a:r>
          </a:p>
        </p:txBody>
      </p:sp>
      <p:sp>
        <p:nvSpPr>
          <p:cNvPr id="4" name="Slide Number Placeholder 3">
            <a:extLst>
              <a:ext uri="{FF2B5EF4-FFF2-40B4-BE49-F238E27FC236}">
                <a16:creationId xmlns:a16="http://schemas.microsoft.com/office/drawing/2014/main" id="{2DB2F394-5D10-D8EE-7474-5EEF70B2FC3E}"/>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7824898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2CE6E-03C9-D1D6-1D33-3F050B10A1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AAEB6-440A-A57B-CD63-A754855FE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BB98E-6CAC-F776-C2BE-DACC5779010F}"/>
              </a:ext>
            </a:extLst>
          </p:cNvPr>
          <p:cNvSpPr>
            <a:spLocks noGrp="1"/>
          </p:cNvSpPr>
          <p:nvPr>
            <p:ph type="body" idx="1"/>
          </p:nvPr>
        </p:nvSpPr>
        <p:spPr/>
        <p:txBody>
          <a:bodyPr/>
          <a:lstStyle/>
          <a:p>
            <a:r>
              <a:rPr lang="en-US" dirty="0"/>
              <a:t>Most Module Federation setups accept the tradeoff.</a:t>
            </a:r>
          </a:p>
          <a:p>
            <a:r>
              <a:rPr lang="en-US" dirty="0"/>
              <a:t>When we get to the Lab, I will kill Records live. Prescriptions and Analytics will keep working. That is the proof.</a:t>
            </a:r>
          </a:p>
        </p:txBody>
      </p:sp>
      <p:sp>
        <p:nvSpPr>
          <p:cNvPr id="4" name="Slide Number Placeholder 3">
            <a:extLst>
              <a:ext uri="{FF2B5EF4-FFF2-40B4-BE49-F238E27FC236}">
                <a16:creationId xmlns:a16="http://schemas.microsoft.com/office/drawing/2014/main" id="{F8E5A6AA-E95C-FBC9-44A1-A3F9E8CEC77D}"/>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3357181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talks to Prescriptions. How, if Records has never imported a line from Prescriptions? Events. Not a shared Redux store. Not a shared npm package. A typed custom event on window.</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DFE8B-97DB-D0BA-766B-B3EFA9A1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8322A-E0B5-3857-3675-136EAC959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6C5C9-E7A5-DAAB-BF9F-4836EA2881D8}"/>
              </a:ext>
            </a:extLst>
          </p:cNvPr>
          <p:cNvSpPr>
            <a:spLocks noGrp="1"/>
          </p:cNvSpPr>
          <p:nvPr>
            <p:ph type="body" idx="1"/>
          </p:nvPr>
        </p:nvSpPr>
        <p:spPr/>
        <p:txBody>
          <a:bodyPr/>
          <a:lstStyle/>
          <a:p>
            <a:r>
              <a:rPr lang="en-US" dirty="0"/>
              <a:t>Records dispatches addPrescription with an id, a name, a price, and a quantity. Prescriptions listens, updates its own state, and never imports Records. Records also dispatches showNotification, and the shell shows a toast. Prescriptions can dispatch navigateToModule. The shell is still the only owner of the router. A remote may ask to navigate. It may not mutate the route itself.</a:t>
            </a:r>
          </a:p>
        </p:txBody>
      </p:sp>
      <p:sp>
        <p:nvSpPr>
          <p:cNvPr id="4" name="Slide Number Placeholder 3">
            <a:extLst>
              <a:ext uri="{FF2B5EF4-FFF2-40B4-BE49-F238E27FC236}">
                <a16:creationId xmlns:a16="http://schemas.microsoft.com/office/drawing/2014/main" id="{F485BAE6-6536-F140-F006-C93FF92ADB6D}"/>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8520741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DF92F-1432-B155-F69A-449695794E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D1928-9456-CC27-B942-39DE05D19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560C42-5436-02AD-F4EC-6EFD0E350CD3}"/>
              </a:ext>
            </a:extLst>
          </p:cNvPr>
          <p:cNvSpPr>
            <a:spLocks noGrp="1"/>
          </p:cNvSpPr>
          <p:nvPr>
            <p:ph type="body" idx="1"/>
          </p:nvPr>
        </p:nvSpPr>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WindowEventMap. No shared package is required. addEventListener is fully typed.</a:t>
            </a:r>
          </a:p>
        </p:txBody>
      </p:sp>
      <p:sp>
        <p:nvSpPr>
          <p:cNvPr id="4" name="Slide Number Placeholder 3">
            <a:extLst>
              <a:ext uri="{FF2B5EF4-FFF2-40B4-BE49-F238E27FC236}">
                <a16:creationId xmlns:a16="http://schemas.microsoft.com/office/drawing/2014/main" id="{CFDF3C66-8E85-C62D-CCBB-7C7F6A8FC8DC}"/>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32050270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CAA7-9985-05A8-54F2-CCF3F6B1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41509-2BEA-EF7A-F3FB-001DE8FC86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E4D37-CD85-804A-C20E-AD8765FFB94D}"/>
              </a:ext>
            </a:extLst>
          </p:cNvPr>
          <p:cNvSpPr>
            <a:spLocks noGrp="1"/>
          </p:cNvSpPr>
          <p:nvPr>
            <p:ph type="body" idx="1"/>
          </p:nvPr>
        </p:nvSpPr>
        <p:spPr/>
        <p:txBody>
          <a:bodyPr/>
          <a:lstStyle/>
          <a:p>
            <a:r>
              <a:rPr lang="en-US" dirty="0"/>
              <a:t>Every remote has a useActiveTheme hook. It tries the host bridge first, falls back to local storage, and defaults to dark. Then it listens for theme-change and updates. Remotes style with Tailwind classes that point at those CSS variables. When the shell rewrites the variables, every remote repaints. No shared CSS build step.</a:t>
            </a:r>
          </a:p>
          <a:p>
            <a:r>
              <a:rPr lang="en-US" dirty="0"/>
              <a:t>Two palettes. Dark is editorial noir. Light is clean white.</a:t>
            </a:r>
          </a:p>
        </p:txBody>
      </p:sp>
      <p:sp>
        <p:nvSpPr>
          <p:cNvPr id="4" name="Slide Number Placeholder 3">
            <a:extLst>
              <a:ext uri="{FF2B5EF4-FFF2-40B4-BE49-F238E27FC236}">
                <a16:creationId xmlns:a16="http://schemas.microsoft.com/office/drawing/2014/main" id="{FFCE2B23-CA02-7023-FC3C-A6851775B8B1}"/>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5599828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E29B8-5372-5A08-6FEF-A81B7745C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AE8A2-A2AD-2435-B7E5-CEB345584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69E0C0-C363-E26C-0C13-E39FD76D3F77}"/>
              </a:ext>
            </a:extLst>
          </p:cNvPr>
          <p:cNvSpPr>
            <a:spLocks noGrp="1"/>
          </p:cNvSpPr>
          <p:nvPr>
            <p:ph type="body" idx="1"/>
          </p:nvPr>
        </p:nvSpPr>
        <p:spPr/>
        <p:txBody>
          <a:bodyPr/>
          <a:lstStyle/>
          <a:p>
            <a:r>
              <a:rPr lang="en-US" dirty="0"/>
              <a:t>In the demo I will flip this live, and you will watch Records, Prescriptions, and Analytics change together.</a:t>
            </a:r>
          </a:p>
        </p:txBody>
      </p:sp>
      <p:sp>
        <p:nvSpPr>
          <p:cNvPr id="4" name="Slide Number Placeholder 3">
            <a:extLst>
              <a:ext uri="{FF2B5EF4-FFF2-40B4-BE49-F238E27FC236}">
                <a16:creationId xmlns:a16="http://schemas.microsoft.com/office/drawing/2014/main" id="{D0CA3F0D-B84A-84C7-CCE7-445B4B705FE5}"/>
              </a:ext>
            </a:extLst>
          </p:cNvPr>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8482636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preloading. Eager on mount. Hover on demand.</a:t>
            </a:r>
          </a:p>
          <a:p>
            <a:r>
              <a:rPr lang="en-US" dirty="0"/>
              <a:t>There is a prefetchers map. One function per module. Each function is a bare import of that remote. At shell init, we fire the ones marked eager. Records starts loading before the user has clicked anything.</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a:p>
            <a:endParaRPr lang="en-GB" dirty="0"/>
          </a:p>
        </p:txBody>
      </p:sp>
    </p:spTree>
    <p:extLst>
      <p:ext uri="{BB962C8B-B14F-4D97-AF65-F5344CB8AC3E}">
        <p14:creationId xmlns:p14="http://schemas.microsoft.com/office/powerpoint/2010/main" val="220238253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navigateToModule. Only the shell mutates router state.</a:t>
            </a:r>
          </a:p>
          <a:p>
            <a:r>
              <a:rPr lang="en-US" dirty="0"/>
              <a:t>Five. Ship fault isolation on purpose. A catch on every lazy import, plus an error boundary per module, keeps one broken remote from taking down the app.</a:t>
            </a:r>
          </a:p>
          <a:p>
            <a:r>
              <a:rPr lang="en-US" dirty="0"/>
              <a:t>Six. Rspack keeps the monorepo fast. Sub-second hot reload across four applications. Module Federation is built in. Rspack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Streaming Micro-Frontends: React 19 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3748972" y="2782669"/>
            <a:ext cx="5713167" cy="707886"/>
          </a:xfrm>
          <a:prstGeom prst="rect">
            <a:avLst/>
          </a:prstGeom>
          <a:noFill/>
        </p:spPr>
        <p:txBody>
          <a:bodyPr wrap="none" rtlCol="0">
            <a:spAutoFit/>
          </a:bodyPr>
          <a:lstStyle/>
          <a:p>
            <a:pPr algn="ctr"/>
            <a:r>
              <a:rPr lang="en-US" sz="4000" dirty="0"/>
              <a:t>What are we solving here?</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E6E5659-012F-9DB5-24D7-BCB6DF4F0BD8}"/>
            </a:ext>
          </a:extLst>
        </p:cNvPr>
        <p:cNvGrpSpPr/>
        <p:nvPr/>
      </p:nvGrpSpPr>
      <p:grpSpPr>
        <a:xfrm>
          <a:off x="0" y="0"/>
          <a:ext cx="0" cy="0"/>
          <a:chOff x="0" y="0"/>
          <a:chExt cx="0" cy="0"/>
        </a:xfrm>
      </p:grpSpPr>
      <p:sp>
        <p:nvSpPr>
          <p:cNvPr id="3" name="Text 4">
            <a:extLst>
              <a:ext uri="{FF2B5EF4-FFF2-40B4-BE49-F238E27FC236}">
                <a16:creationId xmlns:a16="http://schemas.microsoft.com/office/drawing/2014/main" id="{97970F93-03A9-E039-C72E-6674A13A62F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4017365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sp>
        <p:nvSpPr>
          <p:cNvPr id="8" name="Text 5"/>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INSTANT     EAGER          STREAMED             STREAMED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1173AB3-D0AE-18E4-3CB6-327CCB6BD44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E0AA7636-7E2C-53BB-D082-B63EA422D7D7}"/>
              </a:ext>
            </a:extLst>
          </p:cNvPr>
          <p:cNvGraphicFramePr>
            <a:graphicFrameLocks noGrp="1"/>
          </p:cNvGraphicFramePr>
          <p:nvPr>
            <p:extLst>
              <p:ext uri="{D42A27DB-BD31-4B8C-83A1-F6EECF244321}">
                <p14:modId xmlns:p14="http://schemas.microsoft.com/office/powerpoint/2010/main" val="193182899"/>
              </p:ext>
            </p:extLst>
          </p:nvPr>
        </p:nvGraphicFramePr>
        <p:xfrm>
          <a:off x="754380" y="1889760"/>
          <a:ext cx="11064240" cy="3078480"/>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66560">
                  <a:extLst>
                    <a:ext uri="{9D8B030D-6E8A-4147-A177-3AD203B41FA5}">
                      <a16:colId xmlns:a16="http://schemas.microsoft.com/office/drawing/2014/main" val="20002"/>
                    </a:ext>
                  </a:extLst>
                </a:gridCol>
              </a:tblGrid>
              <a:tr h="310896">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STRATEGY</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MODULE</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BEHAVIOR</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Instant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Lazy for code splitting, no artificial resource delay; renders when the chunk arrives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Eager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Records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Standalone component, preloaded on shell mount; cached before the click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Streamed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Prescriptions, Analytics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On demand, per-module skeletons + error isolation</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089642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1E41C2E6-274A-617F-FA6A-C9AD445E131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CD485FF-BBBD-8ADC-3004-A1148011900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6" name="TextBox 5">
            <a:extLst>
              <a:ext uri="{FF2B5EF4-FFF2-40B4-BE49-F238E27FC236}">
                <a16:creationId xmlns:a16="http://schemas.microsoft.com/office/drawing/2014/main" id="{53C79525-4666-8067-9A45-F918748095D8}"/>
              </a:ext>
            </a:extLst>
          </p:cNvPr>
          <p:cNvSpPr txBox="1"/>
          <p:nvPr/>
        </p:nvSpPr>
        <p:spPr>
          <a:xfrm>
            <a:off x="530352" y="1856232"/>
            <a:ext cx="11082528"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index.tsx</a:t>
            </a:r>
            <a:r>
              <a:rPr lang="en-US" sz="2000" b="0" dirty="0">
                <a:solidFill>
                  <a:srgbClr val="8B949E"/>
                </a:solidFill>
                <a:effectLst/>
                <a:latin typeface="Cascadia Code" panose="020B0609020000020004" pitchFamily="49" charset="0"/>
              </a:rPr>
              <a:t> — the ENTIRE file (async boundary for MF)</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"./bootstrap"</a:t>
            </a:r>
            <a:r>
              <a:rPr lang="en-US" sz="2000" b="0" dirty="0">
                <a:solidFill>
                  <a:srgbClr val="BBBEBF"/>
                </a:solidFill>
                <a:effectLst/>
                <a:latin typeface="Cascadia Code" panose="020B0609020000020004" pitchFamily="49" charset="0"/>
              </a:rPr>
              <a:t>);</a:t>
            </a:r>
          </a:p>
          <a:p>
            <a:pPr>
              <a:lnSpc>
                <a:spcPct val="150000"/>
              </a:lnSpc>
              <a:buNone/>
            </a:pP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bootstrap.tsx</a:t>
            </a:r>
            <a:r>
              <a:rPr lang="en-US" sz="2000" b="0" dirty="0">
                <a:solidFill>
                  <a:srgbClr val="8B949E"/>
                </a:solidFill>
                <a:effectLst/>
                <a:latin typeface="Cascadia Code" panose="020B0609020000020004" pitchFamily="49" charset="0"/>
              </a:rPr>
              <a:t> — actual React rendering</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ReactDOM</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"react-</a:t>
            </a:r>
            <a:r>
              <a:rPr lang="en-US" sz="2000" b="0" dirty="0" err="1">
                <a:solidFill>
                  <a:srgbClr val="A5D6FF"/>
                </a:solidFill>
                <a:effectLst/>
                <a:latin typeface="Cascadia Code" panose="020B0609020000020004" pitchFamily="49" charset="0"/>
              </a:rPr>
              <a:t>dom</a:t>
            </a:r>
            <a:r>
              <a:rPr lang="en-US" sz="2000" b="0" dirty="0">
                <a:solidFill>
                  <a:srgbClr val="A5D6FF"/>
                </a:solidFill>
                <a:effectLst/>
                <a:latin typeface="Cascadia Code" panose="020B0609020000020004" pitchFamily="49" charset="0"/>
              </a:rPr>
              <a:t>/client"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err="1">
                <a:solidFill>
                  <a:srgbClr val="C9D1D9"/>
                </a:solidFill>
                <a:effectLst/>
                <a:latin typeface="Cascadia Code" panose="020B0609020000020004" pitchFamily="49" charset="0"/>
              </a:rPr>
              <a:t>ReactDOM</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createRoot</a:t>
            </a:r>
            <a:r>
              <a:rPr lang="en-US" sz="2000" b="0" dirty="0">
                <a:solidFill>
                  <a:srgbClr val="BBBEBF"/>
                </a:solidFill>
                <a:effectLst/>
                <a:latin typeface="Cascadia Code" panose="020B0609020000020004" pitchFamily="49" charset="0"/>
              </a:rPr>
              <a:t>(</a:t>
            </a:r>
            <a:r>
              <a:rPr lang="en-US" sz="2000" b="0" dirty="0" err="1">
                <a:solidFill>
                  <a:srgbClr val="79C0FF"/>
                </a:solidFill>
                <a:effectLst/>
                <a:latin typeface="Cascadia Code" panose="020B0609020000020004" pitchFamily="49" charset="0"/>
              </a:rPr>
              <a:t>document</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getElementById</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"root"</a:t>
            </a:r>
            <a:r>
              <a:rPr lang="en-US" sz="2000" b="0" dirty="0">
                <a:solidFill>
                  <a:srgbClr val="BBBEBF"/>
                </a:solidFill>
                <a:effectLst/>
                <a:latin typeface="Cascadia Code" panose="020B0609020000020004" pitchFamily="49" charset="0"/>
              </a:rPr>
              <a:t>)</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render</a:t>
            </a:r>
            <a:r>
              <a:rPr lang="en-US" sz="2000" b="0" dirty="0">
                <a:solidFill>
                  <a:srgbClr val="BBBEBF"/>
                </a:solidFill>
                <a:effectLst/>
                <a:latin typeface="Cascadia Code" panose="020B0609020000020004" pitchFamily="49" charset="0"/>
              </a:rPr>
              <a:t>(&lt;</a:t>
            </a:r>
            <a:r>
              <a:rPr lang="en-US" sz="2000" b="0" dirty="0" err="1">
                <a:solidFill>
                  <a:srgbClr val="4EC9B0"/>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/&gt;);</a:t>
            </a:r>
          </a:p>
        </p:txBody>
      </p:sp>
    </p:spTree>
    <p:extLst>
      <p:ext uri="{BB962C8B-B14F-4D97-AF65-F5344CB8AC3E}">
        <p14:creationId xmlns:p14="http://schemas.microsoft.com/office/powerpoint/2010/main" val="2054531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283573FA-C24E-CF40-B6E5-09DF3127606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1AD6F17-18CF-5F23-57EC-FA67F08DCA5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10" name="Text 6">
            <a:extLst>
              <a:ext uri="{FF2B5EF4-FFF2-40B4-BE49-F238E27FC236}">
                <a16:creationId xmlns:a16="http://schemas.microsoft.com/office/drawing/2014/main" id="{2954C471-BE84-C1CE-67C3-2B05D53E3227}"/>
              </a:ext>
            </a:extLst>
          </p:cNvPr>
          <p:cNvSpPr/>
          <p:nvPr/>
        </p:nvSpPr>
        <p:spPr>
          <a:xfrm>
            <a:off x="530352" y="2713616"/>
            <a:ext cx="10991088" cy="3030968"/>
          </a:xfrm>
          <a:prstGeom prst="rect">
            <a:avLst/>
          </a:prstGeom>
          <a:noFill/>
          <a:ln/>
        </p:spPr>
        <p:txBody>
          <a:bodyPr wrap="square" rtlCol="0" anchor="t"/>
          <a:lstStyle/>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Async boundary lets MF negotiate shared deps first</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Without it: white screen + loadShareSync error</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All 5 packages use this pattern</a:t>
            </a:r>
            <a:endParaRPr lang="en-US" sz="2800" dirty="0"/>
          </a:p>
        </p:txBody>
      </p:sp>
    </p:spTree>
    <p:extLst>
      <p:ext uri="{BB962C8B-B14F-4D97-AF65-F5344CB8AC3E}">
        <p14:creationId xmlns:p14="http://schemas.microsoft.com/office/powerpoint/2010/main" val="1928773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5328B4E-83E9-73F4-CFE3-5C66BDB4D01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The one plugin that makes it federated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E1F630C8-CD9B-3121-CD07-8B251458FBDF}"/>
              </a:ext>
            </a:extLst>
          </p:cNvPr>
          <p:cNvGraphicFramePr>
            <a:graphicFrameLocks noGrp="1"/>
          </p:cNvGraphicFramePr>
          <p:nvPr>
            <p:extLst>
              <p:ext uri="{D42A27DB-BD31-4B8C-83A1-F6EECF244321}">
                <p14:modId xmlns:p14="http://schemas.microsoft.com/office/powerpoint/2010/main" val="1728981913"/>
              </p:ext>
            </p:extLst>
          </p:nvPr>
        </p:nvGraphicFramePr>
        <p:xfrm>
          <a:off x="543799" y="2466190"/>
          <a:ext cx="11064240" cy="3181576"/>
        </p:xfrm>
        <a:graphic>
          <a:graphicData uri="http://schemas.openxmlformats.org/drawingml/2006/table">
            <a:tbl>
              <a:tblPr/>
              <a:tblGrid>
                <a:gridCol w="1554480">
                  <a:extLst>
                    <a:ext uri="{9D8B030D-6E8A-4147-A177-3AD203B41FA5}">
                      <a16:colId xmlns:a16="http://schemas.microsoft.com/office/drawing/2014/main" val="20000"/>
                    </a:ext>
                  </a:extLst>
                </a:gridCol>
                <a:gridCol w="1591594">
                  <a:extLst>
                    <a:ext uri="{9D8B030D-6E8A-4147-A177-3AD203B41FA5}">
                      <a16:colId xmlns:a16="http://schemas.microsoft.com/office/drawing/2014/main" val="20001"/>
                    </a:ext>
                  </a:extLst>
                </a:gridCol>
                <a:gridCol w="7918166">
                  <a:extLst>
                    <a:ext uri="{9D8B030D-6E8A-4147-A177-3AD203B41FA5}">
                      <a16:colId xmlns:a16="http://schemas.microsoft.com/office/drawing/2014/main" val="20002"/>
                    </a:ext>
                  </a:extLst>
                </a:gridCol>
              </a:tblGrid>
              <a:tr h="671150">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PROPERTY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WHERE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PURPOSE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106284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exposes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Public API: which components this team shares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Runtime discovery: scope@URL for each remote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shared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Both</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Deduplication: singleton: true means one React for all</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447439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CA4228EE-B8FB-46C8-72DC-7E6F4F53BFC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F8527CA-669F-AC37-E066-4F44E5276675}"/>
              </a:ext>
            </a:extLst>
          </p:cNvPr>
          <p:cNvSpPr/>
          <p:nvPr/>
        </p:nvSpPr>
        <p:spPr>
          <a:xfrm>
            <a:off x="57607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7" name="TextBox 6">
            <a:extLst>
              <a:ext uri="{FF2B5EF4-FFF2-40B4-BE49-F238E27FC236}">
                <a16:creationId xmlns:a16="http://schemas.microsoft.com/office/drawing/2014/main" id="{3F0CA410-3EBD-0681-3D16-93BE8F3BDC97}"/>
              </a:ext>
            </a:extLst>
          </p:cNvPr>
          <p:cNvSpPr txBox="1"/>
          <p:nvPr/>
        </p:nvSpPr>
        <p:spPr>
          <a:xfrm>
            <a:off x="591312" y="621792"/>
            <a:ext cx="10902625"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records (remote)</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filename: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"remoteEntry.js"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exposes: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shared:</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react:</a:t>
            </a:r>
            <a:r>
              <a:rPr lang="en-US" sz="2000" b="0" dirty="0">
                <a:solidFill>
                  <a:srgbClr val="C9D1D9"/>
                </a:solidFill>
                <a:effectLst/>
                <a:latin typeface="Cascadia Code" panose="020B0609020000020004" pitchFamily="49" charset="0"/>
              </a:rPr>
              <a:t> { </a:t>
            </a:r>
            <a:r>
              <a:rPr lang="en-US" sz="2000" b="0" dirty="0">
                <a:solidFill>
                  <a:srgbClr val="9CDCFE"/>
                </a:solidFill>
                <a:effectLst/>
                <a:latin typeface="Cascadia Code" panose="020B0609020000020004" pitchFamily="49" charset="0"/>
              </a:rPr>
              <a:t>singleton:</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1488080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BD7FCC17-6B60-FE0A-4A6D-4BD139AEC90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A2BF33E-44BC-F5C0-410E-54DAC42040F6}"/>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6" name="TextBox 5">
            <a:extLst>
              <a:ext uri="{FF2B5EF4-FFF2-40B4-BE49-F238E27FC236}">
                <a16:creationId xmlns:a16="http://schemas.microsoft.com/office/drawing/2014/main" id="{3E190191-0942-FA5F-A48D-1D81D8DC7135}"/>
              </a:ext>
            </a:extLst>
          </p:cNvPr>
          <p:cNvSpPr txBox="1"/>
          <p:nvPr/>
        </p:nvSpPr>
        <p:spPr>
          <a:xfrm>
            <a:off x="530352" y="646176"/>
            <a:ext cx="11109960"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shell (host)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name</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"shell"</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remotes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records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records@http</a:t>
            </a:r>
            <a:r>
              <a:rPr lang="en-US" sz="2000" b="0" dirty="0">
                <a:solidFill>
                  <a:srgbClr val="A5D6FF"/>
                </a:solidFill>
                <a:effectLst/>
                <a:latin typeface="Cascadia Code" panose="020B0609020000020004" pitchFamily="49" charset="0"/>
              </a:rPr>
              <a:t>://localhost:3001/remoteEntry.js"</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 prescriptions, analytics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shared</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react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singleton</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677554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57784"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27FD7F61-1237-9A90-EDF5-7890683A2CD2}"/>
              </a:ext>
            </a:extLst>
          </p:cNvPr>
          <p:cNvSpPr txBox="1"/>
          <p:nvPr/>
        </p:nvSpPr>
        <p:spPr>
          <a:xfrm>
            <a:off x="557911" y="777240"/>
            <a:ext cx="11109833" cy="6692281"/>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createResource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a:t>
            </a:r>
            <a:r>
              <a:rPr lang="en-US" b="0" dirty="0" err="1">
                <a:solidFill>
                  <a:srgbClr val="D2A8FF"/>
                </a:solidFill>
                <a:effectLst/>
                <a:latin typeface="Cascadia Code" panose="020B0609020000020004" pitchFamily="49" charset="0"/>
              </a:rPr>
              <a:t>asyncFn</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Promise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Resource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let</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"pending"</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let</a:t>
            </a:r>
            <a:r>
              <a:rPr lang="en-US" b="0" dirty="0">
                <a:solidFill>
                  <a:srgbClr val="C9D1D9"/>
                </a:solidFill>
                <a:effectLst/>
                <a:latin typeface="Cascadia Code" panose="020B0609020000020004" pitchFamily="49" charset="0"/>
              </a:rPr>
              <a:t> result</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T</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suspender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asyncFn</a:t>
            </a:r>
            <a:r>
              <a:rPr lang="en-US" b="0" dirty="0">
                <a:solidFill>
                  <a:srgbClr val="C9D1D9"/>
                </a:solidFill>
                <a:effectLst/>
                <a:latin typeface="Cascadia Code" panose="020B0609020000020004" pitchFamily="49" charset="0"/>
              </a:rPr>
              <a:t>().</a:t>
            </a:r>
            <a:r>
              <a:rPr lang="en-US" b="0" dirty="0">
                <a:solidFill>
                  <a:srgbClr val="D2A8FF"/>
                </a:solidFill>
                <a:effectLst/>
                <a:latin typeface="Cascadia Code" panose="020B0609020000020004" pitchFamily="49" charset="0"/>
              </a:rPr>
              <a:t>then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data</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"success"</a:t>
            </a:r>
            <a:r>
              <a:rPr lang="en-US" b="0" dirty="0">
                <a:solidFill>
                  <a:srgbClr val="C9D1D9"/>
                </a:solidFill>
                <a:effectLst/>
                <a:latin typeface="Cascadia Code" panose="020B0609020000020004" pitchFamily="49" charset="0"/>
              </a:rPr>
              <a:t>; result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data</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result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if</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"pending"</a:t>
            </a: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throw</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suspender</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 Suspense catches this</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if</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throw</a:t>
            </a:r>
            <a:r>
              <a:rPr lang="en-US" b="0" dirty="0">
                <a:solidFill>
                  <a:srgbClr val="C9D1D9"/>
                </a:solidFill>
                <a:effectLst/>
                <a:latin typeface="Cascadia Code" panose="020B0609020000020004" pitchFamily="49" charset="0"/>
              </a:rPr>
              <a:t> result;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result;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br>
              <a:rPr lang="en-US" b="0" dirty="0">
                <a:solidFill>
                  <a:srgbClr val="BBBEBF"/>
                </a:solidFill>
                <a:effectLst/>
                <a:latin typeface="Cascadia Code" panose="020B0609020000020004" pitchFamily="49" charset="0"/>
              </a:rPr>
            </a:br>
            <a:endParaRPr lang="en-US" b="0" dirty="0">
              <a:solidFill>
                <a:srgbClr val="BBBEBF"/>
              </a:solidFill>
              <a:effectLst/>
              <a:latin typeface="Cascadia Code" panose="020B0609020000020004" pitchFamily="49"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F36B11C2-498C-E3A7-5ECB-71525134B7D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475B689-567C-3783-9E00-B59A44A1460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AA734C86-9C50-2B8F-51EC-5D8342DDDB2E}"/>
              </a:ext>
            </a:extLst>
          </p:cNvPr>
          <p:cNvSpPr txBox="1"/>
          <p:nvPr/>
        </p:nvSpPr>
        <p:spPr>
          <a:xfrm>
            <a:off x="530352" y="2368100"/>
            <a:ext cx="11064240" cy="2537298"/>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const</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StreamingMedicalRecords</a:t>
            </a:r>
            <a:r>
              <a:rPr lang="en-US" b="0" dirty="0">
                <a:solidFill>
                  <a:srgbClr val="BBBEBF"/>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resource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getResource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"records-initial"</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2500</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module-level cache</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resource</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throws while pending → triggers &lt;Suspense&gt; in the shell</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0200748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18A4A315-B74B-1B71-8626-7F0E57F72AB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7B7BFD4-D324-3489-F03A-7DD5649CE21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9" name="Text 6">
            <a:extLst>
              <a:ext uri="{FF2B5EF4-FFF2-40B4-BE49-F238E27FC236}">
                <a16:creationId xmlns:a16="http://schemas.microsoft.com/office/drawing/2014/main" id="{F1D9788B-1743-2132-9E8A-B0F6A0099510}"/>
              </a:ext>
            </a:extLst>
          </p:cNvPr>
          <p:cNvSpPr/>
          <p:nvPr/>
        </p:nvSpPr>
        <p:spPr>
          <a:xfrm>
            <a:off x="548640" y="2280621"/>
            <a:ext cx="11109960" cy="2947595"/>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Wrapper only triggers Suspense</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UI lives in the standalone component</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Cache prevents re-fetch on re-render</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use() hook is the React 19 successor — migration optional</a:t>
            </a:r>
            <a:endParaRPr lang="en-US" sz="24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2939236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8">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48514"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6" name="TextBox 5">
            <a:extLst>
              <a:ext uri="{FF2B5EF4-FFF2-40B4-BE49-F238E27FC236}">
                <a16:creationId xmlns:a16="http://schemas.microsoft.com/office/drawing/2014/main" id="{8EACBDE7-07DB-55BB-BB2B-1362F99D6B5A}"/>
              </a:ext>
            </a:extLst>
          </p:cNvPr>
          <p:cNvSpPr txBox="1"/>
          <p:nvPr/>
        </p:nvSpPr>
        <p:spPr>
          <a:xfrm>
            <a:off x="554610" y="623316"/>
            <a:ext cx="11109959" cy="5220340"/>
          </a:xfrm>
          <a:prstGeom prst="rect">
            <a:avLst/>
          </a:prstGeom>
          <a:noFill/>
        </p:spPr>
        <p:txBody>
          <a:bodyPr wrap="square">
            <a:spAutoFit/>
          </a:bodyPr>
          <a:lstStyle/>
          <a:p>
            <a:pPr>
              <a:lnSpc>
                <a:spcPct val="150000"/>
              </a:lnSpc>
              <a:buNone/>
            </a:pPr>
            <a:r>
              <a:rPr lang="en-US" sz="1600" b="0" dirty="0">
                <a:solidFill>
                  <a:srgbClr val="8B949E"/>
                </a:solidFill>
                <a:effectLst/>
                <a:latin typeface="Cascadia Code" panose="020B0609020000020004" pitchFamily="49" charset="0"/>
              </a:rPr>
              <a:t>// INSTANT — renders the moment the chunk arrives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Home</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BBBEBF"/>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default</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&lt;</a:t>
            </a:r>
            <a:r>
              <a:rPr lang="en-US" sz="1600" b="0" dirty="0" err="1">
                <a:solidFill>
                  <a:srgbClr val="4EC9B0"/>
                </a:solidFill>
                <a:effectLst/>
                <a:latin typeface="Cascadia Code" panose="020B0609020000020004" pitchFamily="49" charset="0"/>
              </a:rPr>
              <a:t>ModuleFallback</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title</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 Unavailable"</a:t>
            </a:r>
            <a:r>
              <a:rPr lang="en-US" sz="1600" b="0" dirty="0">
                <a:solidFill>
                  <a:srgbClr val="C9D1D9"/>
                </a:solidFill>
                <a:effectLst/>
                <a:latin typeface="Cascadia Code" panose="020B0609020000020004" pitchFamily="49" charset="0"/>
              </a:rPr>
              <a:t> /&gt; </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preloaded at shell </a:t>
            </a:r>
            <a:r>
              <a:rPr lang="en-US" sz="1600" b="0" dirty="0" err="1">
                <a:solidFill>
                  <a:srgbClr val="8B949E"/>
                </a:solidFill>
                <a:effectLst/>
                <a:latin typeface="Cascadia Code" panose="020B0609020000020004" pitchFamily="49" charset="0"/>
              </a:rPr>
              <a:t>init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MedicalRecords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STREAMED — on demand with skeletons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StreamingPrescriptionOrders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678653"/>
            <a:ext cx="10395758" cy="1796527"/>
          </a:xfrm>
          <a:prstGeom prst="rect">
            <a:avLst/>
          </a:prstGeom>
          <a:noFill/>
          <a:ln/>
        </p:spPr>
        <p:txBody>
          <a:bodyPr wrap="square" rtlCol="0" anchor="ctr"/>
          <a:lstStyle/>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Why lazy() for eager modules?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Remotes are separate builds resolved at runtime.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Eager import() warms the cache; lazy() resolves from it.</a:t>
            </a:r>
            <a:endParaRPr lang="en-US" sz="2800" dirty="0">
              <a:solidFill>
                <a:schemeClr val="tx1">
                  <a:lumMod val="85000"/>
                  <a:lumOff val="1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25772246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graphicFrame>
        <p:nvGraphicFramePr>
          <p:cNvPr id="10" name="Table 0"/>
          <p:cNvGraphicFramePr>
            <a:graphicFrameLocks noGrp="1"/>
          </p:cNvGraphicFramePr>
          <p:nvPr>
            <p:extLst>
              <p:ext uri="{D42A27DB-BD31-4B8C-83A1-F6EECF244321}">
                <p14:modId xmlns:p14="http://schemas.microsoft.com/office/powerpoint/2010/main" val="3572002337"/>
              </p:ext>
            </p:extLst>
          </p:nvPr>
        </p:nvGraphicFramePr>
        <p:xfrm>
          <a:off x="530352" y="2415091"/>
          <a:ext cx="11064240" cy="3148764"/>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774664">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BUTTON</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OPENS</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PURPOSE</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Settings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Right slide-over drawer</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Shell-owned theme across remotes (CSS vars, localStorage, event)</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Commands (Ctrl+K)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Searchable palette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Navigate, theme, kill remotes, toggle rings from the keyboard</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74664">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Lab</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Federation Lab panel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Health, kill switches, A/B rings when things break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5BEAE97A-93D2-71A3-F8E4-966B5995B41F}"/>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0E7C841-CD9B-AC06-4ACA-B40050601CD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sp>
        <p:nvSpPr>
          <p:cNvPr id="9" name="Text 5">
            <a:extLst>
              <a:ext uri="{FF2B5EF4-FFF2-40B4-BE49-F238E27FC236}">
                <a16:creationId xmlns:a16="http://schemas.microsoft.com/office/drawing/2014/main" id="{FD4C2A18-B492-69F0-6C3E-D1498154B66D}"/>
              </a:ext>
            </a:extLst>
          </p:cNvPr>
          <p:cNvSpPr/>
          <p:nvPr/>
        </p:nvSpPr>
        <p:spPr>
          <a:xfrm>
            <a:off x="530352" y="2439296"/>
            <a:ext cx="11064240" cy="3906639"/>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Health Monitor: polls each remoteEntry.js every 5s, shows latency</a:t>
            </a:r>
            <a:endParaRPr lang="en-US" sz="2400" dirty="0"/>
          </a:p>
          <a:p>
            <a:pPr marL="285750" indent="-28575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Kill Switches: simulate remote failure; the rest keeps running</a:t>
            </a:r>
            <a:endParaRPr lang="en-US" sz="2400" dirty="0"/>
          </a:p>
          <a:p>
            <a:pPr marL="285750" indent="-28575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A/B Deployment: toggle Stable ↔ Canary ring, per-module versions</a:t>
            </a:r>
            <a:endParaRPr lang="en-US" sz="2400" dirty="0"/>
          </a:p>
          <a:p>
            <a:pPr marL="285750" indent="-28575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3837690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 Commands · Federation Lab</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remoteEntry.js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A/B Deployment: toggle Stable ↔ Canary ring, per-module versions</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10">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graphicFrame>
        <p:nvGraphicFramePr>
          <p:cNvPr id="11" name="Table 0"/>
          <p:cNvGraphicFramePr>
            <a:graphicFrameLocks noGrp="1"/>
          </p:cNvGraphicFramePr>
          <p:nvPr>
            <p:extLst>
              <p:ext uri="{D42A27DB-BD31-4B8C-83A1-F6EECF244321}">
                <p14:modId xmlns:p14="http://schemas.microsoft.com/office/powerpoint/2010/main" val="670497951"/>
              </p:ext>
            </p:extLst>
          </p:nvPr>
        </p:nvGraphicFramePr>
        <p:xfrm>
          <a:off x="553212" y="1992854"/>
          <a:ext cx="11064240" cy="3762486"/>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708070">
                <a:tc>
                  <a:txBody>
                    <a:bodyPr/>
                    <a:lstStyle/>
                    <a:p>
                      <a:pPr marL="0" indent="0">
                        <a:buNone/>
                      </a:pP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MICROSERVICES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MICRO-FRONTENDS (THIS DEMO)</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OS-level (separate processes)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React-level (ErrorBoundary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If one crashes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services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modules keep rendering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Blast radius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Network call fails → caller handles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import() fails → fallback + Retry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risk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None (own memory/CPU)</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browser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B014BF7B-684E-0B72-30B8-2D2948BA819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454F36E-74EF-94D2-89F3-32D082A255E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6" name="TextBox 5">
            <a:extLst>
              <a:ext uri="{FF2B5EF4-FFF2-40B4-BE49-F238E27FC236}">
                <a16:creationId xmlns:a16="http://schemas.microsoft.com/office/drawing/2014/main" id="{C2ED0651-2501-248C-0C15-9B1BF11906A1}"/>
              </a:ext>
            </a:extLst>
          </p:cNvPr>
          <p:cNvSpPr txBox="1"/>
          <p:nvPr/>
        </p:nvSpPr>
        <p:spPr>
          <a:xfrm>
            <a:off x="530352" y="2255345"/>
            <a:ext cx="11064240" cy="2347309"/>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lazy() with .catch() — fallback when the remote is down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FF7B72"/>
                </a:solidFill>
                <a:effectLst/>
                <a:latin typeface="Cascadia Code" panose="020B0609020000020004" pitchFamily="49" charset="0"/>
              </a:rPr>
              <a:t>const</a:t>
            </a:r>
            <a:r>
              <a:rPr lang="en-US" sz="2000" b="0" dirty="0">
                <a:solidFill>
                  <a:srgbClr val="BBBEBF"/>
                </a:solidFill>
                <a:effectLst/>
                <a:latin typeface="Cascadia Code" panose="020B0609020000020004" pitchFamily="49" charset="0"/>
              </a:rPr>
              <a:t> </a:t>
            </a:r>
            <a:r>
              <a:rPr lang="en-US" sz="2000" b="0" dirty="0" err="1">
                <a:solidFill>
                  <a:srgbClr val="79C0FF"/>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lazy</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r>
              <a:rPr lang="en-US" sz="2000" b="0" dirty="0">
                <a:solidFill>
                  <a:srgbClr val="D2A8FF"/>
                </a:solidFill>
                <a:effectLst/>
                <a:latin typeface="Cascadia Code" panose="020B0609020000020004" pitchFamily="49" charset="0"/>
              </a:rPr>
              <a:t>catch</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r>
              <a:rPr lang="en-US" sz="2000" b="0" dirty="0">
                <a:solidFill>
                  <a:srgbClr val="BBBEBF"/>
                </a:solidFill>
                <a:effectLst/>
                <a:latin typeface="Cascadia Code" panose="020B0609020000020004" pitchFamily="49" charset="0"/>
              </a:rPr>
              <a:t> ({</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default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a:t>
            </a:r>
            <a:r>
              <a:rPr lang="en-US" sz="2000" b="0" dirty="0">
                <a:solidFill>
                  <a:srgbClr val="FF7B72"/>
                </a:solidFill>
                <a:effectLst/>
                <a:latin typeface="Cascadia Code" panose="020B0609020000020004" pitchFamily="49" charset="0"/>
              </a:rPr>
              <a:t>=&gt;</a:t>
            </a:r>
            <a:r>
              <a:rPr lang="en-US" sz="2000" b="0" dirty="0">
                <a:solidFill>
                  <a:srgbClr val="C9D1D9"/>
                </a:solidFill>
                <a:effectLst/>
                <a:latin typeface="Cascadia Code" panose="020B0609020000020004" pitchFamily="49" charset="0"/>
              </a:rPr>
              <a:t> &lt;</a:t>
            </a:r>
            <a:r>
              <a:rPr lang="en-US" sz="2000" b="0" dirty="0" err="1">
                <a:solidFill>
                  <a:srgbClr val="4EC9B0"/>
                </a:solidFill>
                <a:effectLst/>
                <a:latin typeface="Cascadia Code" panose="020B0609020000020004" pitchFamily="49" charset="0"/>
              </a:rPr>
              <a:t>ModuleFallback</a:t>
            </a:r>
            <a:r>
              <a:rPr lang="en-US" sz="2000" b="0" dirty="0">
                <a:solidFill>
                  <a:srgbClr val="C9D1D9"/>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title</a:t>
            </a:r>
            <a:r>
              <a:rPr lang="en-US" sz="2000" b="0" dirty="0">
                <a:solidFill>
                  <a:srgbClr val="C9D1D9"/>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 Unavailable"</a:t>
            </a:r>
            <a:r>
              <a:rPr lang="en-US" sz="2000" b="0" dirty="0">
                <a:solidFill>
                  <a:srgbClr val="C9D1D9"/>
                </a:solidFill>
                <a:effectLst/>
                <a:latin typeface="Cascadia Code" panose="020B0609020000020004" pitchFamily="49" charset="0"/>
              </a:rPr>
              <a:t> /&gt;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p>
        </p:txBody>
      </p:sp>
    </p:spTree>
    <p:extLst>
      <p:ext uri="{BB962C8B-B14F-4D97-AF65-F5344CB8AC3E}">
        <p14:creationId xmlns:p14="http://schemas.microsoft.com/office/powerpoint/2010/main" val="3039951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CE81029-41BE-778E-AFC8-6BB992AE563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550239F-D497-7C6C-3792-4231184978D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10" name="Shape 6">
            <a:extLst>
              <a:ext uri="{FF2B5EF4-FFF2-40B4-BE49-F238E27FC236}">
                <a16:creationId xmlns:a16="http://schemas.microsoft.com/office/drawing/2014/main" id="{DECF6F4F-7644-EB5A-23A4-E5D466FB9A70}"/>
              </a:ext>
            </a:extLst>
          </p:cNvPr>
          <p:cNvSpPr/>
          <p:nvPr/>
        </p:nvSpPr>
        <p:spPr>
          <a:xfrm>
            <a:off x="516636" y="3162478"/>
            <a:ext cx="32004" cy="530352"/>
          </a:xfrm>
          <a:prstGeom prst="rect">
            <a:avLst/>
          </a:prstGeom>
          <a:solidFill>
            <a:srgbClr val="D4FF00"/>
          </a:solidFill>
          <a:ln/>
        </p:spPr>
        <p:txBody>
          <a:bodyPr/>
          <a:lstStyle/>
          <a:p>
            <a:endParaRPr lang="en-GB"/>
          </a:p>
        </p:txBody>
      </p:sp>
      <p:sp>
        <p:nvSpPr>
          <p:cNvPr id="7" name="Text 7">
            <a:extLst>
              <a:ext uri="{FF2B5EF4-FFF2-40B4-BE49-F238E27FC236}">
                <a16:creationId xmlns:a16="http://schemas.microsoft.com/office/drawing/2014/main" id="{36CEC488-E4E0-2990-E09E-7F561CA76F0C}"/>
              </a:ext>
            </a:extLst>
          </p:cNvPr>
          <p:cNvSpPr/>
          <p:nvPr/>
        </p:nvSpPr>
        <p:spPr>
          <a:xfrm>
            <a:off x="713232" y="2788919"/>
            <a:ext cx="10881360" cy="1277471"/>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Module-level crashes, network failures, and bad deploys are isolated at the boundary. Tab-level resource exhaustion is still a shared-runtime risk.</a:t>
            </a:r>
            <a:endParaRPr lang="en-US" sz="2400" dirty="0">
              <a:solidFill>
                <a:schemeClr val="bg1">
                  <a:lumMod val="95000"/>
                </a:schemeClr>
              </a:solidFill>
            </a:endParaRPr>
          </a:p>
        </p:txBody>
      </p:sp>
    </p:spTree>
    <p:extLst>
      <p:ext uri="{BB962C8B-B14F-4D97-AF65-F5344CB8AC3E}">
        <p14:creationId xmlns:p14="http://schemas.microsoft.com/office/powerpoint/2010/main" val="35283116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Box 5">
            <a:extLst>
              <a:ext uri="{FF2B5EF4-FFF2-40B4-BE49-F238E27FC236}">
                <a16:creationId xmlns:a16="http://schemas.microsoft.com/office/drawing/2014/main" id="{EC89A069-4C8E-07CF-CB27-15FA8E39CCC7}"/>
              </a:ext>
            </a:extLst>
          </p:cNvPr>
          <p:cNvSpPr txBox="1"/>
          <p:nvPr/>
        </p:nvSpPr>
        <p:spPr>
          <a:xfrm>
            <a:off x="526099" y="1412214"/>
            <a:ext cx="11064240" cy="5445786"/>
          </a:xfrm>
          <a:prstGeom prst="rect">
            <a:avLst/>
          </a:prstGeom>
          <a:noFill/>
        </p:spPr>
        <p:txBody>
          <a:bodyPr wrap="square">
            <a:spAutoFit/>
          </a:bodyPr>
          <a:lstStyle/>
          <a:p>
            <a:pPr>
              <a:lnSpc>
                <a:spcPct val="150000"/>
              </a:lnSpc>
              <a:buNone/>
            </a:pPr>
            <a:r>
              <a:rPr lang="en-US" b="0" dirty="0">
                <a:solidFill>
                  <a:srgbClr val="8B949E"/>
                </a:solidFill>
                <a:effectLst/>
                <a:latin typeface="Cascadia Code" panose="020B0609020000020004" pitchFamily="49" charset="0"/>
              </a:rPr>
              <a:t>// Records dispatches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79C0FF"/>
                </a:solidFill>
                <a:effectLst/>
                <a:latin typeface="Cascadia Code" panose="020B0609020000020004" pitchFamily="49" charset="0"/>
              </a:rPr>
              <a:t>window</a:t>
            </a:r>
            <a:r>
              <a:rPr lang="en-US" b="0" dirty="0" err="1">
                <a:solidFill>
                  <a:srgbClr val="BBBEBF"/>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dispatchEvent</a:t>
            </a:r>
            <a:r>
              <a:rPr lang="en-US" b="0" dirty="0">
                <a:solidFill>
                  <a:srgbClr val="BBBEBF"/>
                </a:solidFill>
                <a:effectLst/>
                <a:latin typeface="Cascadia Code" panose="020B0609020000020004" pitchFamily="49" charset="0"/>
              </a:rPr>
              <a:t>(</a:t>
            </a:r>
            <a:r>
              <a:rPr lang="en-US" b="0" dirty="0">
                <a:solidFill>
                  <a:srgbClr val="569CD6"/>
                </a:solidFill>
                <a:effectLst/>
                <a:latin typeface="Cascadia Code" panose="020B0609020000020004" pitchFamily="49" charset="0"/>
              </a:rPr>
              <a:t>new</a:t>
            </a:r>
            <a:r>
              <a:rPr lang="en-US" b="0" dirty="0">
                <a:solidFill>
                  <a:srgbClr val="BBBEBF"/>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CustomEvent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a:p>
            <a:pPr>
              <a:lnSpc>
                <a:spcPct val="150000"/>
              </a:lnSpc>
              <a:buNone/>
            </a:pP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detail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 id</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name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"Sarah Chen prescription"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price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2499.99</a:t>
            </a:r>
            <a:r>
              <a:rPr lang="en-US" b="0" dirty="0">
                <a:solidFill>
                  <a:srgbClr val="C9D1D9"/>
                </a:solidFill>
                <a:effectLst/>
                <a:latin typeface="Cascadia Code" panose="020B0609020000020004" pitchFamily="49" charset="0"/>
              </a:rPr>
              <a:t>, quantity</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a:t>
            </a:r>
            <a:r>
              <a:rPr lang="en-US" b="0" dirty="0">
                <a:solidFill>
                  <a:srgbClr val="BBBEBF"/>
                </a:solidFill>
                <a:effectLst/>
                <a:latin typeface="Cascadia Code" panose="020B0609020000020004" pitchFamily="49" charset="0"/>
              </a:rPr>
              <a:t>,</a:t>
            </a:r>
          </a:p>
          <a:p>
            <a:pPr>
              <a:lnSpc>
                <a:spcPct val="150000"/>
              </a:lnSpc>
              <a:buNone/>
            </a:pPr>
            <a:r>
              <a:rPr lang="en-US" b="0" dirty="0">
                <a:solidFill>
                  <a:srgbClr val="BBBEBF"/>
                </a:solidFill>
                <a:effectLst/>
                <a:latin typeface="Cascadia Code" panose="020B0609020000020004" pitchFamily="49" charset="0"/>
              </a:rPr>
              <a:t>}));</a:t>
            </a:r>
            <a:endParaRPr lang="en-US" dirty="0">
              <a:solidFill>
                <a:srgbClr val="BBBEBF"/>
              </a:solidFill>
              <a:latin typeface="Cascadia Code" panose="020B0609020000020004" pitchFamily="49" charset="0"/>
            </a:endParaRP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8B949E"/>
                </a:solidFill>
                <a:effectLst/>
                <a:latin typeface="Cascadia Code" panose="020B0609020000020004" pitchFamily="49" charset="0"/>
              </a:rPr>
              <a:t>// Prescriptions listens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D2A8FF"/>
                </a:solidFill>
                <a:effectLst/>
                <a:latin typeface="Cascadia Code" panose="020B0609020000020004" pitchFamily="49" charset="0"/>
              </a:rPr>
              <a:t>useEffect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AddPrescriptionEvent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setPrescriptionItems</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4FE5D79-5CD0-B97E-2697-5F79449D6A7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021D4B7C-4A30-24EF-1012-761CB49B4133}"/>
              </a:ext>
            </a:extLst>
          </p:cNvPr>
          <p:cNvSpPr/>
          <p:nvPr/>
        </p:nvSpPr>
        <p:spPr>
          <a:xfrm>
            <a:off x="512206"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7" name="TextBox 6">
            <a:extLst>
              <a:ext uri="{FF2B5EF4-FFF2-40B4-BE49-F238E27FC236}">
                <a16:creationId xmlns:a16="http://schemas.microsoft.com/office/drawing/2014/main" id="{CECFE2CF-8D3F-9D2B-2ED0-BC252968ADAE}"/>
              </a:ext>
            </a:extLst>
          </p:cNvPr>
          <p:cNvSpPr txBox="1"/>
          <p:nvPr/>
        </p:nvSpPr>
        <p:spPr>
          <a:xfrm>
            <a:off x="506252" y="1536057"/>
            <a:ext cx="11292840" cy="3270639"/>
          </a:xfrm>
          <a:prstGeom prst="rect">
            <a:avLst/>
          </a:prstGeom>
          <a:noFill/>
        </p:spPr>
        <p:txBody>
          <a:bodyPr wrap="square">
            <a:spAutoFit/>
          </a:bodyPr>
          <a:lstStyle/>
          <a:p>
            <a:pPr>
              <a:lnSpc>
                <a:spcPct val="150000"/>
              </a:lnSpc>
              <a:buNone/>
            </a:pPr>
            <a:r>
              <a:rPr lang="en-US" sz="2000" b="0" dirty="0">
                <a:solidFill>
                  <a:srgbClr val="569CD6"/>
                </a:solidFill>
                <a:effectLst/>
                <a:latin typeface="Cascadia Code" panose="020B0609020000020004" pitchFamily="49" charset="0"/>
              </a:rPr>
              <a:t>declare</a:t>
            </a:r>
            <a:r>
              <a:rPr lang="en-US" sz="2000" b="0" dirty="0">
                <a:solidFill>
                  <a:srgbClr val="BBBEBF"/>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global</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interface</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WindowEventMap</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addPrescription</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AddPrescriptionEvent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navigateToModule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CustomEvent</a:t>
            </a:r>
            <a:r>
              <a:rPr lang="en-US" sz="2000" b="0" dirty="0">
                <a:solidFill>
                  <a:srgbClr val="C9D1D9"/>
                </a:solidFill>
                <a:effectLst/>
                <a:latin typeface="Cascadia Code" panose="020B0609020000020004" pitchFamily="49" charset="0"/>
              </a:rPr>
              <a:t>&lt;{ 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"home"</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FFA657"/>
                </a:solidFill>
                <a:effectLst/>
                <a:latin typeface="Cascadia Code" panose="020B0609020000020004" pitchFamily="49" charset="0"/>
              </a:rPr>
              <a:t>themeChange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ThemeChangeEvent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8267461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E9266DA0-9E88-2B61-A14C-98100195988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AA07FA8-4CA1-BF85-BD19-4998B6EE63F9}"/>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9" name="Text 6">
            <a:extLst>
              <a:ext uri="{FF2B5EF4-FFF2-40B4-BE49-F238E27FC236}">
                <a16:creationId xmlns:a16="http://schemas.microsoft.com/office/drawing/2014/main" id="{74D97750-5AE7-6359-54C3-EED46048AEDD}"/>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No direct cross-module imports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Shell stays the only router owner</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Works across deployments when the event contract stays compatible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Framework-agnostic (React, Vue, Svelte)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Typed via WindowEventMap augmentation</a:t>
            </a:r>
            <a:endParaRPr lang="en-US" sz="2400" dirty="0"/>
          </a:p>
        </p:txBody>
      </p:sp>
    </p:spTree>
    <p:extLst>
      <p:ext uri="{BB962C8B-B14F-4D97-AF65-F5344CB8AC3E}">
        <p14:creationId xmlns:p14="http://schemas.microsoft.com/office/powerpoint/2010/main" val="9962754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8" name="Text 5"/>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Shell (owns 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Persists to localStorage ("mf-demo-theme")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Applies CSS variables to document.documentElement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Exposes window.__MF_THEME__ bridge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Broadcasts "themeChange" event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Records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Prescriptions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Analytics     → useActiveTheme()</a:t>
            </a:r>
            <a:endParaRPr lang="en-US" sz="24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9E97B58-0CD3-AD55-4AEF-098ADBAE58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15D9AD5-FE72-143D-F9C7-A2ABF94A9B96}"/>
              </a:ext>
            </a:extLst>
          </p:cNvPr>
          <p:cNvSpPr/>
          <p:nvPr/>
        </p:nvSpPr>
        <p:spPr>
          <a:xfrm>
            <a:off x="40843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6" name="TextBox 5">
            <a:extLst>
              <a:ext uri="{FF2B5EF4-FFF2-40B4-BE49-F238E27FC236}">
                <a16:creationId xmlns:a16="http://schemas.microsoft.com/office/drawing/2014/main" id="{ADB8661F-7859-C976-7A08-6DB82C4352FB}"/>
              </a:ext>
            </a:extLst>
          </p:cNvPr>
          <p:cNvSpPr txBox="1"/>
          <p:nvPr/>
        </p:nvSpPr>
        <p:spPr>
          <a:xfrm>
            <a:off x="214234" y="777240"/>
            <a:ext cx="11827659" cy="5030288"/>
          </a:xfrm>
          <a:prstGeom prst="rect">
            <a:avLst/>
          </a:prstGeom>
          <a:noFill/>
        </p:spPr>
        <p:txBody>
          <a:bodyPr wrap="square">
            <a:spAutoFit/>
          </a:bodyPr>
          <a:lstStyle/>
          <a:p>
            <a:pPr>
              <a:lnSpc>
                <a:spcPct val="150000"/>
              </a:lnSpc>
              <a:buNone/>
            </a:pPr>
            <a:r>
              <a:rPr lang="en-US" b="0" dirty="0">
                <a:solidFill>
                  <a:srgbClr val="C586C0"/>
                </a:solidFill>
                <a:effectLst/>
                <a:latin typeface="Cascadia Code" panose="020B0609020000020004" pitchFamily="49" charset="0"/>
              </a:rPr>
              <a:t>export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useActiveTheme</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useState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dirty="0">
                <a:solidFill>
                  <a:srgbClr val="BBBEBF"/>
                </a:solidFill>
                <a:latin typeface="Cascadia Code" panose="020B0609020000020004" pitchFamily="49" charset="0"/>
              </a:rPr>
              <a:t> </a:t>
            </a:r>
            <a:r>
              <a:rPr lang="en-US" b="0" dirty="0">
                <a:solidFill>
                  <a:srgbClr val="79C0FF"/>
                </a:solidFill>
                <a:effectLst/>
                <a:latin typeface="Cascadia Code" panose="020B0609020000020004" pitchFamily="49" charset="0"/>
              </a:rPr>
              <a:t>window</a:t>
            </a:r>
            <a:r>
              <a:rPr lang="en-US" b="0" dirty="0">
                <a:solidFill>
                  <a:srgbClr val="C9D1D9"/>
                </a:solidFill>
                <a:effectLst/>
                <a:latin typeface="Cascadia Code" panose="020B0609020000020004" pitchFamily="49" charset="0"/>
              </a:rPr>
              <a:t>.__MF_THEME__?.</a:t>
            </a:r>
            <a:r>
              <a:rPr lang="en-US" b="0" dirty="0" err="1">
                <a:solidFill>
                  <a:srgbClr val="D2A8FF"/>
                </a:solidFill>
                <a:effectLst/>
                <a:latin typeface="Cascadia Code" panose="020B0609020000020004" pitchFamily="49" charset="0"/>
              </a:rPr>
              <a:t>getTheme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"dark"</a:t>
            </a:r>
            <a:r>
              <a:rPr lang="en-US" b="0" dirty="0">
                <a:solidFill>
                  <a:srgbClr val="C9D1D9"/>
                </a:solidFill>
                <a:effectLst/>
                <a:latin typeface="Cascadia Code" panose="020B0609020000020004" pitchFamily="49" charset="0"/>
              </a:rPr>
              <a: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useEffect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.detail.theme</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 []);</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theme, label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THEME_LABELS</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36337422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12A6B0-1201-0953-1A3D-8D6D8D8715CC}"/>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DAE27F7-5CB4-3D6D-47FE-B530FCF255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10" name="Shape 7">
            <a:extLst>
              <a:ext uri="{FF2B5EF4-FFF2-40B4-BE49-F238E27FC236}">
                <a16:creationId xmlns:a16="http://schemas.microsoft.com/office/drawing/2014/main" id="{EF6A061B-3435-3C2D-18D5-B7BA9ED059BA}"/>
              </a:ext>
            </a:extLst>
          </p:cNvPr>
          <p:cNvSpPr/>
          <p:nvPr/>
        </p:nvSpPr>
        <p:spPr>
          <a:xfrm>
            <a:off x="548640" y="2903489"/>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8948693B-5F8E-3F98-F658-8A39BBE550CF}"/>
              </a:ext>
            </a:extLst>
          </p:cNvPr>
          <p:cNvSpPr/>
          <p:nvPr/>
        </p:nvSpPr>
        <p:spPr>
          <a:xfrm>
            <a:off x="731520" y="2848625"/>
            <a:ext cx="10881360" cy="640080"/>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Every remote reacts immediately. No shared imports, no prop drilling, no re-deploys.</a:t>
            </a:r>
            <a:endParaRPr lang="en-US" sz="2400" dirty="0">
              <a:solidFill>
                <a:schemeClr val="bg1">
                  <a:lumMod val="95000"/>
                </a:schemeClr>
              </a:solidFill>
            </a:endParaRPr>
          </a:p>
        </p:txBody>
      </p:sp>
    </p:spTree>
    <p:extLst>
      <p:ext uri="{BB962C8B-B14F-4D97-AF65-F5344CB8AC3E}">
        <p14:creationId xmlns:p14="http://schemas.microsoft.com/office/powerpoint/2010/main" val="42324988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245187" y="35778"/>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sp>
        <p:nvSpPr>
          <p:cNvPr id="6" name="TextBox 5">
            <a:extLst>
              <a:ext uri="{FF2B5EF4-FFF2-40B4-BE49-F238E27FC236}">
                <a16:creationId xmlns:a16="http://schemas.microsoft.com/office/drawing/2014/main" id="{1D8490F4-0DAA-31B1-E2C3-4C604C983C01}"/>
              </a:ext>
            </a:extLst>
          </p:cNvPr>
          <p:cNvSpPr txBox="1"/>
          <p:nvPr/>
        </p:nvSpPr>
        <p:spPr>
          <a:xfrm>
            <a:off x="268090" y="903414"/>
            <a:ext cx="11920735" cy="4481676"/>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Record</a:t>
            </a:r>
            <a:r>
              <a:rPr lang="en-US" sz="1600" b="0" dirty="0">
                <a:solidFill>
                  <a:srgbClr val="BBBEBF"/>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ModuleType</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unknown</a:t>
            </a:r>
            <a:r>
              <a:rPr lang="en-US" sz="1600" b="0" dirty="0">
                <a:solidFill>
                  <a:srgbClr val="BBBEBF"/>
                </a:solidFill>
                <a:effectLst/>
                <a:latin typeface="Cascadia Code" panose="020B0609020000020004" pitchFamily="49" charset="0"/>
              </a:rPr>
              <a:t>&gt;&gt;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home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records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prescriptions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analytics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"analytics/</a:t>
            </a:r>
            <a:r>
              <a:rPr lang="en-US" sz="1600" b="0" dirty="0" err="1">
                <a:solidFill>
                  <a:srgbClr val="A5D6FF"/>
                </a:solidFill>
                <a:effectLst/>
                <a:latin typeface="Cascadia Code" panose="020B0609020000020004" pitchFamily="49" charset="0"/>
              </a:rPr>
              <a:t>StreamingClinicalAnalytics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 on shell mount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HOVER — prefetch on tab hover</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D4D4D4"/>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NavLink</a:t>
            </a:r>
            <a:r>
              <a:rPr lang="en-US" sz="1600" b="0" dirty="0">
                <a:solidFill>
                  <a:srgbClr val="BBBEBF"/>
                </a:solidFill>
                <a:effectLst/>
                <a:latin typeface="Cascadia Code" panose="020B0609020000020004" pitchFamily="49" charset="0"/>
              </a:rPr>
              <a:t> </a:t>
            </a:r>
            <a:r>
              <a:rPr lang="en-US" sz="1600" b="0" dirty="0" err="1">
                <a:solidFill>
                  <a:srgbClr val="C9D1D9"/>
                </a:solidFill>
                <a:effectLst/>
                <a:latin typeface="Cascadia Code" panose="020B0609020000020004" pitchFamily="49" charset="0"/>
              </a:rPr>
              <a:t>onMouseEnter</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=&gt; </a:t>
            </a:r>
            <a:r>
              <a:rPr lang="en-US" sz="1600" b="0" dirty="0">
                <a:solidFill>
                  <a:srgbClr val="79C0FF"/>
                </a:solidFill>
                <a:effectLst/>
                <a:latin typeface="Cascadia Code" panose="020B0609020000020004" pitchFamily="49" charset="0"/>
              </a:rPr>
              <a:t>PREFETCHERS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module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9CDCFE"/>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/&gt;</a:t>
            </a: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71A9CA60-7D30-2150-A7B8-47F46A40441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Two-tier preloading: eager on mount, hover on demand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48D1E0C3-A9F2-6530-FB9F-3E86D646F9DB}"/>
              </a:ext>
            </a:extLst>
          </p:cNvPr>
          <p:cNvGraphicFramePr>
            <a:graphicFrameLocks noGrp="1"/>
          </p:cNvGraphicFramePr>
          <p:nvPr>
            <p:extLst>
              <p:ext uri="{D42A27DB-BD31-4B8C-83A1-F6EECF244321}">
                <p14:modId xmlns:p14="http://schemas.microsoft.com/office/powerpoint/2010/main" val="180649158"/>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351787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66801"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Seven things to remember</a:t>
            </a:r>
            <a:endParaRPr lang="en-US" sz="3300" dirty="0"/>
          </a:p>
        </p:txBody>
      </p:sp>
      <p:sp>
        <p:nvSpPr>
          <p:cNvPr id="8" name="Text 5"/>
          <p:cNvSpPr/>
          <p:nvPr/>
        </p:nvSpPr>
        <p:spPr>
          <a:xfrm>
            <a:off x="566801" y="777240"/>
            <a:ext cx="11182985" cy="5824728"/>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Micro-frontends solve a people problem: team scale, not bundle size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Suspense fallbacks cover load UX. Module Federation covers team DX</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Prefer events over shared state: CustomEvents survive independent deploys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Host owns routing: remotes request navigation, only the shell mutates it</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Ship fault isolation on purpose: .catch() + ErrorBoundary per module</a:t>
            </a:r>
            <a:endParaRPr lang="en-US" sz="2400" dirty="0"/>
          </a:p>
          <a:p>
            <a:pPr marL="342900" indent="-342900">
              <a:lnSpc>
                <a:spcPct val="150000"/>
              </a:lnSpc>
              <a:buSzPct val="100000"/>
              <a:buFont typeface="Arial" panose="020B0604020202020204" pitchFamily="34" charset="0"/>
              <a:buChar char="•"/>
            </a:pPr>
            <a:r>
              <a:rPr lang="en-US" sz="2400" dirty="0" err="1">
                <a:solidFill>
                  <a:srgbClr val="FAFAF9"/>
                </a:solidFill>
                <a:latin typeface="DM Sans" pitchFamily="34" charset="0"/>
                <a:ea typeface="DM Sans" pitchFamily="34" charset="-122"/>
                <a:cs typeface="DM Sans" pitchFamily="34" charset="-120"/>
              </a:rPr>
              <a:t>Rspack</a:t>
            </a:r>
            <a:r>
              <a:rPr lang="en-US" sz="2400" dirty="0">
                <a:solidFill>
                  <a:srgbClr val="FAFAF9"/>
                </a:solidFill>
                <a:latin typeface="DM Sans" pitchFamily="34" charset="0"/>
                <a:ea typeface="DM Sans" pitchFamily="34" charset="-122"/>
                <a:cs typeface="DM Sans" pitchFamily="34" charset="-120"/>
              </a:rPr>
              <a:t> keeps the monorepo fast: sub-second HMR, Rust React Compiler, cache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Match load strategy to content: instant / eager / streamed</a:t>
            </a:r>
            <a:endParaRPr lang="en-US" sz="2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8017"/>
            <a:ext cx="12188475" cy="671909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1673</TotalTime>
  <Words>4633</Words>
  <Application>Microsoft Office PowerPoint</Application>
  <PresentationFormat>Custom</PresentationFormat>
  <Paragraphs>401</Paragraphs>
  <Slides>45</Slides>
  <Notes>43</Notes>
  <HiddenSlides>14</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45</vt:i4>
      </vt:variant>
    </vt:vector>
  </HeadingPairs>
  <TitlesOfParts>
    <vt:vector size="54" baseType="lpstr">
      <vt:lpstr>Aptos</vt:lpstr>
      <vt:lpstr>Arial</vt:lpstr>
      <vt:lpstr>Brush Script MT</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211</cp:revision>
  <dcterms:created xsi:type="dcterms:W3CDTF">2026-07-26T17:49:56Z</dcterms:created>
  <dcterms:modified xsi:type="dcterms:W3CDTF">2026-08-30T13:17:17Z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