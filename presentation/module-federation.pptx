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41" r:id="rId16"/>
    <p:sldId id="337" r:id="rId17"/>
    <p:sldId id="319" r:id="rId18"/>
    <p:sldId id="320" r:id="rId19"/>
    <p:sldId id="329" r:id="rId20"/>
    <p:sldId id="344" r:id="rId21"/>
    <p:sldId id="327" r:id="rId22"/>
    <p:sldId id="335" r:id="rId23"/>
    <p:sldId id="325" r:id="rId24"/>
    <p:sldId id="326" r:id="rId25"/>
    <p:sldId id="342" r:id="rId26"/>
    <p:sldId id="334" r:id="rId27"/>
    <p:sldId id="332" r:id="rId28"/>
    <p:sldId id="333" r:id="rId29"/>
    <p:sldId id="343" r:id="rId30"/>
    <p:sldId id="331" r:id="rId31"/>
    <p:sldId id="340" r:id="rId32"/>
    <p:sldId id="338" r:id="rId33"/>
    <p:sldId id="339" r:id="rId34"/>
    <p:sldId id="322" r:id="rId35"/>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66019" autoAdjust="0"/>
  </p:normalViewPr>
  <p:slideViewPr>
    <p:cSldViewPr snapToGrid="0" snapToObjects="1">
      <p:cViewPr varScale="1">
        <p:scale>
          <a:sx n="96" d="100"/>
          <a:sy n="96" d="100"/>
        </p:scale>
        <p:origin x="2040" y="168"/>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are we solving here in </a:t>
            </a:r>
            <a:r>
              <a:rPr lang="en-US" sz="1200" dirty="0" err="1"/>
              <a:t>microfrontends</a:t>
            </a:r>
            <a:r>
              <a:rPr lang="en-US" sz="1200" dirty="0"/>
              <a:t>?</a:t>
            </a:r>
            <a:endParaRPr lang="en-GB" sz="1200" dirty="0"/>
          </a:p>
          <a:p>
            <a:endParaRPr lang="en-GB" dirty="0"/>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Independent deploys, and a smaller blast radius</a:t>
            </a:r>
            <a:endParaRPr lang="en-GB" sz="1200" dirty="0"/>
          </a:p>
          <a:p>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Teams can share a repo happily, but sharing a release pipeline means one failing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Ownership becomes structural, not cultural</a:t>
            </a:r>
            <a:endParaRPr lang="en-GB" sz="1200" dirty="0"/>
          </a:p>
          <a:p>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a:t>
            </a:r>
          </a:p>
          <a:p>
            <a:endParaRPr lang="en-US" dirty="0"/>
          </a:p>
          <a:p>
            <a:r>
              <a:rPr lang="en-US" dirty="0"/>
              <a:t>Down below, each part ships separately, so using Catalog's code means adding a dependency or calling an API. That is a real change in a real file, and a reviewer will see it. </a:t>
            </a:r>
          </a:p>
          <a:p>
            <a:endParaRPr lang="en-US" dirty="0"/>
          </a:p>
          <a:p>
            <a:r>
              <a:rPr lang="en-US" dirty="0"/>
              <a:t>Before, crossing a boundary was invisible. </a:t>
            </a:r>
          </a:p>
          <a:p>
            <a:endParaRPr lang="en-US" dirty="0"/>
          </a:p>
          <a:p>
            <a:r>
              <a:rPr lang="en-US" dirty="0"/>
              <a:t>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Bounded cognitive load as headcount grows.</a:t>
            </a:r>
            <a:endParaRPr lang="en-US" dirty="0"/>
          </a:p>
          <a:p>
            <a:endParaRPr lang="en-US"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in a codebase.</a:t>
            </a:r>
          </a:p>
          <a:p>
            <a:endParaRPr lang="en-US" dirty="0"/>
          </a:p>
          <a:p>
            <a:r>
              <a:rPr lang="en-US" dirty="0"/>
              <a:t>When onboarding a new frontend developer?</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Incremental migration instead of a rewrite</a:t>
            </a:r>
            <a:endParaRPr lang="en-GB" sz="1200"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a:t>
            </a:r>
          </a:p>
          <a:p>
            <a:endParaRPr lang="en-US" dirty="0"/>
          </a:p>
          <a:p>
            <a:r>
              <a:rPr lang="en-US" dirty="0"/>
              <a:t>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demo app is this. 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a:t>
            </a:r>
          </a:p>
          <a:p>
            <a:r>
              <a:rPr lang="en-US" dirty="0"/>
              <a:t>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a:t>
            </a:r>
          </a:p>
          <a:p>
            <a:pPr rtl="0"/>
            <a:endParaRPr lang="en-US" dirty="0"/>
          </a:p>
          <a:p>
            <a:pPr rtl="0"/>
            <a:r>
              <a:rPr lang="en-US" dirty="0"/>
              <a:t>In production the browser only ever sees </a:t>
            </a:r>
            <a:r>
              <a:rPr lang="en-US" sz="1200" kern="1200" dirty="0">
                <a:solidFill>
                  <a:schemeClr val="tx1"/>
                </a:solidFill>
                <a:latin typeface="+mn-lt"/>
                <a:ea typeface="+mn-ea"/>
                <a:cs typeface="+mn-cs"/>
              </a:rPr>
              <a:t>acme.com</a:t>
            </a:r>
            <a:r>
              <a:rPr lang="en-US" dirty="0"/>
              <a:t>, with a router at the edge (a Vercel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a:t>
            </a:r>
          </a:p>
          <a:p>
            <a:pPr rtl="0"/>
            <a:endParaRPr lang="en-US" dirty="0"/>
          </a:p>
          <a:p>
            <a:pPr rtl="0"/>
            <a:r>
              <a:rPr lang="en-US" dirty="0"/>
              <a:t>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It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The shell owns navigation, the router, the theme, the counter, and the logged user.</a:t>
            </a:r>
          </a:p>
          <a:p>
            <a:endParaRPr lang="en-US" dirty="0"/>
          </a:p>
          <a:p>
            <a:r>
              <a:rPr lang="en-US" dirty="0"/>
              <a:t>Every remote is wrapped the same way. An error boundary. Then Suspense with a skeleton fallback. Then the remote module itself.</a:t>
            </a:r>
          </a:p>
          <a:p>
            <a:endParaRPr lang="en-US" dirty="0"/>
          </a:p>
          <a:p>
            <a:r>
              <a:rPr lang="en-US" dirty="0"/>
              <a:t>Four remotes hang off that shell. Not every module should load the same way if you want something like this. The strategy will depend on which content you will prioritize.</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because </a:t>
            </a:r>
            <a:r>
              <a:rPr lang="en-US" sz="1200" kern="1200" dirty="0">
                <a:solidFill>
                  <a:schemeClr val="tx1"/>
                </a:solidFill>
                <a:latin typeface="+mn-lt"/>
                <a:ea typeface="+mn-ea"/>
                <a:cs typeface="+mn-cs"/>
              </a:rPr>
              <a:t>the</a:t>
            </a:r>
            <a:r>
              <a:rPr lang="en-US" dirty="0"/>
              <a:t> dynamic import in </a:t>
            </a:r>
            <a:r>
              <a:rPr lang="en-US" dirty="0" err="1"/>
              <a:t>index.tsx</a:t>
            </a:r>
            <a:r>
              <a:rPr lang="en-US" dirty="0"/>
              <a:t> already resolved the shared scope and that a static import makes the remote block first paint, and leaves nowhere to catch a failed remote.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Before I do another demo, here are the functionalities of the other buttons on the menu header.</a:t>
            </a:r>
          </a:p>
          <a:p>
            <a:endParaRPr lang="en-US" dirty="0"/>
          </a:p>
          <a:p>
            <a:r>
              <a:rPr lang="en-US" dirty="0"/>
              <a:t>A health monitor that polls remoteEntry.js every five seconds. </a:t>
            </a:r>
          </a:p>
          <a:p>
            <a:r>
              <a:rPr lang="en-US" dirty="0"/>
              <a:t>Kill switches. </a:t>
            </a:r>
          </a:p>
          <a:p>
            <a:r>
              <a:rPr lang="en-US" dirty="0"/>
              <a:t>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US" dirty="0"/>
          </a:p>
        </p:txBody>
      </p:sp>
    </p:spTree>
    <p:extLst>
      <p:ext uri="{BB962C8B-B14F-4D97-AF65-F5344CB8AC3E}">
        <p14:creationId xmlns:p14="http://schemas.microsoft.com/office/powerpoint/2010/main" val="38350487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use the browser </a:t>
            </a:r>
            <a:r>
              <a:rPr lang="en-US" dirty="0" err="1"/>
              <a:t>api</a:t>
            </a:r>
            <a:r>
              <a:rPr lang="en-US" dirty="0"/>
              <a:t> events instead of a shared store? A shared store is a shared dependency. </a:t>
            </a:r>
          </a:p>
          <a:p>
            <a:endParaRPr lang="en-US" dirty="0"/>
          </a:p>
          <a:p>
            <a:r>
              <a:rPr lang="en-US" dirty="0"/>
              <a:t>There will be version coupling between teams if shared stores, while the events will survive in independent deploys. </a:t>
            </a:r>
          </a:p>
          <a:p>
            <a:endParaRPr lang="en-US" dirty="0"/>
          </a:p>
          <a:p>
            <a:r>
              <a:rPr lang="en-US" dirty="0"/>
              <a:t>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TanStack Query, there's no syncing at all — every app just fetches, because the REST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two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 And </a:t>
            </a:r>
            <a:r>
              <a:rPr lang="en-GB" dirty="0" err="1"/>
              <a:t>Rspack</a:t>
            </a:r>
            <a:r>
              <a:rPr lang="en-GB" dirty="0"/>
              <a:t> published agent skills that you can use just in case today’s frontier models still don’t have any idea what the </a:t>
            </a:r>
            <a:r>
              <a:rPr lang="en-GB" dirty="0" err="1"/>
              <a:t>Rspack</a:t>
            </a:r>
            <a:r>
              <a:rPr lang="en-GB" dirty="0"/>
              <a:t> v2.0 can do.</a:t>
            </a:r>
          </a:p>
        </p:txBody>
      </p:sp>
    </p:spTree>
    <p:extLst>
      <p:ext uri="{BB962C8B-B14F-4D97-AF65-F5344CB8AC3E}">
        <p14:creationId xmlns:p14="http://schemas.microsoft.com/office/powerpoint/2010/main" val="4203036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you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5660AF-94A0-DF3F-40C1-547982EAE766}"/>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770310" y="3075057"/>
            <a:ext cx="10648236" cy="707886"/>
          </a:xfrm>
          <a:prstGeom prst="rect">
            <a:avLst/>
          </a:prstGeom>
          <a:noFill/>
        </p:spPr>
        <p:txBody>
          <a:bodyPr wrap="none" rtlCol="0">
            <a:spAutoFit/>
          </a:bodyPr>
          <a:lstStyle/>
          <a:p>
            <a:pPr algn="ctr"/>
            <a:r>
              <a:rPr lang="en-GB" sz="4000" dirty="0"/>
              <a:t>Preloading and prefetching (network tab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226365"/>
            <a:ext cx="10710142" cy="2248815"/>
          </a:xfrm>
          <a:prstGeom prst="rect">
            <a:avLst/>
          </a:prstGeom>
          <a:noFill/>
          <a:ln/>
        </p:spPr>
        <p:txBody>
          <a:bodyPr wrap="square" rtlCol="0" anchor="ctr"/>
          <a:lstStyle/>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Why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for eager modules?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Remotes are separate builds resolved at runtime.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Eager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import()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warms the cache;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resolves from it.</a:t>
            </a:r>
            <a:endParaRPr lang="en-US" sz="3200"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endParaRPr>
          </a:p>
        </p:txBody>
      </p:sp>
    </p:spTree>
    <p:extLst>
      <p:ext uri="{BB962C8B-B14F-4D97-AF65-F5344CB8AC3E}">
        <p14:creationId xmlns:p14="http://schemas.microsoft.com/office/powerpoint/2010/main" val="25772246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a:t>
            </a:r>
            <a:r>
              <a:rPr lang="en-US" sz="2800" dirty="0" err="1">
                <a:solidFill>
                  <a:schemeClr val="tx1">
                    <a:lumMod val="95000"/>
                    <a:lumOff val="5000"/>
                  </a:schemeClr>
                </a:solidFill>
                <a:latin typeface="DM Sans" pitchFamily="34" charset="0"/>
                <a:ea typeface="DM Sans" pitchFamily="34" charset="-122"/>
                <a:cs typeface="DM Sans" pitchFamily="34" charset="-120"/>
              </a:rPr>
              <a:t>remoteEntry.js</a:t>
            </a:r>
            <a:r>
              <a:rPr lang="en-US" sz="2800" dirty="0">
                <a:solidFill>
                  <a:schemeClr val="tx1">
                    <a:lumMod val="95000"/>
                    <a:lumOff val="5000"/>
                  </a:schemeClr>
                </a:solidFill>
                <a:latin typeface="DM Sans" pitchFamily="34" charset="0"/>
                <a:ea typeface="DM Sans" pitchFamily="34" charset="-122"/>
                <a:cs typeface="DM Sans" pitchFamily="34" charset="-120"/>
              </a:rPr>
              <a:t>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2279283" y="3075057"/>
            <a:ext cx="7630295" cy="707886"/>
          </a:xfrm>
          <a:prstGeom prst="rect">
            <a:avLst/>
          </a:prstGeom>
          <a:noFill/>
        </p:spPr>
        <p:txBody>
          <a:bodyPr wrap="none" rtlCol="0">
            <a:spAutoFit/>
          </a:bodyPr>
          <a:lstStyle/>
          <a:p>
            <a:pPr algn="ctr"/>
            <a:r>
              <a:rPr lang="en-GB" sz="4000" dirty="0"/>
              <a:t>Admin panel for module federation</a:t>
            </a:r>
          </a:p>
        </p:txBody>
      </p:sp>
    </p:spTree>
    <p:extLst>
      <p:ext uri="{BB962C8B-B14F-4D97-AF65-F5344CB8AC3E}">
        <p14:creationId xmlns:p14="http://schemas.microsoft.com/office/powerpoint/2010/main" val="3182694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4130</TotalTime>
  <Words>2141</Words>
  <Application>Microsoft Macintosh PowerPoint</Application>
  <PresentationFormat>Custom</PresentationFormat>
  <Paragraphs>195</Paragraphs>
  <Slides>34</Slides>
  <Notes>31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34</vt:i4>
      </vt:variant>
    </vt:vector>
  </HeadingPairs>
  <TitlesOfParts>
    <vt:vector size="44" baseType="lpstr">
      <vt:lpstr>Brush Script MT</vt:lpstr>
      <vt:lpstr>Aptos</vt:lpstr>
      <vt:lpstr>Arial</vt:lpstr>
      <vt:lpstr>Calibri</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Devlin Duldulao</cp:lastModifiedBy>
  <cp:revision>302</cp:revision>
  <dcterms:created xsi:type="dcterms:W3CDTF">2026-07-26T17:49:56Z</dcterms:created>
  <dcterms:modified xsi:type="dcterms:W3CDTF">2026-09-09T21:31:52Z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2026-09-09T15:35:15Z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3894cb50-b398-499b-a2fb-df380df3d017</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