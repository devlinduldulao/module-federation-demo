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76" r:id="rId3"/>
    <p:sldId id="257" r:id="rId4"/>
    <p:sldId id="277" r:id="rId5"/>
    <p:sldId id="258" r:id="rId6"/>
    <p:sldId id="279" r:id="rId7"/>
    <p:sldId id="278" r:id="rId8"/>
    <p:sldId id="259" r:id="rId9"/>
    <p:sldId id="280" r:id="rId10"/>
    <p:sldId id="260" r:id="rId11"/>
    <p:sldId id="281" r:id="rId12"/>
    <p:sldId id="282" r:id="rId13"/>
    <p:sldId id="261" r:id="rId14"/>
    <p:sldId id="283" r:id="rId15"/>
    <p:sldId id="284" r:id="rId16"/>
    <p:sldId id="262" r:id="rId17"/>
    <p:sldId id="285" r:id="rId18"/>
    <p:sldId id="294" r:id="rId19"/>
    <p:sldId id="263" r:id="rId20"/>
    <p:sldId id="286" r:id="rId21"/>
    <p:sldId id="295" r:id="rId22"/>
    <p:sldId id="264" r:id="rId23"/>
    <p:sldId id="287" r:id="rId24"/>
    <p:sldId id="265" r:id="rId25"/>
    <p:sldId id="288" r:id="rId26"/>
    <p:sldId id="289" r:id="rId27"/>
    <p:sldId id="266" r:id="rId28"/>
    <p:sldId id="290" r:id="rId29"/>
    <p:sldId id="291" r:id="rId30"/>
    <p:sldId id="267" r:id="rId31"/>
    <p:sldId id="296" r:id="rId32"/>
    <p:sldId id="297" r:id="rId33"/>
    <p:sldId id="268" r:id="rId34"/>
    <p:sldId id="292" r:id="rId35"/>
    <p:sldId id="269" r:id="rId36"/>
    <p:sldId id="293" r:id="rId37"/>
    <p:sldId id="271" r:id="rId38"/>
    <p:sldId id="272" r:id="rId39"/>
    <p:sldId id="273" r:id="rId40"/>
    <p:sldId id="274" r:id="rId41"/>
    <p:sldId id="275" r:id="rId42"/>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428" autoAdjust="0"/>
    <p:restoredTop sz="75254" autoAdjust="0"/>
  </p:normalViewPr>
  <p:slideViewPr>
    <p:cSldViewPr snapToGrid="0" snapToObjects="1">
      <p:cViewPr varScale="1">
        <p:scale>
          <a:sx n="72" d="100"/>
          <a:sy n="72" d="100"/>
        </p:scale>
        <p:origin x="8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Devlin Duldulao, and this is a thirty-minute talk with a live demo. From five developers to two hundred: micro-frontends that scale your team and keep the UI responsive.</a:t>
            </a:r>
          </a:p>
          <a:p>
            <a:r>
              <a:rPr lang="en-US" dirty="0"/>
              <a:t>Most micro-frontend talks treat two ideas as if they live in different universes. Module Federation is for teams. Suspense is for loading. I want to ask a different question. What happens when you stop treating them as separate ideas?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not a toy diagram.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frontend architecture talks start with bundle size. Code splitting. Tree shaking. How many kilobytes you shipped. That is not the pain that drives companies to micro-frontends. The pain is team size.</a:t>
            </a:r>
          </a:p>
          <a:p>
            <a:r>
              <a:rPr lang="en-US" dirty="0"/>
              <a:t>At five developers, a monolith is fast and fun. Everyone knows the codebase. You ship in the afternoon.</a:t>
            </a:r>
          </a:p>
          <a:p>
            <a:r>
              <a:rPr lang="en-US" dirty="0"/>
              <a:t>At fifteen, merge conflicts are daily. CI takes twenty minutes. You are slowing down.</a:t>
            </a:r>
          </a:p>
          <a:p>
            <a:r>
              <a:rPr lang="en-US" dirty="0"/>
              <a:t>At fifty, deploys get blocked by unrelated failures. A flaky test in checkout stops the team working on search. Do not merge yet, we are releasing, becomes a Slack message you read every morning.</a:t>
            </a:r>
          </a:p>
          <a:p>
            <a:r>
              <a:rPr lang="en-US" dirty="0"/>
              <a:t>At a hundred, teams wait on other teams to release. Developer experience is broken. At two hundred, nobody understands the full application. Onboarding takes months.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9AD7C-1602-EA9F-9F6E-505C5ACF03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F3D54-69B3-52C7-E21E-39BD481CF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F17AA2-5BF1-7FB7-4414-02A1BFEB6239}"/>
              </a:ext>
            </a:extLst>
          </p:cNvPr>
          <p:cNvSpPr>
            <a:spLocks noGrp="1"/>
          </p:cNvSpPr>
          <p:nvPr>
            <p:ph type="body" idx="1"/>
          </p:nvPr>
        </p:nvSpPr>
        <p:spPr/>
        <p:txBody>
          <a:bodyPr/>
          <a:lstStyle/>
          <a:p>
            <a:r>
              <a:rPr lang="en-US" dirty="0"/>
              <a:t>If you have lived on a large frontend team, you have lived this ladder. Pull requests take days because reviewers do not own the code. One broken test blocks everyone. A shared package.json means everyone upgrades together, or nobody upgrades at all.</a:t>
            </a:r>
          </a:p>
          <a:p>
            <a:r>
              <a:rPr lang="en-US" dirty="0"/>
              <a:t>The architecture itself is destroying the development culture. Module Federation answers that. Independent deployment per module. Each team owns its own test suite. A new developer learns one module and ships on day one. Each remote pins its own dependencies.</a:t>
            </a:r>
          </a:p>
          <a:p>
            <a:r>
              <a:rPr lang="en-US" dirty="0"/>
              <a:t>That is the developer-experience half, and it is incomplete on its own. </a:t>
            </a:r>
          </a:p>
        </p:txBody>
      </p:sp>
      <p:sp>
        <p:nvSpPr>
          <p:cNvPr id="4" name="Slide Number Placeholder 3">
            <a:extLst>
              <a:ext uri="{FF2B5EF4-FFF2-40B4-BE49-F238E27FC236}">
                <a16:creationId xmlns:a16="http://schemas.microsoft.com/office/drawing/2014/main" id="{4E5361D3-3FAB-6CFA-D1AA-739118EC7C63}"/>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3051784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D1B04-4E78-C9F9-56EF-5D9FE7426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A9942-CB06-4B60-71A3-7C5D8195BF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E096CB-B466-F273-E12D-531262EBFCBA}"/>
              </a:ext>
            </a:extLst>
          </p:cNvPr>
          <p:cNvSpPr>
            <a:spLocks noGrp="1"/>
          </p:cNvSpPr>
          <p:nvPr>
            <p:ph type="body" idx="1"/>
          </p:nvPr>
        </p:nvSpPr>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p:txBody>
      </p:sp>
      <p:sp>
        <p:nvSpPr>
          <p:cNvPr id="4" name="Slide Number Placeholder 3">
            <a:extLst>
              <a:ext uri="{FF2B5EF4-FFF2-40B4-BE49-F238E27FC236}">
                <a16:creationId xmlns:a16="http://schemas.microsoft.com/office/drawing/2014/main" id="{E9996F37-0157-CA8B-7614-4AAEB204C783}"/>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984704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8DE58-641F-D4EF-F92D-164F381DE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96E71-A24C-FF67-2D84-360E52BD6D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14D38B-BEEB-60F0-E344-FBC8643D3C67}"/>
              </a:ext>
            </a:extLst>
          </p:cNvPr>
          <p:cNvSpPr>
            <a:spLocks noGrp="1"/>
          </p:cNvSpPr>
          <p:nvPr>
            <p:ph type="body" idx="1"/>
          </p:nvPr>
        </p:nvSpPr>
        <p:spPr/>
        <p:txBody>
          <a:bodyPr/>
          <a:lstStyle/>
          <a:p>
            <a:r>
              <a:rPr lang="en-US"/>
              <a:t>The </a:t>
            </a:r>
            <a:r>
              <a:rPr lang="en-US" dirty="0"/>
              <a:t>shell does not know how long a remote takes to load. It renders Suspense and moves on.</a:t>
            </a:r>
          </a:p>
          <a:p>
            <a:r>
              <a:rPr lang="en-US" dirty="0"/>
              <a:t>The shell owns composition. The remote owns how long it takes to become ready. No isLoading props leak across module boundaries.</a:t>
            </a:r>
          </a:p>
          <a:p>
            <a:r>
              <a:rPr lang="en-US" dirty="0"/>
              <a:t>Module Federation scales the team. Suspense scales the loading experience. This demo runs both in the same architecture.</a:t>
            </a:r>
          </a:p>
        </p:txBody>
      </p:sp>
      <p:sp>
        <p:nvSpPr>
          <p:cNvPr id="4" name="Slide Number Placeholder 3">
            <a:extLst>
              <a:ext uri="{FF2B5EF4-FFF2-40B4-BE49-F238E27FC236}">
                <a16:creationId xmlns:a16="http://schemas.microsoft.com/office/drawing/2014/main" id="{9D53B53F-8B64-3E61-0BA7-B058A4E21B8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94149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13A3E-C7F0-2233-B733-B9ACB80A9F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50BB0-F555-3C5C-7A20-CDC6D39459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95943-B99B-FC07-1724-6715F76BD103}"/>
              </a:ext>
            </a:extLst>
          </p:cNvPr>
          <p:cNvSpPr>
            <a:spLocks noGrp="1"/>
          </p:cNvSpPr>
          <p:nvPr>
            <p:ph type="body" idx="1"/>
          </p:nvPr>
        </p:nvSpPr>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p:txBody>
      </p:sp>
      <p:sp>
        <p:nvSpPr>
          <p:cNvPr id="4" name="Slide Number Placeholder 3">
            <a:extLst>
              <a:ext uri="{FF2B5EF4-FFF2-40B4-BE49-F238E27FC236}">
                <a16:creationId xmlns:a16="http://schemas.microsoft.com/office/drawing/2014/main" id="{887DEF23-3DA2-7779-D0F9-38259F85685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57604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in this repo is a standalone app. Open one package folder. Run pnpm install and pnpm run dev. You have a working React app with hot module replacement. No shell. No other remotes.</a:t>
            </a:r>
          </a:p>
          <a:p>
            <a:r>
              <a:rPr lang="en-US" dirty="0"/>
              <a:t>The stack is React 19.2, because Suspense fallbacks are built into the runtime. Rspack 2.1, because Module Federation is native, the React Compiler runs in Rust, and hot reload is sub-second. TypeScript 7 in strict mode, so the event contracts are typed. Tailwind v4 for theme tokens. Vitest 4.1 for component tests.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8DCB-D4D9-7F2B-D0CD-0E409379A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1C5C2-521E-4323-98CF-1626A3486C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07DE1-4805-2FD7-B1DC-C03DCB8A66E3}"/>
              </a:ext>
            </a:extLst>
          </p:cNvPr>
          <p:cNvSpPr>
            <a:spLocks noGrp="1"/>
          </p:cNvSpPr>
          <p:nvPr>
            <p:ph type="body" idx="1"/>
          </p:nvPr>
        </p:nvSpPr>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p:txBody>
      </p:sp>
      <p:sp>
        <p:nvSpPr>
          <p:cNvPr id="4" name="Slide Number Placeholder 3">
            <a:extLst>
              <a:ext uri="{FF2B5EF4-FFF2-40B4-BE49-F238E27FC236}">
                <a16:creationId xmlns:a16="http://schemas.microsoft.com/office/drawing/2014/main" id="{E3A8A273-B24E-3476-EA69-1FA378736BC7}"/>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526089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78172-9C71-CFA3-B675-B4062A38A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221CC-AE50-C79F-6A55-FAE5370B2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6DA320-0162-1F23-628E-717E8A32B846}"/>
              </a:ext>
            </a:extLst>
          </p:cNvPr>
          <p:cNvSpPr>
            <a:spLocks noGrp="1"/>
          </p:cNvSpPr>
          <p:nvPr>
            <p:ph type="body" idx="1"/>
          </p:nvPr>
        </p:nvSpPr>
        <p:spPr/>
        <p:txBody>
          <a:bodyPr/>
          <a:lstStyle/>
          <a:p>
            <a:r>
              <a:rPr lang="en-US" dirty="0"/>
              <a:t>People always ask why we use lazy for eager modules. You cannot use a static import with Module Federation. The remote is a separate build on a separate server, resolved at runtime. So we fire import at shell init, the browser caches the module, and when React later calls the same import inside lazy, it resolves instantly.</a:t>
            </a:r>
          </a:p>
          <a:p>
            <a:r>
              <a:rPr lang="en-US" dirty="0"/>
              <a:t>Different content, different priority. The landing page is instant. High-value content is eager. Secondary content streams on demand.</a:t>
            </a:r>
          </a:p>
        </p:txBody>
      </p:sp>
      <p:sp>
        <p:nvSpPr>
          <p:cNvPr id="4" name="Slide Number Placeholder 3">
            <a:extLst>
              <a:ext uri="{FF2B5EF4-FFF2-40B4-BE49-F238E27FC236}">
                <a16:creationId xmlns:a16="http://schemas.microsoft.com/office/drawing/2014/main" id="{5E0E3512-F25A-DA7B-BCA6-BF249EB0FCB0}"/>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9313993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6C20B-4A97-425B-9490-9DCB56D83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6AA92-E4A6-E6FA-B226-EA06DA333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F670C-0428-B0E1-DB0B-324F0BBE39F8}"/>
              </a:ext>
            </a:extLst>
          </p:cNvPr>
          <p:cNvSpPr>
            <a:spLocks noGrp="1"/>
          </p:cNvSpPr>
          <p:nvPr>
            <p:ph type="body" idx="1"/>
          </p:nvPr>
        </p:nvSpPr>
        <p:spPr/>
        <p:txBody>
          <a:bodyPr/>
          <a:lstStyle/>
          <a:p>
            <a:r>
              <a:rPr lang="en-US" dirty="0"/>
              <a:t>A health monitor that polls remoteEntry.js every five seconds. Kill switches. An A/B deployment ring. That panel is the money shot of this talk. I can take a module down in front of you and show you that the rest of the app keeps running.</a:t>
            </a:r>
          </a:p>
        </p:txBody>
      </p:sp>
      <p:sp>
        <p:nvSpPr>
          <p:cNvPr id="4" name="Slide Number Placeholder 3">
            <a:extLst>
              <a:ext uri="{FF2B5EF4-FFF2-40B4-BE49-F238E27FC236}">
                <a16:creationId xmlns:a16="http://schemas.microsoft.com/office/drawing/2014/main" id="{069010F3-8DE1-A2AD-7962-CBD9E92C139D}"/>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770988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like microservices? For the ninety-nine percent case, yes.</a:t>
            </a:r>
          </a:p>
          <a:p>
            <a:r>
              <a:rPr lang="en-US" dirty="0"/>
              <a:t>Microservices isolate at the operating-system level. Separate processes. Separate memory. If one crashes, the others keep running. Micro-frontends in this demo isolate at the React level. An error boundary per module. If Records crashes, Prescriptions keeps rendering. If an import fails, the catch shows a fallback and a Retry button.</a:t>
            </a:r>
          </a:p>
          <a:p>
            <a:r>
              <a:rPr lang="en-US" dirty="0"/>
              <a:t>We do four things to get that isolation. A per-module error boundary. Per-module Suspense, so a slow remote shows only its own skeleton. A catch on lazy, so a down server becomes a fallback instead of a white screen. And route-based rendering, so only one module is the primary view at a time.</a:t>
            </a:r>
          </a:p>
          <a:p>
            <a:r>
              <a:rPr lang="en-US" dirty="0"/>
              <a:t>The honest caveat is the one percent. All modules share one browser tab. A true infinite loop or a massive memory leak freezes everything.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29B8-5372-5A08-6FEF-A81B7745C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E8A2-A2AD-2435-B7E5-CEB345584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9E0C0-C363-E26C-0C13-E39FD76D3F77}"/>
              </a:ext>
            </a:extLst>
          </p:cNvPr>
          <p:cNvSpPr>
            <a:spLocks noGrp="1"/>
          </p:cNvSpPr>
          <p:nvPr>
            <p:ph type="body" idx="1"/>
          </p:nvPr>
        </p:nvSpPr>
        <p:spPr/>
        <p:txBody>
          <a:bodyPr/>
          <a:lstStyle/>
          <a:p>
            <a:r>
              <a:rPr lang="en-US" dirty="0"/>
              <a:t>In the demo I will flip this live, and you will watch Records, Prescriptions, and Analytics change together.</a:t>
            </a:r>
          </a:p>
        </p:txBody>
      </p:sp>
      <p:sp>
        <p:nvSpPr>
          <p:cNvPr id="4" name="Slide Number Placeholder 3">
            <a:extLst>
              <a:ext uri="{FF2B5EF4-FFF2-40B4-BE49-F238E27FC236}">
                <a16:creationId xmlns:a16="http://schemas.microsoft.com/office/drawing/2014/main" id="{D0CA3F0D-B84A-84C7-CCE7-445B4B705FE5}"/>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48263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FB5B6-0DF2-E16B-E1D9-35F7D6214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2C72-EDD9-0D4A-2760-C04D209B4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44DD75-C028-A81B-525F-F327E2D97F76}"/>
              </a:ext>
            </a:extLst>
          </p:cNvPr>
          <p:cNvSpPr>
            <a:spLocks noGrp="1"/>
          </p:cNvSpPr>
          <p:nvPr>
            <p:ph type="body" idx="1"/>
          </p:nvPr>
        </p:nvSpPr>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p:txBody>
      </p:sp>
      <p:sp>
        <p:nvSpPr>
          <p:cNvPr id="4" name="Slide Number Placeholder 3">
            <a:extLst>
              <a:ext uri="{FF2B5EF4-FFF2-40B4-BE49-F238E27FC236}">
                <a16:creationId xmlns:a16="http://schemas.microsoft.com/office/drawing/2014/main" id="{4A8E4828-C077-AAD4-21B4-A2F633E12E1E}"/>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01938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test a federated component without standing up five dev servers? The trick is a Vitest alias. Records slash MedicalRecords does not point at a remote entry. It points at the source file. Same pattern for Home, Prescriptions, and Analytics.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26C10-5D7C-A85E-149B-F65345F1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6B9F6-6EF9-6BC9-7EA4-3AB5EDA61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1DEFD-09F3-8687-46CF-C0B8C4D8062C}"/>
              </a:ext>
            </a:extLst>
          </p:cNvPr>
          <p:cNvSpPr>
            <a:spLocks noGrp="1"/>
          </p:cNvSpPr>
          <p:nvPr>
            <p:ph type="body" idx="1"/>
          </p:nvPr>
        </p:nvSpPr>
        <p:spPr/>
        <p:txBody>
          <a:bodyPr/>
          <a:lstStyle/>
          <a:p>
            <a:r>
              <a:rPr lang="en-US" dirty="0"/>
              <a:t>Then a normal React Testing Library test works. Render Medical Records. Click the button that creates a prescription for Sarah Chen. Assert that a window event fired, once, with the right payload.</a:t>
            </a:r>
          </a:p>
          <a:p>
            <a:r>
              <a:rPr lang="en-US" dirty="0"/>
              <a:t>Every module is tested in isolation. No network. No remoteEntry.js. Two hundred and ten tests across twenty-one files. All green. A broken prescriptions test does not block the records team. A new hire runs the tests for one folder and understands the contract.</a:t>
            </a:r>
          </a:p>
          <a:p>
            <a:r>
              <a:rPr lang="en-US" dirty="0"/>
              <a:t>If we have time in the demo, I will run pnpm test in front of you.</a:t>
            </a:r>
          </a:p>
        </p:txBody>
      </p:sp>
      <p:sp>
        <p:nvSpPr>
          <p:cNvPr id="4" name="Slide Number Placeholder 3">
            <a:extLst>
              <a:ext uri="{FF2B5EF4-FFF2-40B4-BE49-F238E27FC236}">
                <a16:creationId xmlns:a16="http://schemas.microsoft.com/office/drawing/2014/main" id="{D5EA6B86-EE6A-571F-57B3-8F35F807385D}"/>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7112229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running app now. This is localhost 3000. Everything you see is four separate React apps composed at runtime inside one shell.</a:t>
            </a:r>
          </a:p>
          <a:p>
            <a:r>
              <a:rPr lang="en-US" dirty="0"/>
              <a:t>Watch the status strip. Home says Instant. It rendered the moment its chunk arrived. No artificial delay. No skeleton.</a:t>
            </a:r>
          </a:p>
          <a:p>
            <a:r>
              <a:rPr lang="en-US" dirty="0"/>
              <a:t>I am opening Records. Records appears immediately too, but for a different reason. It was preloaded the moment the shell mounted. By the time I clicked, the chunk was already in the browser cache. The status strip says Eager.</a:t>
            </a:r>
          </a:p>
          <a:p>
            <a:r>
              <a:rPr lang="en-US" dirty="0"/>
              <a:t>I am opening Prescriptions, and I am going to let the skeleton play. This is the third strategy. Prescriptions loads on demand. The skeleton renders immediately. Then the route content replaces it when its simulated resource resolves. The shell does not know that timing. It rendered a Suspense boundary and moved on.</a:t>
            </a:r>
          </a:p>
          <a:p>
            <a:r>
              <a:rPr lang="en-US" dirty="0"/>
              <a:t>Analytics is the same story. Second skeleton. On demand. Streaming.</a:t>
            </a:r>
          </a:p>
          <a:p>
            <a:r>
              <a:rPr lang="en-US" dirty="0"/>
              <a:t>Three strategies. Three content priorities. The landing page is instant. High-value content is eager. Secondary content shows a fallback while it resolves. What you cannot see is that each of these is a separate app on a separate dev server.</a:t>
            </a:r>
          </a:p>
          <a:p>
            <a:r>
              <a:rPr lang="en-US" dirty="0"/>
              <a:t>I am going back to Records. I am adding Sarah Chen's prescription. That toast did not come from Records importing a toast library from the shell. Records dispatched a typed event. The shell listened and showed the notification.</a:t>
            </a:r>
          </a:p>
          <a:p>
            <a:r>
              <a:rPr lang="en-US" dirty="0"/>
              <a:t>I am opening Prescriptions. The item is here. Records just talked to Prescriptions, and Records has never imported a line from Prescriptions. That was a custom event on window. It avoids direct import coupling, as long as the payload stays backward compatible. It can also cross framework boundaries.</a:t>
            </a:r>
          </a:p>
          <a:p>
            <a:r>
              <a:rPr lang="en-US" dirty="0"/>
              <a:t>I am removing the items. I am clicking Browse Records. Navigation works the same way. The remote asked the shell to navigate. Only the shell owns the router.</a:t>
            </a:r>
          </a:p>
          <a:p>
            <a:r>
              <a:rPr lang="en-US" dirty="0"/>
              <a:t>I am pressing Control K and opening the Federation Lab. Four remotes. Four health dots. Each one polls that module's remoteEntry.js every five seconds.</a:t>
            </a:r>
          </a:p>
          <a:p>
            <a:r>
              <a:rPr lang="en-US" dirty="0"/>
              <a:t>I am toggling the kill switch for Records. I am opening Records. The Records team just shipped a broken deploy. Their module is down.</a:t>
            </a:r>
          </a:p>
          <a:p>
            <a:r>
              <a:rPr lang="en-US" dirty="0"/>
              <a:t>I am opening Prescriptions. I am opening Analytics. Both work. Independent deploys are the developer-experience win. Contained failures are the user-experience win. One error boundary per module. A catch on every lazy import. Same idea as a microservice going down.</a:t>
            </a:r>
          </a:p>
          <a:p>
            <a:r>
              <a:rPr lang="en-US" dirty="0"/>
              <a:t>Is this microservices? Yes, for the ninety-nine percent case. Crashes, network failures, bad deploys: fully contained. The one percent gap: all modules share one browser tab, so a true infinite loop freezes everything. That is the cost of a shared runtime, and most Module Federation setups accept it.</a:t>
            </a:r>
          </a:p>
          <a:p>
            <a:r>
              <a:rPr lang="en-US" dirty="0"/>
              <a:t>I am restoring all remotes.</a:t>
            </a:r>
          </a:p>
          <a:p>
            <a:r>
              <a:rPr lang="en-US" dirty="0"/>
              <a:t>Each remote can run a different version. I am switching the ring from Stable to Canary. In production, this toggle is a routing decision on remoteEntry URLs. You canary one team's module while everything else stays stable. I am switching back to Stable.</a:t>
            </a:r>
          </a:p>
          <a:p>
            <a:r>
              <a:rPr lang="en-US" dirty="0"/>
              <a:t>One more cross-cutting concern: theming. I am switching to light. The shell rewrote CSS variables, persisted to local storage, and broadcast a typed event. Every remote reacted with zero shared imports. I am switching back to dark.</a:t>
            </a:r>
          </a:p>
          <a:p>
            <a:r>
              <a:rPr lang="en-US" dirty="0"/>
              <a:t>If we still have time, I am walking the code. The entire entry file of every module is one line: import bootstrap. That dynamic import is the async boundary Module Federation needs to negotiate the shared React copy before any React code runs.</a:t>
            </a:r>
          </a:p>
          <a:p>
            <a:r>
              <a:rPr lang="en-US" dirty="0"/>
              <a:t>The records Rspack config is a normal bundler config. The one thing that makes this a micro-frontend is Module Federation Plugin. Exposes is the team's public API. Shared with singleton true means one React for everyone.</a:t>
            </a:r>
          </a:p>
          <a:p>
            <a:r>
              <a:rPr lang="en-US" dirty="0"/>
              <a:t>The host mirror maps a scope to a remoteEntry URL, resolved at runtime. The three strategies are data: load strategy instant, eager, or streamed. Three layers of resilience: catch on the import, Suspense for the skeleton, error boundary for runtime errors.</a:t>
            </a:r>
          </a:p>
          <a:p>
            <a:r>
              <a:rPr lang="en-US" dirty="0"/>
              <a:t>The entire client-side Suspense pattern is about forty lines. Read throws the promise while pending. Suspense catches it. The wrapper's only job is to trigger Suspense. The real UI lives in the standalone component.</a:t>
            </a:r>
          </a:p>
          <a:p>
            <a:r>
              <a:rPr lang="en-US" dirty="0"/>
              <a:t>The event contract is one types file. Augment WindowEventMap, and every addEventListener is fully typed. No shared npm package.</a:t>
            </a:r>
          </a:p>
          <a:p>
            <a:r>
              <a:rPr lang="en-US" dirty="0"/>
              <a:t>I am running the tests. Every module is tested in isolation. No dev servers. The trick is a Vitest alias that resolves federated imports to the source file. Two hundred and ten tests. Twenty-one files. All green.</a:t>
            </a:r>
          </a:p>
          <a:p>
            <a:r>
              <a:rPr lang="en-US" dirty="0"/>
              <a:t>One workflow per module. When the Records team pushes, only Records CI runs. One big workflow that rebuilds everything on every push couples your deploys and defeats the entire point of micro-frontends.</a:t>
            </a:r>
          </a:p>
          <a:p>
            <a:r>
              <a:rPr lang="en-US" dirty="0"/>
              <a:t>So what should you remember tomorrow morning?</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ready for this architecture when you recognize these signals.</a:t>
            </a:r>
          </a:p>
          <a:p>
            <a:r>
              <a:rPr lang="en-US" dirty="0"/>
              <a:t>If multiple teams ship the same single-page app and block each other on releases, reach for Module Federation. Independent builds. Deploys can follow.</a:t>
            </a:r>
          </a:p>
          <a:p>
            <a:r>
              <a:rPr lang="en-US" dirty="0"/>
              <a:t>If users wait for a full bundle before they see anything, reach for Suspense fallbacks. Skeletons render immediately. Content replaces them when it is ready.</a:t>
            </a:r>
          </a:p>
          <a:p>
            <a:r>
              <a:rPr lang="en-US" dirty="0"/>
              <a:t>If one broken feature takes down the whole page, wrap every module in an error boundary and a catch on lazy.</a:t>
            </a:r>
          </a:p>
          <a:p>
            <a:r>
              <a:rPr lang="en-US" dirty="0"/>
              <a:t>If shared state libraries create invisible coupling between features, replace the shared store with custom events on window. No direct imports. Explicit contracts.</a:t>
            </a:r>
          </a:p>
          <a:p>
            <a:r>
              <a:rPr lang="en-US" dirty="0"/>
              <a:t>If you need canary releases at the feature level, version remotes independently. Deploy one remote without touching the others.</a:t>
            </a:r>
          </a:p>
          <a:p>
            <a:r>
              <a:rPr lang="en-US" dirty="0"/>
              <a:t>If testing one feature requires the full app running, use the Vitest alias trick. Test any remote in isolation. No servers.</a:t>
            </a:r>
          </a:p>
          <a:p>
            <a:r>
              <a:rPr lang="en-US" dirty="0"/>
              <a:t>Typical domains already look like this. Healthcare platforms. SaaS dashboards. Enterprise portals. Media platforms. You do not rewrite everything. You extract one slow-moving feature into a remote. Keep the rest in the shell. Prove the pattern. Then expand.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repo is public. Install with pnpm, run pnpm run dev, open localhost 3000, and start exploring. You will find the five packages, the two hundred and ten tests, and the Federation Lab we used on stage.</a:t>
            </a:r>
          </a:p>
          <a:p>
            <a:r>
              <a:rPr lang="en-US" dirty="0"/>
              <a:t>I'm Devlin Duldulao. You can find me at Devlin Duldulao on social.</a:t>
            </a:r>
          </a:p>
          <a:p>
            <a:r>
              <a:rPr lang="en-US" dirty="0"/>
              <a:t>If you want to argue about React 19 Suspense, here is the short version. The nearest fallback can commit sooner, then React pre-warms suspended siblings. Boundary design and caching still matter.</a:t>
            </a:r>
          </a:p>
          <a:p>
            <a:r>
              <a:rPr lang="en-US" dirty="0"/>
              <a:t>I would love your questions. Ask me about kill switches, about events versus a shared store, about why lazy for eager modules, or about when this architecture is too much. The floor is yours.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CCDA-413C-579A-A6E3-FCAC06013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52B59-B5BB-262E-4E52-04028D803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C81E29-5D7C-64C4-E6E9-53F214DF53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1EF55D-6E38-CC0E-C3A3-165FF21AA885}"/>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764363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640" y="0"/>
            <a:ext cx="11064240" cy="4184073"/>
          </a:xfrm>
          <a:prstGeom prst="rect">
            <a:avLst/>
          </a:prstGeom>
          <a:noFill/>
          <a:ln/>
        </p:spPr>
        <p:txBody>
          <a:bodyPr wrap="square" rtlCol="0" anchor="ctr"/>
          <a:lstStyle/>
          <a:p>
            <a:r>
              <a:rPr lang="en-US" sz="6600" i="1" dirty="0">
                <a:solidFill>
                  <a:srgbClr val="FAFAF9"/>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p>
        </p:txBody>
      </p:sp>
      <p:sp>
        <p:nvSpPr>
          <p:cNvPr id="7" name="Text 5"/>
          <p:cNvSpPr/>
          <p:nvPr/>
        </p:nvSpPr>
        <p:spPr>
          <a:xfrm>
            <a:off x="640080" y="5486400"/>
            <a:ext cx="10972800" cy="365760"/>
          </a:xfrm>
          <a:prstGeom prst="rect">
            <a:avLst/>
          </a:prstGeom>
          <a:noFill/>
          <a:ln/>
        </p:spPr>
        <p:txBody>
          <a:bodyPr wrap="square" rtlCol="0" anchor="ctr"/>
          <a:lstStyle/>
          <a:p>
            <a:pPr marL="0" indent="0">
              <a:buNone/>
            </a:pPr>
            <a:r>
              <a:rPr lang="en-US" sz="2800" kern="0" spc="200" dirty="0">
                <a:solidFill>
                  <a:srgbClr val="D4FF00"/>
                </a:solidFill>
                <a:latin typeface="IBM Plex Mono" pitchFamily="34" charset="0"/>
                <a:ea typeface="IBM Plex Mono" pitchFamily="34" charset="-122"/>
                <a:cs typeface="IBM Plex Mono" pitchFamily="34" charset="-120"/>
              </a:rPr>
              <a:t>Devlin Duldulao</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PROBLEM</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02</a:t>
            </a:r>
            <a:endParaRPr lang="en-US" sz="850" dirty="0"/>
          </a:p>
        </p:txBody>
      </p:sp>
      <p:sp>
        <p:nvSpPr>
          <p:cNvPr id="8" name="Text 5"/>
          <p:cNvSpPr/>
          <p:nvPr/>
        </p:nvSpPr>
        <p:spPr>
          <a:xfrm>
            <a:off x="285831" y="2314635"/>
            <a:ext cx="11902024" cy="3199197"/>
          </a:xfrm>
          <a:prstGeom prst="rect">
            <a:avLst/>
          </a:prstGeom>
          <a:noFill/>
          <a:ln/>
        </p:spPr>
        <p:txBody>
          <a:bodyPr wrap="square" rtlCol="0" anchor="t"/>
          <a:lstStyle/>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  5 devs → everyone knows the codebase → fast, fun, productive</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 15 devs → merge conflicts daily, CI takes 20 min</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 50 devs → deploys blocked by unrelated failures</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100 devs → teams waiting on other teams to release</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200 devs → nobody understands the full app</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7E4430FC-1077-2A3A-7618-2ADC84EC78A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C279172-676F-BB74-ED0E-0DF8DC808EAB}"/>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99799005-E096-0C9D-0839-6A5EF5FC8218}"/>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PROBLEM</a:t>
            </a:r>
            <a:endParaRPr lang="en-US" sz="1050" dirty="0"/>
          </a:p>
        </p:txBody>
      </p:sp>
      <p:sp>
        <p:nvSpPr>
          <p:cNvPr id="4" name="Text 2">
            <a:extLst>
              <a:ext uri="{FF2B5EF4-FFF2-40B4-BE49-F238E27FC236}">
                <a16:creationId xmlns:a16="http://schemas.microsoft.com/office/drawing/2014/main" id="{B1A4D0C3-94D3-3732-AF44-ACFB580F0DE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sp>
        <p:nvSpPr>
          <p:cNvPr id="5" name="Text 3">
            <a:extLst>
              <a:ext uri="{FF2B5EF4-FFF2-40B4-BE49-F238E27FC236}">
                <a16:creationId xmlns:a16="http://schemas.microsoft.com/office/drawing/2014/main" id="{0ED2C764-A2A2-FAA2-C055-C49F09644B77}"/>
              </a:ext>
            </a:extLst>
          </p:cNvPr>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a:extLst>
              <a:ext uri="{FF2B5EF4-FFF2-40B4-BE49-F238E27FC236}">
                <a16:creationId xmlns:a16="http://schemas.microsoft.com/office/drawing/2014/main" id="{8695EF5B-91C8-D1ED-7691-2275348EED02}"/>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02</a:t>
            </a:r>
            <a:endParaRPr lang="en-US" sz="850" dirty="0"/>
          </a:p>
        </p:txBody>
      </p:sp>
      <p:graphicFrame>
        <p:nvGraphicFramePr>
          <p:cNvPr id="7" name="Table 0">
            <a:extLst>
              <a:ext uri="{FF2B5EF4-FFF2-40B4-BE49-F238E27FC236}">
                <a16:creationId xmlns:a16="http://schemas.microsoft.com/office/drawing/2014/main" id="{82210FC6-7B6A-4A15-1669-2DADDB91D3CA}"/>
              </a:ext>
            </a:extLst>
          </p:cNvPr>
          <p:cNvGraphicFramePr>
            <a:graphicFrameLocks noGrp="1"/>
          </p:cNvGraphicFramePr>
          <p:nvPr>
            <p:extLst>
              <p:ext uri="{D42A27DB-BD31-4B8C-83A1-F6EECF244321}">
                <p14:modId xmlns:p14="http://schemas.microsoft.com/office/powerpoint/2010/main" val="2856231678"/>
              </p:ext>
            </p:extLst>
          </p:nvPr>
        </p:nvGraphicFramePr>
        <p:xfrm>
          <a:off x="548640" y="2133598"/>
          <a:ext cx="11064240" cy="3665623"/>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646875">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MONOLITH PAIN (DX)</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MF SOLUTION</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Teams blocked by shared release cycles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deployment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One broken test blocks everyone's pipeline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Each team owns their own test suite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Onboarding means learning the entire app</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New devs learn one module, ship day one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1078123">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package.json: upgrade together or never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Each remote pins its own dependencies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95766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2893080613"/>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0A67CB0-AE6E-AD3B-6D88-D277ECEDAF2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18149F6-84F2-319A-406D-6F1A834208B1}"/>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8BA59A36-AB3C-77D1-0F8B-53C6070216E5}"/>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a:extLst>
              <a:ext uri="{FF2B5EF4-FFF2-40B4-BE49-F238E27FC236}">
                <a16:creationId xmlns:a16="http://schemas.microsoft.com/office/drawing/2014/main" id="{5C70C28A-1A5B-7612-2C17-02763C9EB0F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9" name="Text 5">
            <a:extLst>
              <a:ext uri="{FF2B5EF4-FFF2-40B4-BE49-F238E27FC236}">
                <a16:creationId xmlns:a16="http://schemas.microsoft.com/office/drawing/2014/main" id="{3A7F6CFF-8EAD-5CE4-CB88-B19F4A45DF12}"/>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1974817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A10F704-B53B-2EED-1193-FEE7EC4B028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95E635A-F8E8-A4AF-4EAB-F68C77D345AE}"/>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8C0558B2-EF22-C265-1AF5-9AE6E1F90245}"/>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a:extLst>
              <a:ext uri="{FF2B5EF4-FFF2-40B4-BE49-F238E27FC236}">
                <a16:creationId xmlns:a16="http://schemas.microsoft.com/office/drawing/2014/main" id="{39E9EA13-4FFE-24D7-7EF5-D34B3A05794A}"/>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10" name="Shape 6">
            <a:extLst>
              <a:ext uri="{FF2B5EF4-FFF2-40B4-BE49-F238E27FC236}">
                <a16:creationId xmlns:a16="http://schemas.microsoft.com/office/drawing/2014/main" id="{5FEB58D6-ECDE-E02B-8FA7-14EBCCF04027}"/>
              </a:ext>
            </a:extLst>
          </p:cNvPr>
          <p:cNvSpPr/>
          <p:nvPr/>
        </p:nvSpPr>
        <p:spPr>
          <a:xfrm>
            <a:off x="548640" y="3007413"/>
            <a:ext cx="32004" cy="530352"/>
          </a:xfrm>
          <a:prstGeom prst="rect">
            <a:avLst/>
          </a:prstGeom>
          <a:solidFill>
            <a:srgbClr val="D4FF00"/>
          </a:solidFill>
          <a:ln/>
        </p:spPr>
        <p:txBody>
          <a:bodyPr/>
          <a:lstStyle/>
          <a:p>
            <a:endParaRPr lang="en-GB" sz="2800"/>
          </a:p>
        </p:txBody>
      </p:sp>
      <p:sp>
        <p:nvSpPr>
          <p:cNvPr id="11" name="Text 7">
            <a:extLst>
              <a:ext uri="{FF2B5EF4-FFF2-40B4-BE49-F238E27FC236}">
                <a16:creationId xmlns:a16="http://schemas.microsoft.com/office/drawing/2014/main" id="{88163821-EBBD-A8F8-6236-54ADD9F8E353}"/>
              </a:ext>
            </a:extLst>
          </p:cNvPr>
          <p:cNvSpPr/>
          <p:nvPr/>
        </p:nvSpPr>
        <p:spPr>
          <a:xfrm>
            <a:off x="731520" y="2952549"/>
            <a:ext cx="10881360" cy="640080"/>
          </a:xfrm>
          <a:prstGeom prst="rect">
            <a:avLst/>
          </a:prstGeom>
          <a:noFill/>
          <a:ln/>
        </p:spPr>
        <p:txBody>
          <a:bodyPr wrap="square" rtlCol="0" anchor="ctr"/>
          <a:lstStyle/>
          <a:p>
            <a:pPr marL="0" indent="0">
              <a:buNone/>
            </a:pPr>
            <a:r>
              <a:rPr lang="en-US" sz="2200" i="1" dirty="0">
                <a:solidFill>
                  <a:srgbClr val="A8A29E"/>
                </a:solidFill>
                <a:latin typeface="Instrument Serif" pitchFamily="34" charset="0"/>
                <a:ea typeface="Instrument Serif" pitchFamily="34" charset="-122"/>
                <a:cs typeface="Instrument Serif" pitchFamily="34" charset="-120"/>
              </a:rPr>
              <a:t>The shell does not know how long a remote takes to load. It renders &lt;Suspense&gt; and moves on.</a:t>
            </a:r>
            <a:endParaRPr lang="en-US" sz="2200" dirty="0"/>
          </a:p>
        </p:txBody>
      </p:sp>
    </p:spTree>
    <p:extLst>
      <p:ext uri="{BB962C8B-B14F-4D97-AF65-F5344CB8AC3E}">
        <p14:creationId xmlns:p14="http://schemas.microsoft.com/office/powerpoint/2010/main" val="3605907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ARCHITECTURE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AA861A1-5766-0100-F48C-0BC60C67416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9564BB6-AFF2-ECA6-512E-A157F577E2E5}"/>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5A7FC7E-7835-9D7E-0979-176BC3A86403}"/>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ARCHITECTURE</a:t>
            </a:r>
            <a:endParaRPr lang="en-US" sz="1050" dirty="0"/>
          </a:p>
        </p:txBody>
      </p:sp>
      <p:sp>
        <p:nvSpPr>
          <p:cNvPr id="4" name="Text 2">
            <a:extLst>
              <a:ext uri="{FF2B5EF4-FFF2-40B4-BE49-F238E27FC236}">
                <a16:creationId xmlns:a16="http://schemas.microsoft.com/office/drawing/2014/main" id="{CB3714C4-0515-4143-27BF-EEB17E8FB0B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graphicFrame>
        <p:nvGraphicFramePr>
          <p:cNvPr id="7" name="Table 0">
            <a:extLst>
              <a:ext uri="{FF2B5EF4-FFF2-40B4-BE49-F238E27FC236}">
                <a16:creationId xmlns:a16="http://schemas.microsoft.com/office/drawing/2014/main" id="{CB1C1346-8D95-7C56-504F-F3B2D438CB92}"/>
              </a:ext>
            </a:extLst>
          </p:cNvPr>
          <p:cNvGraphicFramePr>
            <a:graphicFrameLocks noGrp="1"/>
          </p:cNvGraphicFramePr>
          <p:nvPr>
            <p:extLst>
              <p:ext uri="{D42A27DB-BD31-4B8C-83A1-F6EECF244321}">
                <p14:modId xmlns:p14="http://schemas.microsoft.com/office/powerpoint/2010/main" val="1991796272"/>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3043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61525050"/>
              </p:ext>
            </p:extLst>
          </p:nvPr>
        </p:nvGraphicFramePr>
        <p:xfrm>
          <a:off x="548640" y="1691640"/>
          <a:ext cx="11064240" cy="3718560"/>
        </p:xfrm>
        <a:graphic>
          <a:graphicData uri="http://schemas.openxmlformats.org/drawingml/2006/table">
            <a:tbl>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7498080">
                  <a:extLst>
                    <a:ext uri="{9D8B030D-6E8A-4147-A177-3AD203B41FA5}">
                      <a16:colId xmlns:a16="http://schemas.microsoft.com/office/drawing/2014/main" val="20002"/>
                    </a:ext>
                  </a:extLst>
                </a:gridCol>
              </a:tblGrid>
              <a:tr h="310896">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TECHNOLOGY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VERSION</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React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19.2</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Suspense fallbacks and lazy loading built into the runtime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Rspack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2.1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Native Module Federation, Rust React Compiler, sub-second HMR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TypeScript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7.0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Strict mode, type-safe event contracts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Tailwind CSS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@theme tokens for the design system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Vitest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Fast component tests with jsdom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D4BE9D9-F483-BD50-33C8-058BADE7CF9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1BC770F5-A6EE-019E-0CAD-90A3E4EDC890}"/>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5A717F2-BBA8-88D5-BE79-1C4731237C2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8944910D-A037-0D84-1BB0-E9D9C9D2F7DC}"/>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71954"/>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4A3CF9A-0771-F79C-3EBA-62F8C6C9B42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31492B12-F9FD-60B2-1150-74CCD605EE6F}"/>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a:extLst>
              <a:ext uri="{FF2B5EF4-FFF2-40B4-BE49-F238E27FC236}">
                <a16:creationId xmlns:a16="http://schemas.microsoft.com/office/drawing/2014/main" id="{DF8527CA-669F-AC37-E066-4F44E5276675}"/>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 4">
            <a:extLst>
              <a:ext uri="{FF2B5EF4-FFF2-40B4-BE49-F238E27FC236}">
                <a16:creationId xmlns:a16="http://schemas.microsoft.com/office/drawing/2014/main" id="{2A84BFD8-C8F5-CCC3-68FC-2481F558A510}"/>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06</a:t>
            </a:r>
            <a:endParaRPr lang="en-US" sz="85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48640" y="1645920"/>
            <a:ext cx="11311128"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F192A83-CA3B-910F-4E8A-CD31D78E34E2}"/>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6FE4679A-9F0B-2753-5DE7-96F1ACA8B5F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a:extLst>
              <a:ext uri="{FF2B5EF4-FFF2-40B4-BE49-F238E27FC236}">
                <a16:creationId xmlns:a16="http://schemas.microsoft.com/office/drawing/2014/main" id="{5A2BF33E-44BC-F5C0-410E-54DAC42040F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60832" y="1645920"/>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48640" y="1645920"/>
            <a:ext cx="11109833" cy="5959004"/>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function</a:t>
            </a:r>
            <a:r>
              <a:rPr lang="en-US" sz="1600" b="0" dirty="0">
                <a:solidFill>
                  <a:srgbClr val="BBBEBF"/>
                </a:solidFill>
                <a:effectLst/>
                <a:latin typeface="Cascadia Code" panose="020B0609020000020004" pitchFamily="49" charset="0"/>
              </a:rPr>
              <a:t> </a:t>
            </a:r>
            <a:r>
              <a:rPr lang="en-US" sz="1600" b="0" dirty="0" err="1">
                <a:solidFill>
                  <a:srgbClr val="D2A8FF"/>
                </a:solidFill>
                <a:effectLst/>
                <a:latin typeface="Cascadia Code" panose="020B0609020000020004" pitchFamily="49" charset="0"/>
              </a:rPr>
              <a:t>createResource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a:t>
            </a:r>
            <a:r>
              <a:rPr lang="en-US" sz="1600" b="0" dirty="0" err="1">
                <a:solidFill>
                  <a:srgbClr val="D2A8FF"/>
                </a:solidFill>
                <a:effectLst/>
                <a:latin typeface="Cascadia Code" panose="020B0609020000020004" pitchFamily="49" charset="0"/>
              </a:rPr>
              <a:t>asyncFn</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Resource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 </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let</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"pending"</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let</a:t>
            </a:r>
            <a:r>
              <a:rPr lang="en-US" sz="1600" b="0" dirty="0">
                <a:solidFill>
                  <a:srgbClr val="C9D1D9"/>
                </a:solidFill>
                <a:effectLst/>
                <a:latin typeface="Cascadia Code" panose="020B0609020000020004" pitchFamily="49" charset="0"/>
              </a:rPr>
              <a:t> result</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C9D1D9"/>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suspender</a:t>
            </a:r>
            <a:r>
              <a:rPr lang="en-US" sz="1600" b="0" dirty="0">
                <a:solidFill>
                  <a:srgbClr val="C9D1D9"/>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err="1">
                <a:solidFill>
                  <a:srgbClr val="D2A8FF"/>
                </a:solidFill>
                <a:effectLst/>
                <a:latin typeface="Cascadia Code" panose="020B0609020000020004" pitchFamily="49" charset="0"/>
              </a:rPr>
              <a:t>asyncFn</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then</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data</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"success"</a:t>
            </a:r>
            <a:r>
              <a:rPr lang="en-US" sz="1600" b="0" dirty="0">
                <a:solidFill>
                  <a:srgbClr val="C9D1D9"/>
                </a:solidFill>
                <a:effectLst/>
                <a:latin typeface="Cascadia Code" panose="020B0609020000020004" pitchFamily="49" charset="0"/>
              </a:rPr>
              <a:t>; result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data</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result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return</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read</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if</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"pending"</a:t>
            </a: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throw</a:t>
            </a:r>
            <a:r>
              <a:rPr lang="en-US" sz="1600" b="0" dirty="0">
                <a:solidFill>
                  <a:srgbClr val="C9D1D9"/>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suspender</a:t>
            </a:r>
            <a:r>
              <a:rPr lang="en-US" sz="1600" b="0" dirty="0">
                <a:solidFill>
                  <a:srgbClr val="C9D1D9"/>
                </a:solidFill>
                <a:effectLst/>
                <a:latin typeface="Cascadia Code" panose="020B0609020000020004" pitchFamily="49" charset="0"/>
              </a:rPr>
              <a:t>; </a:t>
            </a:r>
            <a:r>
              <a:rPr lang="en-US" sz="1600" b="0" dirty="0">
                <a:solidFill>
                  <a:srgbClr val="8B949E"/>
                </a:solidFill>
                <a:effectLst/>
                <a:latin typeface="Cascadia Code" panose="020B0609020000020004" pitchFamily="49" charset="0"/>
              </a:rPr>
              <a:t>// ← Suspense catches this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if</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throw</a:t>
            </a:r>
            <a:r>
              <a:rPr lang="en-US" sz="1600" b="0" dirty="0">
                <a:solidFill>
                  <a:srgbClr val="C9D1D9"/>
                </a:solidFill>
                <a:effectLst/>
                <a:latin typeface="Cascadia Code" panose="020B0609020000020004" pitchFamily="49" charset="0"/>
              </a:rPr>
              <a:t> result;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return</a:t>
            </a:r>
            <a:r>
              <a:rPr lang="en-US" sz="1600" b="0" dirty="0">
                <a:solidFill>
                  <a:srgbClr val="C9D1D9"/>
                </a:solidFill>
                <a:effectLst/>
                <a:latin typeface="Cascadia Code" panose="020B0609020000020004" pitchFamily="49" charset="0"/>
              </a:rPr>
              <a:t> result;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br>
              <a:rPr lang="en-US" sz="1600" b="0" dirty="0">
                <a:solidFill>
                  <a:srgbClr val="BBBEBF"/>
                </a:solidFill>
                <a:effectLst/>
                <a:latin typeface="Cascadia Code" panose="020B0609020000020004" pitchFamily="49" charset="0"/>
              </a:rPr>
            </a:b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141440B-003C-3E11-8E03-5682C2DBF47F}"/>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A61A40F1-560D-61E3-6E88-F322B47C6639}"/>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B672C99-B74B-01E7-BB60-6C3A20D97834}"/>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63FBC0FA-BEC0-D939-EB4A-AD72092E0B13}"/>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48640" y="1490472"/>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D9A13BE4-D97B-41AC-C490-09834266D35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9DE0C76-6AD6-A5B4-0311-7E843386D1D6}"/>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A16FC911-DB00-EC1A-31D2-5E65ED74D02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a:extLst>
              <a:ext uri="{FF2B5EF4-FFF2-40B4-BE49-F238E27FC236}">
                <a16:creationId xmlns:a16="http://schemas.microsoft.com/office/drawing/2014/main" id="{970290A1-7021-6741-BCD0-264AA8DB4D5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9" name="Text 6">
            <a:extLst>
              <a:ext uri="{FF2B5EF4-FFF2-40B4-BE49-F238E27FC236}">
                <a16:creationId xmlns:a16="http://schemas.microsoft.com/office/drawing/2014/main" id="{E94D408B-07D3-4042-5C51-61B10B31D198}"/>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1: lazy() + .catch() if remote is unreachable</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2: &lt;Suspense&gt; skeleton while loading</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3: &lt;ErrorBoundary&gt; for runtime errors</a:t>
            </a:r>
            <a:endParaRPr lang="en-US" sz="28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45681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023C68B3-071B-AD8B-3884-8C61D0BFEBB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778A97A-2479-18CE-95DF-F383FBA6995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0224EF8D-D0D0-8351-763A-41DCAD9D5D07}"/>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a:extLst>
              <a:ext uri="{FF2B5EF4-FFF2-40B4-BE49-F238E27FC236}">
                <a16:creationId xmlns:a16="http://schemas.microsoft.com/office/drawing/2014/main" id="{B92C51D0-4CA1-22EB-417E-6CAEC42D023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10" name="Shape 7">
            <a:extLst>
              <a:ext uri="{FF2B5EF4-FFF2-40B4-BE49-F238E27FC236}">
                <a16:creationId xmlns:a16="http://schemas.microsoft.com/office/drawing/2014/main" id="{8F73D7A0-8F1C-ACAC-55C3-FF301E5AEA11}"/>
              </a:ext>
            </a:extLst>
          </p:cNvPr>
          <p:cNvSpPr/>
          <p:nvPr/>
        </p:nvSpPr>
        <p:spPr>
          <a:xfrm>
            <a:off x="546354" y="3742046"/>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F3EEE425-EC44-7E52-FB56-0D0C2DD506C0}"/>
              </a:ext>
            </a:extLst>
          </p:cNvPr>
          <p:cNvSpPr/>
          <p:nvPr/>
        </p:nvSpPr>
        <p:spPr>
          <a:xfrm>
            <a:off x="713232" y="3108959"/>
            <a:ext cx="10881360" cy="1796527"/>
          </a:xfrm>
          <a:prstGeom prst="rect">
            <a:avLst/>
          </a:prstGeom>
          <a:noFill/>
          <a:ln/>
        </p:spPr>
        <p:txBody>
          <a:bodyPr wrap="square" rtlCol="0" anchor="ctr"/>
          <a:lstStyle/>
          <a:p>
            <a:pPr marL="0" indent="0">
              <a:buNone/>
            </a:pPr>
            <a:r>
              <a:rPr lang="en-US" sz="2000" i="1" dirty="0">
                <a:solidFill>
                  <a:schemeClr val="bg1">
                    <a:lumMod val="95000"/>
                  </a:schemeClr>
                </a:solidFill>
                <a:latin typeface="Cascadia Code NF" pitchFamily="50" charset="0"/>
                <a:ea typeface="Cascadia Code NF" pitchFamily="50" charset="0"/>
                <a:cs typeface="Cascadia Code NF" pitchFamily="50" charset="0"/>
              </a:rPr>
              <a:t>Why lazy() for eager modules? Remotes are separate builds resolved at runtime. Eager import() warms the cache; lazy() resolves from it.</a:t>
            </a:r>
            <a:endParaRPr lang="en-US" sz="2000" dirty="0">
              <a:solidFill>
                <a:schemeClr val="bg1">
                  <a:lumMod val="9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959961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EAE97A-93D2-71A3-F8E4-966B5995B4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AE0EB35-0F49-4A4B-7DE8-B524718D36B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3444E75-A680-AD3B-9C48-77C02450A2E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a:extLst>
              <a:ext uri="{FF2B5EF4-FFF2-40B4-BE49-F238E27FC236}">
                <a16:creationId xmlns:a16="http://schemas.microsoft.com/office/drawing/2014/main" id="{C0E7C841-CD9B-AC06-4ACA-B40050601CD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9" name="Text 5">
            <a:extLst>
              <a:ext uri="{FF2B5EF4-FFF2-40B4-BE49-F238E27FC236}">
                <a16:creationId xmlns:a16="http://schemas.microsoft.com/office/drawing/2014/main" id="{FD4C2A18-B492-69F0-6C3E-D1498154B66D}"/>
              </a:ext>
            </a:extLst>
          </p:cNvPr>
          <p:cNvSpPr/>
          <p:nvPr/>
        </p:nvSpPr>
        <p:spPr>
          <a:xfrm>
            <a:off x="500768" y="2794299"/>
            <a:ext cx="11064240" cy="2286000"/>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Theme: CSS variables + localStorage + themeChange event, zero shared imports</a:t>
            </a:r>
            <a:endParaRPr lang="en-US" sz="2000" dirty="0"/>
          </a:p>
        </p:txBody>
      </p:sp>
    </p:spTree>
    <p:extLst>
      <p:ext uri="{BB962C8B-B14F-4D97-AF65-F5344CB8AC3E}">
        <p14:creationId xmlns:p14="http://schemas.microsoft.com/office/powerpoint/2010/main" val="33837690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E1C5304-29D1-33EA-4B5F-B6B22D9FE64B}"/>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11B7ED6A-D235-7514-CFD9-AD0C07E657D0}"/>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E0C8073-1E21-653D-9C01-E02B8846B35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E8D980F0-40AA-5AAE-1C29-D033F211B73A}"/>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DDA52CB-0280-1788-6401-5770ED64E020}"/>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4B87D253-92D6-3C5D-249D-325BEDC9C24F}"/>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a:extLst>
              <a:ext uri="{FF2B5EF4-FFF2-40B4-BE49-F238E27FC236}">
                <a16:creationId xmlns:a16="http://schemas.microsoft.com/office/drawing/2014/main" id="{021D4B7C-4A30-24EF-1012-761CB49B413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 4">
            <a:extLst>
              <a:ext uri="{FF2B5EF4-FFF2-40B4-BE49-F238E27FC236}">
                <a16:creationId xmlns:a16="http://schemas.microsoft.com/office/drawing/2014/main" id="{3CED7C11-9E16-56AC-1645-E1812EC12397}"/>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11</a:t>
            </a:r>
            <a:endParaRPr lang="en-US" sz="85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79262" y="2243193"/>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659D2D4-44C3-C831-F50A-90B5E2B08A85}"/>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F155A5E6-C77F-5527-555A-FE27A91A9FBD}"/>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 4">
            <a:extLst>
              <a:ext uri="{FF2B5EF4-FFF2-40B4-BE49-F238E27FC236}">
                <a16:creationId xmlns:a16="http://schemas.microsoft.com/office/drawing/2014/main" id="{285D9F07-C0C7-FF64-80E8-093445375719}"/>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11</a:t>
            </a:r>
            <a:endParaRPr lang="en-US" sz="85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48640" y="1691639"/>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5D90246-B14E-5B5C-D1C4-2DA61A03055E}"/>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86A5472-C649-15FD-00E7-5441E211D3A3}"/>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a:extLst>
              <a:ext uri="{FF2B5EF4-FFF2-40B4-BE49-F238E27FC236}">
                <a16:creationId xmlns:a16="http://schemas.microsoft.com/office/drawing/2014/main" id="{E15D9AD5-FE72-143D-F9C7-A2ABF94A9B9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22941" y="164592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12A6B0-1201-0953-1A3D-8D6D8D8715C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6455960-8D07-41BF-0CE3-1DB863560D1F}"/>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608CF940-CAA6-29EC-12F1-7DB0EAA4A432}"/>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a:extLst>
              <a:ext uri="{FF2B5EF4-FFF2-40B4-BE49-F238E27FC236}">
                <a16:creationId xmlns:a16="http://schemas.microsoft.com/office/drawing/2014/main" id="{3DAE27F7-5CB4-3D6D-47FE-B530FCF255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10" name="Shape 7">
            <a:extLst>
              <a:ext uri="{FF2B5EF4-FFF2-40B4-BE49-F238E27FC236}">
                <a16:creationId xmlns:a16="http://schemas.microsoft.com/office/drawing/2014/main" id="{EF6A061B-3435-3C2D-18D5-B7BA9ED059BA}"/>
              </a:ext>
            </a:extLst>
          </p:cNvPr>
          <p:cNvSpPr/>
          <p:nvPr/>
        </p:nvSpPr>
        <p:spPr>
          <a:xfrm>
            <a:off x="548640" y="2903489"/>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8948693B-5F8E-3F98-F658-8A39BBE550CF}"/>
              </a:ext>
            </a:extLst>
          </p:cNvPr>
          <p:cNvSpPr/>
          <p:nvPr/>
        </p:nvSpPr>
        <p:spPr>
          <a:xfrm>
            <a:off x="731520" y="2848625"/>
            <a:ext cx="10881360" cy="640080"/>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2400" dirty="0">
              <a:solidFill>
                <a:schemeClr val="bg1">
                  <a:lumMod val="95000"/>
                </a:schemeClr>
              </a:solidFill>
            </a:endParaRPr>
          </a:p>
        </p:txBody>
      </p:sp>
    </p:spTree>
    <p:extLst>
      <p:ext uri="{BB962C8B-B14F-4D97-AF65-F5344CB8AC3E}">
        <p14:creationId xmlns:p14="http://schemas.microsoft.com/office/powerpoint/2010/main" val="42324988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PERFORMANCE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45187" y="1951926"/>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CB8CB26-EAD0-A4BA-58D8-DA72712EBB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38A778-B423-8AB2-9035-52FBD0780110}"/>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CDC8FC87-C812-7584-70F7-04D704434F4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PERFORMANCE</a:t>
            </a:r>
            <a:endParaRPr lang="en-US" sz="1050" dirty="0"/>
          </a:p>
        </p:txBody>
      </p:sp>
      <p:sp>
        <p:nvSpPr>
          <p:cNvPr id="4" name="Text 2">
            <a:extLst>
              <a:ext uri="{FF2B5EF4-FFF2-40B4-BE49-F238E27FC236}">
                <a16:creationId xmlns:a16="http://schemas.microsoft.com/office/drawing/2014/main" id="{E7133EE0-274E-79C0-1969-AA7D21ADD2C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graphicFrame>
        <p:nvGraphicFramePr>
          <p:cNvPr id="14" name="Table 0">
            <a:extLst>
              <a:ext uri="{FF2B5EF4-FFF2-40B4-BE49-F238E27FC236}">
                <a16:creationId xmlns:a16="http://schemas.microsoft.com/office/drawing/2014/main" id="{9BAE6F9B-C4BC-6E02-A3D9-4774F1EB1C34}"/>
              </a:ext>
            </a:extLst>
          </p:cNvPr>
          <p:cNvGraphicFramePr>
            <a:graphicFrameLocks noGrp="1"/>
          </p:cNvGraphicFramePr>
          <p:nvPr>
            <p:extLst>
              <p:ext uri="{D42A27DB-BD31-4B8C-83A1-F6EECF244321}">
                <p14:modId xmlns:p14="http://schemas.microsoft.com/office/powerpoint/2010/main" val="1146919144"/>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940733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TESTING</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7930AE88-2656-09B2-3213-D304AD16B128}"/>
              </a:ext>
            </a:extLst>
          </p:cNvPr>
          <p:cNvSpPr txBox="1"/>
          <p:nvPr/>
        </p:nvSpPr>
        <p:spPr>
          <a:xfrm>
            <a:off x="501644" y="2200939"/>
            <a:ext cx="11109960"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vitest.config.ts</a:t>
            </a:r>
            <a:r>
              <a:rPr lang="en-US" sz="2000" b="0" dirty="0">
                <a:solidFill>
                  <a:srgbClr val="8B949E"/>
                </a:solidFill>
                <a:effectLst/>
                <a:latin typeface="Cascadia Code" panose="020B0609020000020004" pitchFamily="49" charset="0"/>
              </a:rPr>
              <a:t> — resolve MF imports to source files</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8C8C8"/>
                </a:solidFill>
                <a:effectLst/>
                <a:latin typeface="Cascadia Code" panose="020B0609020000020004" pitchFamily="49" charset="0"/>
              </a:rPr>
              <a:t>resolve</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C8C8C8"/>
                </a:solidFill>
                <a:effectLst/>
                <a:latin typeface="Cascadia Code" panose="020B0609020000020004" pitchFamily="49" charset="0"/>
              </a:rPr>
              <a:t>alias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path.</a:t>
            </a:r>
            <a:r>
              <a:rPr lang="en-US" sz="2000" b="0" dirty="0" err="1">
                <a:solidFill>
                  <a:srgbClr val="D2A8FF"/>
                </a:solidFill>
                <a:effectLst/>
                <a:latin typeface="Cascadia Code" panose="020B0609020000020004" pitchFamily="49" charset="0"/>
              </a:rPr>
              <a:t>resolve</a:t>
            </a:r>
            <a:r>
              <a:rPr lang="en-US" sz="2000" b="0" dirty="0">
                <a:solidFill>
                  <a:srgbClr val="C9D1D9"/>
                </a:solidFill>
                <a:effectLst/>
                <a:latin typeface="Cascadia Code" panose="020B0609020000020004" pitchFamily="49" charset="0"/>
              </a:rPr>
              <a:t>(__</a:t>
            </a:r>
            <a:r>
              <a:rPr lang="en-US" sz="2000" b="0" dirty="0" err="1">
                <a:solidFill>
                  <a:srgbClr val="C9D1D9"/>
                </a:solidFill>
                <a:effectLst/>
                <a:latin typeface="Cascadia Code" panose="020B0609020000020004" pitchFamily="49" charset="0"/>
              </a:rPr>
              <a:t>dirname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"packages/records/</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home/Home, prescriptions/…, analytics/… same pattern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9762A32-EF45-7045-4289-16C8D887CF3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CF891A-24CA-01F7-14DB-C39B2D5DEA22}"/>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703D8F02-ED0E-5967-C69F-4A6D528F0709}"/>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TESTING</a:t>
            </a:r>
            <a:endParaRPr lang="en-US" sz="1050" dirty="0"/>
          </a:p>
        </p:txBody>
      </p:sp>
      <p:sp>
        <p:nvSpPr>
          <p:cNvPr id="4" name="Text 2">
            <a:extLst>
              <a:ext uri="{FF2B5EF4-FFF2-40B4-BE49-F238E27FC236}">
                <a16:creationId xmlns:a16="http://schemas.microsoft.com/office/drawing/2014/main" id="{315B125C-153E-4C5E-309A-D4E9F04CB5C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D27A1DC3-BA45-4CEA-062D-0081ED20440A}"/>
              </a:ext>
            </a:extLst>
          </p:cNvPr>
          <p:cNvSpPr txBox="1"/>
          <p:nvPr/>
        </p:nvSpPr>
        <p:spPr>
          <a:xfrm>
            <a:off x="548639" y="2296634"/>
            <a:ext cx="11109959" cy="3368294"/>
          </a:xfrm>
          <a:prstGeom prst="rect">
            <a:avLst/>
          </a:prstGeom>
          <a:noFill/>
        </p:spPr>
        <p:txBody>
          <a:bodyPr wrap="square">
            <a:spAutoFit/>
          </a:bodyPr>
          <a:lstStyle/>
          <a:p>
            <a:pPr>
              <a:lnSpc>
                <a:spcPct val="150000"/>
              </a:lnSpc>
              <a:buNone/>
            </a:pPr>
            <a:r>
              <a:rPr lang="en-US" b="0" dirty="0">
                <a:solidFill>
                  <a:srgbClr val="D2A8FF"/>
                </a:solidFill>
                <a:effectLst/>
                <a:latin typeface="Cascadia Code" panose="020B0609020000020004" pitchFamily="49" charset="0"/>
              </a:rPr>
              <a:t>it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"dispatches </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 event on Add click"</a:t>
            </a:r>
            <a:r>
              <a:rPr lang="en-US" b="0" dirty="0">
                <a:solidFill>
                  <a:srgbClr val="BBBEBF"/>
                </a:solidFill>
                <a:effectLst/>
                <a:latin typeface="Cascadia Code" panose="020B0609020000020004" pitchFamily="49" charset="0"/>
              </a:rPr>
              <a:t>, </a:t>
            </a:r>
            <a:r>
              <a:rPr lang="en-US" b="0" dirty="0">
                <a:solidFill>
                  <a:srgbClr val="569CD6"/>
                </a:solidFill>
                <a:effectLst/>
                <a:latin typeface="Cascadia Code" panose="020B0609020000020004" pitchFamily="49" charset="0"/>
              </a:rPr>
              <a:t>async</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C9D1D9"/>
                </a:solidFill>
                <a:effectLst/>
                <a:latin typeface="Cascadia Code" panose="020B0609020000020004" pitchFamily="49" charset="0"/>
              </a:rPr>
              <a:t>vi.</a:t>
            </a:r>
            <a:r>
              <a:rPr lang="en-US" b="0" dirty="0" err="1">
                <a:solidFill>
                  <a:srgbClr val="D2A8FF"/>
                </a:solidFill>
                <a:effectLst/>
                <a:latin typeface="Cascadia Code" panose="020B0609020000020004" pitchFamily="49" charset="0"/>
              </a:rPr>
              <a:t>fn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render</a:t>
            </a:r>
            <a:r>
              <a:rPr lang="en-US" b="0" dirty="0">
                <a:solidFill>
                  <a:srgbClr val="C9D1D9"/>
                </a:solidFill>
                <a:effectLst/>
                <a:latin typeface="Cascadia Code" panose="020B0609020000020004" pitchFamily="49" charset="0"/>
              </a:rPr>
              <a:t>(&lt;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await</a:t>
            </a:r>
            <a:r>
              <a:rPr lang="en-US" b="0" dirty="0">
                <a:solidFill>
                  <a:srgbClr val="C9D1D9"/>
                </a:solidFill>
                <a:effectLst/>
                <a:latin typeface="Cascadia Code" panose="020B0609020000020004" pitchFamily="49" charset="0"/>
              </a:rPr>
              <a:t> </a:t>
            </a:r>
            <a:r>
              <a:rPr lang="en-US" b="0" dirty="0" err="1">
                <a:solidFill>
                  <a:srgbClr val="C9D1D9"/>
                </a:solidFill>
                <a:effectLst/>
                <a:latin typeface="Cascadia Code" panose="020B0609020000020004" pitchFamily="49" charset="0"/>
              </a:rPr>
              <a:t>user.</a:t>
            </a:r>
            <a:r>
              <a:rPr lang="en-US" b="0" dirty="0" err="1">
                <a:solidFill>
                  <a:srgbClr val="D2A8FF"/>
                </a:solidFill>
                <a:effectLst/>
                <a:latin typeface="Cascadia Code" panose="020B0609020000020004" pitchFamily="49" charset="0"/>
              </a:rPr>
              <a:t>click</a:t>
            </a:r>
            <a:r>
              <a:rPr lang="en-US" b="0" dirty="0">
                <a:solidFill>
                  <a:srgbClr val="C9D1D9"/>
                </a:solidFill>
                <a:effectLst/>
                <a:latin typeface="Cascadia Code" panose="020B0609020000020004" pitchFamily="49" charset="0"/>
              </a:rPr>
              <a:t>(</a:t>
            </a:r>
            <a:r>
              <a:rPr lang="en-US" b="0" dirty="0" err="1">
                <a:solidFill>
                  <a:srgbClr val="79C0FF"/>
                </a:solidFill>
                <a:effectLst/>
                <a:latin typeface="Cascadia Code" panose="020B0609020000020004" pitchFamily="49" charset="0"/>
              </a:rPr>
              <a:t>screen</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getByRole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"button"</a:t>
            </a:r>
            <a:r>
              <a:rPr lang="en-US" b="0" dirty="0">
                <a:solidFill>
                  <a:srgbClr val="C9D1D9"/>
                </a:solidFill>
                <a:effectLst/>
                <a:latin typeface="Cascadia Code" panose="020B0609020000020004" pitchFamily="49" charset="0"/>
              </a:rPr>
              <a:t>, { name</a:t>
            </a:r>
            <a:r>
              <a:rPr lang="en-US" b="0" dirty="0">
                <a:solidFill>
                  <a:srgbClr val="9CDCFE"/>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 /create prescription/</a:t>
            </a:r>
            <a:r>
              <a:rPr lang="en-US" b="0" dirty="0" err="1">
                <a:solidFill>
                  <a:srgbClr val="FF7B72"/>
                </a:solidFill>
                <a:effectLst/>
                <a:latin typeface="Cascadia Code" panose="020B0609020000020004" pitchFamily="49" charset="0"/>
              </a:rPr>
              <a:t>i</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expect</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toHaveBeenCalledTimes</a:t>
            </a:r>
            <a:r>
              <a:rPr lang="en-US" b="0" dirty="0">
                <a:solidFill>
                  <a:srgbClr val="C9D1D9"/>
                </a:solidFill>
                <a:effectLst/>
                <a:latin typeface="Cascadia Code" panose="020B0609020000020004" pitchFamily="49" charset="0"/>
              </a:rPr>
              <a:t>(</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6113624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Six segments, ~10 minutes</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16</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989974604"/>
              </p:ext>
            </p:extLst>
          </p:nvPr>
        </p:nvGraphicFramePr>
        <p:xfrm>
          <a:off x="530352" y="1645920"/>
          <a:ext cx="11064240" cy="4877449"/>
        </p:xfrm>
        <a:graphic>
          <a:graphicData uri="http://schemas.openxmlformats.org/drawingml/2006/table">
            <a:tbl>
              <a:tblPr/>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992846">
                  <a:extLst>
                    <a:ext uri="{9D8B030D-6E8A-4147-A177-3AD203B41FA5}">
                      <a16:colId xmlns:a16="http://schemas.microsoft.com/office/drawing/2014/main" val="20002"/>
                    </a:ext>
                  </a:extLst>
                </a:gridCol>
                <a:gridCol w="6505234">
                  <a:extLst>
                    <a:ext uri="{9D8B030D-6E8A-4147-A177-3AD203B41FA5}">
                      <a16:colId xmlns:a16="http://schemas.microsoft.com/office/drawing/2014/main" val="20003"/>
                    </a:ext>
                  </a:extLst>
                </a:gridCol>
              </a:tblGrid>
              <a:tr h="574321">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SEGMENT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TIME</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MONEY SHOT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 DX story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Status strip flips INSTANT → EAGER → STREAMING as you navigate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Lab — fault 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Kill records; prescriptions &amp; analytics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A/B deployment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Stable ↔ Canary ring, per-module versions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4</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Theme switching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30 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CSS variables update across all remotes, persists on refresh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5</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Code walkthrough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Resource pattern · lazy+catch+Suspense · event flow</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6</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Testing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pnpm test — 210 green, vitest alias trick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TAKEAWAYS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17</a:t>
            </a:r>
            <a:endParaRPr lang="en-US" sz="850" dirty="0"/>
          </a:p>
        </p:txBody>
      </p:sp>
      <p:sp>
        <p:nvSpPr>
          <p:cNvPr id="8" name="Text 5"/>
          <p:cNvSpPr/>
          <p:nvPr/>
        </p:nvSpPr>
        <p:spPr>
          <a:xfrm>
            <a:off x="548640" y="1645920"/>
            <a:ext cx="11064240" cy="4389120"/>
          </a:xfrm>
          <a:prstGeom prst="rect">
            <a:avLst/>
          </a:prstGeom>
          <a:noFill/>
          <a:ln/>
        </p:spPr>
        <p:txBody>
          <a:bodyPr wrap="square" rtlCol="0" anchor="t"/>
          <a:lstStyle/>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1 · Micro-frontends solve a people problem: team scale, not bundle size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2 · Suspense fallbacks cover load UX; Module Federation covers team DX</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3 · Prefer events over shared state: CustomEvents survive independent deploys</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4 · Host owns routing: remotes request navigation, only the shell mutates it</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5 · Ship fault isolation on purpose: .catch() + ErrorBoundary per module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6 · Rspack keeps the monorepo fast: sub-second HMR, Rust React Compiler, cache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7 · Match load strategy to content: instant / eager / streamed</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DECISION GUIDE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You're ready for this architecture when…</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18</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2115032014"/>
              </p:ext>
            </p:extLst>
          </p:nvPr>
        </p:nvGraphicFramePr>
        <p:xfrm>
          <a:off x="548640" y="1737360"/>
          <a:ext cx="11064240" cy="4873649"/>
        </p:xfrm>
        <a:graphic>
          <a:graphicData uri="http://schemas.openxmlformats.org/drawingml/2006/table">
            <a:tbl>
              <a:tblPr/>
              <a:tblGrid>
                <a:gridCol w="57607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474427">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SIGNAL</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PATTERN TO ADOPT</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Teams ship the same SPA and block each other on releases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Module Federation: independent builds; deploys can follow</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Users wait for a full bundle before seeing anything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Suspense fallback: skeletons render immediately</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One broken feature takes down the whole page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ErrorBoundary + lazy().catch() per module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Shared state libraries create invisible coupling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CustomEvents on window: no direct imports, explicit contracts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You need canary releases at the feature level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Independent versioning per remote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Testing one feature requires the full app running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Vitest alias trick: isolation, no servers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658368" y="2148840"/>
            <a:ext cx="822960" cy="54864"/>
          </a:xfrm>
          <a:prstGeom prst="rect">
            <a:avLst/>
          </a:prstGeom>
          <a:solidFill>
            <a:srgbClr val="D4FF00"/>
          </a:solidFill>
          <a:ln/>
        </p:spPr>
        <p:txBody>
          <a:bodyPr/>
          <a:lstStyle/>
          <a:p>
            <a:endParaRPr lang="en-GB"/>
          </a:p>
        </p:txBody>
      </p:sp>
      <p:sp>
        <p:nvSpPr>
          <p:cNvPr id="3" name="Text 1"/>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rgbClr val="FAFAF9"/>
                </a:solidFill>
                <a:latin typeface="Instrument Serif" pitchFamily="34" charset="0"/>
                <a:ea typeface="Instrument Serif" pitchFamily="34" charset="-122"/>
                <a:cs typeface="Instrument Serif" pitchFamily="34" charset="-120"/>
              </a:rPr>
              <a:t>Thank you.</a:t>
            </a:r>
            <a:endParaRPr lang="en-US" sz="6000" dirty="0"/>
          </a:p>
        </p:txBody>
      </p:sp>
      <p:sp>
        <p:nvSpPr>
          <p:cNvPr id="4" name="Text 2"/>
          <p:cNvSpPr/>
          <p:nvPr/>
        </p:nvSpPr>
        <p:spPr>
          <a:xfrm>
            <a:off x="640080" y="3703320"/>
            <a:ext cx="10972800" cy="457200"/>
          </a:xfrm>
          <a:prstGeom prst="rect">
            <a:avLst/>
          </a:prstGeom>
          <a:noFill/>
          <a:ln/>
        </p:spPr>
        <p:txBody>
          <a:bodyPr wrap="square" rtlCol="0" anchor="ctr"/>
          <a:lstStyle/>
          <a:p>
            <a:pPr marL="0" indent="0">
              <a:buNone/>
            </a:pPr>
            <a:r>
              <a:rPr lang="en-US" sz="2000" dirty="0">
                <a:solidFill>
                  <a:srgbClr val="A8A29E"/>
                </a:solidFill>
                <a:latin typeface="DM Sans" pitchFamily="34" charset="0"/>
                <a:ea typeface="DM Sans" pitchFamily="34" charset="-122"/>
                <a:cs typeface="DM Sans" pitchFamily="34" charset="-120"/>
              </a:rPr>
              <a:t>@DevlinDuldulao</a:t>
            </a:r>
            <a:endParaRPr lang="en-US" sz="2000" dirty="0"/>
          </a:p>
        </p:txBody>
      </p:sp>
      <p:sp>
        <p:nvSpPr>
          <p:cNvPr id="5" name="Text 3"/>
          <p:cNvSpPr/>
          <p:nvPr/>
        </p:nvSpPr>
        <p:spPr>
          <a:xfrm>
            <a:off x="640080" y="4434840"/>
            <a:ext cx="10972800" cy="365760"/>
          </a:xfrm>
          <a:prstGeom prst="rect">
            <a:avLst/>
          </a:prstGeom>
          <a:noFill/>
          <a:ln/>
        </p:spPr>
        <p:txBody>
          <a:bodyPr wrap="square" rtlCol="0" anchor="ctr"/>
          <a:lstStyle/>
          <a:p>
            <a:pPr marL="0" indent="0">
              <a:buNone/>
            </a:pPr>
            <a:r>
              <a:rPr lang="en-US" sz="1300" kern="0" spc="100" dirty="0">
                <a:solidFill>
                  <a:srgbClr val="D4FF00"/>
                </a:solidFill>
                <a:latin typeface="IBM Plex Mono" pitchFamily="34" charset="0"/>
                <a:ea typeface="IBM Plex Mono" pitchFamily="34" charset="-122"/>
                <a:cs typeface="IBM Plex Mono" pitchFamily="34" charset="-120"/>
              </a:rPr>
              <a:t>Social links</a:t>
            </a:r>
            <a:endParaRPr lang="en-US" sz="1300" dirty="0"/>
          </a:p>
        </p:txBody>
      </p:sp>
      <p:pic>
        <p:nvPicPr>
          <p:cNvPr id="7" name="Picture 6">
            <a:extLst>
              <a:ext uri="{FF2B5EF4-FFF2-40B4-BE49-F238E27FC236}">
                <a16:creationId xmlns:a16="http://schemas.microsoft.com/office/drawing/2014/main" id="{7C2162D8-6628-077A-0F25-26D5C44D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3825" y="717220"/>
            <a:ext cx="4874920" cy="487492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DF1CB5B-7B69-A99D-B5CE-336CB4B74605}"/>
            </a:ext>
          </a:extLst>
        </p:cNvPr>
        <p:cNvGrpSpPr/>
        <p:nvPr/>
      </p:nvGrpSpPr>
      <p:grpSpPr>
        <a:xfrm>
          <a:off x="0" y="0"/>
          <a:ext cx="0" cy="0"/>
          <a:chOff x="0" y="0"/>
          <a:chExt cx="0" cy="0"/>
        </a:xfrm>
      </p:grpSpPr>
    </p:spTree>
    <p:extLst>
      <p:ext uri="{BB962C8B-B14F-4D97-AF65-F5344CB8AC3E}">
        <p14:creationId xmlns:p14="http://schemas.microsoft.com/office/powerpoint/2010/main" val="4402082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354</TotalTime>
  <Words>7016</Words>
  <Application>Microsoft Office PowerPoint</Application>
  <PresentationFormat>Custom</PresentationFormat>
  <Paragraphs>604</Paragraphs>
  <Slides>41</Slides>
  <Notes>41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Arial</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152</cp:revision>
  <dcterms:created xsi:type="dcterms:W3CDTF">2026-07-26T17:49:56Z</dcterms:created>
  <dcterms:modified xsi:type="dcterms:W3CDTF">2026-08-25T22:00:44Z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