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98" r:id="rId2"/>
    <p:sldId id="301" r:id="rId3"/>
    <p:sldId id="300" r:id="rId4"/>
    <p:sldId id="313" r:id="rId5"/>
    <p:sldId id="312" r:id="rId6"/>
    <p:sldId id="299" r:id="rId7"/>
    <p:sldId id="314" r:id="rId8"/>
    <p:sldId id="311" r:id="rId9"/>
    <p:sldId id="315" r:id="rId10"/>
    <p:sldId id="317" r:id="rId11"/>
    <p:sldId id="316" r:id="rId12"/>
    <p:sldId id="318" r:id="rId13"/>
    <p:sldId id="336" r:id="rId14"/>
    <p:sldId id="328" r:id="rId15"/>
    <p:sldId id="341" r:id="rId16"/>
    <p:sldId id="337" r:id="rId17"/>
    <p:sldId id="319" r:id="rId18"/>
    <p:sldId id="320" r:id="rId19"/>
    <p:sldId id="329" r:id="rId20"/>
    <p:sldId id="344" r:id="rId21"/>
    <p:sldId id="327" r:id="rId22"/>
    <p:sldId id="335" r:id="rId23"/>
    <p:sldId id="325" r:id="rId24"/>
    <p:sldId id="326" r:id="rId25"/>
    <p:sldId id="342" r:id="rId26"/>
    <p:sldId id="334" r:id="rId27"/>
    <p:sldId id="332" r:id="rId28"/>
    <p:sldId id="333" r:id="rId29"/>
    <p:sldId id="343" r:id="rId30"/>
    <p:sldId id="331" r:id="rId31"/>
    <p:sldId id="340" r:id="rId32"/>
    <p:sldId id="338" r:id="rId33"/>
    <p:sldId id="339" r:id="rId34"/>
    <p:sldId id="322" r:id="rId35"/>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76" autoAdjust="0"/>
    <p:restoredTop sz="66019" autoAdjust="0"/>
  </p:normalViewPr>
  <p:slideViewPr>
    <p:cSldViewPr snapToGrid="0" snapToObjects="1">
      <p:cViewPr varScale="1">
        <p:scale>
          <a:sx n="96" d="100"/>
          <a:sy n="96" d="100"/>
        </p:scale>
        <p:origin x="2040" y="168"/>
      </p:cViewPr>
      <p:guideLst/>
    </p:cSldViewPr>
  </p:slid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7188984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What are we solving here in </a:t>
            </a:r>
            <a:r>
              <a:rPr lang="en-US" sz="1200" dirty="0" err="1"/>
              <a:t>microfrontends</a:t>
            </a:r>
            <a:r>
              <a:rPr lang="en-US" sz="1200" dirty="0"/>
              <a:t>?</a:t>
            </a:r>
            <a:endParaRPr lang="en-GB" sz="1200" dirty="0"/>
          </a:p>
          <a:p>
            <a:endParaRPr lang="en-GB" dirty="0"/>
          </a:p>
        </p:txBody>
      </p:sp>
    </p:spTree>
    <p:extLst>
      <p:ext uri="{BB962C8B-B14F-4D97-AF65-F5344CB8AC3E}">
        <p14:creationId xmlns:p14="http://schemas.microsoft.com/office/powerpoint/2010/main" val="6440554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Here's the first.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Independent deploys, and a smaller blast radius</a:t>
            </a:r>
            <a:endParaRPr lang="en-GB" sz="1200" dirty="0"/>
          </a:p>
          <a:p>
            <a:endParaRPr lang="en-GB" dirty="0"/>
          </a:p>
        </p:txBody>
      </p:sp>
    </p:spTree>
    <p:extLst>
      <p:ext uri="{BB962C8B-B14F-4D97-AF65-F5344CB8AC3E}">
        <p14:creationId xmlns:p14="http://schemas.microsoft.com/office/powerpoint/2010/main" val="2498909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 distinction that matters is between </a:t>
            </a:r>
            <a:r>
              <a:rPr lang="en-US" i="1" dirty="0"/>
              <a:t>build</a:t>
            </a:r>
            <a:r>
              <a:rPr lang="en-US" dirty="0"/>
              <a:t> coupling and </a:t>
            </a:r>
            <a:r>
              <a:rPr lang="en-US" i="1" dirty="0"/>
              <a:t>deploy</a:t>
            </a:r>
            <a:r>
              <a:rPr lang="en-US" dirty="0"/>
              <a:t> coupling. Teams can share a repo happily, but sharing a release pipeline means one failing build becomes everyone's problem.</a:t>
            </a:r>
          </a:p>
          <a:p>
            <a:endParaRPr lang="en-US" dirty="0"/>
          </a:p>
          <a:p>
            <a:r>
              <a:rPr lang="en-US" dirty="0"/>
              <a:t>Team D maybe have a failing build and that’s a blocker in the upper half. </a:t>
            </a:r>
          </a:p>
          <a:p>
            <a:endParaRPr lang="en-US" dirty="0"/>
          </a:p>
          <a:p>
            <a:r>
              <a:rPr lang="en-US" dirty="0"/>
              <a:t>While the lower half lets you own your build and problems stay where they are.</a:t>
            </a:r>
            <a:endParaRPr lang="en-GB" dirty="0"/>
          </a:p>
        </p:txBody>
      </p:sp>
    </p:spTree>
    <p:extLst>
      <p:ext uri="{BB962C8B-B14F-4D97-AF65-F5344CB8AC3E}">
        <p14:creationId xmlns:p14="http://schemas.microsoft.com/office/powerpoint/2010/main" val="28232725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80B2-0347-0147-6484-CB7C0C98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8B400-BACB-AE2D-62B3-0672518FE268}"/>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6A56066-4C22-F547-B213-2B9B212608B3}"/>
              </a:ext>
            </a:extLst>
          </p:cNvPr>
          <p:cNvSpPr>
            <a:spLocks noGrp="1"/>
          </p:cNvSpPr>
          <p:nvPr>
            <p:ph type="body" idx="1"/>
          </p:nvPr>
        </p:nvSpPr>
        <p:spPr>
          <a:xfrm>
            <a:off x="685800" y="5865813"/>
            <a:ext cx="5486400" cy="4799012"/>
          </a:xfrm>
          <a:prstGeom prst="rect">
            <a:avLst/>
          </a:prstGeom>
        </p:spPr>
        <p:txBody>
          <a:bodyPr/>
          <a:lstStyle/>
          <a:p>
            <a:r>
              <a:rPr lang="en-US" dirty="0"/>
              <a:t>Second reason.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Ownership becomes structural, not cultural</a:t>
            </a:r>
            <a:endParaRPr lang="en-GB" sz="1200" dirty="0"/>
          </a:p>
          <a:p>
            <a:endParaRPr lang="en-GB" dirty="0"/>
          </a:p>
        </p:txBody>
      </p:sp>
    </p:spTree>
    <p:extLst>
      <p:ext uri="{BB962C8B-B14F-4D97-AF65-F5344CB8AC3E}">
        <p14:creationId xmlns:p14="http://schemas.microsoft.com/office/powerpoint/2010/main" val="10259759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Up top, Checkout, Catalog, and Account are one app, so any team can import from any other part. The dashed lines are those reaches — they look like normal imports, so nobody notices them in review. </a:t>
            </a:r>
          </a:p>
          <a:p>
            <a:endParaRPr lang="en-US" dirty="0"/>
          </a:p>
          <a:p>
            <a:r>
              <a:rPr lang="en-US" dirty="0"/>
              <a:t>Down below, each part ships separately, so using Catalog's code means adding a dependency or calling an API. That is a real change in a real file, and a reviewer will see it. </a:t>
            </a:r>
          </a:p>
          <a:p>
            <a:endParaRPr lang="en-US" dirty="0"/>
          </a:p>
          <a:p>
            <a:r>
              <a:rPr lang="en-US" dirty="0"/>
              <a:t>Before, crossing a boundary was invisible. </a:t>
            </a:r>
          </a:p>
          <a:p>
            <a:endParaRPr lang="en-US" dirty="0"/>
          </a:p>
          <a:p>
            <a:r>
              <a:rPr lang="en-US" dirty="0"/>
              <a:t>After, it is visible. </a:t>
            </a:r>
          </a:p>
          <a:p>
            <a:endParaRPr lang="en-US" dirty="0"/>
          </a:p>
          <a:p>
            <a:r>
              <a:rPr lang="en-US" dirty="0"/>
              <a:t>What you can do here is a shared library.</a:t>
            </a:r>
          </a:p>
        </p:txBody>
      </p:sp>
    </p:spTree>
    <p:extLst>
      <p:ext uri="{BB962C8B-B14F-4D97-AF65-F5344CB8AC3E}">
        <p14:creationId xmlns:p14="http://schemas.microsoft.com/office/powerpoint/2010/main" val="3889681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92F6-6578-1D28-7844-337ACD0A3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DA50D-8E9C-8787-3767-F6A995568A93}"/>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EA5E55-6DC6-A1B1-0CE4-0AA4473B1AAC}"/>
              </a:ext>
            </a:extLst>
          </p:cNvPr>
          <p:cNvSpPr>
            <a:spLocks noGrp="1"/>
          </p:cNvSpPr>
          <p:nvPr>
            <p:ph type="body" idx="1"/>
          </p:nvPr>
        </p:nvSpPr>
        <p:spPr>
          <a:xfrm>
            <a:off x="685800" y="5865813"/>
            <a:ext cx="5486400" cy="4799012"/>
          </a:xfrm>
          <a:prstGeom prst="rect">
            <a:avLst/>
          </a:prstGeom>
        </p:spPr>
        <p:txBody>
          <a:bodyPr/>
          <a:lstStyle/>
          <a:p>
            <a:r>
              <a:rPr lang="en-US" dirty="0"/>
              <a:t>Third reason.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Bounded cognitive load as headcount grows.</a:t>
            </a:r>
            <a:endParaRPr lang="en-US" dirty="0"/>
          </a:p>
          <a:p>
            <a:endParaRPr lang="en-US" dirty="0"/>
          </a:p>
        </p:txBody>
      </p:sp>
    </p:spTree>
    <p:extLst>
      <p:ext uri="{BB962C8B-B14F-4D97-AF65-F5344CB8AC3E}">
        <p14:creationId xmlns:p14="http://schemas.microsoft.com/office/powerpoint/2010/main" val="560188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people underrate. It isn't about total lines of code — it's about how much of the system a person must hold in their head before they can safely change one line in a codebase.</a:t>
            </a:r>
          </a:p>
          <a:p>
            <a:endParaRPr lang="en-US" dirty="0"/>
          </a:p>
          <a:p>
            <a:r>
              <a:rPr lang="en-US" dirty="0"/>
              <a:t>When onboarding a new frontend developer?</a:t>
            </a:r>
            <a:endParaRPr lang="en-GB" dirty="0"/>
          </a:p>
        </p:txBody>
      </p:sp>
    </p:spTree>
    <p:extLst>
      <p:ext uri="{BB962C8B-B14F-4D97-AF65-F5344CB8AC3E}">
        <p14:creationId xmlns:p14="http://schemas.microsoft.com/office/powerpoint/2010/main" val="32781999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9F887-00EC-F6D6-6E74-7210AAE8D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4D492-9C48-B97E-9725-E950E22EAA19}"/>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5FFBA45-FE90-16C8-2B3F-345A708DB695}"/>
              </a:ext>
            </a:extLst>
          </p:cNvPr>
          <p:cNvSpPr>
            <a:spLocks noGrp="1"/>
          </p:cNvSpPr>
          <p:nvPr>
            <p:ph type="body" idx="1"/>
          </p:nvPr>
        </p:nvSpPr>
        <p:spPr>
          <a:xfrm>
            <a:off x="685800" y="5865813"/>
            <a:ext cx="5486400" cy="4799012"/>
          </a:xfrm>
          <a:prstGeom prst="rect">
            <a:avLst/>
          </a:prstGeom>
        </p:spPr>
        <p:txBody>
          <a:bodyPr/>
          <a:lstStyle/>
          <a:p>
            <a:r>
              <a:rPr lang="en-US" dirty="0"/>
              <a:t>Last, but not the least. This is actually my first experience in micro-frontend when we were removing little pieces of Angular version 1, which is plain JavaScript, to the latest version of Angular.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Incremental migration instead of a rewrite</a:t>
            </a:r>
            <a:endParaRPr lang="en-GB" sz="1200" dirty="0"/>
          </a:p>
        </p:txBody>
      </p:sp>
    </p:spTree>
    <p:extLst>
      <p:ext uri="{BB962C8B-B14F-4D97-AF65-F5344CB8AC3E}">
        <p14:creationId xmlns:p14="http://schemas.microsoft.com/office/powerpoint/2010/main" val="3529675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that stands on its own even when the others don't apply. </a:t>
            </a:r>
          </a:p>
          <a:p>
            <a:endParaRPr lang="en-US" dirty="0"/>
          </a:p>
          <a:p>
            <a:r>
              <a:rPr lang="en-US" dirty="0"/>
              <a:t>The key detail is that both stacks serve real traffic the entire time, which is what makes it reversible.</a:t>
            </a:r>
            <a:endParaRPr lang="en-GB" dirty="0"/>
          </a:p>
        </p:txBody>
      </p:sp>
    </p:spTree>
    <p:extLst>
      <p:ext uri="{BB962C8B-B14F-4D97-AF65-F5344CB8AC3E}">
        <p14:creationId xmlns:p14="http://schemas.microsoft.com/office/powerpoint/2010/main" val="36315776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So demo app is this. This is a healthcare app. With some patient records, prescriptions, analytics.</a:t>
            </a:r>
          </a:p>
        </p:txBody>
      </p:sp>
    </p:spTree>
    <p:extLst>
      <p:ext uri="{BB962C8B-B14F-4D97-AF65-F5344CB8AC3E}">
        <p14:creationId xmlns:p14="http://schemas.microsoft.com/office/powerpoint/2010/main" val="1226422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a diagram of the demo app. It is a running healthcare shell. </a:t>
            </a:r>
          </a:p>
          <a:p>
            <a:r>
              <a:rPr lang="en-US" dirty="0"/>
              <a:t>The host is on port 3000. </a:t>
            </a:r>
          </a:p>
          <a:p>
            <a:r>
              <a:rPr lang="en-US" dirty="0"/>
              <a:t>Home is on 3004 and loads instantly. </a:t>
            </a:r>
          </a:p>
          <a:p>
            <a:r>
              <a:rPr lang="en-US" dirty="0"/>
              <a:t>Records is on 3001 and is eagerly preloaded. </a:t>
            </a:r>
          </a:p>
          <a:p>
            <a:r>
              <a:rPr lang="en-US" dirty="0"/>
              <a:t>Prescriptions is on 3002 and suspense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a:t>
            </a:r>
          </a:p>
          <a:p>
            <a:endParaRPr lang="en-US" dirty="0"/>
          </a:p>
          <a:p>
            <a:r>
              <a:rPr lang="en-US" dirty="0"/>
              <a:t>This module federation gives your teams better developer experience. And suspense fallbacks gives your visitors better user experience. We are going to prove both, live, in the same architecture.</a:t>
            </a:r>
          </a:p>
          <a:p>
            <a:endParaRPr lang="en-US" dirty="0"/>
          </a:p>
          <a:p>
            <a:endParaRPr lang="en-GB" dirty="0"/>
          </a:p>
        </p:txBody>
      </p:sp>
    </p:spTree>
    <p:extLst>
      <p:ext uri="{BB962C8B-B14F-4D97-AF65-F5344CB8AC3E}">
        <p14:creationId xmlns:p14="http://schemas.microsoft.com/office/powerpoint/2010/main" val="13969010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rtl="0"/>
            <a:r>
              <a:rPr lang="en-US" dirty="0"/>
              <a:t>The different ports are just a local dev artifact — three dev servers can't all bind port 3000 on one laptop — and they vanish on deploy. </a:t>
            </a:r>
          </a:p>
          <a:p>
            <a:pPr rtl="0"/>
            <a:endParaRPr lang="en-US" dirty="0"/>
          </a:p>
          <a:p>
            <a:pPr rtl="0"/>
            <a:r>
              <a:rPr lang="en-US" dirty="0"/>
              <a:t>In production the browser only ever sees </a:t>
            </a:r>
            <a:r>
              <a:rPr lang="en-US" sz="1200" kern="1200" dirty="0">
                <a:solidFill>
                  <a:schemeClr val="tx1"/>
                </a:solidFill>
                <a:latin typeface="+mn-lt"/>
                <a:ea typeface="+mn-ea"/>
                <a:cs typeface="+mn-cs"/>
              </a:rPr>
              <a:t>acme.com</a:t>
            </a:r>
            <a:r>
              <a:rPr lang="en-US" dirty="0"/>
              <a:t>, with a router at the edge (a Vercel rewrite, a CloudFront behavior, an nginx </a:t>
            </a:r>
            <a:r>
              <a:rPr lang="en-US" sz="1200" kern="1200" dirty="0" err="1">
                <a:solidFill>
                  <a:schemeClr val="tx1"/>
                </a:solidFill>
                <a:latin typeface="+mn-lt"/>
                <a:ea typeface="+mn-ea"/>
                <a:cs typeface="+mn-cs"/>
              </a:rPr>
              <a:t>proxy_pass</a:t>
            </a:r>
            <a:r>
              <a:rPr lang="en-US" dirty="0"/>
              <a:t>, a Cloudflare Worker) mapping each path to the host where that team deploys, so users stay on one origin while each team still ships on its own schedule. </a:t>
            </a:r>
          </a:p>
          <a:p>
            <a:pPr rtl="0"/>
            <a:endParaRPr lang="en-US" dirty="0"/>
          </a:p>
          <a:p>
            <a:pPr rtl="0"/>
            <a:r>
              <a:rPr lang="en-US" dirty="0"/>
              <a:t>Those deploy targets are free: every platform hands you a hostname, and subdomains of a domain you already own are just DNS records, not purchases. One domain, three paths, nothing extra to buy.</a:t>
            </a:r>
          </a:p>
        </p:txBody>
      </p:sp>
    </p:spTree>
    <p:extLst>
      <p:ext uri="{BB962C8B-B14F-4D97-AF65-F5344CB8AC3E}">
        <p14:creationId xmlns:p14="http://schemas.microsoft.com/office/powerpoint/2010/main" val="1080895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is for developers and teams. It gives you independent builds and independent deploys. Onboarding improvements.</a:t>
            </a:r>
          </a:p>
          <a:p>
            <a:endParaRPr lang="en-US" dirty="0"/>
          </a:p>
          <a:p>
            <a:r>
              <a:rPr lang="en-US" dirty="0"/>
              <a:t>Suspense and skeletons are for end users. They experience perceived instant load and no blank screens at runtime.</a:t>
            </a:r>
          </a:p>
          <a:p>
            <a:endParaRPr lang="en-GB" dirty="0"/>
          </a:p>
        </p:txBody>
      </p:sp>
    </p:spTree>
    <p:extLst>
      <p:ext uri="{BB962C8B-B14F-4D97-AF65-F5344CB8AC3E}">
        <p14:creationId xmlns:p14="http://schemas.microsoft.com/office/powerpoint/2010/main" val="4471152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endParaRPr lang="en-US" dirty="0"/>
          </a:p>
          <a:p>
            <a:r>
              <a:rPr lang="en-US" dirty="0"/>
              <a:t>With Suspense, the user clicks a tab, a skeleton appears immediately, and the content resolves when it is ready. Each remote owns its own loading choreography.</a:t>
            </a:r>
          </a:p>
          <a:p>
            <a:endParaRPr lang="en-GB" dirty="0"/>
          </a:p>
        </p:txBody>
      </p:sp>
    </p:spTree>
    <p:extLst>
      <p:ext uri="{BB962C8B-B14F-4D97-AF65-F5344CB8AC3E}">
        <p14:creationId xmlns:p14="http://schemas.microsoft.com/office/powerpoint/2010/main" val="26720934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shape of the app. One shell on port 3000. The shell owns navigation, the router, the theme, the counter, and the logged user.</a:t>
            </a:r>
          </a:p>
          <a:p>
            <a:endParaRPr lang="en-US" dirty="0"/>
          </a:p>
          <a:p>
            <a:r>
              <a:rPr lang="en-US" dirty="0"/>
              <a:t>Every remote is wrapped the same way. An error boundary. Then Suspense with a skeleton fallback. Then the remote module itself.</a:t>
            </a:r>
          </a:p>
          <a:p>
            <a:endParaRPr lang="en-US" dirty="0"/>
          </a:p>
          <a:p>
            <a:r>
              <a:rPr lang="en-US" dirty="0"/>
              <a:t>Four remotes hang off that shell. Not every module should load the same way if you want something like this. The strategy will depend on which content you will prioritize.</a:t>
            </a:r>
          </a:p>
          <a:p>
            <a:endParaRPr lang="en-GB" dirty="0"/>
          </a:p>
        </p:txBody>
      </p:sp>
    </p:spTree>
    <p:extLst>
      <p:ext uri="{BB962C8B-B14F-4D97-AF65-F5344CB8AC3E}">
        <p14:creationId xmlns:p14="http://schemas.microsoft.com/office/powerpoint/2010/main" val="18995684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Prescriptions and Analytics are streamed. They load on demand, behind per-module skeletons.</a:t>
            </a:r>
          </a:p>
          <a:p>
            <a:endParaRPr lang="en-US" dirty="0"/>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a:p>
            <a:endParaRPr lang="en-GB" dirty="0"/>
          </a:p>
        </p:txBody>
      </p:sp>
    </p:spTree>
    <p:extLst>
      <p:ext uri="{BB962C8B-B14F-4D97-AF65-F5344CB8AC3E}">
        <p14:creationId xmlns:p14="http://schemas.microsoft.com/office/powerpoint/2010/main" val="40407776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So, this is the flow if I click the Prescriptions menu which will navigate to the Prescriptions app.</a:t>
            </a:r>
          </a:p>
        </p:txBody>
      </p:sp>
    </p:spTree>
    <p:extLst>
      <p:ext uri="{BB962C8B-B14F-4D97-AF65-F5344CB8AC3E}">
        <p14:creationId xmlns:p14="http://schemas.microsoft.com/office/powerpoint/2010/main" val="8748135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ask why we wrap eager modules in </a:t>
            </a:r>
            <a:r>
              <a:rPr lang="en-US" sz="1200" kern="1200" dirty="0">
                <a:solidFill>
                  <a:schemeClr val="tx1"/>
                </a:solidFill>
                <a:latin typeface="+mn-lt"/>
                <a:ea typeface="+mn-ea"/>
                <a:cs typeface="+mn-cs"/>
              </a:rPr>
              <a:t>lazy()</a:t>
            </a:r>
            <a:r>
              <a:rPr lang="en-US" dirty="0"/>
              <a:t>. It's because </a:t>
            </a:r>
            <a:r>
              <a:rPr lang="en-US" sz="1200" kern="1200" dirty="0">
                <a:solidFill>
                  <a:schemeClr val="tx1"/>
                </a:solidFill>
                <a:latin typeface="+mn-lt"/>
                <a:ea typeface="+mn-ea"/>
                <a:cs typeface="+mn-cs"/>
              </a:rPr>
              <a:t>the</a:t>
            </a:r>
            <a:r>
              <a:rPr lang="en-US" dirty="0"/>
              <a:t> dynamic import in </a:t>
            </a:r>
            <a:r>
              <a:rPr lang="en-US" dirty="0" err="1"/>
              <a:t>index.tsx</a:t>
            </a:r>
            <a:r>
              <a:rPr lang="en-US" dirty="0"/>
              <a:t> already resolved the shared scope and that a static import makes the remote block first paint, and leaves nowhere to catch a failed remote.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we fire </a:t>
            </a:r>
            <a:r>
              <a:rPr lang="en-US" sz="1200" kern="1200" dirty="0">
                <a:solidFill>
                  <a:schemeClr val="tx1"/>
                </a:solidFill>
                <a:latin typeface="+mn-lt"/>
                <a:ea typeface="+mn-ea"/>
                <a:cs typeface="+mn-cs"/>
              </a:rPr>
              <a:t>import()</a:t>
            </a:r>
            <a:r>
              <a:rPr lang="en-US" dirty="0"/>
              <a:t> at shell </a:t>
            </a:r>
            <a:r>
              <a:rPr lang="en-US" dirty="0" err="1"/>
              <a:t>init</a:t>
            </a:r>
            <a:r>
              <a:rPr lang="en-US" dirty="0"/>
              <a:t> to warm it, and </a:t>
            </a:r>
            <a:r>
              <a:rPr lang="en-US" sz="1200" kern="1200" dirty="0">
                <a:solidFill>
                  <a:schemeClr val="tx1"/>
                </a:solidFill>
                <a:latin typeface="+mn-lt"/>
                <a:ea typeface="+mn-ea"/>
                <a:cs typeface="+mn-cs"/>
              </a:rPr>
              <a:t>lazy()</a:t>
            </a:r>
            <a:r>
              <a:rPr lang="en-US" dirty="0"/>
              <a:t> resolves from the module registry instantly — while keeping the Suspense and </a:t>
            </a:r>
            <a:r>
              <a:rPr lang="en-US" dirty="0" err="1"/>
              <a:t>ErrorBoundary</a:t>
            </a:r>
            <a:r>
              <a:rPr lang="en-US" dirty="0"/>
              <a:t> per module.</a:t>
            </a:r>
          </a:p>
          <a:p>
            <a:endParaRPr lang="en-GB" dirty="0"/>
          </a:p>
        </p:txBody>
      </p:sp>
    </p:spTree>
    <p:extLst>
      <p:ext uri="{BB962C8B-B14F-4D97-AF65-F5344CB8AC3E}">
        <p14:creationId xmlns:p14="http://schemas.microsoft.com/office/powerpoint/2010/main" val="23168514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Before I do another demo, here are the functionalities of the other buttons on the menu header.</a:t>
            </a:r>
          </a:p>
          <a:p>
            <a:endParaRPr lang="en-US" dirty="0"/>
          </a:p>
          <a:p>
            <a:r>
              <a:rPr lang="en-US" dirty="0"/>
              <a:t>A health monitor that polls remoteEntry.js every five seconds. </a:t>
            </a:r>
          </a:p>
          <a:p>
            <a:r>
              <a:rPr lang="en-US" dirty="0"/>
              <a:t>Kill switches. </a:t>
            </a:r>
          </a:p>
          <a:p>
            <a:r>
              <a:rPr lang="en-US" dirty="0"/>
              <a:t>That panel is for the demo. I can take a module down in front of you and show you that the rest of the app keeps running. Basically, we are going to simulate </a:t>
            </a:r>
            <a:r>
              <a:rPr lang="en-US" sz="1200" i="1" dirty="0">
                <a:solidFill>
                  <a:schemeClr val="bg1">
                    <a:lumMod val="95000"/>
                  </a:schemeClr>
                </a:solidFill>
                <a:latin typeface="Instrument Serif" pitchFamily="34" charset="0"/>
                <a:ea typeface="Instrument Serif" pitchFamily="34" charset="-122"/>
              </a:rPr>
              <a:t>m</a:t>
            </a:r>
            <a:r>
              <a:rPr lang="en-US" sz="1200" i="1" dirty="0">
                <a:solidFill>
                  <a:schemeClr val="bg1">
                    <a:lumMod val="95000"/>
                  </a:schemeClr>
                </a:solidFill>
                <a:latin typeface="Instrument Serif" pitchFamily="34" charset="0"/>
                <a:ea typeface="Instrument Serif" pitchFamily="34" charset="-122"/>
                <a:cs typeface="Instrument Serif" pitchFamily="34" charset="-120"/>
              </a:rPr>
              <a:t>odule-level crashes, network failures, and bad deploys are isolated at the boundary. </a:t>
            </a:r>
          </a:p>
          <a:p>
            <a:r>
              <a:rPr lang="en-US" sz="1200" i="0" dirty="0">
                <a:solidFill>
                  <a:schemeClr val="bg1">
                    <a:lumMod val="95000"/>
                  </a:schemeClr>
                </a:solidFill>
                <a:latin typeface="Instrument Serif" pitchFamily="34" charset="0"/>
                <a:ea typeface="Instrument Serif" pitchFamily="34" charset="-122"/>
              </a:rPr>
              <a:t>Theming.</a:t>
            </a:r>
            <a:endParaRPr lang="en-US" i="0" dirty="0"/>
          </a:p>
        </p:txBody>
      </p:sp>
    </p:spTree>
    <p:extLst>
      <p:ext uri="{BB962C8B-B14F-4D97-AF65-F5344CB8AC3E}">
        <p14:creationId xmlns:p14="http://schemas.microsoft.com/office/powerpoint/2010/main" val="35995048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US" dirty="0"/>
          </a:p>
        </p:txBody>
      </p:sp>
    </p:spTree>
    <p:extLst>
      <p:ext uri="{BB962C8B-B14F-4D97-AF65-F5344CB8AC3E}">
        <p14:creationId xmlns:p14="http://schemas.microsoft.com/office/powerpoint/2010/main" val="38350487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This is how you deal with client state management. I will show you more later and also something about server state management like </a:t>
            </a:r>
            <a:r>
              <a:rPr lang="en-GB" dirty="0" err="1"/>
              <a:t>TanStack</a:t>
            </a:r>
            <a:r>
              <a:rPr lang="en-GB" dirty="0"/>
              <a:t> Query.</a:t>
            </a:r>
          </a:p>
        </p:txBody>
      </p:sp>
    </p:spTree>
    <p:extLst>
      <p:ext uri="{BB962C8B-B14F-4D97-AF65-F5344CB8AC3E}">
        <p14:creationId xmlns:p14="http://schemas.microsoft.com/office/powerpoint/2010/main" val="3759391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Why use the browser </a:t>
            </a:r>
            <a:r>
              <a:rPr lang="en-US" dirty="0" err="1"/>
              <a:t>api</a:t>
            </a:r>
            <a:r>
              <a:rPr lang="en-US" dirty="0"/>
              <a:t> events instead of a shared store? A shared store is a shared dependency. </a:t>
            </a:r>
          </a:p>
          <a:p>
            <a:endParaRPr lang="en-US" dirty="0"/>
          </a:p>
          <a:p>
            <a:r>
              <a:rPr lang="en-US" dirty="0"/>
              <a:t>There will be version coupling between teams if shared stores, while the events will survive in independent deploys. </a:t>
            </a:r>
          </a:p>
          <a:p>
            <a:endParaRPr lang="en-US" dirty="0"/>
          </a:p>
          <a:p>
            <a:r>
              <a:rPr lang="en-US" dirty="0"/>
              <a:t>They even survive framework diversity. For example, a Vue remote and a React remote can talk through the same window contract.</a:t>
            </a:r>
          </a:p>
          <a:p>
            <a:endParaRPr lang="en-US" dirty="0"/>
          </a:p>
          <a:p>
            <a:r>
              <a:rPr lang="en-US" dirty="0"/>
              <a:t>The payload is still a versioned contract. Keep it backward compatible. Each remote defines the same event shapes in its own types file by augmenting </a:t>
            </a:r>
            <a:r>
              <a:rPr lang="en-US" dirty="0" err="1"/>
              <a:t>WindowEventMap</a:t>
            </a:r>
            <a:r>
              <a:rPr lang="en-US" dirty="0"/>
              <a:t>. No shared package is required. </a:t>
            </a:r>
            <a:r>
              <a:rPr lang="en-US" dirty="0" err="1"/>
              <a:t>addEventListener</a:t>
            </a:r>
            <a:r>
              <a:rPr lang="en-US" dirty="0"/>
              <a:t> is fully typed.</a:t>
            </a:r>
          </a:p>
          <a:p>
            <a:endParaRPr lang="en-GB" dirty="0"/>
          </a:p>
        </p:txBody>
      </p:sp>
    </p:spTree>
    <p:extLst>
      <p:ext uri="{BB962C8B-B14F-4D97-AF65-F5344CB8AC3E}">
        <p14:creationId xmlns:p14="http://schemas.microsoft.com/office/powerpoint/2010/main" val="39748561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Each app owns its own store and its own query client — nothing is shared. For client state they agree on a typed event contract, and whoever owns the state is the one who broadcasts: </a:t>
            </a:r>
          </a:p>
          <a:p>
            <a:endParaRPr lang="en-US" dirty="0"/>
          </a:p>
          <a:p>
            <a:r>
              <a:rPr lang="en-US" dirty="0"/>
              <a:t>the shell owns theme and routing, so it broadcasts those; </a:t>
            </a:r>
          </a:p>
          <a:p>
            <a:endParaRPr lang="en-US" dirty="0"/>
          </a:p>
          <a:p>
            <a:r>
              <a:rPr lang="en-US" dirty="0" err="1"/>
              <a:t>addPrescription</a:t>
            </a:r>
            <a:r>
              <a:rPr lang="en-US" dirty="0"/>
              <a:t>.</a:t>
            </a:r>
          </a:p>
          <a:p>
            <a:endParaRPr lang="en-US" dirty="0"/>
          </a:p>
          <a:p>
            <a:r>
              <a:rPr lang="en-US" dirty="0" err="1"/>
              <a:t>showNotification</a:t>
            </a:r>
            <a:r>
              <a:rPr lang="en-US" dirty="0"/>
              <a:t>.</a:t>
            </a:r>
          </a:p>
          <a:p>
            <a:endParaRPr lang="en-US" dirty="0"/>
          </a:p>
          <a:p>
            <a:r>
              <a:rPr lang="en-US" dirty="0"/>
              <a:t>the counter belongs to nobody, so any module can. </a:t>
            </a:r>
          </a:p>
          <a:p>
            <a:endParaRPr lang="en-US" dirty="0"/>
          </a:p>
          <a:p>
            <a:r>
              <a:rPr lang="en-US" dirty="0"/>
              <a:t>For server state, like TanStack Query, there's no syncing at all — every app just fetches, because the REST API is already the shared state.</a:t>
            </a:r>
            <a:endParaRPr lang="en-GB" dirty="0"/>
          </a:p>
        </p:txBody>
      </p:sp>
    </p:spTree>
    <p:extLst>
      <p:ext uri="{BB962C8B-B14F-4D97-AF65-F5344CB8AC3E}">
        <p14:creationId xmlns:p14="http://schemas.microsoft.com/office/powerpoint/2010/main" val="9831269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a:p>
            <a:endParaRPr lang="en-GB" dirty="0"/>
          </a:p>
        </p:txBody>
      </p:sp>
    </p:spTree>
    <p:extLst>
      <p:ext uri="{BB962C8B-B14F-4D97-AF65-F5344CB8AC3E}">
        <p14:creationId xmlns:p14="http://schemas.microsoft.com/office/powerpoint/2010/main" val="27289724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And before I end this presentation, I have two things here I want to share. This is important because of our work has changed from writing code to </a:t>
            </a:r>
            <a:r>
              <a:rPr lang="en-GB" dirty="0" err="1"/>
              <a:t>vibecoding</a:t>
            </a:r>
            <a:r>
              <a:rPr lang="en-GB" dirty="0"/>
              <a:t> using AI agents making us 20x engineers now.</a:t>
            </a:r>
          </a:p>
        </p:txBody>
      </p:sp>
    </p:spTree>
    <p:extLst>
      <p:ext uri="{BB962C8B-B14F-4D97-AF65-F5344CB8AC3E}">
        <p14:creationId xmlns:p14="http://schemas.microsoft.com/office/powerpoint/2010/main" val="20694237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First is, you can nest AGENTS.md files to your different micro frontend apps that’s good for your AI agents. And </a:t>
            </a:r>
            <a:r>
              <a:rPr lang="en-GB" dirty="0" err="1"/>
              <a:t>Rspack</a:t>
            </a:r>
            <a:r>
              <a:rPr lang="en-GB" dirty="0"/>
              <a:t> published agent skills that you can use just in case today’s frontier models still don’t have any idea what the </a:t>
            </a:r>
            <a:r>
              <a:rPr lang="en-GB" dirty="0" err="1"/>
              <a:t>Rspack</a:t>
            </a:r>
            <a:r>
              <a:rPr lang="en-GB" dirty="0"/>
              <a:t> v2.0 can do.</a:t>
            </a:r>
          </a:p>
        </p:txBody>
      </p:sp>
    </p:spTree>
    <p:extLst>
      <p:ext uri="{BB962C8B-B14F-4D97-AF65-F5344CB8AC3E}">
        <p14:creationId xmlns:p14="http://schemas.microsoft.com/office/powerpoint/2010/main" val="420303674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you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32236914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9887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55660AF-94A0-DF3F-40C1-547982EAE766}"/>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B7053B5D-29EA-AE09-763F-669E2CB6A66B}"/>
              </a:ext>
            </a:extLst>
          </p:cNvPr>
          <p:cNvSpPr/>
          <p:nvPr/>
        </p:nvSpPr>
        <p:spPr>
          <a:xfrm>
            <a:off x="548640" y="0"/>
            <a:ext cx="11064240" cy="4184073"/>
          </a:xfrm>
          <a:prstGeom prst="rect">
            <a:avLst/>
          </a:prstGeom>
          <a:noFill/>
          <a:ln/>
        </p:spPr>
        <p:txBody>
          <a:bodyPr wrap="square" rtlCol="0" anchor="ctr"/>
          <a:lstStyle/>
          <a:p>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React </a:t>
            </a:r>
            <a:r>
              <a:rPr lang="en-US" sz="6600">
                <a:solidFill>
                  <a:schemeClr val="tx1">
                    <a:lumMod val="95000"/>
                    <a:lumOff val="5000"/>
                  </a:schemeClr>
                </a:solidFill>
                <a:latin typeface="Instrument Serif" pitchFamily="34" charset="0"/>
                <a:ea typeface="Instrument Serif" pitchFamily="34" charset="-122"/>
                <a:cs typeface="Instrument Serif" pitchFamily="34" charset="-120"/>
              </a:rPr>
              <a:t>19 Suspense </a:t>
            </a:r>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Meets Module Federation</a:t>
            </a:r>
            <a:endParaRPr lang="en-US" sz="6600" dirty="0">
              <a:solidFill>
                <a:schemeClr val="tx1">
                  <a:lumMod val="95000"/>
                  <a:lumOff val="5000"/>
                </a:schemeClr>
              </a:solidFill>
            </a:endParaRPr>
          </a:p>
        </p:txBody>
      </p:sp>
      <p:sp>
        <p:nvSpPr>
          <p:cNvPr id="5" name="Text 5">
            <a:extLst>
              <a:ext uri="{FF2B5EF4-FFF2-40B4-BE49-F238E27FC236}">
                <a16:creationId xmlns:a16="http://schemas.microsoft.com/office/drawing/2014/main" id="{20F4622D-BBA0-5770-FF0A-7D2BEDE063C9}"/>
              </a:ext>
            </a:extLst>
          </p:cNvPr>
          <p:cNvSpPr/>
          <p:nvPr/>
        </p:nvSpPr>
        <p:spPr>
          <a:xfrm>
            <a:off x="640080" y="5486400"/>
            <a:ext cx="10972800" cy="1001486"/>
          </a:xfrm>
          <a:prstGeom prst="rect">
            <a:avLst/>
          </a:prstGeom>
          <a:noFill/>
          <a:ln/>
        </p:spPr>
        <p:txBody>
          <a:bodyPr wrap="square" rtlCol="0" anchor="ctr"/>
          <a:lstStyle/>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@DevlinDuldulao</a:t>
            </a:r>
          </a:p>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Senior consultant at SoftwareOne Norway</a:t>
            </a:r>
          </a:p>
        </p:txBody>
      </p:sp>
    </p:spTree>
    <p:extLst>
      <p:ext uri="{BB962C8B-B14F-4D97-AF65-F5344CB8AC3E}">
        <p14:creationId xmlns:p14="http://schemas.microsoft.com/office/powerpoint/2010/main" val="176237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1651"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7418" y="30185"/>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1314"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014679-5AD2-B7E1-FFC9-B9A93814AA10}"/>
              </a:ext>
            </a:extLst>
          </p:cNvPr>
          <p:cNvSpPr txBox="1"/>
          <p:nvPr/>
        </p:nvSpPr>
        <p:spPr>
          <a:xfrm>
            <a:off x="1324420" y="2721114"/>
            <a:ext cx="9539984" cy="707886"/>
          </a:xfrm>
          <a:prstGeom prst="rect">
            <a:avLst/>
          </a:prstGeom>
          <a:noFill/>
        </p:spPr>
        <p:txBody>
          <a:bodyPr wrap="none" rtlCol="0">
            <a:spAutoFit/>
          </a:bodyPr>
          <a:lstStyle/>
          <a:p>
            <a:pPr algn="ctr"/>
            <a:r>
              <a:rPr lang="en-US" sz="4000" dirty="0"/>
              <a:t>What are we solving here in </a:t>
            </a:r>
            <a:r>
              <a:rPr lang="en-US" sz="4000" dirty="0" err="1"/>
              <a:t>microfrontends</a:t>
            </a:r>
            <a:r>
              <a:rPr lang="en-US" sz="4000" dirty="0"/>
              <a:t>?</a:t>
            </a:r>
            <a:endParaRPr lang="en-GB" sz="4000" dirty="0"/>
          </a:p>
        </p:txBody>
      </p:sp>
    </p:spTree>
    <p:extLst>
      <p:ext uri="{BB962C8B-B14F-4D97-AF65-F5344CB8AC3E}">
        <p14:creationId xmlns:p14="http://schemas.microsoft.com/office/powerpoint/2010/main" val="683204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C1F190-E834-235E-DD1A-000447BDF89A}"/>
              </a:ext>
            </a:extLst>
          </p:cNvPr>
          <p:cNvSpPr txBox="1"/>
          <p:nvPr/>
        </p:nvSpPr>
        <p:spPr>
          <a:xfrm>
            <a:off x="522514" y="391886"/>
            <a:ext cx="9118074" cy="646331"/>
          </a:xfrm>
          <a:prstGeom prst="rect">
            <a:avLst/>
          </a:prstGeom>
          <a:noFill/>
        </p:spPr>
        <p:txBody>
          <a:bodyPr wrap="none" rtlCol="0">
            <a:spAutoFit/>
          </a:bodyPr>
          <a:lstStyle/>
          <a:p>
            <a:r>
              <a:rPr lang="en-US" sz="3600" dirty="0"/>
              <a:t>Independent deploys, and a smaller blast radius</a:t>
            </a:r>
            <a:endParaRPr lang="en-GB" sz="3600" dirty="0"/>
          </a:p>
        </p:txBody>
      </p:sp>
    </p:spTree>
    <p:extLst>
      <p:ext uri="{BB962C8B-B14F-4D97-AF65-F5344CB8AC3E}">
        <p14:creationId xmlns:p14="http://schemas.microsoft.com/office/powerpoint/2010/main" val="1401185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704CADF-316C-61D9-61BD-A1F136C01873}"/>
              </a:ext>
            </a:extLst>
          </p:cNvPr>
          <p:cNvPicPr>
            <a:picLocks noChangeAspect="1"/>
          </p:cNvPicPr>
          <p:nvPr/>
        </p:nvPicPr>
        <p:blipFill>
          <a:blip r:embed="rId3"/>
          <a:stretch>
            <a:fillRect/>
          </a:stretch>
        </p:blipFill>
        <p:spPr>
          <a:xfrm>
            <a:off x="819028" y="0"/>
            <a:ext cx="10550769" cy="6858000"/>
          </a:xfrm>
          <a:prstGeom prst="rect">
            <a:avLst/>
          </a:prstGeom>
        </p:spPr>
      </p:pic>
    </p:spTree>
    <p:extLst>
      <p:ext uri="{BB962C8B-B14F-4D97-AF65-F5344CB8AC3E}">
        <p14:creationId xmlns:p14="http://schemas.microsoft.com/office/powerpoint/2010/main" val="977005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DCF2-6C93-ECFA-136A-D291D018D0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F6432A-EC7A-50D9-539A-ECCE5FD7C886}"/>
              </a:ext>
            </a:extLst>
          </p:cNvPr>
          <p:cNvSpPr txBox="1"/>
          <p:nvPr/>
        </p:nvSpPr>
        <p:spPr>
          <a:xfrm>
            <a:off x="522514" y="391886"/>
            <a:ext cx="8292014" cy="646331"/>
          </a:xfrm>
          <a:prstGeom prst="rect">
            <a:avLst/>
          </a:prstGeom>
          <a:noFill/>
        </p:spPr>
        <p:txBody>
          <a:bodyPr wrap="none" rtlCol="0">
            <a:spAutoFit/>
          </a:bodyPr>
          <a:lstStyle/>
          <a:p>
            <a:r>
              <a:rPr lang="en-US" sz="3600" dirty="0"/>
              <a:t>Ownership becomes structural, not cultural</a:t>
            </a:r>
            <a:endParaRPr lang="en-GB" sz="3600" dirty="0"/>
          </a:p>
        </p:txBody>
      </p:sp>
    </p:spTree>
    <p:extLst>
      <p:ext uri="{BB962C8B-B14F-4D97-AF65-F5344CB8AC3E}">
        <p14:creationId xmlns:p14="http://schemas.microsoft.com/office/powerpoint/2010/main" val="1063655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9CAB62-D9FA-E52A-A2DB-1DB5AC024453}"/>
              </a:ext>
            </a:extLst>
          </p:cNvPr>
          <p:cNvPicPr>
            <a:picLocks noChangeAspect="1"/>
          </p:cNvPicPr>
          <p:nvPr/>
        </p:nvPicPr>
        <p:blipFill>
          <a:blip r:embed="rId3"/>
          <a:stretch>
            <a:fillRect/>
          </a:stretch>
        </p:blipFill>
        <p:spPr>
          <a:xfrm>
            <a:off x="0" y="5374"/>
            <a:ext cx="12188825" cy="6847252"/>
          </a:xfrm>
          <a:prstGeom prst="rect">
            <a:avLst/>
          </a:prstGeom>
        </p:spPr>
      </p:pic>
    </p:spTree>
    <p:extLst>
      <p:ext uri="{BB962C8B-B14F-4D97-AF65-F5344CB8AC3E}">
        <p14:creationId xmlns:p14="http://schemas.microsoft.com/office/powerpoint/2010/main" val="2956834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D6755-A1FF-B7BF-A56D-3C072B5FA7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2A6AB0-2C3E-4789-A6C8-9C5F7D502F44}"/>
              </a:ext>
            </a:extLst>
          </p:cNvPr>
          <p:cNvSpPr txBox="1"/>
          <p:nvPr/>
        </p:nvSpPr>
        <p:spPr>
          <a:xfrm>
            <a:off x="522514" y="391886"/>
            <a:ext cx="8431219" cy="646331"/>
          </a:xfrm>
          <a:prstGeom prst="rect">
            <a:avLst/>
          </a:prstGeom>
          <a:noFill/>
        </p:spPr>
        <p:txBody>
          <a:bodyPr wrap="none" rtlCol="0">
            <a:spAutoFit/>
          </a:bodyPr>
          <a:lstStyle/>
          <a:p>
            <a:r>
              <a:rPr lang="en-US" sz="3600" dirty="0"/>
              <a:t>Bounded cognitive load as headcount grows</a:t>
            </a:r>
            <a:endParaRPr lang="en-GB" sz="3600" dirty="0"/>
          </a:p>
        </p:txBody>
      </p:sp>
    </p:spTree>
    <p:extLst>
      <p:ext uri="{BB962C8B-B14F-4D97-AF65-F5344CB8AC3E}">
        <p14:creationId xmlns:p14="http://schemas.microsoft.com/office/powerpoint/2010/main" val="507301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A78FAD2-EDC1-87B8-794D-98B00BB06363}"/>
              </a:ext>
            </a:extLst>
          </p:cNvPr>
          <p:cNvPicPr>
            <a:picLocks noChangeAspect="1"/>
          </p:cNvPicPr>
          <p:nvPr/>
        </p:nvPicPr>
        <p:blipFill>
          <a:blip r:embed="rId3"/>
          <a:stretch>
            <a:fillRect/>
          </a:stretch>
        </p:blipFill>
        <p:spPr>
          <a:xfrm>
            <a:off x="0" y="561041"/>
            <a:ext cx="12188825" cy="5735918"/>
          </a:xfrm>
          <a:prstGeom prst="rect">
            <a:avLst/>
          </a:prstGeom>
        </p:spPr>
      </p:pic>
    </p:spTree>
    <p:extLst>
      <p:ext uri="{BB962C8B-B14F-4D97-AF65-F5344CB8AC3E}">
        <p14:creationId xmlns:p14="http://schemas.microsoft.com/office/powerpoint/2010/main" val="78192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C19D-B8B5-A045-8540-E8EFA3196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35973B-F87B-8B33-54C3-EA899AFACDA5}"/>
              </a:ext>
            </a:extLst>
          </p:cNvPr>
          <p:cNvSpPr txBox="1"/>
          <p:nvPr/>
        </p:nvSpPr>
        <p:spPr>
          <a:xfrm>
            <a:off x="522514" y="391886"/>
            <a:ext cx="8087150" cy="646331"/>
          </a:xfrm>
          <a:prstGeom prst="rect">
            <a:avLst/>
          </a:prstGeom>
          <a:noFill/>
        </p:spPr>
        <p:txBody>
          <a:bodyPr wrap="none" rtlCol="0">
            <a:spAutoFit/>
          </a:bodyPr>
          <a:lstStyle/>
          <a:p>
            <a:r>
              <a:rPr lang="en-US" sz="3600" dirty="0"/>
              <a:t>Incremental migration instead of a rewrite</a:t>
            </a:r>
            <a:endParaRPr lang="en-GB" sz="3600" dirty="0"/>
          </a:p>
        </p:txBody>
      </p:sp>
    </p:spTree>
    <p:extLst>
      <p:ext uri="{BB962C8B-B14F-4D97-AF65-F5344CB8AC3E}">
        <p14:creationId xmlns:p14="http://schemas.microsoft.com/office/powerpoint/2010/main" val="1678543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E1DEDB-C2B7-7D6B-CA16-7849717E9A36}"/>
              </a:ext>
            </a:extLst>
          </p:cNvPr>
          <p:cNvPicPr>
            <a:picLocks noChangeAspect="1"/>
          </p:cNvPicPr>
          <p:nvPr/>
        </p:nvPicPr>
        <p:blipFill>
          <a:blip r:embed="rId3"/>
          <a:stretch>
            <a:fillRect/>
          </a:stretch>
        </p:blipFill>
        <p:spPr>
          <a:xfrm>
            <a:off x="0" y="274245"/>
            <a:ext cx="12188825" cy="6309509"/>
          </a:xfrm>
          <a:prstGeom prst="rect">
            <a:avLst/>
          </a:prstGeom>
        </p:spPr>
      </p:pic>
    </p:spTree>
    <p:extLst>
      <p:ext uri="{BB962C8B-B14F-4D97-AF65-F5344CB8AC3E}">
        <p14:creationId xmlns:p14="http://schemas.microsoft.com/office/powerpoint/2010/main" val="40668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BDDECCB-2C5F-1707-9F5F-328AB2ED0298}"/>
              </a:ext>
            </a:extLst>
          </p:cNvPr>
          <p:cNvPicPr>
            <a:picLocks noChangeAspect="1"/>
          </p:cNvPicPr>
          <p:nvPr/>
        </p:nvPicPr>
        <p:blipFill>
          <a:blip r:embed="rId3"/>
          <a:stretch>
            <a:fillRect/>
          </a:stretch>
        </p:blipFill>
        <p:spPr>
          <a:xfrm>
            <a:off x="0" y="242697"/>
            <a:ext cx="12188825" cy="6615303"/>
          </a:xfrm>
          <a:prstGeom prst="rect">
            <a:avLst/>
          </a:prstGeom>
        </p:spPr>
      </p:pic>
    </p:spTree>
    <p:extLst>
      <p:ext uri="{BB962C8B-B14F-4D97-AF65-F5344CB8AC3E}">
        <p14:creationId xmlns:p14="http://schemas.microsoft.com/office/powerpoint/2010/main" val="40809750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4">
            <a:extLst>
              <a:ext uri="{FF2B5EF4-FFF2-40B4-BE49-F238E27FC236}">
                <a16:creationId xmlns:a16="http://schemas.microsoft.com/office/drawing/2014/main" id="{59B45F36-03DD-1F61-AE4F-49105667989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Prescriptions :3002   SUSPENSE</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Analytics     :3003   SUSPENSE</a:t>
            </a:r>
          </a:p>
        </p:txBody>
      </p:sp>
    </p:spTree>
    <p:extLst>
      <p:ext uri="{BB962C8B-B14F-4D97-AF65-F5344CB8AC3E}">
        <p14:creationId xmlns:p14="http://schemas.microsoft.com/office/powerpoint/2010/main" val="33846204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8559209-AAA2-1CB4-6BF2-0C4E86659D30}"/>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FF9BFBAD-B63F-0C95-BF4B-77443B953A89}"/>
              </a:ext>
            </a:extLst>
          </p:cNvPr>
          <p:cNvSpPr txBox="1"/>
          <p:nvPr/>
        </p:nvSpPr>
        <p:spPr>
          <a:xfrm>
            <a:off x="634848" y="3075057"/>
            <a:ext cx="10919143" cy="646331"/>
          </a:xfrm>
          <a:prstGeom prst="rect">
            <a:avLst/>
          </a:prstGeom>
          <a:noFill/>
        </p:spPr>
        <p:txBody>
          <a:bodyPr wrap="none" rtlCol="0">
            <a:spAutoFit/>
          </a:bodyPr>
          <a:lstStyle/>
          <a:p>
            <a:pPr algn="ctr"/>
            <a:r>
              <a:rPr lang="en-GB" sz="3600" dirty="0"/>
              <a:t>Code base (</a:t>
            </a:r>
            <a:r>
              <a:rPr lang="en-GB" sz="3600" dirty="0" err="1"/>
              <a:t>bootstrap.tsx</a:t>
            </a:r>
            <a:r>
              <a:rPr lang="en-GB" sz="3600" dirty="0"/>
              <a:t>, Routes, </a:t>
            </a:r>
            <a:r>
              <a:rPr lang="en-GB" sz="3600" dirty="0" err="1"/>
              <a:t>Rspack</a:t>
            </a:r>
            <a:r>
              <a:rPr lang="en-GB" sz="3600" dirty="0"/>
              <a:t> config &amp; plugin)</a:t>
            </a:r>
          </a:p>
        </p:txBody>
      </p:sp>
    </p:spTree>
    <p:extLst>
      <p:ext uri="{BB962C8B-B14F-4D97-AF65-F5344CB8AC3E}">
        <p14:creationId xmlns:p14="http://schemas.microsoft.com/office/powerpoint/2010/main" val="7659784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6637D03-7E43-E40A-D2C9-714E3D46262C}"/>
              </a:ext>
            </a:extLst>
          </p:cNvPr>
          <p:cNvPicPr>
            <a:picLocks noChangeAspect="1"/>
          </p:cNvPicPr>
          <p:nvPr/>
        </p:nvPicPr>
        <p:blipFill>
          <a:blip r:embed="rId3"/>
          <a:stretch>
            <a:fillRect/>
          </a:stretch>
        </p:blipFill>
        <p:spPr>
          <a:xfrm>
            <a:off x="6370" y="0"/>
            <a:ext cx="12176084" cy="6858000"/>
          </a:xfrm>
          <a:prstGeom prst="rect">
            <a:avLst/>
          </a:prstGeom>
        </p:spPr>
      </p:pic>
    </p:spTree>
    <p:extLst>
      <p:ext uri="{BB962C8B-B14F-4D97-AF65-F5344CB8AC3E}">
        <p14:creationId xmlns:p14="http://schemas.microsoft.com/office/powerpoint/2010/main" val="3156522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A9DEAA5-4B4B-A105-176E-3D92BDE4A29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BEEF10F7-35A9-BC5C-5D04-700AD07AB51B}"/>
              </a:ext>
            </a:extLst>
          </p:cNvPr>
          <p:cNvGraphicFramePr>
            <a:graphicFrameLocks noGrp="1"/>
          </p:cNvGraphicFramePr>
          <p:nvPr>
            <p:extLst>
              <p:ext uri="{D42A27DB-BD31-4B8C-83A1-F6EECF244321}">
                <p14:modId xmlns:p14="http://schemas.microsoft.com/office/powerpoint/2010/main" val="525117784"/>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 slow rewrite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559784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31711E41-ABC8-61F2-D009-B7AB6AF211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497A809A-85C2-9736-231A-B5C634D123D4}"/>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30185272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AE7BAA42-8979-2749-678C-C4B2DCFC42DC}"/>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One shell, four remotes, three loading strategies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5E252CBF-4D3F-DA4C-2817-C743E648F88B}"/>
              </a:ext>
            </a:extLst>
          </p:cNvPr>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INSTANT     EAGER          STREAMED             STREAMED</a:t>
            </a:r>
          </a:p>
        </p:txBody>
      </p:sp>
    </p:spTree>
    <p:extLst>
      <p:ext uri="{BB962C8B-B14F-4D97-AF65-F5344CB8AC3E}">
        <p14:creationId xmlns:p14="http://schemas.microsoft.com/office/powerpoint/2010/main" val="32020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3F89-483A-0053-D78D-1A8901B047F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48116DE-5DA1-A8F4-171E-98CD8EF39457}"/>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FCCE98A8-BD8A-6B23-799E-D4E934D31BDC}"/>
              </a:ext>
            </a:extLst>
          </p:cNvPr>
          <p:cNvSpPr txBox="1"/>
          <p:nvPr/>
        </p:nvSpPr>
        <p:spPr>
          <a:xfrm>
            <a:off x="770310" y="3075057"/>
            <a:ext cx="10648236" cy="707886"/>
          </a:xfrm>
          <a:prstGeom prst="rect">
            <a:avLst/>
          </a:prstGeom>
          <a:noFill/>
        </p:spPr>
        <p:txBody>
          <a:bodyPr wrap="none" rtlCol="0">
            <a:spAutoFit/>
          </a:bodyPr>
          <a:lstStyle/>
          <a:p>
            <a:pPr algn="ctr"/>
            <a:r>
              <a:rPr lang="en-GB" sz="4000" dirty="0"/>
              <a:t>Preloading and prefetching (network tab </a:t>
            </a:r>
            <a:r>
              <a:rPr lang="en-GB" sz="4000" dirty="0" err="1"/>
              <a:t>devtools</a:t>
            </a:r>
            <a:r>
              <a:rPr lang="en-GB" sz="4000" dirty="0"/>
              <a:t>)</a:t>
            </a:r>
          </a:p>
        </p:txBody>
      </p:sp>
    </p:spTree>
    <p:extLst>
      <p:ext uri="{BB962C8B-B14F-4D97-AF65-F5344CB8AC3E}">
        <p14:creationId xmlns:p14="http://schemas.microsoft.com/office/powerpoint/2010/main" val="23981073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15B897A-3EEC-DD92-29A6-A9DC36773ED2}"/>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Three strategies, three layers of resilience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668BF609-EEBF-0FAC-875A-FCD5A6335B19}"/>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1: lazy() + .catch() if remote is unreachable</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2: &lt;Suspense&gt; skeleton while loading</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3: &lt;ErrorBoundary&gt; for runtime errors</a:t>
            </a:r>
          </a:p>
        </p:txBody>
      </p:sp>
    </p:spTree>
    <p:extLst>
      <p:ext uri="{BB962C8B-B14F-4D97-AF65-F5344CB8AC3E}">
        <p14:creationId xmlns:p14="http://schemas.microsoft.com/office/powerpoint/2010/main" val="26191256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6439F7-DFAD-81AB-B8BD-241FD9547508}"/>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8368582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6D9864B-997C-D392-B5C0-9E000C1A03B8}"/>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Question</a:t>
            </a:r>
            <a:endParaRPr lang="en-US" sz="3300" dirty="0">
              <a:solidFill>
                <a:schemeClr val="tx1">
                  <a:lumMod val="95000"/>
                  <a:lumOff val="5000"/>
                </a:schemeClr>
              </a:solidFill>
            </a:endParaRPr>
          </a:p>
        </p:txBody>
      </p:sp>
      <p:sp>
        <p:nvSpPr>
          <p:cNvPr id="7" name="Text 8">
            <a:extLst>
              <a:ext uri="{FF2B5EF4-FFF2-40B4-BE49-F238E27FC236}">
                <a16:creationId xmlns:a16="http://schemas.microsoft.com/office/drawing/2014/main" id="{626E23A0-B775-D9BA-9D15-6D62663E3A4A}"/>
              </a:ext>
            </a:extLst>
          </p:cNvPr>
          <p:cNvSpPr/>
          <p:nvPr/>
        </p:nvSpPr>
        <p:spPr>
          <a:xfrm>
            <a:off x="713232" y="2226365"/>
            <a:ext cx="10710142" cy="2248815"/>
          </a:xfrm>
          <a:prstGeom prst="rect">
            <a:avLst/>
          </a:prstGeom>
          <a:noFill/>
          <a:ln/>
        </p:spPr>
        <p:txBody>
          <a:bodyPr wrap="square" rtlCol="0" anchor="ctr"/>
          <a:lstStyle/>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Why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lazy()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for eager modules? </a:t>
            </a:r>
          </a:p>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Remotes are separate builds resolved at runtime. </a:t>
            </a:r>
          </a:p>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Eager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import()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warms the cache;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lazy()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resolves from it.</a:t>
            </a:r>
            <a:endParaRPr lang="en-US" sz="3200"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endParaRPr>
          </a:p>
        </p:txBody>
      </p:sp>
    </p:spTree>
    <p:extLst>
      <p:ext uri="{BB962C8B-B14F-4D97-AF65-F5344CB8AC3E}">
        <p14:creationId xmlns:p14="http://schemas.microsoft.com/office/powerpoint/2010/main" val="25772246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CC0F34E4-70E8-F750-1B49-A033FEC0C4E2}"/>
              </a:ext>
            </a:extLst>
          </p:cNvPr>
          <p:cNvSpPr/>
          <p:nvPr/>
        </p:nvSpPr>
        <p:spPr>
          <a:xfrm>
            <a:off x="530352" y="135008"/>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Settings, Commands, Federation Lab menus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8EB8FE32-AB1B-8F6E-B031-72E31947DF0F}"/>
              </a:ext>
            </a:extLst>
          </p:cNvPr>
          <p:cNvSpPr/>
          <p:nvPr/>
        </p:nvSpPr>
        <p:spPr>
          <a:xfrm>
            <a:off x="576072" y="1202166"/>
            <a:ext cx="10706010" cy="4660752"/>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Health Monitor: polls each </a:t>
            </a:r>
            <a:r>
              <a:rPr lang="en-US" sz="2800" dirty="0" err="1">
                <a:solidFill>
                  <a:schemeClr val="tx1">
                    <a:lumMod val="95000"/>
                    <a:lumOff val="5000"/>
                  </a:schemeClr>
                </a:solidFill>
                <a:latin typeface="DM Sans" pitchFamily="34" charset="0"/>
                <a:ea typeface="DM Sans" pitchFamily="34" charset="-122"/>
                <a:cs typeface="DM Sans" pitchFamily="34" charset="-120"/>
              </a:rPr>
              <a:t>remoteEntry.js</a:t>
            </a:r>
            <a:r>
              <a:rPr lang="en-US" sz="2800" dirty="0">
                <a:solidFill>
                  <a:schemeClr val="tx1">
                    <a:lumMod val="95000"/>
                    <a:lumOff val="5000"/>
                  </a:schemeClr>
                </a:solidFill>
                <a:latin typeface="DM Sans" pitchFamily="34" charset="0"/>
                <a:ea typeface="DM Sans" pitchFamily="34" charset="-122"/>
                <a:cs typeface="DM Sans" pitchFamily="34" charset="-120"/>
              </a:rPr>
              <a:t> every 5s, shows latency</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Kill Switches: simulate remote failure; the rest keeps running</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Theme: CSS variables + localStorage + themeChange event, zero shared imports</a:t>
            </a:r>
          </a:p>
        </p:txBody>
      </p:sp>
    </p:spTree>
    <p:extLst>
      <p:ext uri="{BB962C8B-B14F-4D97-AF65-F5344CB8AC3E}">
        <p14:creationId xmlns:p14="http://schemas.microsoft.com/office/powerpoint/2010/main" val="3991074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2434E-A423-B165-16BC-7AF688676ED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6374511-5B5D-F7F6-D4DE-965190A47438}"/>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34AF8797-4227-8449-C765-143D3A90429D}"/>
              </a:ext>
            </a:extLst>
          </p:cNvPr>
          <p:cNvSpPr txBox="1"/>
          <p:nvPr/>
        </p:nvSpPr>
        <p:spPr>
          <a:xfrm>
            <a:off x="2279283" y="3075057"/>
            <a:ext cx="7630295" cy="707886"/>
          </a:xfrm>
          <a:prstGeom prst="rect">
            <a:avLst/>
          </a:prstGeom>
          <a:noFill/>
        </p:spPr>
        <p:txBody>
          <a:bodyPr wrap="none" rtlCol="0">
            <a:spAutoFit/>
          </a:bodyPr>
          <a:lstStyle/>
          <a:p>
            <a:pPr algn="ctr"/>
            <a:r>
              <a:rPr lang="en-GB" sz="4000" dirty="0"/>
              <a:t>Admin panel for module federation</a:t>
            </a:r>
          </a:p>
        </p:txBody>
      </p:sp>
    </p:spTree>
    <p:extLst>
      <p:ext uri="{BB962C8B-B14F-4D97-AF65-F5344CB8AC3E}">
        <p14:creationId xmlns:p14="http://schemas.microsoft.com/office/powerpoint/2010/main" val="3182694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728B204-4642-8AB0-8C60-54C9C48B708A}"/>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41969021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48D92EEC-F99D-6E3A-015E-51DCF972D10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Prefer events over shared state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F96AB674-C4AE-79FF-80B1-8B452266F247}"/>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No direct cross-module imports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Shell stays the only router owner</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Works across deployments when the event contract stays compatible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Framework-agnostic (React, Vue, Svelte)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Typed via WindowEventMap augmentation</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25832381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6D2C31A-9631-8861-A387-D11C77608896}"/>
              </a:ext>
            </a:extLst>
          </p:cNvPr>
          <p:cNvGraphicFramePr>
            <a:graphicFrameLocks noGrp="1"/>
          </p:cNvGraphicFramePr>
          <p:nvPr>
            <p:extLst>
              <p:ext uri="{D42A27DB-BD31-4B8C-83A1-F6EECF244321}">
                <p14:modId xmlns:p14="http://schemas.microsoft.com/office/powerpoint/2010/main" val="780093546"/>
              </p:ext>
            </p:extLst>
          </p:nvPr>
        </p:nvGraphicFramePr>
        <p:xfrm>
          <a:off x="362857" y="1320800"/>
          <a:ext cx="11654972" cy="5455967"/>
        </p:xfrm>
        <a:graphic>
          <a:graphicData uri="http://schemas.openxmlformats.org/drawingml/2006/table">
            <a:tbl>
              <a:tblPr/>
              <a:tblGrid>
                <a:gridCol w="3178629">
                  <a:extLst>
                    <a:ext uri="{9D8B030D-6E8A-4147-A177-3AD203B41FA5}">
                      <a16:colId xmlns:a16="http://schemas.microsoft.com/office/drawing/2014/main" val="607345058"/>
                    </a:ext>
                  </a:extLst>
                </a:gridCol>
                <a:gridCol w="2975428">
                  <a:extLst>
                    <a:ext uri="{9D8B030D-6E8A-4147-A177-3AD203B41FA5}">
                      <a16:colId xmlns:a16="http://schemas.microsoft.com/office/drawing/2014/main" val="2182254365"/>
                    </a:ext>
                  </a:extLst>
                </a:gridCol>
                <a:gridCol w="5500915">
                  <a:extLst>
                    <a:ext uri="{9D8B030D-6E8A-4147-A177-3AD203B41FA5}">
                      <a16:colId xmlns:a16="http://schemas.microsoft.com/office/drawing/2014/main" val="3397293518"/>
                    </a:ext>
                  </a:extLst>
                </a:gridCol>
              </a:tblGrid>
              <a:tr h="416364">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Event</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Who broadcasts</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Why</a:t>
                      </a:r>
                    </a:p>
                  </a:txBody>
                  <a:tcPr marL="76200" marR="76200" marT="38100" marB="38100" anchor="ctr">
                    <a:lnL>
                      <a:noFill/>
                    </a:lnL>
                    <a:lnR>
                      <a:noFill/>
                    </a:lnR>
                    <a:lnT>
                      <a:noFill/>
                    </a:lnT>
                    <a:lnB>
                      <a:noFill/>
                    </a:lnB>
                    <a:noFill/>
                  </a:tcPr>
                </a:tc>
                <a:extLst>
                  <a:ext uri="{0D108BD9-81ED-4DB2-BD59-A6C34878D82A}">
                    <a16:rowId xmlns:a16="http://schemas.microsoft.com/office/drawing/2014/main" val="3074802040"/>
                  </a:ext>
                </a:extLst>
              </a:tr>
              <a:tr h="735957">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themeChange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theme</a:t>
                      </a:r>
                    </a:p>
                  </a:txBody>
                  <a:tcPr marL="76200" marR="76200" marT="38100" marB="38100" anchor="ctr">
                    <a:lnL>
                      <a:noFill/>
                    </a:lnL>
                    <a:lnR>
                      <a:noFill/>
                    </a:lnR>
                    <a:lnT>
                      <a:noFill/>
                    </a:lnT>
                    <a:lnB>
                      <a:noFill/>
                    </a:lnB>
                    <a:noFill/>
                  </a:tcPr>
                </a:tc>
                <a:extLst>
                  <a:ext uri="{0D108BD9-81ED-4DB2-BD59-A6C34878D82A}">
                    <a16:rowId xmlns:a16="http://schemas.microsoft.com/office/drawing/2014/main" val="240654752"/>
                  </a:ext>
                </a:extLst>
              </a:tr>
              <a:tr h="735957">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moduleChange</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router</a:t>
                      </a:r>
                    </a:p>
                  </a:txBody>
                  <a:tcPr marL="76200" marR="76200" marT="38100" marB="38100" anchor="ctr">
                    <a:lnL>
                      <a:noFill/>
                    </a:lnL>
                    <a:lnR>
                      <a:noFill/>
                    </a:lnR>
                    <a:lnT>
                      <a:noFill/>
                    </a:lnT>
                    <a:lnB>
                      <a:noFill/>
                    </a:lnB>
                    <a:noFill/>
                  </a:tcPr>
                </a:tc>
                <a:extLst>
                  <a:ext uri="{0D108BD9-81ED-4DB2-BD59-A6C34878D82A}">
                    <a16:rowId xmlns:a16="http://schemas.microsoft.com/office/drawing/2014/main" val="1750626137"/>
                  </a:ext>
                </a:extLst>
              </a:tr>
              <a:tr h="1069222">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addPrescription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dirty="0">
                          <a:solidFill>
                            <a:srgbClr val="3B3B3B"/>
                          </a:solidFill>
                          <a:effectLst/>
                          <a:latin typeface="Cascadia Code" panose="020B0609020000020004" pitchFamily="49" charset="0"/>
                          <a:cs typeface="Cascadia Code" panose="020B0609020000020004" pitchFamily="49" charset="0"/>
                        </a:rPr>
                        <a:t>records</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Records owns "a prescription was requested"</a:t>
                      </a:r>
                    </a:p>
                  </a:txBody>
                  <a:tcPr marL="76200" marR="76200" marT="38100" marB="38100" anchor="ctr">
                    <a:lnL>
                      <a:noFill/>
                    </a:lnL>
                    <a:lnR>
                      <a:noFill/>
                    </a:lnR>
                    <a:lnT>
                      <a:noFill/>
                    </a:lnT>
                    <a:lnB>
                      <a:noFill/>
                    </a:lnB>
                    <a:noFill/>
                  </a:tcPr>
                </a:tc>
                <a:extLst>
                  <a:ext uri="{0D108BD9-81ED-4DB2-BD59-A6C34878D82A}">
                    <a16:rowId xmlns:a16="http://schemas.microsoft.com/office/drawing/2014/main" val="1485486134"/>
                  </a:ext>
                </a:extLst>
              </a:tr>
              <a:tr h="1402485">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showNotification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Anyone can have something to say; the shell owns the &lt;Toaster /&gt;</a:t>
                      </a:r>
                    </a:p>
                  </a:txBody>
                  <a:tcPr marL="76200" marR="76200" marT="38100" marB="38100" anchor="ctr">
                    <a:lnL>
                      <a:noFill/>
                    </a:lnL>
                    <a:lnR>
                      <a:noFill/>
                    </a:lnR>
                    <a:lnT>
                      <a:noFill/>
                    </a:lnT>
                    <a:lnB>
                      <a:noFill/>
                    </a:lnB>
                    <a:noFill/>
                  </a:tcPr>
                </a:tc>
                <a:extLst>
                  <a:ext uri="{0D108BD9-81ED-4DB2-BD59-A6C34878D82A}">
                    <a16:rowId xmlns:a16="http://schemas.microsoft.com/office/drawing/2014/main" val="3065737248"/>
                  </a:ext>
                </a:extLst>
              </a:tr>
              <a:tr h="1070386">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counterChange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dirty="0">
                          <a:solidFill>
                            <a:srgbClr val="3B3B3B"/>
                          </a:solidFill>
                          <a:effectLst/>
                          <a:latin typeface="Cascadia Code" panose="020B0609020000020004" pitchFamily="49" charset="0"/>
                          <a:cs typeface="Cascadia Code" panose="020B0609020000020004" pitchFamily="49" charset="0"/>
                        </a:rPr>
                        <a:t>Nobody owns the counter — it's genuinely peer state</a:t>
                      </a:r>
                    </a:p>
                  </a:txBody>
                  <a:tcPr marL="76200" marR="76200" marT="38100" marB="38100" anchor="ctr">
                    <a:lnL>
                      <a:noFill/>
                    </a:lnL>
                    <a:lnR>
                      <a:noFill/>
                    </a:lnR>
                    <a:lnT>
                      <a:noFill/>
                    </a:lnT>
                    <a:lnB>
                      <a:noFill/>
                    </a:lnB>
                    <a:noFill/>
                  </a:tcPr>
                </a:tc>
                <a:extLst>
                  <a:ext uri="{0D108BD9-81ED-4DB2-BD59-A6C34878D82A}">
                    <a16:rowId xmlns:a16="http://schemas.microsoft.com/office/drawing/2014/main" val="1091983602"/>
                  </a:ext>
                </a:extLst>
              </a:tr>
            </a:tbl>
          </a:graphicData>
        </a:graphic>
      </p:graphicFrame>
      <p:sp>
        <p:nvSpPr>
          <p:cNvPr id="4" name="TextBox 3">
            <a:extLst>
              <a:ext uri="{FF2B5EF4-FFF2-40B4-BE49-F238E27FC236}">
                <a16:creationId xmlns:a16="http://schemas.microsoft.com/office/drawing/2014/main" id="{FCBFEC0A-AD33-0E5A-BF45-ABD21D98423F}"/>
              </a:ext>
            </a:extLst>
          </p:cNvPr>
          <p:cNvSpPr txBox="1"/>
          <p:nvPr/>
        </p:nvSpPr>
        <p:spPr>
          <a:xfrm>
            <a:off x="362857" y="231614"/>
            <a:ext cx="11161486" cy="646331"/>
          </a:xfrm>
          <a:prstGeom prst="rect">
            <a:avLst/>
          </a:prstGeom>
          <a:noFill/>
        </p:spPr>
        <p:txBody>
          <a:bodyPr wrap="square">
            <a:spAutoFit/>
          </a:bodyPr>
          <a:lstStyle/>
          <a:p>
            <a:r>
              <a:rPr lang="en-US" sz="3600" i="1" dirty="0"/>
              <a:t>The ownership rule </a:t>
            </a:r>
            <a:endParaRPr lang="en-GB" sz="4800" i="1" dirty="0"/>
          </a:p>
        </p:txBody>
      </p:sp>
    </p:spTree>
    <p:extLst>
      <p:ext uri="{BB962C8B-B14F-4D97-AF65-F5344CB8AC3E}">
        <p14:creationId xmlns:p14="http://schemas.microsoft.com/office/powerpoint/2010/main" val="31747231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4E5C8-F845-6867-3F24-0A4D18D440C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251E657-3A4F-F643-B5FE-F848932BB249}"/>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303C690B-5769-EFCF-21B9-2F10CBECB5E3}"/>
              </a:ext>
            </a:extLst>
          </p:cNvPr>
          <p:cNvSpPr txBox="1"/>
          <p:nvPr/>
        </p:nvSpPr>
        <p:spPr>
          <a:xfrm>
            <a:off x="2678228" y="3075057"/>
            <a:ext cx="6832384" cy="707886"/>
          </a:xfrm>
          <a:prstGeom prst="rect">
            <a:avLst/>
          </a:prstGeom>
          <a:noFill/>
        </p:spPr>
        <p:txBody>
          <a:bodyPr wrap="none" rtlCol="0">
            <a:spAutoFit/>
          </a:bodyPr>
          <a:lstStyle/>
          <a:p>
            <a:pPr algn="ctr"/>
            <a:r>
              <a:rPr lang="en-GB" sz="4000" dirty="0"/>
              <a:t>Counter value in different pages</a:t>
            </a:r>
          </a:p>
        </p:txBody>
      </p:sp>
    </p:spTree>
    <p:extLst>
      <p:ext uri="{BB962C8B-B14F-4D97-AF65-F5344CB8AC3E}">
        <p14:creationId xmlns:p14="http://schemas.microsoft.com/office/powerpoint/2010/main" val="2123101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177067D6-BE87-AD69-1C20-9125336CF2E5}"/>
              </a:ext>
            </a:extLst>
          </p:cNvPr>
          <p:cNvSpPr/>
          <p:nvPr/>
        </p:nvSpPr>
        <p:spPr>
          <a:xfrm>
            <a:off x="530352"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Shell-owned theming across the federation</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956EBAC9-BB98-ECDE-8693-BBDC50395DCE}"/>
              </a:ext>
            </a:extLst>
          </p:cNvPr>
          <p:cNvSpPr/>
          <p:nvPr/>
        </p:nvSpPr>
        <p:spPr>
          <a:xfrm>
            <a:off x="536448" y="777240"/>
            <a:ext cx="11064240" cy="4741433"/>
          </a:xfrm>
          <a:prstGeom prst="rect">
            <a:avLst/>
          </a:prstGeom>
          <a:noFill/>
          <a:ln/>
        </p:spPr>
        <p:txBody>
          <a:bodyPr wrap="square" rtlCol="0" anchor="t"/>
          <a:lstStyle/>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Shell (owns 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Persists to localStorage ("mf-demo-theme")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Applies CSS variables to document.documentElement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Exposes window.__MF_THEME__ bridge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Broadcasts "themeChange" event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Records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Prescriptions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Analytics     → useActiveTheme()</a:t>
            </a:r>
          </a:p>
        </p:txBody>
      </p:sp>
    </p:spTree>
    <p:extLst>
      <p:ext uri="{BB962C8B-B14F-4D97-AF65-F5344CB8AC3E}">
        <p14:creationId xmlns:p14="http://schemas.microsoft.com/office/powerpoint/2010/main" val="31717383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803917B-4381-C3C7-FA95-857D711A79FD}"/>
              </a:ext>
            </a:extLst>
          </p:cNvPr>
          <p:cNvPicPr>
            <a:picLocks noChangeAspect="1"/>
          </p:cNvPicPr>
          <p:nvPr/>
        </p:nvPicPr>
        <p:blipFill>
          <a:blip r:embed="rId3"/>
          <a:stretch>
            <a:fillRect/>
          </a:stretch>
        </p:blipFill>
        <p:spPr>
          <a:xfrm>
            <a:off x="4297407" y="1158714"/>
            <a:ext cx="4087786" cy="3871374"/>
          </a:xfrm>
          <a:prstGeom prst="rect">
            <a:avLst/>
          </a:prstGeom>
        </p:spPr>
      </p:pic>
      <p:sp>
        <p:nvSpPr>
          <p:cNvPr id="12" name="TextBox 11">
            <a:extLst>
              <a:ext uri="{FF2B5EF4-FFF2-40B4-BE49-F238E27FC236}">
                <a16:creationId xmlns:a16="http://schemas.microsoft.com/office/drawing/2014/main" id="{29D0F35D-631E-8C23-5845-6023A66D27DD}"/>
              </a:ext>
            </a:extLst>
          </p:cNvPr>
          <p:cNvSpPr txBox="1"/>
          <p:nvPr/>
        </p:nvSpPr>
        <p:spPr>
          <a:xfrm>
            <a:off x="3822192" y="3655026"/>
            <a:ext cx="1627369" cy="1569660"/>
          </a:xfrm>
          <a:prstGeom prst="rect">
            <a:avLst/>
          </a:prstGeom>
          <a:noFill/>
        </p:spPr>
        <p:txBody>
          <a:bodyPr wrap="none" rtlCol="0">
            <a:spAutoFit/>
          </a:bodyPr>
          <a:lstStyle/>
          <a:p>
            <a:pPr algn="ctr"/>
            <a:r>
              <a:rPr lang="en-GB" sz="9600" dirty="0">
                <a:latin typeface="Cascadia Code" panose="020B0609020000020004" pitchFamily="49" charset="0"/>
                <a:cs typeface="Cascadia Code" panose="020B0609020000020004" pitchFamily="49" charset="0"/>
              </a:rPr>
              <a:t>AI</a:t>
            </a:r>
          </a:p>
        </p:txBody>
      </p:sp>
    </p:spTree>
    <p:extLst>
      <p:ext uri="{BB962C8B-B14F-4D97-AF65-F5344CB8AC3E}">
        <p14:creationId xmlns:p14="http://schemas.microsoft.com/office/powerpoint/2010/main" val="21967390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B5158BA-B2A6-2F27-F186-4EF8F56E7BD9}"/>
              </a:ext>
            </a:extLst>
          </p:cNvPr>
          <p:cNvPicPr>
            <a:picLocks noChangeAspect="1"/>
          </p:cNvPicPr>
          <p:nvPr/>
        </p:nvPicPr>
        <p:blipFill>
          <a:blip r:embed="rId3"/>
          <a:stretch>
            <a:fillRect/>
          </a:stretch>
        </p:blipFill>
        <p:spPr>
          <a:xfrm>
            <a:off x="3557944" y="0"/>
            <a:ext cx="5072937" cy="6858000"/>
          </a:xfrm>
          <a:prstGeom prst="rect">
            <a:avLst/>
          </a:prstGeom>
        </p:spPr>
      </p:pic>
    </p:spTree>
    <p:extLst>
      <p:ext uri="{BB962C8B-B14F-4D97-AF65-F5344CB8AC3E}">
        <p14:creationId xmlns:p14="http://schemas.microsoft.com/office/powerpoint/2010/main" val="25882997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382" y="2736683"/>
            <a:ext cx="10027796" cy="1384634"/>
          </a:xfrm>
          <a:prstGeom prst="rect">
            <a:avLst/>
          </a:prstGeom>
          <a:noFill/>
        </p:spPr>
        <p:txBody>
          <a:bodyPr wrap="square">
            <a:spAutoFit/>
          </a:bodyPr>
          <a:lstStyle/>
          <a:p>
            <a:r>
              <a:rPr lang="en-GB" sz="2799" b="1" dirty="0">
                <a:solidFill>
                  <a:schemeClr val="tx1">
                    <a:lumMod val="95000"/>
                    <a:lumOff val="5000"/>
                  </a:schemeClr>
                </a:solidFill>
              </a:rPr>
              <a:t>Knowledge atrophy </a:t>
            </a:r>
            <a:r>
              <a:rPr lang="en-GB" sz="2799"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B9B17927-D537-2054-3DCD-46D230E54D61}"/>
              </a:ext>
            </a:extLst>
          </p:cNvPr>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chemeClr val="tx1">
                    <a:lumMod val="95000"/>
                    <a:lumOff val="5000"/>
                  </a:schemeClr>
                </a:solidFill>
                <a:latin typeface="Instrument Serif" pitchFamily="34" charset="0"/>
                <a:ea typeface="Instrument Serif" pitchFamily="34" charset="-122"/>
                <a:cs typeface="Instrument Serif" pitchFamily="34" charset="-120"/>
              </a:rPr>
              <a:t>Thank you.</a:t>
            </a:r>
            <a:endParaRPr lang="en-US" sz="6000" dirty="0">
              <a:solidFill>
                <a:schemeClr val="tx1">
                  <a:lumMod val="95000"/>
                  <a:lumOff val="5000"/>
                </a:schemeClr>
              </a:solidFill>
            </a:endParaRPr>
          </a:p>
        </p:txBody>
      </p:sp>
      <p:sp>
        <p:nvSpPr>
          <p:cNvPr id="7" name="Text 2">
            <a:extLst>
              <a:ext uri="{FF2B5EF4-FFF2-40B4-BE49-F238E27FC236}">
                <a16:creationId xmlns:a16="http://schemas.microsoft.com/office/drawing/2014/main" id="{74B31B54-B88A-D269-A665-00C530BE9093}"/>
              </a:ext>
            </a:extLst>
          </p:cNvPr>
          <p:cNvSpPr/>
          <p:nvPr/>
        </p:nvSpPr>
        <p:spPr>
          <a:xfrm>
            <a:off x="640080" y="3703320"/>
            <a:ext cx="10972800" cy="457200"/>
          </a:xfrm>
          <a:prstGeom prst="rect">
            <a:avLst/>
          </a:prstGeom>
          <a:noFill/>
          <a:ln/>
        </p:spPr>
        <p:txBody>
          <a:bodyPr wrap="square" rtlCol="0" anchor="ctr"/>
          <a:lstStyle/>
          <a:p>
            <a:pPr marL="0" indent="0">
              <a:buNone/>
            </a:pPr>
            <a:r>
              <a:rPr lang="en-US" sz="2800" dirty="0">
                <a:solidFill>
                  <a:schemeClr val="tx1">
                    <a:lumMod val="95000"/>
                    <a:lumOff val="5000"/>
                  </a:schemeClr>
                </a:solidFill>
                <a:latin typeface="DM Sans" pitchFamily="34" charset="0"/>
                <a:ea typeface="DM Sans" pitchFamily="34" charset="-122"/>
                <a:cs typeface="DM Sans" pitchFamily="34" charset="-120"/>
              </a:rPr>
              <a:t>@DevlinDuldulao</a:t>
            </a:r>
            <a:endParaRPr lang="en-US" sz="2800" dirty="0">
              <a:solidFill>
                <a:schemeClr val="tx1">
                  <a:lumMod val="95000"/>
                  <a:lumOff val="5000"/>
                </a:schemeClr>
              </a:solidFill>
            </a:endParaRPr>
          </a:p>
        </p:txBody>
      </p:sp>
      <p:pic>
        <p:nvPicPr>
          <p:cNvPr id="11" name="Picture 10">
            <a:extLst>
              <a:ext uri="{FF2B5EF4-FFF2-40B4-BE49-F238E27FC236}">
                <a16:creationId xmlns:a16="http://schemas.microsoft.com/office/drawing/2014/main" id="{EE42FC8F-E622-B57A-8D17-21F71B4A52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0945" y="534340"/>
            <a:ext cx="4874920" cy="4874920"/>
          </a:xfrm>
          <a:prstGeom prst="rect">
            <a:avLst/>
          </a:prstGeom>
        </p:spPr>
      </p:pic>
      <p:sp>
        <p:nvSpPr>
          <p:cNvPr id="13" name="Text 3">
            <a:extLst>
              <a:ext uri="{FF2B5EF4-FFF2-40B4-BE49-F238E27FC236}">
                <a16:creationId xmlns:a16="http://schemas.microsoft.com/office/drawing/2014/main" id="{C8E8866F-ACA3-AC4B-2C7F-ED97CBE40635}"/>
              </a:ext>
            </a:extLst>
          </p:cNvPr>
          <p:cNvSpPr/>
          <p:nvPr/>
        </p:nvSpPr>
        <p:spPr>
          <a:xfrm>
            <a:off x="7022465" y="5294960"/>
            <a:ext cx="3611880" cy="228600"/>
          </a:xfrm>
          <a:prstGeom prst="rect">
            <a:avLst/>
          </a:prstGeom>
          <a:noFill/>
          <a:ln/>
        </p:spPr>
        <p:txBody>
          <a:bodyPr wrap="square" rtlCol="0" anchor="ctr"/>
          <a:lstStyle/>
          <a:p>
            <a:pPr marL="0" indent="0" algn="ctr">
              <a:buNone/>
            </a:pPr>
            <a:r>
              <a:rPr lang="en-US" sz="2000" kern="0" spc="100" dirty="0">
                <a:solidFill>
                  <a:schemeClr val="tx1">
                    <a:lumMod val="95000"/>
                    <a:lumOff val="5000"/>
                  </a:schemeClr>
                </a:solidFill>
                <a:latin typeface="Brush Script MT" panose="03060802040406070304" pitchFamily="66" charset="0"/>
                <a:ea typeface="IBM Plex Mono" pitchFamily="34" charset="-122"/>
                <a:cs typeface="IBM Plex Mono" pitchFamily="34" charset="-120"/>
              </a:rPr>
              <a:t>Social links</a:t>
            </a:r>
            <a:endParaRPr lang="en-US" sz="2000" dirty="0">
              <a:solidFill>
                <a:schemeClr val="tx1">
                  <a:lumMod val="95000"/>
                  <a:lumOff val="5000"/>
                </a:schemeClr>
              </a:solidFill>
              <a:latin typeface="Brush Script MT" panose="03060802040406070304" pitchFamily="66" charset="0"/>
            </a:endParaRPr>
          </a:p>
        </p:txBody>
      </p:sp>
    </p:spTree>
    <p:extLst>
      <p:ext uri="{BB962C8B-B14F-4D97-AF65-F5344CB8AC3E}">
        <p14:creationId xmlns:p14="http://schemas.microsoft.com/office/powerpoint/2010/main" val="2917265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4130</TotalTime>
  <Words>2121</Words>
  <Application>Microsoft Macintosh PowerPoint</Application>
  <PresentationFormat>Custom</PresentationFormat>
  <Paragraphs>194</Paragraphs>
  <Slides>34</Slides>
  <Notes>31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34</vt:i4>
      </vt:variant>
    </vt:vector>
  </HeadingPairs>
  <TitlesOfParts>
    <vt:vector size="44" baseType="lpstr">
      <vt:lpstr>Brush Script MT</vt:lpstr>
      <vt:lpstr>Aptos</vt:lpstr>
      <vt:lpstr>Arial</vt:lpstr>
      <vt:lpstr>Calibri</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Devlin Duldulao</cp:lastModifiedBy>
  <cp:revision>305</cp:revision>
  <dcterms:created xsi:type="dcterms:W3CDTF">2026-07-26T17:49:56Z</dcterms:created>
  <dcterms:modified xsi:type="dcterms:W3CDTF">2026-09-10T20:05:39Z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y fmtid="{D5CDD505-2E9C-101B-9397-08002B2CF9AE}" pid="3" name="MSIP_Label_178c0f71-65dc-41d1-a799-91080a268621_Enabled">
    <vt:lpwstr>true</vt:lpwstr>
  </property>
  <property fmtid="{D5CDD505-2E9C-101B-9397-08002B2CF9AE}" pid="4" name="MSIP_Label_178c0f71-65dc-41d1-a799-91080a268621_SetDate">
    <vt:lpwstr>2026-09-09T15:35:15Z</vt:lpwstr>
  </property>
  <property fmtid="{D5CDD505-2E9C-101B-9397-08002B2CF9AE}" pid="5" name="MSIP_Label_178c0f71-65dc-41d1-a799-91080a268621_Method">
    <vt:lpwstr>Standard</vt:lpwstr>
  </property>
  <property fmtid="{D5CDD505-2E9C-101B-9397-08002B2CF9AE}" pid="6" name="MSIP_Label_178c0f71-65dc-41d1-a799-91080a268621_Name">
    <vt:lpwstr>Internal - Crayon Group Only</vt:lpwstr>
  </property>
  <property fmtid="{D5CDD505-2E9C-101B-9397-08002B2CF9AE}" pid="7" name="MSIP_Label_178c0f71-65dc-41d1-a799-91080a268621_SiteId">
    <vt:lpwstr>8f47ad71-44ca-48bf-afe3-56b9360a4495</vt:lpwstr>
  </property>
  <property fmtid="{D5CDD505-2E9C-101B-9397-08002B2CF9AE}" pid="8" name="MSIP_Label_178c0f71-65dc-41d1-a799-91080a268621_ActionId">
    <vt:lpwstr>3894cb50-b398-499b-a2fb-df380df3d017</vt:lpwstr>
  </property>
  <property fmtid="{D5CDD505-2E9C-101B-9397-08002B2CF9AE}" pid="9" name="MSIP_Label_178c0f71-65dc-41d1-a799-91080a268621_ContentBits">
    <vt:lpwstr>2</vt:lpwstr>
  </property>
  <property fmtid="{D5CDD505-2E9C-101B-9397-08002B2CF9AE}" pid="10" name="MSIP_Label_178c0f71-65dc-41d1-a799-91080a268621_Tag">
    <vt:lpwstr>50, 3, 0, 1</vt:lpwstr>
  </property>
  <property fmtid="{D5CDD505-2E9C-101B-9397-08002B2CF9AE}" pid="11" name="ClassificationContentMarkingFooterLocations">
    <vt:lpwstr>Office Theme:3</vt:lpwstr>
  </property>
  <property fmtid="{D5CDD505-2E9C-101B-9397-08002B2CF9AE}" pid="12" name="ClassificationContentMarkingFooterText">
    <vt:lpwstr>Internal Only</vt:lpwstr>
  </property>
</Properties>
</file>