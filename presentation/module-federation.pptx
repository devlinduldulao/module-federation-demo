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76" r:id="rId3"/>
    <p:sldId id="275"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1" r:id="rId18"/>
    <p:sldId id="272" r:id="rId19"/>
    <p:sldId id="273" r:id="rId20"/>
    <p:sldId id="274" r:id="rId21"/>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428" autoAdjust="0"/>
    <p:restoredTop sz="67571" autoAdjust="0"/>
  </p:normalViewPr>
  <p:slideViewPr>
    <p:cSldViewPr snapToGrid="0" snapToObjects="1">
      <p:cViewPr varScale="1">
        <p:scale>
          <a:sx n="64" d="100"/>
          <a:sy n="64" d="100"/>
        </p:scale>
        <p:origin x="1176"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Devlin Duldulao, and this is a thirty-minute talk with a live demo. From five developers to two hundred: micro-frontends that scale your team and keep the UI responsive.</a:t>
            </a:r>
          </a:p>
          <a:p>
            <a:r>
              <a:rPr lang="en-US" dirty="0"/>
              <a:t>Most micro-frontend talks treat two ideas as if they live in different universes. Module Federation is for teams. Suspense is for loading. I want to ask a different question. What happens when you stop treating them as separate ideas?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264C9-CBBA-A379-0F18-AC511CA521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00835-96D6-34E4-242C-D4E1576F8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C2021-8BA1-759E-7582-FC72580C7018}"/>
              </a:ext>
            </a:extLst>
          </p:cNvPr>
          <p:cNvSpPr>
            <a:spLocks noGrp="1"/>
          </p:cNvSpPr>
          <p:nvPr>
            <p:ph type="body" idx="1"/>
          </p:nvPr>
        </p:nvSpPr>
        <p:spPr/>
        <p:txBody>
          <a:bodyPr/>
          <a:lstStyle/>
          <a:p>
            <a:r>
              <a:rPr lang="en-US" dirty="0"/>
              <a:t>This is not a toy diagram.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 TypeScript 7. Tailwind CSS v4. You can clone this after the talk and run </a:t>
            </a:r>
            <a:r>
              <a:rPr lang="en-US"/>
              <a:t>it.</a:t>
            </a:r>
          </a:p>
          <a:p>
            <a:endParaRPr lang="en-US" dirty="0"/>
          </a:p>
          <a:p>
            <a:r>
              <a:rPr lang="en-US" dirty="0"/>
              <a:t>Two promises. Module Federation gives growing teams better developer experience. Suspense fallbacks give visitors better user experience. We are going to prove both, live, in the same architecture.</a:t>
            </a:r>
          </a:p>
          <a:p>
            <a:endParaRPr lang="en-US" dirty="0"/>
          </a:p>
        </p:txBody>
      </p:sp>
      <p:sp>
        <p:nvSpPr>
          <p:cNvPr id="4" name="Slide Number Placeholder 3">
            <a:extLst>
              <a:ext uri="{FF2B5EF4-FFF2-40B4-BE49-F238E27FC236}">
                <a16:creationId xmlns:a16="http://schemas.microsoft.com/office/drawing/2014/main" id="{BF5BDD75-7889-D9B0-B939-E9B065792DC3}"/>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8482723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2CCDA-413C-579A-A6E3-FCAC060139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152B59-B5BB-262E-4E52-04028D8033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C81E29-5D7C-64C4-E6E9-53F214DF53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1EF55D-6E38-CC0E-C3A3-165FF21AA885}"/>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7643632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frontend architecture talks start with bundle size. Code splitting. Tree shaking. How many kilobytes you shipped. That is not the pain that drives companies to micro-frontends. The pain is team size.</a:t>
            </a:r>
          </a:p>
          <a:p>
            <a:r>
              <a:rPr lang="en-US" dirty="0"/>
              <a:t>At five developers, a monolith is fast and fun. Everyone knows the codebase. You ship in the afternoon.</a:t>
            </a:r>
          </a:p>
          <a:p>
            <a:r>
              <a:rPr lang="en-US" dirty="0"/>
              <a:t>At fifteen, merge conflicts are daily. CI takes twenty minutes. You are slowing down.</a:t>
            </a:r>
          </a:p>
          <a:p>
            <a:r>
              <a:rPr lang="en-US" dirty="0"/>
              <a:t>At fifty, deploys get blocked by unrelated failures. A flaky test in checkout stops the team working on search. Do not merge yet, we are releasing, becomes a Slack message you read every morning.</a:t>
            </a:r>
          </a:p>
          <a:p>
            <a:r>
              <a:rPr lang="en-US" dirty="0"/>
              <a:t>At a hundred, teams wait on other teams to release. Developer experience is broken. At two hundred, nobody understands the full application. Onboarding takes months.</a:t>
            </a:r>
          </a:p>
          <a:p>
            <a:r>
              <a:rPr lang="en-US" dirty="0"/>
              <a:t>If you have lived on a large frontend team, you have lived this ladder. Pull requests take days because reviewers do not own the code. One broken test blocks everyone. A shared package.json means everyone upgrades together, or nobody upgrades at all.</a:t>
            </a:r>
          </a:p>
          <a:p>
            <a:r>
              <a:rPr lang="en-US" dirty="0"/>
              <a:t>The architecture itself is destroying the development culture. Module Federation answers that. Independent deployment per module. Each team owns its own test suite. A new developer learns one module and ships on day one. Each remote pins its own dependencies.</a:t>
            </a:r>
          </a:p>
          <a:p>
            <a:r>
              <a:rPr lang="en-US" dirty="0"/>
              <a:t>That is the developer-experience half, and it is incomplete on its own. Visitors do not care about your team structure. They care that the app feels fast.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thesis. Module Federation is for developers and teams. Independent builds. Independent deploys. Onboarding that actually scales.</a:t>
            </a:r>
          </a:p>
          <a:p>
            <a:r>
              <a:rPr lang="en-US" dirty="0"/>
              <a:t>Suspense and skeletons are for end users. Instant perceived load. No blank screens at runtime.</a:t>
            </a:r>
          </a:p>
          <a:p>
            <a:r>
              <a:rPr lang="en-US" dirty="0"/>
              <a:t>You can have one without the other. Plenty of teams do. You can federate four remotes and still show a blank screen and a spinner every time someone clicks a tab. That is slow user experience even when team ownership is solid.</a:t>
            </a:r>
          </a:p>
          <a:p>
            <a:r>
              <a:rPr lang="en-US" dirty="0"/>
              <a:t>With Suspense, the user clicks a tab, a skeleton appears immediately, and the content resolves when it is ready. Each remote owns its own loading choreography. The shell does not know how long a remote takes to load. It renders Suspense and moves on.</a:t>
            </a:r>
          </a:p>
          <a:p>
            <a:r>
              <a:rPr lang="en-US" dirty="0"/>
              <a:t>The shell owns composition. The remote owns how long it takes to become ready. No isLoading props leak across module boundaries.</a:t>
            </a:r>
          </a:p>
          <a:p>
            <a:r>
              <a:rPr lang="en-US" dirty="0"/>
              <a:t>Module Federation scales the team. Suspense scales the loading experience. This demo runs both in the same architecture.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r>
              <a:rPr lang="en-US" dirty="0"/>
              <a:t>Four remotes hang off that shell. Home on 3004, instant. Records on 3001, eager. Prescriptions on 3002, streamed. Analytics on 3003, streamed. Not every module should load the same way. Content priority decides the strategy.</a:t>
            </a:r>
          </a:p>
          <a:p>
            <a:r>
              <a:rPr lang="en-US" dirty="0"/>
              <a:t>Home is the landing page. It is lazy for code splitting, with no artificial delay. It renders the moment the chunk arrives. The status strip says Instant.</a:t>
            </a:r>
          </a:p>
          <a:p>
            <a:r>
              <a:rPr lang="en-US" dirty="0"/>
              <a:t>Records is high-value content. It is preloaded the moment the shell mounts. By the time the user clicks, it is already cached. The status strip says Eager.</a:t>
            </a:r>
          </a:p>
          <a:p>
            <a:r>
              <a:rPr lang="en-US" dirty="0"/>
              <a:t>Prescriptions and Analytics are secondary. They load on demand. The user sees a purpose-built skeleton while the module resolves. The status strip says Streaming.</a:t>
            </a:r>
          </a:p>
          <a:p>
            <a:r>
              <a:rPr lang="en-US" dirty="0"/>
              <a:t>When we get to the live demo, watch that status strip. It is the scoreboard for this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in this repo is a standalone app. Open one package folder. Run pnpm install and pnpm run dev. You have a working React app with hot module replacement. No shell. No other remotes.</a:t>
            </a:r>
          </a:p>
          <a:p>
            <a:r>
              <a:rPr lang="en-US" dirty="0"/>
              <a:t>The stack is React 19.2, because Suspense fallbacks are built into the runtime. Rspack 2.1, because Module Federation is native, the React Compiler runs in Rust, and hot reload is sub-second. TypeScript 6 in strict mode, so the event contracts are typed. Tailwind v4 for theme tokens. Vitest 4.1 for component tests.</a:t>
            </a:r>
          </a:p>
          <a:p>
            <a:r>
              <a:rPr lang="en-US" dirty="0"/>
              <a:t>There is one trick that makes standalone mode possible. The entire entry file of every module is one line: import bootstrap. That dynamic import is an async boundary.</a:t>
            </a:r>
          </a:p>
          <a:p>
            <a:r>
              <a:rPr lang="en-US" dirty="0"/>
              <a:t>Module Federation shares React with eager set to false. Shared React has to be negotiated before any React code runs. Import React synchronously in the entry file and you get a white screen and a loadShareSync error.</a:t>
            </a:r>
          </a:p>
          <a:p>
            <a:r>
              <a:rPr lang="en-US" dirty="0"/>
              <a:t>With the bootstrap split, Module Federation finishes the handshake, then bootstrap renders. All five packages use this pattern. Do not remove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client-side Suspense fallback works inside a federated remote.</a:t>
            </a:r>
          </a:p>
          <a:p>
            <a:r>
              <a:rPr lang="en-US" dirty="0"/>
              <a:t>Create resource takes an async function. It starts the promise immediately. Then it returns an object with one method, named read. Read is synchronous on purpose. If the promise is still pending, read throws that promise. Suspense in the shell catches the throw and shows the skeleton. If it failed, the error boundary catches it. If it succeeded, read returns the result.</a:t>
            </a:r>
          </a:p>
          <a:p>
            <a:r>
              <a:rPr lang="en-US" dirty="0"/>
              <a:t>The streaming wrapper is tiny. Get the cached resource. Call read. Render the real component. The wrapper's only job is to trigger Suspense. The actual UI lives in the standalone component.</a:t>
            </a:r>
          </a:p>
          <a:p>
            <a:r>
              <a:rPr lang="en-US" dirty="0"/>
              <a:t>This demo delays a client-side promise so you can see the skeleton on stage. Prescriptions waits two and a half seconds. Analytics waits four. That is not streaming server-side rendering. It is a teaching device. In production you pair this with a Suspense-compatible cached data layer. React 19's use hook can read that promise the same way.</a:t>
            </a:r>
          </a:p>
          <a:p>
            <a:r>
              <a:rPr lang="en-US" dirty="0"/>
              <a:t>The cache matters. The resource is created once, outside render. Create a new promise on every render, and Suspense will loop forever.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is where the three loading strategies live, in one file.</a:t>
            </a:r>
          </a:p>
          <a:p>
            <a:r>
              <a:rPr lang="en-US" dirty="0"/>
              <a:t>Home is instant. A lazy import of Home. No streaming delay. When the chunk arrives, it renders.</a:t>
            </a:r>
          </a:p>
          <a:p>
            <a:r>
              <a:rPr lang="en-US" dirty="0"/>
              <a:t>Records is eager. A lazy import of the standalone component. At shell init we fire that import and warm the cache. When the user clicks Records, lazy resolves from cache. No skeleton. No delay.</a:t>
            </a:r>
          </a:p>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r>
              <a:rPr lang="en-US" dirty="0"/>
              <a:t>People always ask why we use lazy for eager modules. You cannot use a static import with Module Federation. The remote is a separate build on a separate server, resolved at runtime. So we fire import at shell init, the browser caches the module, and when React later calls the same import inside lazy, it resolves instantly.</a:t>
            </a:r>
          </a:p>
          <a:p>
            <a:r>
              <a:rPr lang="en-US" dirty="0"/>
              <a:t>Different content, different priority. The landing page is instant. High-value content is eager. Secondary content streams on demand.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header exposes three buttons. Settings, Commands, and Lab. They are how I will run the live demo without hunting for UI.</a:t>
            </a:r>
          </a:p>
          <a:p>
            <a:r>
              <a:rPr lang="en-US" dirty="0"/>
              <a:t>Settings is a drawer. Dark or light. The shell rewrites CSS variables on the root, persists the choice to local storage, and dispatches a typed theme-change event. Every remote reacts. No shared imports. No prop drilling.</a:t>
            </a:r>
          </a:p>
          <a:p>
            <a:r>
              <a:rPr lang="en-US" dirty="0"/>
              <a:t>Commands is a Control K palette. Type kill records, or canary, or dark, and the list filters in real time. Navigation, theme, kill switches, and deployment rings are all keyboard actions.</a:t>
            </a:r>
          </a:p>
          <a:p>
            <a:r>
              <a:rPr lang="en-US" dirty="0"/>
              <a:t>Lab is the Federation Lab. Four remotes. A health monitor that polls remoteEntry.js every five seconds. Kill switches. An A/B deployment ring. That panel is the money shot of this talk. I can take a module down in front of you and show you that the rest of the app keeps running.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like microservices? For the ninety-nine percent case, yes.</a:t>
            </a:r>
          </a:p>
          <a:p>
            <a:r>
              <a:rPr lang="en-US" dirty="0"/>
              <a:t>Microservices isolate at the operating-system level. Separate processes. Separate memory. If one crashes, the others keep running. Micro-frontends in this demo isolate at the React level. An error boundary per module. If Records crashes, Prescriptions keeps rendering. If an import fails, the catch shows a fallback and a Retry button.</a:t>
            </a:r>
          </a:p>
          <a:p>
            <a:r>
              <a:rPr lang="en-US" dirty="0"/>
              <a:t>We do four things to get that isolation. A per-module error boundary. Per-module Suspense, so a slow remote shows only its own skeleton. A catch on lazy, so a down server becomes a fallback instead of a white screen. And route-based rendering, so only one module is the primary view at a time.</a:t>
            </a:r>
          </a:p>
          <a:p>
            <a:r>
              <a:rPr lang="en-US" dirty="0"/>
              <a:t>The honest caveat is the one percent. All modules share one browser tab. A true infinite loop or a massive memory leak freezes everything. That is the cost of a shared runtime. Iframes would give you process-level isolation, and they would break shared React context, theming, and routing. Most Module Federation setups accept the tradeoff.</a:t>
            </a:r>
          </a:p>
          <a:p>
            <a:r>
              <a:rPr lang="en-US" dirty="0"/>
              <a:t>When we get to the Lab, I will kill Records live. Prescriptions and Analytics will keep working. That is the proof.</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talks to Prescriptions. How, if Records has never imported a line from Prescriptions? Events. Not a shared Redux store. Not a shared npm package. A typed custom event on window.</a:t>
            </a:r>
          </a:p>
          <a:p>
            <a:r>
              <a:rPr lang="en-US" dirty="0"/>
              <a:t>Records dispatches addPrescription with an id, a name, a price, and a quantity. Prescriptions listens, updates its own state, and never imports Records. Records also dispatches showNotification, and the shell shows a toast. Prescriptions can dispatch navigateToModule. The shell is still the only owner of the router. A remote may ask to navigate. It may not mutate the route itself.</a:t>
            </a:r>
          </a:p>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WindowEventMap. No shared package is required. addEventListener is fully typed.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a:p>
            <a:r>
              <a:rPr lang="en-US" dirty="0"/>
              <a:t>Every remote has a useActiveTheme hook. It tries the host bridge first, falls back to local storage, and defaults to dark. Then it listens for theme-change and updates. Remotes style with Tailwind classes that point at those CSS variables. When the shell rewrites the variables, every remote repaints. No shared CSS build step.</a:t>
            </a:r>
          </a:p>
          <a:p>
            <a:r>
              <a:rPr lang="en-US" dirty="0"/>
              <a:t>Two palettes. Dark is editorial noir. Light is clean white. In the demo I will flip this live, and you will watch Records, Prescriptions, and Analytics change together.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of preloading. Eager on mount. Hover on demand.</a:t>
            </a:r>
          </a:p>
          <a:p>
            <a:r>
              <a:rPr lang="en-US" dirty="0"/>
              <a:t>There is a prefetchers map. One function per module. Each function is a bare import of that remote. At shell init, we fire the ones marked eager. Records starts loading before the user has clicked anything.</a:t>
            </a:r>
          </a:p>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test a federated component without standing up five dev servers? The trick is a Vitest alias. Records slash MedicalRecords does not point at a remote entry. It points at the source file. Same pattern for Home, Prescriptions, and Analytics.</a:t>
            </a:r>
          </a:p>
          <a:p>
            <a:r>
              <a:rPr lang="en-US" dirty="0"/>
              <a:t>Then a normal React Testing Library test works. Render Medical Records. Click the button that creates a prescription for Sarah Chen. Assert that a window event fired, once, with the right payload.</a:t>
            </a:r>
          </a:p>
          <a:p>
            <a:r>
              <a:rPr lang="en-US" dirty="0"/>
              <a:t>Every module is tested in isolation. No network. No remoteEntry.js. Two hundred and ten tests across twenty-one files. All green. A broken prescriptions test does not block the records team. A new hire runs the tests for one folder and understands the contract.</a:t>
            </a:r>
          </a:p>
          <a:p>
            <a:r>
              <a:rPr lang="en-US" dirty="0"/>
              <a:t>If we have time in the demo, I will run pnpm test in front of you.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to the running app now. This is localhost 3000. Everything you see is four separate React apps composed at runtime inside one shell.</a:t>
            </a:r>
          </a:p>
          <a:p>
            <a:r>
              <a:rPr lang="en-US" dirty="0"/>
              <a:t>Watch the status strip. Home says Instant. It rendered the moment its chunk arrived. No artificial delay. No skeleton.</a:t>
            </a:r>
          </a:p>
          <a:p>
            <a:r>
              <a:rPr lang="en-US" dirty="0"/>
              <a:t>I am opening Records. Records appears immediately too, but for a different reason. It was preloaded the moment the shell mounted. By the time I clicked, the chunk was already in the browser cache. The status strip says Eager.</a:t>
            </a:r>
          </a:p>
          <a:p>
            <a:r>
              <a:rPr lang="en-US" dirty="0"/>
              <a:t>I am opening Prescriptions, and I am going to let the skeleton play. This is the third strategy. Prescriptions loads on demand. The skeleton renders immediately. Then the route content replaces it when its simulated resource resolves. The shell does not know that timing. It rendered a Suspense boundary and moved on.</a:t>
            </a:r>
          </a:p>
          <a:p>
            <a:r>
              <a:rPr lang="en-US" dirty="0"/>
              <a:t>Analytics is the same story. Second skeleton. On demand. Streaming.</a:t>
            </a:r>
          </a:p>
          <a:p>
            <a:r>
              <a:rPr lang="en-US" dirty="0"/>
              <a:t>Three strategies. Three content priorities. The landing page is instant. High-value content is eager. Secondary content shows a fallback while it resolves. What you cannot see is that each of these is a separate app on a separate dev server.</a:t>
            </a:r>
          </a:p>
          <a:p>
            <a:r>
              <a:rPr lang="en-US" dirty="0"/>
              <a:t>I am going back to Records. I am adding Sarah Chen's prescription. That toast did not come from Records importing a toast library from the shell. Records dispatched a typed event. The shell listened and showed the notification.</a:t>
            </a:r>
          </a:p>
          <a:p>
            <a:r>
              <a:rPr lang="en-US" dirty="0"/>
              <a:t>I am opening Prescriptions. The item is here. Records just talked to Prescriptions, and Records has never imported a line from Prescriptions. That was a custom event on window. It avoids direct import coupling, as long as the payload stays backward compatible. It can also cross framework boundaries.</a:t>
            </a:r>
          </a:p>
          <a:p>
            <a:r>
              <a:rPr lang="en-US" dirty="0"/>
              <a:t>I am removing the items. I am clicking Browse Records. Navigation works the same way. The remote asked the shell to navigate. Only the shell owns the router.</a:t>
            </a:r>
          </a:p>
          <a:p>
            <a:r>
              <a:rPr lang="en-US" dirty="0"/>
              <a:t>I am pressing Control K and opening the Federation Lab. Four remotes. Four health dots. Each one polls that module's remoteEntry.js every five seconds.</a:t>
            </a:r>
          </a:p>
          <a:p>
            <a:r>
              <a:rPr lang="en-US" dirty="0"/>
              <a:t>I am toggling the kill switch for Records. I am opening Records. The Records team just shipped a broken deploy. Their module is down.</a:t>
            </a:r>
          </a:p>
          <a:p>
            <a:r>
              <a:rPr lang="en-US" dirty="0"/>
              <a:t>I am opening Prescriptions. I am opening Analytics. Both work. Independent deploys are the developer-experience win. Contained failures are the user-experience win. One error boundary per module. A catch on every lazy import. Same idea as a microservice going down.</a:t>
            </a:r>
          </a:p>
          <a:p>
            <a:r>
              <a:rPr lang="en-US" dirty="0"/>
              <a:t>Is this microservices? Yes, for the ninety-nine percent case. Crashes, network failures, bad deploys: fully contained. The one percent gap: all modules share one browser tab, so a true infinite loop freezes everything. That is the cost of a shared runtime, and most Module Federation setups accept it.</a:t>
            </a:r>
          </a:p>
          <a:p>
            <a:r>
              <a:rPr lang="en-US" dirty="0"/>
              <a:t>I am restoring all remotes.</a:t>
            </a:r>
          </a:p>
          <a:p>
            <a:r>
              <a:rPr lang="en-US" dirty="0"/>
              <a:t>Each remote can run a different version. I am switching the ring from Stable to Canary. In production, this toggle is a routing decision on remoteEntry URLs. You canary one team's module while everything else stays stable. I am switching back to Stable.</a:t>
            </a:r>
          </a:p>
          <a:p>
            <a:r>
              <a:rPr lang="en-US" dirty="0"/>
              <a:t>One more cross-cutting concern: theming. I am switching to light. The shell rewrote CSS variables, persisted to local storage, and broadcast a typed event. Every remote reacted with zero shared imports. I am switching back to dark.</a:t>
            </a:r>
          </a:p>
          <a:p>
            <a:r>
              <a:rPr lang="en-US" dirty="0"/>
              <a:t>If we still have time, I am walking the code. The entire entry file of every module is one line: import bootstrap. That dynamic import is the async boundary Module Federation needs to negotiate the shared React copy before any React code runs.</a:t>
            </a:r>
          </a:p>
          <a:p>
            <a:r>
              <a:rPr lang="en-US" dirty="0"/>
              <a:t>The records Rspack config is a normal bundler config. The one thing that makes this a micro-frontend is Module Federation Plugin. Exposes is the team's public API. Shared with singleton true means one React for everyone.</a:t>
            </a:r>
          </a:p>
          <a:p>
            <a:r>
              <a:rPr lang="en-US" dirty="0"/>
              <a:t>The host mirror maps a scope to a remoteEntry URL, resolved at runtime. The three strategies are data: load strategy instant, eager, or streamed. Three layers of resilience: catch on the import, Suspense for the skeleton, error boundary for runtime errors.</a:t>
            </a:r>
          </a:p>
          <a:p>
            <a:r>
              <a:rPr lang="en-US" dirty="0"/>
              <a:t>The entire client-side Suspense pattern is about forty lines. Read throws the promise while pending. Suspense catches it. The wrapper's only job is to trigger Suspense. The real UI lives in the standalone component.</a:t>
            </a:r>
          </a:p>
          <a:p>
            <a:r>
              <a:rPr lang="en-US" dirty="0"/>
              <a:t>The event contract is one types file. Augment WindowEventMap, and every addEventListener is fully typed. No shared npm package.</a:t>
            </a:r>
          </a:p>
          <a:p>
            <a:r>
              <a:rPr lang="en-US" dirty="0"/>
              <a:t>I am running the tests. Every module is tested in isolation. No dev servers. The trick is a Vitest alias that resolves federated imports to the source file. Two hundred and ten tests. Twenty-one files. All green.</a:t>
            </a:r>
          </a:p>
          <a:p>
            <a:r>
              <a:rPr lang="en-US" dirty="0"/>
              <a:t>One workflow per module. When the Records team pushes, only Records CI runs. One big workflow that rebuilds everything on every push couples your deploys and defeats the entire point of micro-frontends.</a:t>
            </a:r>
          </a:p>
          <a:p>
            <a:r>
              <a:rPr lang="en-US" dirty="0"/>
              <a:t>So what should you remember tomorrow morning?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navigateToModule. Only the shell mutates router state.</a:t>
            </a:r>
          </a:p>
          <a:p>
            <a:r>
              <a:rPr lang="en-US" dirty="0"/>
              <a:t>Five. Ship fault isolation on purpose. A catch on every lazy import, plus an error boundary per module, keeps one broken remote from taking down the app.</a:t>
            </a:r>
          </a:p>
          <a:p>
            <a:r>
              <a:rPr lang="en-US" dirty="0"/>
              <a:t>Six. Rspack keeps the monorepo fast. Sub-second hot reload across four applications. Module Federation is built in. Rspack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ready for this architecture when you recognize these signals.</a:t>
            </a:r>
          </a:p>
          <a:p>
            <a:r>
              <a:rPr lang="en-US" dirty="0"/>
              <a:t>If multiple teams ship the same single-page app and block each other on releases, reach for Module Federation. Independent builds. Deploys can follow.</a:t>
            </a:r>
          </a:p>
          <a:p>
            <a:r>
              <a:rPr lang="en-US" dirty="0"/>
              <a:t>If users wait for a full bundle before they see anything, reach for Suspense fallbacks. Skeletons render immediately. Content replaces them when it is ready.</a:t>
            </a:r>
          </a:p>
          <a:p>
            <a:r>
              <a:rPr lang="en-US" dirty="0"/>
              <a:t>If one broken feature takes down the whole page, wrap every module in an error boundary and a catch on lazy.</a:t>
            </a:r>
          </a:p>
          <a:p>
            <a:r>
              <a:rPr lang="en-US" dirty="0"/>
              <a:t>If shared state libraries create invisible coupling between features, replace the shared store with custom events on window. No direct imports. Explicit contracts.</a:t>
            </a:r>
          </a:p>
          <a:p>
            <a:r>
              <a:rPr lang="en-US" dirty="0"/>
              <a:t>If you need canary releases at the feature level, version remotes independently. Deploy one remote without touching the others.</a:t>
            </a:r>
          </a:p>
          <a:p>
            <a:r>
              <a:rPr lang="en-US" dirty="0"/>
              <a:t>If testing one feature requires the full app running, use the Vitest alias trick. Test any remote in isolation. No servers.</a:t>
            </a:r>
          </a:p>
          <a:p>
            <a:r>
              <a:rPr lang="en-US" dirty="0"/>
              <a:t>Typical domains already look like this. Healthcare platforms. SaaS dashboards. Enterprise portals. Media platforms. You do not rewrite everything. You extract one slow-moving feature into a remote. Keep the rest in the shell. Prove the pattern. Then expand.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p>
          <a:p>
            <a:r>
              <a:rPr lang="en-US" dirty="0"/>
              <a:t>The repo is public. Install with pnpm, run pnpm run dev, open localhost 3000, and start exploring. You will find the five packages, the two hundred and ten tests, and the Federation Lab we used on stage.</a:t>
            </a:r>
          </a:p>
          <a:p>
            <a:r>
              <a:rPr lang="en-US" dirty="0"/>
              <a:t>I'm Devlin Duldulao. You can find me at Devlin Duldulao on social.</a:t>
            </a:r>
          </a:p>
          <a:p>
            <a:r>
              <a:rPr lang="en-US" dirty="0"/>
              <a:t>If you want to argue about React 19 Suspense, here is the short version. The nearest fallback can commit sooner, then React pre-warms suspended siblings. Boundary design and caching still matter.</a:t>
            </a:r>
          </a:p>
          <a:p>
            <a:r>
              <a:rPr lang="en-US" dirty="0"/>
              <a:t>I would love your questions. Ask me about kill switches, about events versus a shared store, about why lazy for eager modules, or about when this architecture is too much. The floor is yours.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48640" y="1600200"/>
            <a:ext cx="11064240" cy="1371600"/>
          </a:xfrm>
          <a:prstGeom prst="rect">
            <a:avLst/>
          </a:prstGeom>
          <a:noFill/>
          <a:ln/>
        </p:spPr>
        <p:txBody>
          <a:bodyPr wrap="square" rtlCol="0" anchor="ctr"/>
          <a:lstStyle/>
          <a:p>
            <a:r>
              <a:rPr lang="en-US" sz="6600" i="1" dirty="0">
                <a:solidFill>
                  <a:srgbClr val="FAFAF9"/>
                </a:solidFill>
                <a:latin typeface="Instrument Serif" pitchFamily="34" charset="0"/>
                <a:ea typeface="Instrument Serif" pitchFamily="34" charset="-122"/>
                <a:cs typeface="Instrument Serif" pitchFamily="34" charset="-120"/>
              </a:rPr>
              <a:t>Streaming Micro-Frontends: React 19 Suspense Meets Module Federation</a:t>
            </a:r>
            <a:endParaRPr lang="en-US" sz="6600" dirty="0"/>
          </a:p>
        </p:txBody>
      </p:sp>
      <p:sp>
        <p:nvSpPr>
          <p:cNvPr id="7" name="Text 5"/>
          <p:cNvSpPr/>
          <p:nvPr/>
        </p:nvSpPr>
        <p:spPr>
          <a:xfrm>
            <a:off x="640080" y="5486400"/>
            <a:ext cx="10972800" cy="365760"/>
          </a:xfrm>
          <a:prstGeom prst="rect">
            <a:avLst/>
          </a:prstGeom>
          <a:noFill/>
          <a:ln/>
        </p:spPr>
        <p:txBody>
          <a:bodyPr wrap="square" rtlCol="0" anchor="ctr"/>
          <a:lstStyle/>
          <a:p>
            <a:pPr marL="0" indent="0">
              <a:buNone/>
            </a:pPr>
            <a:r>
              <a:rPr lang="en-US" sz="2800" kern="0" spc="200" dirty="0">
                <a:solidFill>
                  <a:srgbClr val="D4FF00"/>
                </a:solidFill>
                <a:latin typeface="IBM Plex Mono" pitchFamily="34" charset="0"/>
                <a:ea typeface="IBM Plex Mono" pitchFamily="34" charset="-122"/>
                <a:cs typeface="IBM Plex Mono" pitchFamily="34" charset="-120"/>
              </a:rPr>
              <a:t>Devlin Duldulao</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E6E5659-012F-9DB5-24D7-BCB6DF4F0BD8}"/>
            </a:ext>
          </a:extLst>
        </p:cNvPr>
        <p:cNvGrpSpPr/>
        <p:nvPr/>
      </p:nvGrpSpPr>
      <p:grpSpPr>
        <a:xfrm>
          <a:off x="0" y="0"/>
          <a:ext cx="0" cy="0"/>
          <a:chOff x="0" y="0"/>
          <a:chExt cx="0" cy="0"/>
        </a:xfrm>
      </p:grpSpPr>
      <p:sp>
        <p:nvSpPr>
          <p:cNvPr id="3" name="Text 4">
            <a:extLst>
              <a:ext uri="{FF2B5EF4-FFF2-40B4-BE49-F238E27FC236}">
                <a16:creationId xmlns:a16="http://schemas.microsoft.com/office/drawing/2014/main" id="{97970F93-03A9-E039-C72E-6674A13A62F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40173650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DF1CB5B-7B69-A99D-B5CE-336CB4B74605}"/>
            </a:ext>
          </a:extLst>
        </p:cNvPr>
        <p:cNvGrpSpPr/>
        <p:nvPr/>
      </p:nvGrpSpPr>
      <p:grpSpPr>
        <a:xfrm>
          <a:off x="0" y="0"/>
          <a:ext cx="0" cy="0"/>
          <a:chOff x="0" y="0"/>
          <a:chExt cx="0" cy="0"/>
        </a:xfrm>
      </p:grpSpPr>
    </p:spTree>
    <p:extLst>
      <p:ext uri="{BB962C8B-B14F-4D97-AF65-F5344CB8AC3E}">
        <p14:creationId xmlns:p14="http://schemas.microsoft.com/office/powerpoint/2010/main" val="4402082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PROBLEM</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Team size is the bottleneck</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02</a:t>
            </a:r>
            <a:endParaRPr lang="en-US" sz="850" dirty="0"/>
          </a:p>
        </p:txBody>
      </p:sp>
      <p:sp>
        <p:nvSpPr>
          <p:cNvPr id="8" name="Text 5"/>
          <p:cNvSpPr/>
          <p:nvPr/>
        </p:nvSpPr>
        <p:spPr>
          <a:xfrm>
            <a:off x="548640" y="1691640"/>
            <a:ext cx="11064240" cy="1417320"/>
          </a:xfrm>
          <a:prstGeom prst="rect">
            <a:avLst/>
          </a:prstGeom>
          <a:noFill/>
          <a:ln/>
        </p:spPr>
        <p:txBody>
          <a:bodyPr wrap="square" rtlCol="0" anchor="t"/>
          <a:lstStyle/>
          <a:p>
            <a:pPr marL="0" indent="0" algn="l">
              <a:lnSpc>
                <a:spcPts val="1820"/>
              </a:lnSpc>
              <a:buNone/>
            </a:pPr>
            <a:r>
              <a:rPr lang="en-US" sz="1300" dirty="0">
                <a:solidFill>
                  <a:srgbClr val="FAFAF9"/>
                </a:solidFill>
                <a:latin typeface="IBM Plex Mono" pitchFamily="34" charset="0"/>
                <a:ea typeface="IBM Plex Mono" pitchFamily="34" charset="-122"/>
                <a:cs typeface="IBM Plex Mono" pitchFamily="34" charset="-120"/>
              </a:rPr>
              <a:t>  5 devs → everyone knows the codebase → fast, fun, productive</a:t>
            </a:r>
            <a:endParaRPr lang="en-US" sz="1300" dirty="0"/>
          </a:p>
          <a:p>
            <a:pPr marL="0" indent="0" algn="l">
              <a:lnSpc>
                <a:spcPts val="1820"/>
              </a:lnSpc>
              <a:buNone/>
            </a:pPr>
            <a:r>
              <a:rPr lang="en-US" sz="1300" dirty="0">
                <a:solidFill>
                  <a:srgbClr val="FAFAF9"/>
                </a:solidFill>
                <a:latin typeface="IBM Plex Mono" pitchFamily="34" charset="0"/>
                <a:ea typeface="IBM Plex Mono" pitchFamily="34" charset="-122"/>
                <a:cs typeface="IBM Plex Mono" pitchFamily="34" charset="-120"/>
              </a:rPr>
              <a:t> 15 devs → merge conflicts daily, CI takes 20 min</a:t>
            </a:r>
            <a:endParaRPr lang="en-US" sz="1300" dirty="0"/>
          </a:p>
          <a:p>
            <a:pPr marL="0" indent="0" algn="l">
              <a:lnSpc>
                <a:spcPts val="1820"/>
              </a:lnSpc>
              <a:buNone/>
            </a:pPr>
            <a:r>
              <a:rPr lang="en-US" sz="1300" dirty="0">
                <a:solidFill>
                  <a:srgbClr val="FAFAF9"/>
                </a:solidFill>
                <a:latin typeface="IBM Plex Mono" pitchFamily="34" charset="0"/>
                <a:ea typeface="IBM Plex Mono" pitchFamily="34" charset="-122"/>
                <a:cs typeface="IBM Plex Mono" pitchFamily="34" charset="-120"/>
              </a:rPr>
              <a:t> 50 devs → deploys blocked by unrelated failures</a:t>
            </a:r>
            <a:endParaRPr lang="en-US" sz="1300" dirty="0"/>
          </a:p>
          <a:p>
            <a:pPr marL="0" indent="0" algn="l">
              <a:lnSpc>
                <a:spcPts val="1820"/>
              </a:lnSpc>
              <a:buNone/>
            </a:pPr>
            <a:r>
              <a:rPr lang="en-US" sz="1300" dirty="0">
                <a:solidFill>
                  <a:srgbClr val="FAFAF9"/>
                </a:solidFill>
                <a:latin typeface="IBM Plex Mono" pitchFamily="34" charset="0"/>
                <a:ea typeface="IBM Plex Mono" pitchFamily="34" charset="-122"/>
                <a:cs typeface="IBM Plex Mono" pitchFamily="34" charset="-120"/>
              </a:rPr>
              <a:t>100 devs → teams waiting on other teams to release</a:t>
            </a:r>
            <a:endParaRPr lang="en-US" sz="1300" dirty="0"/>
          </a:p>
          <a:p>
            <a:pPr marL="0" indent="0" algn="l">
              <a:lnSpc>
                <a:spcPts val="1820"/>
              </a:lnSpc>
              <a:buNone/>
            </a:pPr>
            <a:r>
              <a:rPr lang="en-US" sz="1300" dirty="0">
                <a:solidFill>
                  <a:srgbClr val="FAFAF9"/>
                </a:solidFill>
                <a:latin typeface="IBM Plex Mono" pitchFamily="34" charset="0"/>
                <a:ea typeface="IBM Plex Mono" pitchFamily="34" charset="-122"/>
                <a:cs typeface="IBM Plex Mono" pitchFamily="34" charset="-120"/>
              </a:rPr>
              <a:t>200 devs → nobody understands the full app</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11064240" cy="1652016"/>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310896">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MONOLITH PAIN (DX)</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MF SOLUTION</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Teams blocked by shared release cycles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Independent deployment per module</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One broken test blocks everyone's pipeline</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Each team owns their own test suite</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Onboarding means learning the entire app</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New devs learn one module, ship day one</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Shared package.json: upgrade together or never</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Each remote pins its own dependencies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
        <p:nvSpPr>
          <p:cNvPr id="10" name="Shape 6"/>
          <p:cNvSpPr/>
          <p:nvPr/>
        </p:nvSpPr>
        <p:spPr>
          <a:xfrm>
            <a:off x="548640" y="5769864"/>
            <a:ext cx="32004" cy="530352"/>
          </a:xfrm>
          <a:prstGeom prst="rect">
            <a:avLst/>
          </a:prstGeom>
          <a:solidFill>
            <a:srgbClr val="D4FF00"/>
          </a:solidFill>
          <a:ln/>
        </p:spPr>
        <p:txBody>
          <a:bodyPr/>
          <a:lstStyle/>
          <a:p>
            <a:endParaRPr lang="en-GB"/>
          </a:p>
        </p:txBody>
      </p:sp>
      <p:sp>
        <p:nvSpPr>
          <p:cNvPr id="11" name="Text 7"/>
          <p:cNvSpPr/>
          <p:nvPr/>
        </p:nvSpPr>
        <p:spPr>
          <a:xfrm>
            <a:off x="731520" y="5715000"/>
            <a:ext cx="10881360" cy="640080"/>
          </a:xfrm>
          <a:prstGeom prst="rect">
            <a:avLst/>
          </a:prstGeom>
          <a:noFill/>
          <a:ln/>
        </p:spPr>
        <p:txBody>
          <a:bodyPr wrap="square" rtlCol="0" anchor="ctr"/>
          <a:lstStyle/>
          <a:p>
            <a:pPr marL="0" indent="0">
              <a:buNone/>
            </a:pPr>
            <a:r>
              <a:rPr lang="en-US" sz="1400" i="1" dirty="0">
                <a:solidFill>
                  <a:srgbClr val="A8A29E"/>
                </a:solidFill>
                <a:latin typeface="Instrument Serif" pitchFamily="34" charset="0"/>
                <a:ea typeface="Instrument Serif" pitchFamily="34" charset="-122"/>
                <a:cs typeface="Instrument Serif" pitchFamily="34" charset="-120"/>
              </a:rPr>
              <a:t>Visitors don't care about your team structure. They care that the app feels fast.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 INSIGHT</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03</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123444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100" b="1" kern="0" spc="200" dirty="0">
                          <a:solidFill>
                            <a:srgbClr val="D4FF00"/>
                          </a:solidFill>
                          <a:latin typeface="IBM Plex Mono" pitchFamily="34" charset="0"/>
                          <a:ea typeface="IBM Plex Mono" pitchFamily="34" charset="-122"/>
                          <a:cs typeface="IBM Plex Mono" pitchFamily="34" charset="-120"/>
                        </a:rPr>
                        <a:t>CONCERN</a:t>
                      </a:r>
                      <a:endParaRPr lang="en-US" sz="11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100" b="1" kern="0" spc="200" dirty="0">
                          <a:solidFill>
                            <a:srgbClr val="D4FF00"/>
                          </a:solidFill>
                          <a:latin typeface="IBM Plex Mono" pitchFamily="34" charset="0"/>
                          <a:ea typeface="IBM Plex Mono" pitchFamily="34" charset="-122"/>
                          <a:cs typeface="IBM Plex Mono" pitchFamily="34" charset="-120"/>
                        </a:rPr>
                        <a:t>WHO BENEFITS</a:t>
                      </a:r>
                      <a:endParaRPr lang="en-US" sz="11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100" b="1" kern="0" spc="200" dirty="0">
                          <a:solidFill>
                            <a:srgbClr val="D4FF00"/>
                          </a:solidFill>
                          <a:latin typeface="IBM Plex Mono" pitchFamily="34" charset="0"/>
                          <a:ea typeface="IBM Plex Mono" pitchFamily="34" charset="-122"/>
                          <a:cs typeface="IBM Plex Mono" pitchFamily="34" charset="-120"/>
                        </a:rPr>
                        <a:t>WHAT IT SOLVES</a:t>
                      </a:r>
                      <a:endParaRPr lang="en-US" sz="11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1300" dirty="0">
                          <a:solidFill>
                            <a:srgbClr val="FAFAF9"/>
                          </a:solidFill>
                          <a:latin typeface="DM Sans" pitchFamily="34" charset="0"/>
                          <a:ea typeface="DM Sans" pitchFamily="34" charset="-122"/>
                          <a:cs typeface="DM Sans" pitchFamily="34" charset="-120"/>
                        </a:rPr>
                        <a:t>Module Federation</a:t>
                      </a:r>
                      <a:endParaRPr lang="en-US" sz="13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300" dirty="0">
                          <a:solidFill>
                            <a:srgbClr val="FAFAF9"/>
                          </a:solidFill>
                          <a:latin typeface="DM Sans" pitchFamily="34" charset="0"/>
                          <a:ea typeface="DM Sans" pitchFamily="34" charset="-122"/>
                          <a:cs typeface="DM Sans" pitchFamily="34" charset="-120"/>
                        </a:rPr>
                        <a:t>Developers &amp; teams</a:t>
                      </a:r>
                      <a:endParaRPr lang="en-US" sz="13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300" dirty="0">
                          <a:solidFill>
                            <a:srgbClr val="FAFAF9"/>
                          </a:solidFill>
                          <a:latin typeface="DM Sans" pitchFamily="34" charset="0"/>
                          <a:ea typeface="DM Sans" pitchFamily="34" charset="-122"/>
                          <a:cs typeface="DM Sans" pitchFamily="34" charset="-120"/>
                        </a:rPr>
                        <a:t>Independent builds, deploys, onboarding at scale</a:t>
                      </a:r>
                      <a:endParaRPr lang="en-US" sz="13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1300" dirty="0">
                          <a:solidFill>
                            <a:srgbClr val="FAFAF9"/>
                          </a:solidFill>
                          <a:latin typeface="DM Sans" pitchFamily="34" charset="0"/>
                          <a:ea typeface="DM Sans" pitchFamily="34" charset="-122"/>
                          <a:cs typeface="DM Sans" pitchFamily="34" charset="-120"/>
                        </a:rPr>
                        <a:t>Suspense + skeletons</a:t>
                      </a:r>
                      <a:endParaRPr lang="en-US" sz="13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300" dirty="0">
                          <a:solidFill>
                            <a:srgbClr val="FAFAF9"/>
                          </a:solidFill>
                          <a:latin typeface="DM Sans" pitchFamily="34" charset="0"/>
                          <a:ea typeface="DM Sans" pitchFamily="34" charset="-122"/>
                          <a:cs typeface="DM Sans" pitchFamily="34" charset="-120"/>
                        </a:rPr>
                        <a:t>End users &amp; visitors</a:t>
                      </a:r>
                      <a:endParaRPr lang="en-US" sz="13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300" dirty="0">
                          <a:solidFill>
                            <a:srgbClr val="FAFAF9"/>
                          </a:solidFill>
                          <a:latin typeface="DM Sans" pitchFamily="34" charset="0"/>
                          <a:ea typeface="DM Sans" pitchFamily="34" charset="-122"/>
                          <a:cs typeface="DM Sans" pitchFamily="34" charset="-120"/>
                        </a:rPr>
                        <a:t>Instant perceived load, no blank screens at runtime</a:t>
                      </a:r>
                      <a:endParaRPr lang="en-US" sz="13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
        <p:nvSpPr>
          <p:cNvPr id="9" name="Text 5"/>
          <p:cNvSpPr/>
          <p:nvPr/>
        </p:nvSpPr>
        <p:spPr>
          <a:xfrm>
            <a:off x="548640" y="3291840"/>
            <a:ext cx="11064240" cy="1645920"/>
          </a:xfrm>
          <a:prstGeom prst="rect">
            <a:avLst/>
          </a:prstGeom>
          <a:noFill/>
          <a:ln/>
        </p:spPr>
        <p:txBody>
          <a:bodyPr wrap="square" rtlCol="0" anchor="t"/>
          <a:lstStyle/>
          <a:p>
            <a:pPr marL="0" indent="0" algn="l">
              <a:lnSpc>
                <a:spcPts val="1750"/>
              </a:lnSpc>
              <a:buNone/>
            </a:pPr>
            <a:r>
              <a:rPr lang="en-US" sz="1250" dirty="0">
                <a:solidFill>
                  <a:srgbClr val="FAFAF9"/>
                </a:solidFill>
                <a:latin typeface="IBM Plex Mono" pitchFamily="34" charset="0"/>
                <a:ea typeface="IBM Plex Mono" pitchFamily="34" charset="-122"/>
                <a:cs typeface="IBM Plex Mono" pitchFamily="34" charset="-120"/>
              </a:rPr>
              <a:t>Without Suspense:  click tab → blank screen → spinner → content</a:t>
            </a:r>
            <a:endParaRPr lang="en-US" sz="1250" dirty="0"/>
          </a:p>
          <a:p>
            <a:pPr marL="0" indent="0" algn="l">
              <a:lnSpc>
                <a:spcPts val="1750"/>
              </a:lnSpc>
              <a:buNone/>
            </a:pPr>
            <a:r>
              <a:rPr lang="en-US" sz="1250" dirty="0">
                <a:solidFill>
                  <a:srgbClr val="FAFAF9"/>
                </a:solidFill>
                <a:latin typeface="IBM Plex Mono" pitchFamily="34" charset="0"/>
                <a:ea typeface="IBM Plex Mono" pitchFamily="34" charset="-122"/>
                <a:cs typeface="IBM Plex Mono" pitchFamily="34" charset="-120"/>
              </a:rPr>
              <a:t>                   (slow UX even when team ownership is solid)</a:t>
            </a:r>
            <a:endParaRPr lang="en-US" sz="1250" dirty="0"/>
          </a:p>
          <a:p>
            <a:pPr marL="0" indent="0" algn="l">
              <a:lnSpc>
                <a:spcPts val="1750"/>
              </a:lnSpc>
              <a:buNone/>
            </a:pPr>
            <a:endParaRPr lang="en-US" sz="1250" dirty="0"/>
          </a:p>
          <a:p>
            <a:pPr marL="0" indent="0" algn="l">
              <a:lnSpc>
                <a:spcPts val="1750"/>
              </a:lnSpc>
              <a:buNone/>
            </a:pPr>
            <a:r>
              <a:rPr lang="en-US" sz="1250" dirty="0">
                <a:solidFill>
                  <a:srgbClr val="FAFAF9"/>
                </a:solidFill>
                <a:latin typeface="IBM Plex Mono" pitchFamily="34" charset="0"/>
                <a:ea typeface="IBM Plex Mono" pitchFamily="34" charset="-122"/>
                <a:cs typeface="IBM Plex Mono" pitchFamily="34" charset="-120"/>
              </a:rPr>
              <a:t>With Suspense:     click tab → skeleton instantly → content resolves</a:t>
            </a:r>
            <a:endParaRPr lang="en-US" sz="1250" dirty="0"/>
          </a:p>
          <a:p>
            <a:pPr marL="0" indent="0" algn="l">
              <a:lnSpc>
                <a:spcPts val="1750"/>
              </a:lnSpc>
              <a:buNone/>
            </a:pPr>
            <a:r>
              <a:rPr lang="en-US" sz="1250" dirty="0">
                <a:solidFill>
                  <a:srgbClr val="FAFAF9"/>
                </a:solidFill>
                <a:latin typeface="IBM Plex Mono" pitchFamily="34" charset="0"/>
                <a:ea typeface="IBM Plex Mono" pitchFamily="34" charset="-122"/>
                <a:cs typeface="IBM Plex Mono" pitchFamily="34" charset="-120"/>
              </a:rPr>
              <a:t>                   (each remote owns its loading choreography)</a:t>
            </a:r>
            <a:endParaRPr lang="en-US" sz="1250" dirty="0"/>
          </a:p>
        </p:txBody>
      </p:sp>
      <p:sp>
        <p:nvSpPr>
          <p:cNvPr id="10" name="Shape 6"/>
          <p:cNvSpPr/>
          <p:nvPr/>
        </p:nvSpPr>
        <p:spPr>
          <a:xfrm>
            <a:off x="548640" y="5449824"/>
            <a:ext cx="32004" cy="530352"/>
          </a:xfrm>
          <a:prstGeom prst="rect">
            <a:avLst/>
          </a:prstGeom>
          <a:solidFill>
            <a:srgbClr val="D4FF00"/>
          </a:solidFill>
          <a:ln/>
        </p:spPr>
        <p:txBody>
          <a:bodyPr/>
          <a:lstStyle/>
          <a:p>
            <a:endParaRPr lang="en-GB"/>
          </a:p>
        </p:txBody>
      </p:sp>
      <p:sp>
        <p:nvSpPr>
          <p:cNvPr id="11" name="Text 7"/>
          <p:cNvSpPr/>
          <p:nvPr/>
        </p:nvSpPr>
        <p:spPr>
          <a:xfrm>
            <a:off x="731520" y="5394960"/>
            <a:ext cx="10881360" cy="640080"/>
          </a:xfrm>
          <a:prstGeom prst="rect">
            <a:avLst/>
          </a:prstGeom>
          <a:noFill/>
          <a:ln/>
        </p:spPr>
        <p:txBody>
          <a:bodyPr wrap="square" rtlCol="0" anchor="ctr"/>
          <a:lstStyle/>
          <a:p>
            <a:pPr marL="0" indent="0">
              <a:buNone/>
            </a:pPr>
            <a:r>
              <a:rPr lang="en-US" sz="1500" i="1" dirty="0">
                <a:solidFill>
                  <a:srgbClr val="A8A29E"/>
                </a:solidFill>
                <a:latin typeface="Instrument Serif" pitchFamily="34" charset="0"/>
                <a:ea typeface="Instrument Serif" pitchFamily="34" charset="-122"/>
                <a:cs typeface="Instrument Serif" pitchFamily="34" charset="-120"/>
              </a:rPr>
              <a:t>The shell does not know how long a remote takes to load. It renders &lt;Suspense&gt; and moves on.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ARCHITECTURE</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04</a:t>
            </a:r>
            <a:endParaRPr lang="en-US" sz="850" dirty="0"/>
          </a:p>
        </p:txBody>
      </p:sp>
      <p:sp>
        <p:nvSpPr>
          <p:cNvPr id="8" name="Text 5"/>
          <p:cNvSpPr/>
          <p:nvPr/>
        </p:nvSpPr>
        <p:spPr>
          <a:xfrm>
            <a:off x="548640" y="1645920"/>
            <a:ext cx="11064240" cy="2834640"/>
          </a:xfrm>
          <a:prstGeom prst="rect">
            <a:avLst/>
          </a:prstGeom>
          <a:noFill/>
          <a:ln/>
        </p:spPr>
        <p:txBody>
          <a:bodyPr wrap="square" rtlCol="0" anchor="t"/>
          <a:lstStyle/>
          <a:p>
            <a:pPr marL="0" indent="0" algn="l">
              <a:lnSpc>
                <a:spcPts val="1610"/>
              </a:lnSpc>
              <a:buNone/>
            </a:pPr>
            <a:r>
              <a:rPr lang="en-US" sz="1150" dirty="0">
                <a:solidFill>
                  <a:srgbClr val="A8A29E"/>
                </a:solidFill>
                <a:latin typeface="IBM Plex Mono" pitchFamily="34" charset="0"/>
                <a:ea typeface="IBM Plex Mono" pitchFamily="34" charset="-122"/>
                <a:cs typeface="IBM Plex Mono" pitchFamily="34" charset="-120"/>
              </a:rPr>
              <a:t>┌───────────────────────── SHELL :3000 ─────────────────────────┐</a:t>
            </a:r>
            <a:endParaRPr lang="en-US" sz="1150" dirty="0"/>
          </a:p>
          <a:p>
            <a:pPr marL="0" indent="0" algn="l">
              <a:lnSpc>
                <a:spcPts val="1610"/>
              </a:lnSpc>
              <a:buNone/>
            </a:pPr>
            <a:r>
              <a:rPr lang="en-US" sz="1150" dirty="0">
                <a:solidFill>
                  <a:srgbClr val="A8A29E"/>
                </a:solidFill>
                <a:latin typeface="IBM Plex Mono" pitchFamily="34" charset="0"/>
                <a:ea typeface="IBM Plex Mono" pitchFamily="34" charset="-122"/>
                <a:cs typeface="IBM Plex Mono" pitchFamily="34" charset="-120"/>
              </a:rPr>
              <a:t>│  Nav · Router · Theme · Status strip (INSTANT|EAGER|STREAMING)│</a:t>
            </a:r>
            <a:endParaRPr lang="en-US" sz="1150" dirty="0"/>
          </a:p>
          <a:p>
            <a:pPr marL="0" indent="0" algn="l">
              <a:lnSpc>
                <a:spcPts val="1610"/>
              </a:lnSpc>
              <a:buNone/>
            </a:pPr>
            <a:r>
              <a:rPr lang="en-US" sz="1150" dirty="0">
                <a:solidFill>
                  <a:srgbClr val="A8A29E"/>
                </a:solidFill>
                <a:latin typeface="IBM Plex Mono" pitchFamily="34" charset="0"/>
                <a:ea typeface="IBM Plex Mono" pitchFamily="34" charset="-122"/>
                <a:cs typeface="IBM Plex Mono" pitchFamily="34" charset="-120"/>
              </a:rPr>
              <a:t>│                                                               │</a:t>
            </a:r>
            <a:endParaRPr lang="en-US" sz="1150" dirty="0"/>
          </a:p>
          <a:p>
            <a:pPr marL="0" indent="0" algn="l">
              <a:lnSpc>
                <a:spcPts val="1610"/>
              </a:lnSpc>
              <a:buNone/>
            </a:pPr>
            <a:r>
              <a:rPr lang="en-US" sz="1150" dirty="0">
                <a:solidFill>
                  <a:srgbClr val="A8A29E"/>
                </a:solidFill>
                <a:latin typeface="IBM Plex Mono" pitchFamily="34" charset="0"/>
                <a:ea typeface="IBM Plex Mono" pitchFamily="34" charset="-122"/>
                <a:cs typeface="IBM Plex Mono" pitchFamily="34" charset="-120"/>
              </a:rPr>
              <a:t>│    &lt;ErrorBoundary&gt;                                            │</a:t>
            </a:r>
            <a:endParaRPr lang="en-US" sz="1150" dirty="0"/>
          </a:p>
          <a:p>
            <a:pPr marL="0" indent="0" algn="l">
              <a:lnSpc>
                <a:spcPts val="1610"/>
              </a:lnSpc>
              <a:buNone/>
            </a:pPr>
            <a:r>
              <a:rPr lang="en-US" sz="1150" dirty="0">
                <a:solidFill>
                  <a:srgbClr val="A8A29E"/>
                </a:solidFill>
                <a:latin typeface="IBM Plex Mono" pitchFamily="34" charset="0"/>
                <a:ea typeface="IBM Plex Mono" pitchFamily="34" charset="-122"/>
                <a:cs typeface="IBM Plex Mono" pitchFamily="34" charset="-120"/>
              </a:rPr>
              <a:t>│      &lt;Suspense fallback={&lt;Skeleton /&gt;}&gt;                       │</a:t>
            </a:r>
            <a:endParaRPr lang="en-US" sz="1150" dirty="0"/>
          </a:p>
          <a:p>
            <a:pPr marL="0" indent="0" algn="l">
              <a:lnSpc>
                <a:spcPts val="1610"/>
              </a:lnSpc>
              <a:buNone/>
            </a:pPr>
            <a:r>
              <a:rPr lang="en-US" sz="1150" dirty="0">
                <a:solidFill>
                  <a:srgbClr val="A8A29E"/>
                </a:solidFill>
                <a:latin typeface="IBM Plex Mono" pitchFamily="34" charset="0"/>
                <a:ea typeface="IBM Plex Mono" pitchFamily="34" charset="-122"/>
                <a:cs typeface="IBM Plex Mono" pitchFamily="34" charset="-120"/>
              </a:rPr>
              <a:t>│        &lt;RemoteModule /&gt;                                       │</a:t>
            </a:r>
            <a:endParaRPr lang="en-US" sz="1150" dirty="0"/>
          </a:p>
          <a:p>
            <a:pPr marL="0" indent="0" algn="l">
              <a:lnSpc>
                <a:spcPts val="1610"/>
              </a:lnSpc>
              <a:buNone/>
            </a:pPr>
            <a:r>
              <a:rPr lang="en-US" sz="1150" dirty="0">
                <a:solidFill>
                  <a:srgbClr val="A8A29E"/>
                </a:solidFill>
                <a:latin typeface="IBM Plex Mono" pitchFamily="34" charset="0"/>
                <a:ea typeface="IBM Plex Mono" pitchFamily="34" charset="-122"/>
                <a:cs typeface="IBM Plex Mono" pitchFamily="34" charset="-120"/>
              </a:rPr>
              <a:t>│      &lt;/Suspense&gt;                                              │</a:t>
            </a:r>
            <a:endParaRPr lang="en-US" sz="1150" dirty="0"/>
          </a:p>
          <a:p>
            <a:pPr marL="0" indent="0" algn="l">
              <a:lnSpc>
                <a:spcPts val="1610"/>
              </a:lnSpc>
              <a:buNone/>
            </a:pPr>
            <a:r>
              <a:rPr lang="en-US" sz="1150" dirty="0">
                <a:solidFill>
                  <a:srgbClr val="A8A29E"/>
                </a:solidFill>
                <a:latin typeface="IBM Plex Mono" pitchFamily="34" charset="0"/>
                <a:ea typeface="IBM Plex Mono" pitchFamily="34" charset="-122"/>
                <a:cs typeface="IBM Plex Mono" pitchFamily="34" charset="-120"/>
              </a:rPr>
              <a:t>│    &lt;/ErrorBoundary&gt;                                           │</a:t>
            </a:r>
            <a:endParaRPr lang="en-US" sz="1150" dirty="0"/>
          </a:p>
          <a:p>
            <a:pPr marL="0" indent="0" algn="l">
              <a:lnSpc>
                <a:spcPts val="1610"/>
              </a:lnSpc>
              <a:buNone/>
            </a:pPr>
            <a:r>
              <a:rPr lang="en-US" sz="1150" dirty="0">
                <a:solidFill>
                  <a:srgbClr val="A8A29E"/>
                </a:solidFill>
                <a:latin typeface="IBM Plex Mono" pitchFamily="34" charset="0"/>
                <a:ea typeface="IBM Plex Mono" pitchFamily="34" charset="-122"/>
                <a:cs typeface="IBM Plex Mono" pitchFamily="34" charset="-120"/>
              </a:rPr>
              <a:t>└───────┬───────────┬────────────────┬──────────────┬───────────┘</a:t>
            </a:r>
            <a:endParaRPr lang="en-US" sz="1150" dirty="0"/>
          </a:p>
          <a:p>
            <a:pPr marL="0" indent="0" algn="l">
              <a:lnSpc>
                <a:spcPts val="1610"/>
              </a:lnSpc>
              <a:buNone/>
            </a:pPr>
            <a:r>
              <a:rPr lang="en-US" sz="1150" dirty="0">
                <a:solidFill>
                  <a:srgbClr val="A8A29E"/>
                </a:solidFill>
                <a:latin typeface="IBM Plex Mono" pitchFamily="34" charset="0"/>
                <a:ea typeface="IBM Plex Mono" pitchFamily="34" charset="-122"/>
                <a:cs typeface="IBM Plex Mono" pitchFamily="34" charset="-120"/>
              </a:rPr>
              <a:t>     Home :3004  Records :3001  Prescriptions :3002  Analytics :3003</a:t>
            </a:r>
            <a:endParaRPr lang="en-US" sz="1150" dirty="0"/>
          </a:p>
          <a:p>
            <a:pPr marL="0" indent="0" algn="l">
              <a:lnSpc>
                <a:spcPts val="1610"/>
              </a:lnSpc>
              <a:buNone/>
            </a:pPr>
            <a:r>
              <a:rPr lang="en-US" sz="1150" dirty="0">
                <a:solidFill>
                  <a:srgbClr val="A8A29E"/>
                </a:solidFill>
                <a:latin typeface="IBM Plex Mono" pitchFamily="34" charset="0"/>
                <a:ea typeface="IBM Plex Mono" pitchFamily="34" charset="-122"/>
                <a:cs typeface="IBM Plex Mono" pitchFamily="34" charset="-120"/>
              </a:rPr>
              <a:t>     INSTANT     EAGER          STREAMED             STREAMED</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64240" cy="1293876"/>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766560">
                  <a:extLst>
                    <a:ext uri="{9D8B030D-6E8A-4147-A177-3AD203B41FA5}">
                      <a16:colId xmlns:a16="http://schemas.microsoft.com/office/drawing/2014/main" val="20002"/>
                    </a:ext>
                  </a:extLst>
                </a:gridCol>
              </a:tblGrid>
              <a:tr h="310896">
                <a:tc>
                  <a:txBody>
                    <a:bodyPr/>
                    <a:lstStyle/>
                    <a:p>
                      <a:pPr marL="0" indent="0">
                        <a:buNone/>
                      </a:pPr>
                      <a:r>
                        <a:rPr lang="en-US" sz="950" b="1" kern="0" spc="200" dirty="0">
                          <a:solidFill>
                            <a:srgbClr val="D4FF00"/>
                          </a:solidFill>
                          <a:latin typeface="IBM Plex Mono" pitchFamily="34" charset="0"/>
                          <a:ea typeface="IBM Plex Mono" pitchFamily="34" charset="-122"/>
                          <a:cs typeface="IBM Plex Mono" pitchFamily="34" charset="-120"/>
                        </a:rPr>
                        <a:t>STRATEGY</a:t>
                      </a:r>
                      <a:endParaRPr lang="en-US" sz="95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950" b="1" kern="0" spc="200" dirty="0">
                          <a:solidFill>
                            <a:srgbClr val="D4FF00"/>
                          </a:solidFill>
                          <a:latin typeface="IBM Plex Mono" pitchFamily="34" charset="0"/>
                          <a:ea typeface="IBM Plex Mono" pitchFamily="34" charset="-122"/>
                          <a:cs typeface="IBM Plex Mono" pitchFamily="34" charset="-120"/>
                        </a:rPr>
                        <a:t>MODULE</a:t>
                      </a:r>
                      <a:endParaRPr lang="en-US" sz="95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950" b="1" kern="0" spc="200" dirty="0">
                          <a:solidFill>
                            <a:srgbClr val="D4FF00"/>
                          </a:solidFill>
                          <a:latin typeface="IBM Plex Mono" pitchFamily="34" charset="0"/>
                          <a:ea typeface="IBM Plex Mono" pitchFamily="34" charset="-122"/>
                          <a:cs typeface="IBM Plex Mono" pitchFamily="34" charset="-120"/>
                        </a:rPr>
                        <a:t>BEHAVIOR</a:t>
                      </a:r>
                      <a:endParaRPr lang="en-US" sz="95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Instant</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Home</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Lazy for code splitting, no artificial resource delay; renders when the chunk arrives</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Eager</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Records</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Standalone component, preloaded on shell mount; cached before the click</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Streamed</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Prescriptions, Analytics</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On demand, per-module skeletons + error isolation</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TECH STACK</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05</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7498080">
                  <a:extLst>
                    <a:ext uri="{9D8B030D-6E8A-4147-A177-3AD203B41FA5}">
                      <a16:colId xmlns:a16="http://schemas.microsoft.com/office/drawing/2014/main" val="20002"/>
                    </a:ext>
                  </a:extLst>
                </a:gridCol>
              </a:tblGrid>
              <a:tr h="310896">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TECHNOLOGY</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VERSION</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WHY</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React</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19.2</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Suspense fallbacks and lazy loading built into the runtime</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Rspack</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2.1</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Native Module Federation, Rust React Compiler, sub-second HMR</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TypeScript</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6.0</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Strict mode, type-safe event contracts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Tailwind CSS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v4</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@theme tokens for the design system</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Vitest</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4.1</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Fast component tests with jsdom</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bl>
          </a:graphicData>
        </a:graphic>
      </p:graphicFrame>
      <p:sp>
        <p:nvSpPr>
          <p:cNvPr id="9" name="Text 5"/>
          <p:cNvSpPr/>
          <p:nvPr/>
        </p:nvSpPr>
        <p:spPr>
          <a:xfrm>
            <a:off x="548640" y="3977640"/>
            <a:ext cx="6766560" cy="210312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 index.tsx — the ENTIRE file (async boundary for MF)</a:t>
            </a:r>
            <a:endParaRPr lang="en-US" sz="1050" dirty="0"/>
          </a:p>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import("./bootstrap");</a:t>
            </a:r>
            <a:endParaRPr lang="en-US" sz="1050" dirty="0"/>
          </a:p>
          <a:p>
            <a:pPr marL="0" indent="0" algn="l">
              <a:lnSpc>
                <a:spcPts val="1418"/>
              </a:lnSpc>
              <a:buNone/>
            </a:pPr>
            <a:endParaRPr lang="en-US" sz="1050" dirty="0"/>
          </a:p>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 bootstrap.tsx — actual React rendering</a:t>
            </a:r>
            <a:endParaRPr lang="en-US" sz="1050" dirty="0"/>
          </a:p>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import ReactDOM from "react-dom/client";</a:t>
            </a:r>
            <a:endParaRPr lang="en-US" sz="1050" dirty="0"/>
          </a:p>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import MedicalRecords from "./MedicalRecords";</a:t>
            </a:r>
            <a:endParaRPr lang="en-US" sz="1050" dirty="0"/>
          </a:p>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ReactDOM.createRoot(document.getElementById("root")!)</a:t>
            </a:r>
            <a:endParaRPr lang="en-US" sz="1050" dirty="0"/>
          </a:p>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  .render(&lt;MedicalRecords /&gt;);</a:t>
            </a:r>
            <a:endParaRPr lang="en-US" sz="1050" dirty="0"/>
          </a:p>
        </p:txBody>
      </p:sp>
      <p:sp>
        <p:nvSpPr>
          <p:cNvPr id="10" name="Text 6"/>
          <p:cNvSpPr/>
          <p:nvPr/>
        </p:nvSpPr>
        <p:spPr>
          <a:xfrm>
            <a:off x="7543800" y="4069080"/>
            <a:ext cx="4114800" cy="2011680"/>
          </a:xfrm>
          <a:prstGeom prst="rect">
            <a:avLst/>
          </a:prstGeom>
          <a:noFill/>
          <a:ln/>
        </p:spPr>
        <p:txBody>
          <a:bodyPr wrap="square" rtlCol="0" anchor="t"/>
          <a:lstStyle/>
          <a:p>
            <a:pPr marL="177800" indent="-177800">
              <a:lnSpc>
                <a:spcPts val="2000"/>
              </a:lnSpc>
              <a:buSzPct val="100000"/>
              <a:buChar char="•"/>
            </a:pPr>
            <a:r>
              <a:rPr lang="en-US" sz="1250" dirty="0">
                <a:solidFill>
                  <a:srgbClr val="FAFAF9"/>
                </a:solidFill>
                <a:latin typeface="DM Sans" pitchFamily="34" charset="0"/>
                <a:ea typeface="DM Sans" pitchFamily="34" charset="-122"/>
                <a:cs typeface="DM Sans" pitchFamily="34" charset="-120"/>
              </a:rPr>
              <a:t>Async boundary lets MF negotiate shared deps first</a:t>
            </a:r>
            <a:endParaRPr lang="en-US" sz="1250" dirty="0"/>
          </a:p>
          <a:p>
            <a:pPr marL="177800" indent="-177800">
              <a:lnSpc>
                <a:spcPts val="2000"/>
              </a:lnSpc>
              <a:buSzPct val="100000"/>
              <a:buChar char="•"/>
            </a:pPr>
            <a:r>
              <a:rPr lang="en-US" sz="1250" dirty="0">
                <a:solidFill>
                  <a:srgbClr val="FAFAF9"/>
                </a:solidFill>
                <a:latin typeface="DM Sans" pitchFamily="34" charset="0"/>
                <a:ea typeface="DM Sans" pitchFamily="34" charset="-122"/>
                <a:cs typeface="DM Sans" pitchFamily="34" charset="-120"/>
              </a:rPr>
              <a:t>Without it: white screen + loadShareSync error</a:t>
            </a:r>
            <a:endParaRPr lang="en-US" sz="1250" dirty="0"/>
          </a:p>
          <a:p>
            <a:pPr marL="177800" indent="-177800">
              <a:lnSpc>
                <a:spcPts val="2000"/>
              </a:lnSpc>
              <a:buSzPct val="100000"/>
              <a:buChar char="•"/>
            </a:pPr>
            <a:r>
              <a:rPr lang="en-US" sz="1250" dirty="0">
                <a:solidFill>
                  <a:srgbClr val="FAFAF9"/>
                </a:solidFill>
                <a:latin typeface="DM Sans" pitchFamily="34" charset="0"/>
                <a:ea typeface="DM Sans" pitchFamily="34" charset="-122"/>
                <a:cs typeface="DM Sans" pitchFamily="34" charset="-120"/>
              </a:rPr>
              <a:t>All 5 packages use this pattern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MODULE FEDERATION</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06</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8138160">
                  <a:extLst>
                    <a:ext uri="{9D8B030D-6E8A-4147-A177-3AD203B41FA5}">
                      <a16:colId xmlns:a16="http://schemas.microsoft.com/office/drawing/2014/main" val="20002"/>
                    </a:ext>
                  </a:extLst>
                </a:gridCol>
              </a:tblGrid>
              <a:tr h="310896">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PROPERTY</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WHERE</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PURPOSE</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exposes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Remotes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Public API: which components this team shares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remotes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Host</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Runtime discovery: scope@URL for each remote</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shared</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Both</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Deduplication: singleton: true means one React for all</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
        <p:nvSpPr>
          <p:cNvPr id="9" name="Text 5"/>
          <p:cNvSpPr/>
          <p:nvPr/>
        </p:nvSpPr>
        <p:spPr>
          <a:xfrm>
            <a:off x="548640" y="3383280"/>
            <a:ext cx="5486400" cy="274320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records (remote)</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new rspack.container.ModuleFederationPlugin({</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name: "records",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filename: "remoteEntry.js",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exposes: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"./MedicalRecords": "./src/MedicalRecords.tsx",</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shared: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react: { singleton: true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a:t>
            </a:r>
            <a:endParaRPr lang="en-US" sz="1000" dirty="0"/>
          </a:p>
        </p:txBody>
      </p:sp>
      <p:sp>
        <p:nvSpPr>
          <p:cNvPr id="10" name="Text 6"/>
          <p:cNvSpPr/>
          <p:nvPr/>
        </p:nvSpPr>
        <p:spPr>
          <a:xfrm>
            <a:off x="6172200" y="3383280"/>
            <a:ext cx="5486400" cy="274320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shell (host)</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new rspack.container.ModuleFederationPlugin({</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name: "shell",</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remotes: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records: "records@http://localhost:3001/remoteEntry.js",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 home, prescriptions, analytics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shared: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react: { singleton: true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LOAD UX</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07</a:t>
            </a:r>
            <a:endParaRPr lang="en-US" sz="850" dirty="0"/>
          </a:p>
        </p:txBody>
      </p:sp>
      <p:sp>
        <p:nvSpPr>
          <p:cNvPr id="8" name="Text 5"/>
          <p:cNvSpPr/>
          <p:nvPr/>
        </p:nvSpPr>
        <p:spPr>
          <a:xfrm>
            <a:off x="548640" y="1691640"/>
            <a:ext cx="7863840" cy="448056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function createResource&lt;T&gt;(asyncFn: () =&gt; Promise&lt;T&gt;): Resource&lt;T&gt;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let status = "pending"; let result: T;</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const suspender = asyncFn().then(</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(data)  =&gt; { status = "success"; result = data;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(error) =&gt; { status = "error";   result = error;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return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read()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if (status === "pending") throw suspender; // ← Suspense catches this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if (status === "error")   throw result;</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return result;</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a:t>
            </a:r>
            <a:endParaRPr lang="en-US" sz="1000" dirty="0"/>
          </a:p>
          <a:p>
            <a:pPr marL="0" indent="0" algn="l">
              <a:lnSpc>
                <a:spcPts val="1350"/>
              </a:lnSpc>
              <a:buNone/>
            </a:pP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const StreamingMedicalRecords = () =&gt;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const resource = getResource("records-initial", 2500); // module-level cache</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resource.read(); // throws while pending → triggers &lt;Suspense&gt; in the shell</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return &lt;MedicalRecords /&gt;;</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a:t>
            </a:r>
            <a:endParaRPr lang="en-US" sz="1000" dirty="0"/>
          </a:p>
        </p:txBody>
      </p:sp>
      <p:sp>
        <p:nvSpPr>
          <p:cNvPr id="9" name="Text 6"/>
          <p:cNvSpPr/>
          <p:nvPr/>
        </p:nvSpPr>
        <p:spPr>
          <a:xfrm>
            <a:off x="8641080" y="1828800"/>
            <a:ext cx="3017520" cy="4114800"/>
          </a:xfrm>
          <a:prstGeom prst="rect">
            <a:avLst/>
          </a:prstGeom>
          <a:noFill/>
          <a:ln/>
        </p:spPr>
        <p:txBody>
          <a:bodyPr wrap="square" rtlCol="0" anchor="t"/>
          <a:lstStyle/>
          <a:p>
            <a:pPr marL="177800" indent="-177800">
              <a:lnSpc>
                <a:spcPts val="2000"/>
              </a:lnSpc>
              <a:buSzPct val="100000"/>
              <a:buChar char="•"/>
            </a:pPr>
            <a:r>
              <a:rPr lang="en-US" sz="1250" dirty="0">
                <a:solidFill>
                  <a:srgbClr val="FAFAF9"/>
                </a:solidFill>
                <a:latin typeface="DM Sans" pitchFamily="34" charset="0"/>
                <a:ea typeface="DM Sans" pitchFamily="34" charset="-122"/>
                <a:cs typeface="DM Sans" pitchFamily="34" charset="-120"/>
              </a:rPr>
              <a:t>Wrapper only triggers Suspense</a:t>
            </a:r>
            <a:endParaRPr lang="en-US" sz="1250" dirty="0"/>
          </a:p>
          <a:p>
            <a:pPr marL="177800" indent="-177800">
              <a:lnSpc>
                <a:spcPts val="2000"/>
              </a:lnSpc>
              <a:buSzPct val="100000"/>
              <a:buChar char="•"/>
            </a:pPr>
            <a:r>
              <a:rPr lang="en-US" sz="1250" dirty="0">
                <a:solidFill>
                  <a:srgbClr val="FAFAF9"/>
                </a:solidFill>
                <a:latin typeface="DM Sans" pitchFamily="34" charset="0"/>
                <a:ea typeface="DM Sans" pitchFamily="34" charset="-122"/>
                <a:cs typeface="DM Sans" pitchFamily="34" charset="-120"/>
              </a:rPr>
              <a:t>UI lives in the standalone component</a:t>
            </a:r>
            <a:endParaRPr lang="en-US" sz="1250" dirty="0"/>
          </a:p>
          <a:p>
            <a:pPr marL="177800" indent="-177800">
              <a:lnSpc>
                <a:spcPts val="2000"/>
              </a:lnSpc>
              <a:buSzPct val="100000"/>
              <a:buChar char="•"/>
            </a:pPr>
            <a:r>
              <a:rPr lang="en-US" sz="1250" dirty="0">
                <a:solidFill>
                  <a:srgbClr val="FAFAF9"/>
                </a:solidFill>
                <a:latin typeface="DM Sans" pitchFamily="34" charset="0"/>
                <a:ea typeface="DM Sans" pitchFamily="34" charset="-122"/>
                <a:cs typeface="DM Sans" pitchFamily="34" charset="-120"/>
              </a:rPr>
              <a:t>Cache prevents re-fetch on re-render</a:t>
            </a:r>
            <a:endParaRPr lang="en-US" sz="1250" dirty="0"/>
          </a:p>
          <a:p>
            <a:pPr marL="177800" indent="-177800">
              <a:lnSpc>
                <a:spcPts val="2000"/>
              </a:lnSpc>
              <a:buSzPct val="100000"/>
              <a:buChar char="•"/>
            </a:pPr>
            <a:r>
              <a:rPr lang="en-US" sz="1250" dirty="0">
                <a:solidFill>
                  <a:srgbClr val="FAFAF9"/>
                </a:solidFill>
                <a:latin typeface="DM Sans" pitchFamily="34" charset="0"/>
                <a:ea typeface="DM Sans" pitchFamily="34" charset="-122"/>
                <a:cs typeface="DM Sans" pitchFamily="34" charset="-120"/>
              </a:rPr>
              <a:t>use() hook is the React 19 successor — migration optional</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SHELL COMPOSITION</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08</a:t>
            </a:r>
            <a:endParaRPr lang="en-US" sz="850" dirty="0"/>
          </a:p>
        </p:txBody>
      </p:sp>
      <p:sp>
        <p:nvSpPr>
          <p:cNvPr id="8" name="Text 5"/>
          <p:cNvSpPr/>
          <p:nvPr/>
        </p:nvSpPr>
        <p:spPr>
          <a:xfrm>
            <a:off x="548640" y="1691640"/>
            <a:ext cx="7498080" cy="329184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INSTANT — renders the moment the chunk arrives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const Home = lazy(() =&gt; import("home/Home").catch(() =&gt;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default: () =&gt; &lt;ModuleFallback title="Home Unavailable" /&gt; })));</a:t>
            </a:r>
            <a:endParaRPr lang="en-US" sz="1000" dirty="0"/>
          </a:p>
          <a:p>
            <a:pPr marL="0" indent="0" algn="l">
              <a:lnSpc>
                <a:spcPts val="1350"/>
              </a:lnSpc>
              <a:buNone/>
            </a:pP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EAGER — preloaded at shell init</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const MedicalRecords = lazy(() =&gt; import("records/MedicalRecords")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.catch(/* fallback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const EAGER = MODULES.filter((m) =&gt; m.loadStrategy === "eager");</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for (const m of EAGER) PREFETCHERS[m.id]();</a:t>
            </a:r>
            <a:endParaRPr lang="en-US" sz="1000" dirty="0"/>
          </a:p>
          <a:p>
            <a:pPr marL="0" indent="0" algn="l">
              <a:lnSpc>
                <a:spcPts val="1350"/>
              </a:lnSpc>
              <a:buNone/>
            </a:pP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STREAMED — on demand with skeletons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const StreamingPrescriptionOrders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lazy(() =&gt; import("prescriptions/StreamingPrescriptionOrders")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.catch(/* fallback */));</a:t>
            </a:r>
            <a:endParaRPr lang="en-US" sz="1000" dirty="0"/>
          </a:p>
        </p:txBody>
      </p:sp>
      <p:sp>
        <p:nvSpPr>
          <p:cNvPr id="9" name="Text 6"/>
          <p:cNvSpPr/>
          <p:nvPr/>
        </p:nvSpPr>
        <p:spPr>
          <a:xfrm>
            <a:off x="8229600" y="1828800"/>
            <a:ext cx="3429000" cy="2377440"/>
          </a:xfrm>
          <a:prstGeom prst="rect">
            <a:avLst/>
          </a:prstGeom>
          <a:noFill/>
          <a:ln/>
        </p:spPr>
        <p:txBody>
          <a:bodyPr wrap="square" rtlCol="0" anchor="t"/>
          <a:lstStyle/>
          <a:p>
            <a:pPr marL="177800" indent="-177800">
              <a:lnSpc>
                <a:spcPts val="1920"/>
              </a:lnSpc>
              <a:buSzPct val="100000"/>
              <a:buChar char="•"/>
            </a:pPr>
            <a:r>
              <a:rPr lang="en-US" sz="1200" dirty="0">
                <a:solidFill>
                  <a:srgbClr val="FAFAF9"/>
                </a:solidFill>
                <a:latin typeface="DM Sans" pitchFamily="34" charset="0"/>
                <a:ea typeface="DM Sans" pitchFamily="34" charset="-122"/>
                <a:cs typeface="DM Sans" pitchFamily="34" charset="-120"/>
              </a:rPr>
              <a:t>Layer 1: lazy() + .catch() if remote is unreachable</a:t>
            </a:r>
            <a:endParaRPr lang="en-US" sz="1200" dirty="0"/>
          </a:p>
          <a:p>
            <a:pPr marL="177800" indent="-177800">
              <a:lnSpc>
                <a:spcPts val="1920"/>
              </a:lnSpc>
              <a:buSzPct val="100000"/>
              <a:buChar char="•"/>
            </a:pPr>
            <a:r>
              <a:rPr lang="en-US" sz="1200" dirty="0">
                <a:solidFill>
                  <a:srgbClr val="FAFAF9"/>
                </a:solidFill>
                <a:latin typeface="DM Sans" pitchFamily="34" charset="0"/>
                <a:ea typeface="DM Sans" pitchFamily="34" charset="-122"/>
                <a:cs typeface="DM Sans" pitchFamily="34" charset="-120"/>
              </a:rPr>
              <a:t>Layer 2: &lt;Suspense&gt; skeleton while loading</a:t>
            </a:r>
            <a:endParaRPr lang="en-US" sz="1200" dirty="0"/>
          </a:p>
          <a:p>
            <a:pPr marL="177800" indent="-177800">
              <a:lnSpc>
                <a:spcPts val="1920"/>
              </a:lnSpc>
              <a:buSzPct val="100000"/>
              <a:buChar char="•"/>
            </a:pPr>
            <a:r>
              <a:rPr lang="en-US" sz="1200" dirty="0">
                <a:solidFill>
                  <a:srgbClr val="FAFAF9"/>
                </a:solidFill>
                <a:latin typeface="DM Sans" pitchFamily="34" charset="0"/>
                <a:ea typeface="DM Sans" pitchFamily="34" charset="-122"/>
                <a:cs typeface="DM Sans" pitchFamily="34" charset="-120"/>
              </a:rPr>
              <a:t>Layer 3: &lt;ErrorBoundary&gt; for runtime errors</a:t>
            </a:r>
            <a:endParaRPr lang="en-US" sz="1200" dirty="0"/>
          </a:p>
        </p:txBody>
      </p:sp>
      <p:sp>
        <p:nvSpPr>
          <p:cNvPr id="10" name="Shape 7"/>
          <p:cNvSpPr/>
          <p:nvPr/>
        </p:nvSpPr>
        <p:spPr>
          <a:xfrm>
            <a:off x="548640" y="5312664"/>
            <a:ext cx="32004" cy="530352"/>
          </a:xfrm>
          <a:prstGeom prst="rect">
            <a:avLst/>
          </a:prstGeom>
          <a:solidFill>
            <a:srgbClr val="D4FF00"/>
          </a:solidFill>
          <a:ln/>
        </p:spPr>
        <p:txBody>
          <a:bodyPr/>
          <a:lstStyle/>
          <a:p>
            <a:endParaRPr lang="en-GB"/>
          </a:p>
        </p:txBody>
      </p:sp>
      <p:sp>
        <p:nvSpPr>
          <p:cNvPr id="11" name="Text 8"/>
          <p:cNvSpPr/>
          <p:nvPr/>
        </p:nvSpPr>
        <p:spPr>
          <a:xfrm>
            <a:off x="731520" y="5257800"/>
            <a:ext cx="10881360" cy="640080"/>
          </a:xfrm>
          <a:prstGeom prst="rect">
            <a:avLst/>
          </a:prstGeom>
          <a:noFill/>
          <a:ln/>
        </p:spPr>
        <p:txBody>
          <a:bodyPr wrap="square" rtlCol="0" anchor="ctr"/>
          <a:lstStyle/>
          <a:p>
            <a:pPr marL="0" indent="0">
              <a:buNone/>
            </a:pPr>
            <a:r>
              <a:rPr lang="en-US" sz="1350" i="1" dirty="0">
                <a:solidFill>
                  <a:srgbClr val="A8A29E"/>
                </a:solidFill>
                <a:latin typeface="Instrument Serif" pitchFamily="34" charset="0"/>
                <a:ea typeface="Instrument Serif" pitchFamily="34" charset="-122"/>
                <a:cs typeface="Instrument Serif" pitchFamily="34" charset="-120"/>
              </a:rPr>
              <a:t>Why lazy() for eager modules? Remotes are separate builds resolved at runtime. Eager import() warms the cache; lazy() resolves from it.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09</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1828800"/>
        </p:xfrm>
        <a:graphic>
          <a:graphicData uri="http://schemas.openxmlformats.org/drawingml/2006/table">
            <a:tbl>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457200">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BUTTON</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OPENS</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PURPOSE</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57200">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Settings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Right slide-over drawer</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Shell-owned theme across remotes (CSS vars, localStorage, event)</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57200">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Commands (Ctrl+K)</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Searchable palette</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Navigate, theme, kill remotes, toggle rings from the keyboard</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457200">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Lab</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Federation Lab panel</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Health, kill switches, A/B rings when things break</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
        <p:nvSpPr>
          <p:cNvPr id="9" name="Text 5"/>
          <p:cNvSpPr/>
          <p:nvPr/>
        </p:nvSpPr>
        <p:spPr>
          <a:xfrm>
            <a:off x="548640" y="3794760"/>
            <a:ext cx="11064240" cy="2286000"/>
          </a:xfrm>
          <a:prstGeom prst="rect">
            <a:avLst/>
          </a:prstGeom>
          <a:noFill/>
          <a:ln/>
        </p:spPr>
        <p:txBody>
          <a:bodyPr wrap="square" rtlCol="0" anchor="t"/>
          <a:lstStyle/>
          <a:p>
            <a:pPr marL="177800" indent="-177800">
              <a:lnSpc>
                <a:spcPts val="2080"/>
              </a:lnSpc>
              <a:buSzPct val="100000"/>
              <a:buChar char="•"/>
            </a:pPr>
            <a:r>
              <a:rPr lang="en-US" sz="1300" dirty="0">
                <a:solidFill>
                  <a:srgbClr val="FAFAF9"/>
                </a:solidFill>
                <a:latin typeface="DM Sans" pitchFamily="34" charset="0"/>
                <a:ea typeface="DM Sans" pitchFamily="34" charset="-122"/>
                <a:cs typeface="DM Sans" pitchFamily="34" charset="-120"/>
              </a:rPr>
              <a:t>Health Monitor: polls each remoteEntry.js every 5s, shows latency</a:t>
            </a:r>
            <a:endParaRPr lang="en-US" sz="1300" dirty="0"/>
          </a:p>
          <a:p>
            <a:pPr marL="177800" indent="-177800">
              <a:lnSpc>
                <a:spcPts val="2080"/>
              </a:lnSpc>
              <a:buSzPct val="100000"/>
              <a:buChar char="•"/>
            </a:pPr>
            <a:r>
              <a:rPr lang="en-US" sz="1300" dirty="0">
                <a:solidFill>
                  <a:srgbClr val="FAFAF9"/>
                </a:solidFill>
                <a:latin typeface="DM Sans" pitchFamily="34" charset="0"/>
                <a:ea typeface="DM Sans" pitchFamily="34" charset="-122"/>
                <a:cs typeface="DM Sans" pitchFamily="34" charset="-120"/>
              </a:rPr>
              <a:t>Kill Switches: simulate remote failure; the rest keeps running</a:t>
            </a:r>
            <a:endParaRPr lang="en-US" sz="1300" dirty="0"/>
          </a:p>
          <a:p>
            <a:pPr marL="177800" indent="-177800">
              <a:lnSpc>
                <a:spcPts val="2080"/>
              </a:lnSpc>
              <a:buSzPct val="100000"/>
              <a:buChar char="•"/>
            </a:pPr>
            <a:r>
              <a:rPr lang="en-US" sz="1300" dirty="0">
                <a:solidFill>
                  <a:srgbClr val="FAFAF9"/>
                </a:solidFill>
                <a:latin typeface="DM Sans" pitchFamily="34" charset="0"/>
                <a:ea typeface="DM Sans" pitchFamily="34" charset="-122"/>
                <a:cs typeface="DM Sans" pitchFamily="34" charset="-120"/>
              </a:rPr>
              <a:t>A/B Deployment: toggle Stable ↔ Canary ring, per-module versions</a:t>
            </a:r>
            <a:endParaRPr lang="en-US" sz="1300" dirty="0"/>
          </a:p>
          <a:p>
            <a:pPr marL="177800" indent="-177800">
              <a:lnSpc>
                <a:spcPts val="2080"/>
              </a:lnSpc>
              <a:buSzPct val="100000"/>
              <a:buChar char="•"/>
            </a:pPr>
            <a:r>
              <a:rPr lang="en-US" sz="1300" dirty="0">
                <a:solidFill>
                  <a:srgbClr val="FAFAF9"/>
                </a:solidFill>
                <a:latin typeface="DM Sans" pitchFamily="34" charset="0"/>
                <a:ea typeface="DM Sans" pitchFamily="34" charset="-122"/>
                <a:cs typeface="DM Sans" pitchFamily="34" charset="-120"/>
              </a:rPr>
              <a:t>Theme: CSS variables + localStorage + themeChange event, zero shared imports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FAULT ISOLATION</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10</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1652016"/>
        </p:xfrm>
        <a:graphic>
          <a:graphicData uri="http://schemas.openxmlformats.org/drawingml/2006/table">
            <a:tbl>
              <a:tblPr/>
              <a:tblGrid>
                <a:gridCol w="2011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10896">
                <a:tc>
                  <a:txBody>
                    <a:bodyPr/>
                    <a:lstStyle/>
                    <a:p>
                      <a:pPr marL="0" indent="0">
                        <a:buNone/>
                      </a:pP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MICROSERVICES</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000" b="1" kern="0" spc="200" dirty="0">
                          <a:solidFill>
                            <a:srgbClr val="D4FF00"/>
                          </a:solidFill>
                          <a:latin typeface="IBM Plex Mono" pitchFamily="34" charset="0"/>
                          <a:ea typeface="IBM Plex Mono" pitchFamily="34" charset="-122"/>
                          <a:cs typeface="IBM Plex Mono" pitchFamily="34" charset="-120"/>
                        </a:rPr>
                        <a:t>MICRO-FRONTENDS (THIS DEMO)</a:t>
                      </a:r>
                      <a:endParaRPr lang="en-US" sz="1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Isolation</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OS-level (separate processes)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React-level (ErrorBoundary per module)</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If one crashes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Other services keep running</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Other modules keep rendering</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Blast radius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Network call fails → caller handles</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import() fails → fallback + Retry</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310896">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Shared risk</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None (own memory/CPU)</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200" dirty="0">
                          <a:solidFill>
                            <a:srgbClr val="FAFAF9"/>
                          </a:solidFill>
                          <a:latin typeface="DM Sans" pitchFamily="34" charset="0"/>
                          <a:ea typeface="DM Sans" pitchFamily="34" charset="-122"/>
                          <a:cs typeface="DM Sans" pitchFamily="34" charset="-120"/>
                        </a:rPr>
                        <a:t>Shared browser tab</a:t>
                      </a:r>
                      <a:endParaRPr lang="en-US" sz="12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
        <p:nvSpPr>
          <p:cNvPr id="9" name="Text 5"/>
          <p:cNvSpPr/>
          <p:nvPr/>
        </p:nvSpPr>
        <p:spPr>
          <a:xfrm>
            <a:off x="548640" y="3977640"/>
            <a:ext cx="6949440" cy="146304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 lazy() with .catch() — fallback when the remote is down</a:t>
            </a:r>
            <a:endParaRPr lang="en-US" sz="1050" dirty="0"/>
          </a:p>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const MedicalRecords = lazy(() =&gt;</a:t>
            </a:r>
            <a:endParaRPr lang="en-US" sz="1050" dirty="0"/>
          </a:p>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  import("records/MedicalRecords").catch(() =&gt; ({</a:t>
            </a:r>
            <a:endParaRPr lang="en-US" sz="1050" dirty="0"/>
          </a:p>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    default: () =&gt; &lt;ModuleFallback title="Records Unavailable" /&gt;,</a:t>
            </a:r>
            <a:endParaRPr lang="en-US" sz="1050" dirty="0"/>
          </a:p>
          <a:p>
            <a:pPr marL="0" indent="0" algn="l">
              <a:lnSpc>
                <a:spcPts val="1418"/>
              </a:lnSpc>
              <a:buNone/>
            </a:pPr>
            <a:r>
              <a:rPr lang="en-US" sz="1050" dirty="0">
                <a:solidFill>
                  <a:srgbClr val="FAFAF9"/>
                </a:solidFill>
                <a:latin typeface="IBM Plex Mono" pitchFamily="34" charset="0"/>
                <a:ea typeface="IBM Plex Mono" pitchFamily="34" charset="-122"/>
                <a:cs typeface="IBM Plex Mono" pitchFamily="34" charset="-120"/>
              </a:rPr>
              <a:t>  })));</a:t>
            </a:r>
            <a:endParaRPr lang="en-US" sz="1050" dirty="0"/>
          </a:p>
        </p:txBody>
      </p:sp>
      <p:sp>
        <p:nvSpPr>
          <p:cNvPr id="10" name="Shape 6"/>
          <p:cNvSpPr/>
          <p:nvPr/>
        </p:nvSpPr>
        <p:spPr>
          <a:xfrm>
            <a:off x="548640" y="5724144"/>
            <a:ext cx="32004" cy="530352"/>
          </a:xfrm>
          <a:prstGeom prst="rect">
            <a:avLst/>
          </a:prstGeom>
          <a:solidFill>
            <a:srgbClr val="D4FF00"/>
          </a:solidFill>
          <a:ln/>
        </p:spPr>
        <p:txBody>
          <a:bodyPr/>
          <a:lstStyle/>
          <a:p>
            <a:endParaRPr lang="en-GB"/>
          </a:p>
        </p:txBody>
      </p:sp>
      <p:sp>
        <p:nvSpPr>
          <p:cNvPr id="7" name="Text 7"/>
          <p:cNvSpPr/>
          <p:nvPr/>
        </p:nvSpPr>
        <p:spPr>
          <a:xfrm>
            <a:off x="731520" y="5669280"/>
            <a:ext cx="10881360" cy="640080"/>
          </a:xfrm>
          <a:prstGeom prst="rect">
            <a:avLst/>
          </a:prstGeom>
          <a:noFill/>
          <a:ln/>
        </p:spPr>
        <p:txBody>
          <a:bodyPr wrap="square" rtlCol="0" anchor="ctr"/>
          <a:lstStyle/>
          <a:p>
            <a:pPr marL="0" indent="0">
              <a:buNone/>
            </a:pPr>
            <a:r>
              <a:rPr lang="en-US" sz="1350" i="1" dirty="0">
                <a:solidFill>
                  <a:srgbClr val="A8A29E"/>
                </a:solidFill>
                <a:latin typeface="Instrument Serif" pitchFamily="34" charset="0"/>
                <a:ea typeface="Instrument Serif" pitchFamily="34" charset="-122"/>
                <a:cs typeface="Instrument Serif" pitchFamily="34" charset="-120"/>
              </a:rPr>
              <a:t>Module-level crashes, network failures, and bad deploys are isolated at the boundary. Tab-level resource exhaustion is still a shared-runtime risk.</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TEAM DX</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11</a:t>
            </a:r>
            <a:endParaRPr lang="en-US" sz="850" dirty="0"/>
          </a:p>
        </p:txBody>
      </p:sp>
      <p:sp>
        <p:nvSpPr>
          <p:cNvPr id="8" name="Text 5"/>
          <p:cNvSpPr/>
          <p:nvPr/>
        </p:nvSpPr>
        <p:spPr>
          <a:xfrm>
            <a:off x="548640" y="1691640"/>
            <a:ext cx="7498080" cy="338328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Records dispatches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window.dispatchEvent(new CustomEvent("addPrescription",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detail: { id: 1, name: "Sarah Chen prescription",</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price: 2499.99, quantity: 1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a:t>
            </a:r>
            <a:endParaRPr lang="en-US" sz="1000" dirty="0"/>
          </a:p>
          <a:p>
            <a:pPr marL="0" indent="0" algn="l">
              <a:lnSpc>
                <a:spcPts val="1350"/>
              </a:lnSpc>
              <a:buNone/>
            </a:pP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Prescriptions listens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useEffect(() =&gt;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const handler = (e: AddPrescriptionEvent) =&gt;</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setPrescriptionItems((prev) =&gt; [...prev, e.detail]);</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window.addEventListener("addPrescription", handler);</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return () =&gt; window.removeEventListener("addPrescription", handler);</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t>
            </a:r>
            <a:endParaRPr lang="en-US" sz="1000" dirty="0"/>
          </a:p>
        </p:txBody>
      </p:sp>
      <p:sp>
        <p:nvSpPr>
          <p:cNvPr id="9" name="Text 6"/>
          <p:cNvSpPr/>
          <p:nvPr/>
        </p:nvSpPr>
        <p:spPr>
          <a:xfrm>
            <a:off x="8229600" y="1828800"/>
            <a:ext cx="3429000" cy="3291840"/>
          </a:xfrm>
          <a:prstGeom prst="rect">
            <a:avLst/>
          </a:prstGeom>
          <a:noFill/>
          <a:ln/>
        </p:spPr>
        <p:txBody>
          <a:bodyPr wrap="square" rtlCol="0" anchor="t"/>
          <a:lstStyle/>
          <a:p>
            <a:pPr marL="177800" indent="-177800">
              <a:lnSpc>
                <a:spcPts val="1920"/>
              </a:lnSpc>
              <a:buSzPct val="100000"/>
              <a:buChar char="•"/>
            </a:pPr>
            <a:r>
              <a:rPr lang="en-US" sz="1200" dirty="0">
                <a:solidFill>
                  <a:srgbClr val="FAFAF9"/>
                </a:solidFill>
                <a:latin typeface="DM Sans" pitchFamily="34" charset="0"/>
                <a:ea typeface="DM Sans" pitchFamily="34" charset="-122"/>
                <a:cs typeface="DM Sans" pitchFamily="34" charset="-120"/>
              </a:rPr>
              <a:t>No direct cross-module imports</a:t>
            </a:r>
            <a:endParaRPr lang="en-US" sz="1200" dirty="0"/>
          </a:p>
          <a:p>
            <a:pPr marL="177800" indent="-177800">
              <a:lnSpc>
                <a:spcPts val="1920"/>
              </a:lnSpc>
              <a:buSzPct val="100000"/>
              <a:buChar char="•"/>
            </a:pPr>
            <a:r>
              <a:rPr lang="en-US" sz="1200" dirty="0">
                <a:solidFill>
                  <a:srgbClr val="FAFAF9"/>
                </a:solidFill>
                <a:latin typeface="DM Sans" pitchFamily="34" charset="0"/>
                <a:ea typeface="DM Sans" pitchFamily="34" charset="-122"/>
                <a:cs typeface="DM Sans" pitchFamily="34" charset="-120"/>
              </a:rPr>
              <a:t>Shell stays the only router owner</a:t>
            </a:r>
            <a:endParaRPr lang="en-US" sz="1200" dirty="0"/>
          </a:p>
          <a:p>
            <a:pPr marL="177800" indent="-177800">
              <a:lnSpc>
                <a:spcPts val="1920"/>
              </a:lnSpc>
              <a:buSzPct val="100000"/>
              <a:buChar char="•"/>
            </a:pPr>
            <a:r>
              <a:rPr lang="en-US" sz="1200" dirty="0">
                <a:solidFill>
                  <a:srgbClr val="FAFAF9"/>
                </a:solidFill>
                <a:latin typeface="DM Sans" pitchFamily="34" charset="0"/>
                <a:ea typeface="DM Sans" pitchFamily="34" charset="-122"/>
                <a:cs typeface="DM Sans" pitchFamily="34" charset="-120"/>
              </a:rPr>
              <a:t>Works across deployments when the event contract stays compatible</a:t>
            </a:r>
            <a:endParaRPr lang="en-US" sz="1200" dirty="0"/>
          </a:p>
          <a:p>
            <a:pPr marL="177800" indent="-177800">
              <a:lnSpc>
                <a:spcPts val="1920"/>
              </a:lnSpc>
              <a:buSzPct val="100000"/>
              <a:buChar char="•"/>
            </a:pPr>
            <a:r>
              <a:rPr lang="en-US" sz="1200" dirty="0">
                <a:solidFill>
                  <a:srgbClr val="FAFAF9"/>
                </a:solidFill>
                <a:latin typeface="DM Sans" pitchFamily="34" charset="0"/>
                <a:ea typeface="DM Sans" pitchFamily="34" charset="-122"/>
                <a:cs typeface="DM Sans" pitchFamily="34" charset="-120"/>
              </a:rPr>
              <a:t>Framework-agnostic (React, Vue, Svelte)</a:t>
            </a:r>
            <a:endParaRPr lang="en-US" sz="1200" dirty="0"/>
          </a:p>
          <a:p>
            <a:pPr marL="177800" indent="-177800">
              <a:lnSpc>
                <a:spcPts val="1920"/>
              </a:lnSpc>
              <a:buSzPct val="100000"/>
              <a:buChar char="•"/>
            </a:pPr>
            <a:r>
              <a:rPr lang="en-US" sz="1200" dirty="0">
                <a:solidFill>
                  <a:srgbClr val="FAFAF9"/>
                </a:solidFill>
                <a:latin typeface="DM Sans" pitchFamily="34" charset="0"/>
                <a:ea typeface="DM Sans" pitchFamily="34" charset="-122"/>
                <a:cs typeface="DM Sans" pitchFamily="34" charset="-120"/>
              </a:rPr>
              <a:t>Typed via WindowEventMap augmentation</a:t>
            </a:r>
            <a:endParaRPr lang="en-US" sz="1200" dirty="0"/>
          </a:p>
        </p:txBody>
      </p:sp>
      <p:sp>
        <p:nvSpPr>
          <p:cNvPr id="10" name="Text 7"/>
          <p:cNvSpPr/>
          <p:nvPr/>
        </p:nvSpPr>
        <p:spPr>
          <a:xfrm>
            <a:off x="548640" y="5257800"/>
            <a:ext cx="7498080" cy="105156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215"/>
              </a:lnSpc>
              <a:buNone/>
            </a:pPr>
            <a:r>
              <a:rPr lang="en-US" sz="900" dirty="0">
                <a:solidFill>
                  <a:srgbClr val="FAFAF9"/>
                </a:solidFill>
                <a:latin typeface="IBM Plex Mono" pitchFamily="34" charset="0"/>
                <a:ea typeface="IBM Plex Mono" pitchFamily="34" charset="-122"/>
                <a:cs typeface="IBM Plex Mono" pitchFamily="34" charset="-120"/>
              </a:rPr>
              <a:t>declare global {</a:t>
            </a:r>
            <a:endParaRPr lang="en-US" sz="900" dirty="0"/>
          </a:p>
          <a:p>
            <a:pPr marL="0" indent="0" algn="l">
              <a:lnSpc>
                <a:spcPts val="1215"/>
              </a:lnSpc>
              <a:buNone/>
            </a:pPr>
            <a:r>
              <a:rPr lang="en-US" sz="900" dirty="0">
                <a:solidFill>
                  <a:srgbClr val="FAFAF9"/>
                </a:solidFill>
                <a:latin typeface="IBM Plex Mono" pitchFamily="34" charset="0"/>
                <a:ea typeface="IBM Plex Mono" pitchFamily="34" charset="-122"/>
                <a:cs typeface="IBM Plex Mono" pitchFamily="34" charset="-120"/>
              </a:rPr>
              <a:t>  interface WindowEventMap {</a:t>
            </a:r>
            <a:endParaRPr lang="en-US" sz="900" dirty="0"/>
          </a:p>
          <a:p>
            <a:pPr marL="0" indent="0" algn="l">
              <a:lnSpc>
                <a:spcPts val="1215"/>
              </a:lnSpc>
              <a:buNone/>
            </a:pPr>
            <a:r>
              <a:rPr lang="en-US" sz="900" dirty="0">
                <a:solidFill>
                  <a:srgbClr val="FAFAF9"/>
                </a:solidFill>
                <a:latin typeface="IBM Plex Mono" pitchFamily="34" charset="0"/>
                <a:ea typeface="IBM Plex Mono" pitchFamily="34" charset="-122"/>
                <a:cs typeface="IBM Plex Mono" pitchFamily="34" charset="-120"/>
              </a:rPr>
              <a:t>    addPrescription: AddPrescriptionEvent;</a:t>
            </a:r>
            <a:endParaRPr lang="en-US" sz="900" dirty="0"/>
          </a:p>
          <a:p>
            <a:pPr marL="0" indent="0" algn="l">
              <a:lnSpc>
                <a:spcPts val="1215"/>
              </a:lnSpc>
              <a:buNone/>
            </a:pPr>
            <a:r>
              <a:rPr lang="en-US" sz="900" dirty="0">
                <a:solidFill>
                  <a:srgbClr val="FAFAF9"/>
                </a:solidFill>
                <a:latin typeface="IBM Plex Mono" pitchFamily="34" charset="0"/>
                <a:ea typeface="IBM Plex Mono" pitchFamily="34" charset="-122"/>
                <a:cs typeface="IBM Plex Mono" pitchFamily="34" charset="-120"/>
              </a:rPr>
              <a:t>    navigateToModule: CustomEvent&lt;{ module: "home" | "records" | … }&gt;;</a:t>
            </a:r>
            <a:endParaRPr lang="en-US" sz="900" dirty="0"/>
          </a:p>
          <a:p>
            <a:pPr marL="0" indent="0" algn="l">
              <a:lnSpc>
                <a:spcPts val="1215"/>
              </a:lnSpc>
              <a:buNone/>
            </a:pPr>
            <a:r>
              <a:rPr lang="en-US" sz="900" dirty="0">
                <a:solidFill>
                  <a:srgbClr val="FAFAF9"/>
                </a:solidFill>
                <a:latin typeface="IBM Plex Mono" pitchFamily="34" charset="0"/>
                <a:ea typeface="IBM Plex Mono" pitchFamily="34" charset="-122"/>
                <a:cs typeface="IBM Plex Mono" pitchFamily="34" charset="-120"/>
              </a:rPr>
              <a:t>    themeChange: ThemeChangeEvent;</a:t>
            </a:r>
            <a:endParaRPr lang="en-US" sz="900" dirty="0"/>
          </a:p>
          <a:p>
            <a:pPr marL="0" indent="0" algn="l">
              <a:lnSpc>
                <a:spcPts val="1215"/>
              </a:lnSpc>
              <a:buNone/>
            </a:pPr>
            <a:r>
              <a:rPr lang="en-US" sz="900" dirty="0">
                <a:solidFill>
                  <a:srgbClr val="FAFAF9"/>
                </a:solidFill>
                <a:latin typeface="IBM Plex Mono" pitchFamily="34" charset="0"/>
                <a:ea typeface="IBM Plex Mono" pitchFamily="34" charset="-122"/>
                <a:cs typeface="IBM Plex Mono" pitchFamily="34" charset="-120"/>
              </a:rPr>
              <a:t>  }</a:t>
            </a:r>
            <a:endParaRPr lang="en-US" sz="900" dirty="0"/>
          </a:p>
          <a:p>
            <a:pPr marL="0" indent="0" algn="l">
              <a:lnSpc>
                <a:spcPts val="1215"/>
              </a:lnSpc>
              <a:buNone/>
            </a:pPr>
            <a:r>
              <a:rPr lang="en-US" sz="900" dirty="0">
                <a:solidFill>
                  <a:srgbClr val="FAFAF9"/>
                </a:solidFill>
                <a:latin typeface="IBM Plex Mono" pitchFamily="34" charset="0"/>
                <a:ea typeface="IBM Plex Mono" pitchFamily="34" charset="-122"/>
                <a:cs typeface="IBM Plex Mono" pitchFamily="34" charset="-120"/>
              </a:rPr>
              <a:t>}</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THEME SYSTEM</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12</a:t>
            </a:r>
            <a:endParaRPr lang="en-US" sz="850" dirty="0"/>
          </a:p>
        </p:txBody>
      </p:sp>
      <p:sp>
        <p:nvSpPr>
          <p:cNvPr id="8" name="Text 5"/>
          <p:cNvSpPr/>
          <p:nvPr/>
        </p:nvSpPr>
        <p:spPr>
          <a:xfrm>
            <a:off x="548640" y="1691640"/>
            <a:ext cx="6035040" cy="2651760"/>
          </a:xfrm>
          <a:prstGeom prst="rect">
            <a:avLst/>
          </a:prstGeom>
          <a:noFill/>
          <a:ln/>
        </p:spPr>
        <p:txBody>
          <a:bodyPr wrap="square" rtlCol="0" anchor="t"/>
          <a:lstStyle/>
          <a:p>
            <a:pPr marL="0" indent="0" algn="l">
              <a:lnSpc>
                <a:spcPts val="1680"/>
              </a:lnSpc>
              <a:buNone/>
            </a:pPr>
            <a:r>
              <a:rPr lang="en-US" sz="1200" dirty="0">
                <a:solidFill>
                  <a:srgbClr val="FAFAF9"/>
                </a:solidFill>
                <a:latin typeface="IBM Plex Mono" pitchFamily="34" charset="0"/>
                <a:ea typeface="IBM Plex Mono" pitchFamily="34" charset="-122"/>
                <a:cs typeface="IBM Plex Mono" pitchFamily="34" charset="-120"/>
              </a:rPr>
              <a:t>Shell (owns theme)</a:t>
            </a:r>
            <a:endParaRPr lang="en-US" sz="1200" dirty="0"/>
          </a:p>
          <a:p>
            <a:pPr marL="0" indent="0" algn="l">
              <a:lnSpc>
                <a:spcPts val="1680"/>
              </a:lnSpc>
              <a:buNone/>
            </a:pPr>
            <a:r>
              <a:rPr lang="en-US" sz="1200" dirty="0">
                <a:solidFill>
                  <a:srgbClr val="FAFAF9"/>
                </a:solidFill>
                <a:latin typeface="IBM Plex Mono" pitchFamily="34" charset="0"/>
                <a:ea typeface="IBM Plex Mono" pitchFamily="34" charset="-122"/>
                <a:cs typeface="IBM Plex Mono" pitchFamily="34" charset="-120"/>
              </a:rPr>
              <a:t>  ├── Persists to localStorage ("mf-demo-theme")</a:t>
            </a:r>
            <a:endParaRPr lang="en-US" sz="1200" dirty="0"/>
          </a:p>
          <a:p>
            <a:pPr marL="0" indent="0" algn="l">
              <a:lnSpc>
                <a:spcPts val="1680"/>
              </a:lnSpc>
              <a:buNone/>
            </a:pPr>
            <a:r>
              <a:rPr lang="en-US" sz="1200" dirty="0">
                <a:solidFill>
                  <a:srgbClr val="FAFAF9"/>
                </a:solidFill>
                <a:latin typeface="IBM Plex Mono" pitchFamily="34" charset="0"/>
                <a:ea typeface="IBM Plex Mono" pitchFamily="34" charset="-122"/>
                <a:cs typeface="IBM Plex Mono" pitchFamily="34" charset="-120"/>
              </a:rPr>
              <a:t>  ├── Applies CSS variables to document.documentElement</a:t>
            </a:r>
            <a:endParaRPr lang="en-US" sz="1200" dirty="0"/>
          </a:p>
          <a:p>
            <a:pPr marL="0" indent="0" algn="l">
              <a:lnSpc>
                <a:spcPts val="1680"/>
              </a:lnSpc>
              <a:buNone/>
            </a:pPr>
            <a:r>
              <a:rPr lang="en-US" sz="1200" dirty="0">
                <a:solidFill>
                  <a:srgbClr val="FAFAF9"/>
                </a:solidFill>
                <a:latin typeface="IBM Plex Mono" pitchFamily="34" charset="0"/>
                <a:ea typeface="IBM Plex Mono" pitchFamily="34" charset="-122"/>
                <a:cs typeface="IBM Plex Mono" pitchFamily="34" charset="-120"/>
              </a:rPr>
              <a:t>  ├── Exposes window.__MF_THEME__ bridge</a:t>
            </a:r>
            <a:endParaRPr lang="en-US" sz="1200" dirty="0"/>
          </a:p>
          <a:p>
            <a:pPr marL="0" indent="0" algn="l">
              <a:lnSpc>
                <a:spcPts val="1680"/>
              </a:lnSpc>
              <a:buNone/>
            </a:pPr>
            <a:r>
              <a:rPr lang="en-US" sz="1200" dirty="0">
                <a:solidFill>
                  <a:srgbClr val="FAFAF9"/>
                </a:solidFill>
                <a:latin typeface="IBM Plex Mono" pitchFamily="34" charset="0"/>
                <a:ea typeface="IBM Plex Mono" pitchFamily="34" charset="-122"/>
                <a:cs typeface="IBM Plex Mono" pitchFamily="34" charset="-120"/>
              </a:rPr>
              <a:t>  └── Broadcasts "themeChange" event</a:t>
            </a:r>
            <a:endParaRPr lang="en-US" sz="1200" dirty="0"/>
          </a:p>
          <a:p>
            <a:pPr marL="0" indent="0" algn="l">
              <a:lnSpc>
                <a:spcPts val="1680"/>
              </a:lnSpc>
              <a:buNone/>
            </a:pPr>
            <a:r>
              <a:rPr lang="en-US" sz="1200" dirty="0">
                <a:solidFill>
                  <a:srgbClr val="FAFAF9"/>
                </a:solidFill>
                <a:latin typeface="IBM Plex Mono" pitchFamily="34" charset="0"/>
                <a:ea typeface="IBM Plex Mono" pitchFamily="34" charset="-122"/>
                <a:cs typeface="IBM Plex Mono" pitchFamily="34" charset="-120"/>
              </a:rPr>
              <a:t>        ├── Records       → useActiveTheme()</a:t>
            </a:r>
            <a:endParaRPr lang="en-US" sz="1200" dirty="0"/>
          </a:p>
          <a:p>
            <a:pPr marL="0" indent="0" algn="l">
              <a:lnSpc>
                <a:spcPts val="1680"/>
              </a:lnSpc>
              <a:buNone/>
            </a:pPr>
            <a:r>
              <a:rPr lang="en-US" sz="1200" dirty="0">
                <a:solidFill>
                  <a:srgbClr val="FAFAF9"/>
                </a:solidFill>
                <a:latin typeface="IBM Plex Mono" pitchFamily="34" charset="0"/>
                <a:ea typeface="IBM Plex Mono" pitchFamily="34" charset="-122"/>
                <a:cs typeface="IBM Plex Mono" pitchFamily="34" charset="-120"/>
              </a:rPr>
              <a:t>        ├── Prescriptions → useActiveTheme()</a:t>
            </a:r>
            <a:endParaRPr lang="en-US" sz="1200" dirty="0"/>
          </a:p>
          <a:p>
            <a:pPr marL="0" indent="0" algn="l">
              <a:lnSpc>
                <a:spcPts val="1680"/>
              </a:lnSpc>
              <a:buNone/>
            </a:pPr>
            <a:r>
              <a:rPr lang="en-US" sz="1200" dirty="0">
                <a:solidFill>
                  <a:srgbClr val="FAFAF9"/>
                </a:solidFill>
                <a:latin typeface="IBM Plex Mono" pitchFamily="34" charset="0"/>
                <a:ea typeface="IBM Plex Mono" pitchFamily="34" charset="-122"/>
                <a:cs typeface="IBM Plex Mono" pitchFamily="34" charset="-120"/>
              </a:rPr>
              <a:t>        └── Analytics     → useActiveTheme()</a:t>
            </a:r>
            <a:endParaRPr lang="en-US" sz="1200" dirty="0"/>
          </a:p>
        </p:txBody>
      </p:sp>
      <p:sp>
        <p:nvSpPr>
          <p:cNvPr id="9" name="Text 6"/>
          <p:cNvSpPr/>
          <p:nvPr/>
        </p:nvSpPr>
        <p:spPr>
          <a:xfrm>
            <a:off x="6812280" y="1691640"/>
            <a:ext cx="4800600" cy="329184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283"/>
              </a:lnSpc>
              <a:buNone/>
            </a:pPr>
            <a:r>
              <a:rPr lang="en-US" sz="950" dirty="0">
                <a:solidFill>
                  <a:srgbClr val="FAFAF9"/>
                </a:solidFill>
                <a:latin typeface="IBM Plex Mono" pitchFamily="34" charset="0"/>
                <a:ea typeface="IBM Plex Mono" pitchFamily="34" charset="-122"/>
                <a:cs typeface="IBM Plex Mono" pitchFamily="34" charset="-120"/>
              </a:rPr>
              <a:t>export function useActiveTheme() {</a:t>
            </a:r>
            <a:endParaRPr lang="en-US" sz="950" dirty="0"/>
          </a:p>
          <a:p>
            <a:pPr marL="0" indent="0" algn="l">
              <a:lnSpc>
                <a:spcPts val="1283"/>
              </a:lnSpc>
              <a:buNone/>
            </a:pPr>
            <a:r>
              <a:rPr lang="en-US" sz="950" dirty="0">
                <a:solidFill>
                  <a:srgbClr val="FAFAF9"/>
                </a:solidFill>
                <a:latin typeface="IBM Plex Mono" pitchFamily="34" charset="0"/>
                <a:ea typeface="IBM Plex Mono" pitchFamily="34" charset="-122"/>
                <a:cs typeface="IBM Plex Mono" pitchFamily="34" charset="-120"/>
              </a:rPr>
              <a:t>  const [theme, setTheme] = useState(() =&gt;</a:t>
            </a:r>
            <a:endParaRPr lang="en-US" sz="950" dirty="0"/>
          </a:p>
          <a:p>
            <a:pPr marL="0" indent="0" algn="l">
              <a:lnSpc>
                <a:spcPts val="1283"/>
              </a:lnSpc>
              <a:buNone/>
            </a:pPr>
            <a:r>
              <a:rPr lang="en-US" sz="950" dirty="0">
                <a:solidFill>
                  <a:srgbClr val="FAFAF9"/>
                </a:solidFill>
                <a:latin typeface="IBM Plex Mono" pitchFamily="34" charset="0"/>
                <a:ea typeface="IBM Plex Mono" pitchFamily="34" charset="-122"/>
                <a:cs typeface="IBM Plex Mono" pitchFamily="34" charset="-120"/>
              </a:rPr>
              <a:t>    window.__MF_THEME__?.getTheme() ?? "dark");</a:t>
            </a:r>
            <a:endParaRPr lang="en-US" sz="950" dirty="0"/>
          </a:p>
          <a:p>
            <a:pPr marL="0" indent="0" algn="l">
              <a:lnSpc>
                <a:spcPts val="1283"/>
              </a:lnSpc>
              <a:buNone/>
            </a:pPr>
            <a:endParaRPr lang="en-US" sz="950" dirty="0"/>
          </a:p>
          <a:p>
            <a:pPr marL="0" indent="0" algn="l">
              <a:lnSpc>
                <a:spcPts val="1283"/>
              </a:lnSpc>
              <a:buNone/>
            </a:pPr>
            <a:r>
              <a:rPr lang="en-US" sz="950" dirty="0">
                <a:solidFill>
                  <a:srgbClr val="FAFAF9"/>
                </a:solidFill>
                <a:latin typeface="IBM Plex Mono" pitchFamily="34" charset="0"/>
                <a:ea typeface="IBM Plex Mono" pitchFamily="34" charset="-122"/>
                <a:cs typeface="IBM Plex Mono" pitchFamily="34" charset="-120"/>
              </a:rPr>
              <a:t>  useEffect(() =&gt; {</a:t>
            </a:r>
            <a:endParaRPr lang="en-US" sz="950" dirty="0"/>
          </a:p>
          <a:p>
            <a:pPr marL="0" indent="0" algn="l">
              <a:lnSpc>
                <a:spcPts val="1283"/>
              </a:lnSpc>
              <a:buNone/>
            </a:pPr>
            <a:r>
              <a:rPr lang="en-US" sz="950" dirty="0">
                <a:solidFill>
                  <a:srgbClr val="FAFAF9"/>
                </a:solidFill>
                <a:latin typeface="IBM Plex Mono" pitchFamily="34" charset="0"/>
                <a:ea typeface="IBM Plex Mono" pitchFamily="34" charset="-122"/>
                <a:cs typeface="IBM Plex Mono" pitchFamily="34" charset="-120"/>
              </a:rPr>
              <a:t>    const handler = (e) =&gt; setTheme(e.detail.theme);</a:t>
            </a:r>
            <a:endParaRPr lang="en-US" sz="950" dirty="0"/>
          </a:p>
          <a:p>
            <a:pPr marL="0" indent="0" algn="l">
              <a:lnSpc>
                <a:spcPts val="1283"/>
              </a:lnSpc>
              <a:buNone/>
            </a:pPr>
            <a:r>
              <a:rPr lang="en-US" sz="950" dirty="0">
                <a:solidFill>
                  <a:srgbClr val="FAFAF9"/>
                </a:solidFill>
                <a:latin typeface="IBM Plex Mono" pitchFamily="34" charset="0"/>
                <a:ea typeface="IBM Plex Mono" pitchFamily="34" charset="-122"/>
                <a:cs typeface="IBM Plex Mono" pitchFamily="34" charset="-120"/>
              </a:rPr>
              <a:t>    window.addEventListener("themeChange", handler);</a:t>
            </a:r>
            <a:endParaRPr lang="en-US" sz="950" dirty="0"/>
          </a:p>
          <a:p>
            <a:pPr marL="0" indent="0" algn="l">
              <a:lnSpc>
                <a:spcPts val="1283"/>
              </a:lnSpc>
              <a:buNone/>
            </a:pPr>
            <a:r>
              <a:rPr lang="en-US" sz="950" dirty="0">
                <a:solidFill>
                  <a:srgbClr val="FAFAF9"/>
                </a:solidFill>
                <a:latin typeface="IBM Plex Mono" pitchFamily="34" charset="0"/>
                <a:ea typeface="IBM Plex Mono" pitchFamily="34" charset="-122"/>
                <a:cs typeface="IBM Plex Mono" pitchFamily="34" charset="-120"/>
              </a:rPr>
              <a:t>    return () =&gt;</a:t>
            </a:r>
            <a:endParaRPr lang="en-US" sz="950" dirty="0"/>
          </a:p>
          <a:p>
            <a:pPr marL="0" indent="0" algn="l">
              <a:lnSpc>
                <a:spcPts val="1283"/>
              </a:lnSpc>
              <a:buNone/>
            </a:pPr>
            <a:r>
              <a:rPr lang="en-US" sz="950" dirty="0">
                <a:solidFill>
                  <a:srgbClr val="FAFAF9"/>
                </a:solidFill>
                <a:latin typeface="IBM Plex Mono" pitchFamily="34" charset="0"/>
                <a:ea typeface="IBM Plex Mono" pitchFamily="34" charset="-122"/>
                <a:cs typeface="IBM Plex Mono" pitchFamily="34" charset="-120"/>
              </a:rPr>
              <a:t>      window.removeEventListener("themeChange", handler);</a:t>
            </a:r>
            <a:endParaRPr lang="en-US" sz="950" dirty="0"/>
          </a:p>
          <a:p>
            <a:pPr marL="0" indent="0" algn="l">
              <a:lnSpc>
                <a:spcPts val="1283"/>
              </a:lnSpc>
              <a:buNone/>
            </a:pPr>
            <a:r>
              <a:rPr lang="en-US" sz="950" dirty="0">
                <a:solidFill>
                  <a:srgbClr val="FAFAF9"/>
                </a:solidFill>
                <a:latin typeface="IBM Plex Mono" pitchFamily="34" charset="0"/>
                <a:ea typeface="IBM Plex Mono" pitchFamily="34" charset="-122"/>
                <a:cs typeface="IBM Plex Mono" pitchFamily="34" charset="-120"/>
              </a:rPr>
              <a:t>  }, []);</a:t>
            </a:r>
            <a:endParaRPr lang="en-US" sz="950" dirty="0"/>
          </a:p>
          <a:p>
            <a:pPr marL="0" indent="0" algn="l">
              <a:lnSpc>
                <a:spcPts val="1283"/>
              </a:lnSpc>
              <a:buNone/>
            </a:pPr>
            <a:endParaRPr lang="en-US" sz="950" dirty="0"/>
          </a:p>
          <a:p>
            <a:pPr marL="0" indent="0" algn="l">
              <a:lnSpc>
                <a:spcPts val="1283"/>
              </a:lnSpc>
              <a:buNone/>
            </a:pPr>
            <a:r>
              <a:rPr lang="en-US" sz="950" dirty="0">
                <a:solidFill>
                  <a:srgbClr val="FAFAF9"/>
                </a:solidFill>
                <a:latin typeface="IBM Plex Mono" pitchFamily="34" charset="0"/>
                <a:ea typeface="IBM Plex Mono" pitchFamily="34" charset="-122"/>
                <a:cs typeface="IBM Plex Mono" pitchFamily="34" charset="-120"/>
              </a:rPr>
              <a:t>  return { theme, label: THEME_LABELS[theme] };</a:t>
            </a:r>
            <a:endParaRPr lang="en-US" sz="950" dirty="0"/>
          </a:p>
          <a:p>
            <a:pPr marL="0" indent="0" algn="l">
              <a:lnSpc>
                <a:spcPts val="1283"/>
              </a:lnSpc>
              <a:buNone/>
            </a:pPr>
            <a:r>
              <a:rPr lang="en-US" sz="950" dirty="0">
                <a:solidFill>
                  <a:srgbClr val="FAFAF9"/>
                </a:solidFill>
                <a:latin typeface="IBM Plex Mono" pitchFamily="34" charset="0"/>
                <a:ea typeface="IBM Plex Mono" pitchFamily="34" charset="-122"/>
                <a:cs typeface="IBM Plex Mono" pitchFamily="34" charset="-120"/>
              </a:rPr>
              <a:t>}</a:t>
            </a:r>
            <a:endParaRPr lang="en-US" sz="950" dirty="0"/>
          </a:p>
        </p:txBody>
      </p:sp>
      <p:sp>
        <p:nvSpPr>
          <p:cNvPr id="10" name="Shape 7"/>
          <p:cNvSpPr/>
          <p:nvPr/>
        </p:nvSpPr>
        <p:spPr>
          <a:xfrm>
            <a:off x="548640" y="5449824"/>
            <a:ext cx="32004" cy="530352"/>
          </a:xfrm>
          <a:prstGeom prst="rect">
            <a:avLst/>
          </a:prstGeom>
          <a:solidFill>
            <a:srgbClr val="D4FF00"/>
          </a:solidFill>
          <a:ln/>
        </p:spPr>
        <p:txBody>
          <a:bodyPr/>
          <a:lstStyle/>
          <a:p>
            <a:endParaRPr lang="en-GB"/>
          </a:p>
        </p:txBody>
      </p:sp>
      <p:sp>
        <p:nvSpPr>
          <p:cNvPr id="11" name="Text 8"/>
          <p:cNvSpPr/>
          <p:nvPr/>
        </p:nvSpPr>
        <p:spPr>
          <a:xfrm>
            <a:off x="731520" y="5394960"/>
            <a:ext cx="10881360" cy="640080"/>
          </a:xfrm>
          <a:prstGeom prst="rect">
            <a:avLst/>
          </a:prstGeom>
          <a:noFill/>
          <a:ln/>
        </p:spPr>
        <p:txBody>
          <a:bodyPr wrap="square" rtlCol="0" anchor="ctr"/>
          <a:lstStyle/>
          <a:p>
            <a:pPr marL="0" indent="0">
              <a:buNone/>
            </a:pPr>
            <a:r>
              <a:rPr lang="en-US" sz="1500" i="1" dirty="0">
                <a:solidFill>
                  <a:srgbClr val="A8A29E"/>
                </a:solidFill>
                <a:latin typeface="Instrument Serif" pitchFamily="34" charset="0"/>
                <a:ea typeface="Instrument Serif" pitchFamily="34" charset="-122"/>
                <a:cs typeface="Instrument Serif" pitchFamily="34" charset="-120"/>
              </a:rPr>
              <a:t>Every remote reacts immediately. No shared imports, no prop drilling, no re-deploys.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PERFORMANCE</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13</a:t>
            </a:r>
            <a:endParaRPr lang="en-US" sz="850" dirty="0"/>
          </a:p>
        </p:txBody>
      </p:sp>
      <p:sp>
        <p:nvSpPr>
          <p:cNvPr id="8" name="Text 5"/>
          <p:cNvSpPr/>
          <p:nvPr/>
        </p:nvSpPr>
        <p:spPr>
          <a:xfrm>
            <a:off x="548640" y="1691640"/>
            <a:ext cx="11064240" cy="283464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const PREFETCHERS: Record&lt;ModuleType, () =&gt; Promise&lt;unknown&gt;&gt; =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home:          () =&gt; import("home/Home").catch(() =&gt; undefined),</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records:       () =&gt; import("records/MedicalRecords").catch(() =&gt; undefined),</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prescriptions: () =&gt; import("prescriptions/StreamingPrescriptionOrders").catch(() =&gt; undefined),</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analytics:     () =&gt; import("analytics/StreamingClinicalAnalytics").catch(() =&gt; undefined),</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a:t>
            </a:r>
            <a:endParaRPr lang="en-US" sz="1000" dirty="0"/>
          </a:p>
          <a:p>
            <a:pPr marL="0" indent="0" algn="l">
              <a:lnSpc>
                <a:spcPts val="1350"/>
              </a:lnSpc>
              <a:buNone/>
            </a:pP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EAGER — preload on shell mount</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for (const m of MODULES.filter((m) =&gt; m.loadStrategy === "eager")) PREFETCHERS[m.id]();</a:t>
            </a:r>
            <a:endParaRPr lang="en-US" sz="1000" dirty="0"/>
          </a:p>
          <a:p>
            <a:pPr marL="0" indent="0" algn="l">
              <a:lnSpc>
                <a:spcPts val="1350"/>
              </a:lnSpc>
              <a:buNone/>
            </a:pP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HOVER — prefetch on tab hover</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&lt;NavLink onMouseEnter={() =&gt; PREFETCHERS[module.id]()} /&gt;</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64240" cy="129387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10896">
                <a:tc>
                  <a:txBody>
                    <a:bodyPr/>
                    <a:lstStyle/>
                    <a:p>
                      <a:pPr marL="0" indent="0">
                        <a:buNone/>
                      </a:pPr>
                      <a:r>
                        <a:rPr lang="en-US" sz="950" b="1" kern="0" spc="200" dirty="0">
                          <a:solidFill>
                            <a:srgbClr val="D4FF00"/>
                          </a:solidFill>
                          <a:latin typeface="IBM Plex Mono" pitchFamily="34" charset="0"/>
                          <a:ea typeface="IBM Plex Mono" pitchFamily="34" charset="-122"/>
                          <a:cs typeface="IBM Plex Mono" pitchFamily="34" charset="-120"/>
                        </a:rPr>
                        <a:t>STRATEGY</a:t>
                      </a:r>
                      <a:endParaRPr lang="en-US" sz="95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950" b="1" kern="0" spc="200" dirty="0">
                          <a:solidFill>
                            <a:srgbClr val="D4FF00"/>
                          </a:solidFill>
                          <a:latin typeface="IBM Plex Mono" pitchFamily="34" charset="0"/>
                          <a:ea typeface="IBM Plex Mono" pitchFamily="34" charset="-122"/>
                          <a:cs typeface="IBM Plex Mono" pitchFamily="34" charset="-120"/>
                        </a:rPr>
                        <a:t>WHEN IT LOADS</a:t>
                      </a:r>
                      <a:endParaRPr lang="en-US" sz="95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950" b="1" kern="0" spc="200" dirty="0">
                          <a:solidFill>
                            <a:srgbClr val="D4FF00"/>
                          </a:solidFill>
                          <a:latin typeface="IBM Plex Mono" pitchFamily="34" charset="0"/>
                          <a:ea typeface="IBM Plex Mono" pitchFamily="34" charset="-122"/>
                          <a:cs typeface="IBM Plex Mono" pitchFamily="34" charset="-120"/>
                        </a:rPr>
                        <a:t>EXAMPLE</a:t>
                      </a:r>
                      <a:endParaRPr lang="en-US" sz="95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Instant</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Chunk fetched lazily, no streaming delay</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Home</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Eager</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Preloaded the moment the shell mounts</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Records</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Hover</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Prefetched when the user hovers a tab</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150" dirty="0">
                          <a:solidFill>
                            <a:srgbClr val="FAFAF9"/>
                          </a:solidFill>
                          <a:latin typeface="DM Sans" pitchFamily="34" charset="0"/>
                          <a:ea typeface="DM Sans" pitchFamily="34" charset="-122"/>
                          <a:cs typeface="DM Sans" pitchFamily="34" charset="-120"/>
                        </a:rPr>
                        <a:t>Prescriptions, Analytics</a:t>
                      </a:r>
                      <a:endParaRPr lang="en-US" sz="115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TESTING</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Test federated components in isolation — no servers</a:t>
            </a:r>
            <a:endParaRPr lang="en-US" sz="3300" dirty="0"/>
          </a:p>
        </p:txBody>
      </p:sp>
      <p:sp>
        <p:nvSpPr>
          <p:cNvPr id="5" name="Text 3"/>
          <p:cNvSpPr/>
          <p:nvPr/>
        </p:nvSpPr>
        <p:spPr>
          <a:xfrm>
            <a:off x="548640" y="6446520"/>
            <a:ext cx="6400800" cy="274320"/>
          </a:xfrm>
          <a:prstGeom prst="rect">
            <a:avLst/>
          </a:prstGeom>
          <a:noFill/>
          <a:ln/>
        </p:spPr>
        <p:txBody>
          <a:bodyPr wrap="square" rtlCol="0" anchor="ctr"/>
          <a:lstStyle/>
          <a:p>
            <a:pPr marL="0" indent="0">
              <a:buNone/>
            </a:pPr>
            <a:r>
              <a:rPr lang="en-US" sz="850" kern="0" spc="200" dirty="0">
                <a:solidFill>
                  <a:srgbClr val="6B6560"/>
                </a:solidFill>
                <a:latin typeface="IBM Plex Mono" pitchFamily="34" charset="0"/>
                <a:ea typeface="IBM Plex Mono" pitchFamily="34" charset="-122"/>
                <a:cs typeface="IBM Plex Mono" pitchFamily="34" charset="-120"/>
              </a:rPr>
              <a:t>From 5 Devs to 200 · Micro-Frontends</a:t>
            </a:r>
            <a:endParaRPr lang="en-US" sz="85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14</a:t>
            </a:r>
            <a:endParaRPr lang="en-US" sz="850" dirty="0"/>
          </a:p>
        </p:txBody>
      </p:sp>
      <p:sp>
        <p:nvSpPr>
          <p:cNvPr id="8" name="Text 5"/>
          <p:cNvSpPr/>
          <p:nvPr/>
        </p:nvSpPr>
        <p:spPr>
          <a:xfrm>
            <a:off x="548640" y="1691640"/>
            <a:ext cx="11064240" cy="196596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vitest.config.ts — resolve MF imports to source files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resolve: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alias: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"records/MedicalRecords":</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path.resolve(__dirname, "packages/records/src/MedicalRecords.tsx"),</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 home/Home, prescriptions/…, analytics/… same pattern</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a:t>
            </a:r>
            <a:endParaRPr lang="en-US" sz="1000" dirty="0"/>
          </a:p>
        </p:txBody>
      </p:sp>
      <p:sp>
        <p:nvSpPr>
          <p:cNvPr id="9" name="Text 6"/>
          <p:cNvSpPr/>
          <p:nvPr/>
        </p:nvSpPr>
        <p:spPr>
          <a:xfrm>
            <a:off x="548640" y="3840480"/>
            <a:ext cx="11064240" cy="1737360"/>
          </a:xfrm>
          <a:prstGeom prst="rect">
            <a:avLst/>
          </a:prstGeom>
          <a:solidFill>
            <a:srgbClr val="141414"/>
          </a:solidFill>
          <a:ln w="9525">
            <a:solidFill>
              <a:srgbClr val="2E2E2E"/>
            </a:solidFill>
          </a:ln>
        </p:spPr>
        <p:txBody>
          <a:bodyPr wrap="square" lIns="127000" tIns="127000" rIns="127000" bIns="127000" rtlCol="0" anchor="t"/>
          <a:lstStyle/>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it("dispatches addPrescription event on Add click", async () =&gt;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const handler = vi.fn();</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window.addEventListener("addPrescription", handler);</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render(&lt;MedicalRecords /&gt;);</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await user.click(screen.getByRole("button", { name: /create prescription/i }));</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  expect(handler).toHaveBeenCalledTimes(1);</a:t>
            </a:r>
            <a:endParaRPr lang="en-US" sz="1000" dirty="0"/>
          </a:p>
          <a:p>
            <a:pPr marL="0" indent="0" algn="l">
              <a:lnSpc>
                <a:spcPts val="1350"/>
              </a:lnSpc>
              <a:buNone/>
            </a:pPr>
            <a:r>
              <a:rPr lang="en-US" sz="1000" dirty="0">
                <a:solidFill>
                  <a:srgbClr val="FAFAF9"/>
                </a:solidFill>
                <a:latin typeface="IBM Plex Mono" pitchFamily="34" charset="0"/>
                <a:ea typeface="IBM Plex Mono" pitchFamily="34" charset="-122"/>
                <a:cs typeface="IBM Plex Mono" pitchFamily="34" charset="-120"/>
              </a:rPr>
              <a:t>});</a:t>
            </a:r>
            <a:endParaRPr lang="en-US" sz="1000" dirty="0"/>
          </a:p>
        </p:txBody>
      </p:sp>
      <p:sp>
        <p:nvSpPr>
          <p:cNvPr id="10" name="Text 7"/>
          <p:cNvSpPr/>
          <p:nvPr/>
        </p:nvSpPr>
        <p:spPr>
          <a:xfrm>
            <a:off x="548640" y="5760720"/>
            <a:ext cx="11064240" cy="457200"/>
          </a:xfrm>
          <a:prstGeom prst="rect">
            <a:avLst/>
          </a:prstGeom>
          <a:noFill/>
          <a:ln/>
        </p:spPr>
        <p:txBody>
          <a:bodyPr wrap="square" rtlCol="0" anchor="ctr"/>
          <a:lstStyle/>
          <a:p>
            <a:pPr marL="0" indent="0">
              <a:buNone/>
            </a:pPr>
            <a:r>
              <a:rPr lang="en-US" sz="2000" i="1" dirty="0">
                <a:solidFill>
                  <a:srgbClr val="D4FF00"/>
                </a:solidFill>
                <a:latin typeface="Instrument Serif" pitchFamily="34" charset="0"/>
                <a:ea typeface="Instrument Serif" pitchFamily="34" charset="-122"/>
                <a:cs typeface="Instrument Serif" pitchFamily="34" charset="-120"/>
              </a:rPr>
              <a:t>210 tests across 21 files — all passing.</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Six segments, ~10 minutes</a:t>
            </a:r>
            <a:endParaRPr lang="en-US" sz="330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16</a:t>
            </a:r>
            <a:endParaRPr lang="en-US" sz="850" dirty="0"/>
          </a:p>
        </p:txBody>
      </p:sp>
      <p:graphicFrame>
        <p:nvGraphicFramePr>
          <p:cNvPr id="17" name="Table 0"/>
          <p:cNvGraphicFramePr>
            <a:graphicFrameLocks noGrp="1"/>
          </p:cNvGraphicFramePr>
          <p:nvPr>
            <p:extLst>
              <p:ext uri="{D42A27DB-BD31-4B8C-83A1-F6EECF244321}">
                <p14:modId xmlns:p14="http://schemas.microsoft.com/office/powerpoint/2010/main" val="1989974604"/>
              </p:ext>
            </p:extLst>
          </p:nvPr>
        </p:nvGraphicFramePr>
        <p:xfrm>
          <a:off x="530352" y="1645920"/>
          <a:ext cx="11064240" cy="4877449"/>
        </p:xfrm>
        <a:graphic>
          <a:graphicData uri="http://schemas.openxmlformats.org/drawingml/2006/table">
            <a:tbl>
              <a:tblPr/>
              <a:tblGrid>
                <a:gridCol w="457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992846">
                  <a:extLst>
                    <a:ext uri="{9D8B030D-6E8A-4147-A177-3AD203B41FA5}">
                      <a16:colId xmlns:a16="http://schemas.microsoft.com/office/drawing/2014/main" val="20002"/>
                    </a:ext>
                  </a:extLst>
                </a:gridCol>
                <a:gridCol w="6505234">
                  <a:extLst>
                    <a:ext uri="{9D8B030D-6E8A-4147-A177-3AD203B41FA5}">
                      <a16:colId xmlns:a16="http://schemas.microsoft.com/office/drawing/2014/main" val="20003"/>
                    </a:ext>
                  </a:extLst>
                </a:gridCol>
              </a:tblGrid>
              <a:tr h="574321">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SEGMENT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TIME</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MONEY SHOT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Federation + DX story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Status strip flips INSTANT → EAGER → STREAMING as you navigate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Federation Lab — fault 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Kill records; prescriptions &amp; analytics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A/B deployment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Stable ↔ Canary ring, per-module versions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4</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Theme switching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30 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CSS variables update across all remotes, persists on refresh</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5</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Code walkthrough</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Resource pattern · lazy+catch+Suspense · event flow</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6</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Testing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pnpm test — 210 green, vitest alias trick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TAKEAWAYS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Seven things to remember</a:t>
            </a:r>
            <a:endParaRPr lang="en-US" sz="330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17</a:t>
            </a:r>
            <a:endParaRPr lang="en-US" sz="850" dirty="0"/>
          </a:p>
        </p:txBody>
      </p:sp>
      <p:sp>
        <p:nvSpPr>
          <p:cNvPr id="8" name="Text 5"/>
          <p:cNvSpPr/>
          <p:nvPr/>
        </p:nvSpPr>
        <p:spPr>
          <a:xfrm>
            <a:off x="548640" y="1645920"/>
            <a:ext cx="11064240" cy="4389120"/>
          </a:xfrm>
          <a:prstGeom prst="rect">
            <a:avLst/>
          </a:prstGeom>
          <a:noFill/>
          <a:ln/>
        </p:spPr>
        <p:txBody>
          <a:bodyPr wrap="square" rtlCol="0" anchor="t"/>
          <a:lstStyle/>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1 · Micro-frontends solve a people problem: team scale, not bundle size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2 · Suspense fallbacks cover load UX; Module Federation covers team DX</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3 · Prefer events over shared state: CustomEvents survive independent deploys</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4 · Host owns routing: remotes request navigation, only the shell mutates it</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5 · Ship fault isolation on purpose: .catch() + ErrorBoundary per module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6 · Rspack keeps the monorepo fast: sub-second HMR, Rust React Compiler, cache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7 · Match load strategy to content: instant / eager / streamed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DECISION GUIDE</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You're ready for this architecture when…</a:t>
            </a:r>
            <a:endParaRPr lang="en-US" sz="3300" dirty="0"/>
          </a:p>
        </p:txBody>
      </p:sp>
      <p:sp>
        <p:nvSpPr>
          <p:cNvPr id="6" name="Text 4"/>
          <p:cNvSpPr/>
          <p:nvPr/>
        </p:nvSpPr>
        <p:spPr>
          <a:xfrm>
            <a:off x="11292840" y="6446520"/>
            <a:ext cx="548640" cy="274320"/>
          </a:xfrm>
          <a:prstGeom prst="rect">
            <a:avLst/>
          </a:prstGeom>
          <a:noFill/>
          <a:ln/>
        </p:spPr>
        <p:txBody>
          <a:bodyPr wrap="square" rtlCol="0" anchor="ctr"/>
          <a:lstStyle/>
          <a:p>
            <a:pPr marL="0" indent="0" algn="r">
              <a:buNone/>
            </a:pPr>
            <a:r>
              <a:rPr lang="en-US" sz="850" dirty="0">
                <a:solidFill>
                  <a:srgbClr val="6B6560"/>
                </a:solidFill>
                <a:latin typeface="IBM Plex Mono" pitchFamily="34" charset="0"/>
                <a:ea typeface="IBM Plex Mono" pitchFamily="34" charset="-122"/>
                <a:cs typeface="IBM Plex Mono" pitchFamily="34" charset="-120"/>
              </a:rPr>
              <a:t>18</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2115032014"/>
              </p:ext>
            </p:extLst>
          </p:nvPr>
        </p:nvGraphicFramePr>
        <p:xfrm>
          <a:off x="548640" y="1737360"/>
          <a:ext cx="11064240" cy="4873649"/>
        </p:xfrm>
        <a:graphic>
          <a:graphicData uri="http://schemas.openxmlformats.org/drawingml/2006/table">
            <a:tbl>
              <a:tblPr/>
              <a:tblGrid>
                <a:gridCol w="576072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tblGrid>
              <a:tr h="474427">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SIGNAL</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PATTERN TO ADOPT</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991981">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Teams ship the same SPA and block each other on releases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Module Federation: independent builds; deploys can follow</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Users wait for a full bundle before seeing anything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Suspense fallback: skeletons render immediately</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One broken feature takes down the whole page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ErrorBoundary + lazy().catch() per module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991981">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Shared state libraries create invisible coupling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CustomEvents on window: no direct imports, explicit contracts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You need canary releases at the feature level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Independent versioning per remote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Testing one feature requires the full app running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Vitest alias trick: isolation, no servers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658368" y="2148840"/>
            <a:ext cx="822960" cy="54864"/>
          </a:xfrm>
          <a:prstGeom prst="rect">
            <a:avLst/>
          </a:prstGeom>
          <a:solidFill>
            <a:srgbClr val="D4FF00"/>
          </a:solidFill>
          <a:ln/>
        </p:spPr>
        <p:txBody>
          <a:bodyPr/>
          <a:lstStyle/>
          <a:p>
            <a:endParaRPr lang="en-GB"/>
          </a:p>
        </p:txBody>
      </p:sp>
      <p:sp>
        <p:nvSpPr>
          <p:cNvPr id="3" name="Text 1"/>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rgbClr val="FAFAF9"/>
                </a:solidFill>
                <a:latin typeface="Instrument Serif" pitchFamily="34" charset="0"/>
                <a:ea typeface="Instrument Serif" pitchFamily="34" charset="-122"/>
                <a:cs typeface="Instrument Serif" pitchFamily="34" charset="-120"/>
              </a:rPr>
              <a:t>Thank you.</a:t>
            </a:r>
            <a:endParaRPr lang="en-US" sz="6000" dirty="0"/>
          </a:p>
        </p:txBody>
      </p:sp>
      <p:sp>
        <p:nvSpPr>
          <p:cNvPr id="4" name="Text 2"/>
          <p:cNvSpPr/>
          <p:nvPr/>
        </p:nvSpPr>
        <p:spPr>
          <a:xfrm>
            <a:off x="640080" y="3703320"/>
            <a:ext cx="10972800" cy="457200"/>
          </a:xfrm>
          <a:prstGeom prst="rect">
            <a:avLst/>
          </a:prstGeom>
          <a:noFill/>
          <a:ln/>
        </p:spPr>
        <p:txBody>
          <a:bodyPr wrap="square" rtlCol="0" anchor="ctr"/>
          <a:lstStyle/>
          <a:p>
            <a:pPr marL="0" indent="0">
              <a:buNone/>
            </a:pPr>
            <a:r>
              <a:rPr lang="en-US" sz="2000" dirty="0">
                <a:solidFill>
                  <a:srgbClr val="A8A29E"/>
                </a:solidFill>
                <a:latin typeface="DM Sans" pitchFamily="34" charset="0"/>
                <a:ea typeface="DM Sans" pitchFamily="34" charset="-122"/>
                <a:cs typeface="DM Sans" pitchFamily="34" charset="-120"/>
              </a:rPr>
              <a:t>@DevlinDuldulao</a:t>
            </a:r>
            <a:endParaRPr lang="en-US" sz="2000" dirty="0"/>
          </a:p>
        </p:txBody>
      </p:sp>
      <p:sp>
        <p:nvSpPr>
          <p:cNvPr id="5" name="Text 3"/>
          <p:cNvSpPr/>
          <p:nvPr/>
        </p:nvSpPr>
        <p:spPr>
          <a:xfrm>
            <a:off x="640080" y="4434840"/>
            <a:ext cx="10972800" cy="365760"/>
          </a:xfrm>
          <a:prstGeom prst="rect">
            <a:avLst/>
          </a:prstGeom>
          <a:noFill/>
          <a:ln/>
        </p:spPr>
        <p:txBody>
          <a:bodyPr wrap="square" rtlCol="0" anchor="ctr"/>
          <a:lstStyle/>
          <a:p>
            <a:pPr marL="0" indent="0">
              <a:buNone/>
            </a:pPr>
            <a:r>
              <a:rPr lang="en-US" sz="1300" kern="0" spc="100" dirty="0">
                <a:solidFill>
                  <a:srgbClr val="D4FF00"/>
                </a:solidFill>
                <a:latin typeface="IBM Plex Mono" pitchFamily="34" charset="0"/>
                <a:ea typeface="IBM Plex Mono" pitchFamily="34" charset="-122"/>
                <a:cs typeface="IBM Plex Mono" pitchFamily="34" charset="-120"/>
              </a:rPr>
              <a:t>Social links</a:t>
            </a:r>
            <a:endParaRPr lang="en-US" sz="1300" dirty="0"/>
          </a:p>
        </p:txBody>
      </p:sp>
      <p:pic>
        <p:nvPicPr>
          <p:cNvPr id="7" name="Picture 6">
            <a:extLst>
              <a:ext uri="{FF2B5EF4-FFF2-40B4-BE49-F238E27FC236}">
                <a16:creationId xmlns:a16="http://schemas.microsoft.com/office/drawing/2014/main" id="{7C2162D8-6628-077A-0F25-26D5C44D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3825" y="717220"/>
            <a:ext cx="4874920" cy="4874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46</TotalTime>
  <Words>6746</Words>
  <Application>Microsoft Office PowerPoint</Application>
  <PresentationFormat>Custom</PresentationFormat>
  <Paragraphs>547</Paragraphs>
  <Slides>20</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8</cp:revision>
  <dcterms:created xsi:type="dcterms:W3CDTF">2026-07-26T17:49:56Z</dcterms:created>
  <dcterms:modified xsi:type="dcterms:W3CDTF">2026-08-23T07:12:50Z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