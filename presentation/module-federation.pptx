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98" r:id="rId2"/>
    <p:sldId id="301" r:id="rId3"/>
    <p:sldId id="300" r:id="rId4"/>
    <p:sldId id="313" r:id="rId5"/>
    <p:sldId id="312" r:id="rId6"/>
    <p:sldId id="299" r:id="rId7"/>
    <p:sldId id="314" r:id="rId8"/>
    <p:sldId id="311" r:id="rId9"/>
    <p:sldId id="315" r:id="rId10"/>
    <p:sldId id="317" r:id="rId11"/>
    <p:sldId id="316" r:id="rId12"/>
    <p:sldId id="318" r:id="rId13"/>
    <p:sldId id="336" r:id="rId14"/>
    <p:sldId id="328" r:id="rId15"/>
    <p:sldId id="337" r:id="rId16"/>
    <p:sldId id="319" r:id="rId17"/>
    <p:sldId id="320" r:id="rId18"/>
    <p:sldId id="329" r:id="rId19"/>
    <p:sldId id="327" r:id="rId20"/>
    <p:sldId id="335" r:id="rId21"/>
    <p:sldId id="325" r:id="rId22"/>
    <p:sldId id="326" r:id="rId23"/>
    <p:sldId id="334" r:id="rId24"/>
    <p:sldId id="332" r:id="rId25"/>
    <p:sldId id="333" r:id="rId26"/>
    <p:sldId id="331" r:id="rId27"/>
    <p:sldId id="323" r:id="rId28"/>
    <p:sldId id="330" r:id="rId29"/>
    <p:sldId id="310" r:id="rId30"/>
    <p:sldId id="322" r:id="rId31"/>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286" autoAdjust="0"/>
    <p:restoredTop sz="69231" autoAdjust="0"/>
  </p:normalViewPr>
  <p:slideViewPr>
    <p:cSldViewPr snapToGrid="0" snapToObjects="1">
      <p:cViewPr varScale="1">
        <p:scale>
          <a:sx n="66" d="100"/>
          <a:sy n="66" d="100"/>
        </p:scale>
        <p:origin x="1176" y="58"/>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644055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 teams can share a repo happily, but sharing a release train means one team's red build becomes everyone's problem.</a:t>
            </a:r>
          </a:p>
          <a:p>
            <a:endParaRPr lang="en-US" dirty="0"/>
          </a:p>
          <a:p>
            <a:r>
              <a:rPr lang="en-US" dirty="0"/>
              <a:t>Team D maybe have a failing build and that’s a blocker in the upper half. </a:t>
            </a:r>
          </a:p>
          <a:p>
            <a:endParaRPr lang="en-US" dirty="0"/>
          </a:p>
          <a:p>
            <a:r>
              <a:rPr lang="en-US" dirty="0"/>
              <a:t>While the lower half lets you own your build and problems stay where they are.</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Up top, Checkout, Catalog, and Account are one app, so any team can import from any other part. The dashed lines are those reaches — they look like normal imports, so nobody notices them in review. Down below, each part ships separately, so using Catalog's code means adding a dependency or calling an API. That is a real change in a real file, and a reviewer will see it. Before, crossing a boundary was invisible. After, it is visible. </a:t>
            </a:r>
          </a:p>
          <a:p>
            <a:endParaRPr lang="en-US" dirty="0"/>
          </a:p>
          <a:p>
            <a:r>
              <a:rPr lang="en-US" dirty="0"/>
              <a:t>What you can do here is a shared library.</a:t>
            </a:r>
          </a:p>
        </p:txBody>
      </p:sp>
    </p:spTree>
    <p:extLst>
      <p:ext uri="{BB962C8B-B14F-4D97-AF65-F5344CB8AC3E}">
        <p14:creationId xmlns:p14="http://schemas.microsoft.com/office/powerpoint/2010/main" val="3889681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endParaRPr lang="en-GB" dirty="0"/>
          </a:p>
        </p:txBody>
      </p:sp>
    </p:spTree>
    <p:extLst>
      <p:ext uri="{BB962C8B-B14F-4D97-AF65-F5344CB8AC3E}">
        <p14:creationId xmlns:p14="http://schemas.microsoft.com/office/powerpoint/2010/main" val="560188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of it.</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endParaRPr lang="en-GB" dirty="0"/>
          </a:p>
        </p:txBody>
      </p:sp>
    </p:spTree>
    <p:extLst>
      <p:ext uri="{BB962C8B-B14F-4D97-AF65-F5344CB8AC3E}">
        <p14:creationId xmlns:p14="http://schemas.microsoft.com/office/powerpoint/2010/main" val="3529675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This is a healthcare app. With some patient records, prescriptions, analytics.</a:t>
            </a:r>
          </a:p>
        </p:txBody>
      </p:sp>
    </p:spTree>
    <p:extLst>
      <p:ext uri="{BB962C8B-B14F-4D97-AF65-F5344CB8AC3E}">
        <p14:creationId xmlns:p14="http://schemas.microsoft.com/office/powerpoint/2010/main" val="1226422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a diagram of the demo app.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streams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a:t>
            </a:r>
          </a:p>
          <a:p>
            <a:endParaRPr lang="en-US" dirty="0"/>
          </a:p>
          <a:p>
            <a:r>
              <a:rPr lang="en-US" dirty="0"/>
              <a:t>This module federation gives your teams better developer experience. And suspense fallbacks gives your visitors better user experience. We are going to prove both, live, in the same architecture.</a:t>
            </a:r>
          </a:p>
          <a:p>
            <a:endParaRPr lang="en-US" dirty="0"/>
          </a:p>
          <a:p>
            <a:endParaRPr lang="en-GB" dirty="0"/>
          </a:p>
        </p:txBody>
      </p:sp>
    </p:spTree>
    <p:extLst>
      <p:ext uri="{BB962C8B-B14F-4D97-AF65-F5344CB8AC3E}">
        <p14:creationId xmlns:p14="http://schemas.microsoft.com/office/powerpoint/2010/main" val="13969010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rtl="0"/>
            <a:r>
              <a:rPr lang="en-US" dirty="0"/>
              <a:t>The different ports are just a local dev artifact — three dev servers can't all bind port 3000 on one laptop — and they vanish on deploy. In production the browser only ever sees </a:t>
            </a:r>
            <a:r>
              <a:rPr lang="en-US" sz="1200" kern="1200" dirty="0">
                <a:solidFill>
                  <a:schemeClr val="tx1"/>
                </a:solidFill>
                <a:latin typeface="+mn-lt"/>
                <a:ea typeface="+mn-ea"/>
                <a:cs typeface="+mn-cs"/>
              </a:rPr>
              <a:t>acme.com</a:t>
            </a:r>
            <a:r>
              <a:rPr lang="en-US" dirty="0"/>
              <a:t>, with a router at the edge (a </a:t>
            </a:r>
            <a:r>
              <a:rPr lang="en-US" dirty="0" err="1"/>
              <a:t>Vercel</a:t>
            </a:r>
            <a:r>
              <a:rPr lang="en-US" dirty="0"/>
              <a:t> rewrite, a CloudFront behavior, an nginx </a:t>
            </a:r>
            <a:r>
              <a:rPr lang="en-US" sz="1200" kern="1200" dirty="0" err="1">
                <a:solidFill>
                  <a:schemeClr val="tx1"/>
                </a:solidFill>
                <a:latin typeface="+mn-lt"/>
                <a:ea typeface="+mn-ea"/>
                <a:cs typeface="+mn-cs"/>
              </a:rPr>
              <a:t>proxy_pass</a:t>
            </a:r>
            <a:r>
              <a:rPr lang="en-US" dirty="0"/>
              <a:t>, a Cloudflare Worker) mapping each path to the host where that team deploys, so users stay on one origin while each team still ships on its own schedule. Those deploy targets are free: every platform hands you a hostname, and subdomains of a domain you already own are just DNS records, not purchases. One domain, three paths, nothing extra to buy.</a:t>
            </a:r>
          </a:p>
        </p:txBody>
      </p:sp>
    </p:spTree>
    <p:extLst>
      <p:ext uri="{BB962C8B-B14F-4D97-AF65-F5344CB8AC3E}">
        <p14:creationId xmlns:p14="http://schemas.microsoft.com/office/powerpoint/2010/main" val="1080895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Gives you independent builds and independent deploys. Onboarding improvements.</a:t>
            </a:r>
          </a:p>
          <a:p>
            <a:endParaRPr lang="en-US" dirty="0"/>
          </a:p>
          <a:p>
            <a:r>
              <a:rPr lang="en-US" dirty="0"/>
              <a:t>Suspense and skeletons are for end users. They experience perceived instant load and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endParaRPr lang="en-US" dirty="0"/>
          </a:p>
          <a:p>
            <a:r>
              <a:rPr lang="en-US" dirty="0"/>
              <a:t>With Suspense, the user clicks a tab, a skeleton appears immediately, and the content resolves when it is ready. Each remote owns its own loading choreography.</a:t>
            </a:r>
          </a:p>
          <a:p>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endParaRPr lang="en-US" dirty="0"/>
          </a:p>
          <a:p>
            <a:r>
              <a:rPr lang="en-US" dirty="0"/>
              <a:t>Four remotes hang off that shell. Home on 3004, instant. Records on 3001, eager. Prescriptions on 3002, streamed. Analytics on 3003, streamed. Not every module should load the same way. Content priority decides the strategy.</a:t>
            </a:r>
          </a:p>
          <a:p>
            <a:endParaRPr lang="en-GB" dirty="0"/>
          </a:p>
        </p:txBody>
      </p:sp>
    </p:spTree>
    <p:extLst>
      <p:ext uri="{BB962C8B-B14F-4D97-AF65-F5344CB8AC3E}">
        <p14:creationId xmlns:p14="http://schemas.microsoft.com/office/powerpoint/2010/main" val="18995684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Prescriptions and Analytics are streamed. They load on demand, behind per-module skeletons.</a:t>
            </a:r>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endParaRPr lang="en-GB" dirty="0"/>
          </a:p>
        </p:txBody>
      </p:sp>
    </p:spTree>
    <p:extLst>
      <p:ext uri="{BB962C8B-B14F-4D97-AF65-F5344CB8AC3E}">
        <p14:creationId xmlns:p14="http://schemas.microsoft.com/office/powerpoint/2010/main" val="40407776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8748135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ask why we wrap eager modules in </a:t>
            </a:r>
            <a:r>
              <a:rPr lang="en-US" sz="1200" kern="1200" dirty="0">
                <a:solidFill>
                  <a:schemeClr val="tx1"/>
                </a:solidFill>
                <a:latin typeface="+mn-lt"/>
                <a:ea typeface="+mn-ea"/>
                <a:cs typeface="+mn-cs"/>
              </a:rPr>
              <a:t>lazy()</a:t>
            </a:r>
            <a:r>
              <a:rPr lang="en-US" dirty="0"/>
              <a:t>. It's not that static imports are impossible — they work, because </a:t>
            </a:r>
            <a:r>
              <a:rPr lang="en-US" sz="1200" kern="1200" dirty="0" err="1">
                <a:solidFill>
                  <a:schemeClr val="tx1"/>
                </a:solidFill>
                <a:latin typeface="+mn-lt"/>
                <a:ea typeface="+mn-ea"/>
                <a:cs typeface="+mn-cs"/>
              </a:rPr>
              <a:t>index.tsx</a:t>
            </a:r>
            <a:r>
              <a:rPr lang="en-US" dirty="0" err="1"/>
              <a:t>'s</a:t>
            </a:r>
            <a:r>
              <a:rPr lang="en-US" dirty="0"/>
              <a:t> dynamic import already resolved the shared scope. It's that a static import makes the remote block first paint, and leaves nowhere to catch a failed remote. So we fire </a:t>
            </a:r>
            <a:r>
              <a:rPr lang="en-US" sz="1200" kern="1200" dirty="0">
                <a:solidFill>
                  <a:schemeClr val="tx1"/>
                </a:solidFill>
                <a:latin typeface="+mn-lt"/>
                <a:ea typeface="+mn-ea"/>
                <a:cs typeface="+mn-cs"/>
              </a:rPr>
              <a:t>import()</a:t>
            </a:r>
            <a:r>
              <a:rPr lang="en-US" dirty="0"/>
              <a:t> at shell </a:t>
            </a:r>
            <a:r>
              <a:rPr lang="en-US" dirty="0" err="1"/>
              <a:t>init</a:t>
            </a:r>
            <a:r>
              <a:rPr lang="en-US" dirty="0"/>
              <a:t> to warm it, and </a:t>
            </a:r>
            <a:r>
              <a:rPr lang="en-US" sz="1200" kern="1200" dirty="0">
                <a:solidFill>
                  <a:schemeClr val="tx1"/>
                </a:solidFill>
                <a:latin typeface="+mn-lt"/>
                <a:ea typeface="+mn-ea"/>
                <a:cs typeface="+mn-cs"/>
              </a:rPr>
              <a:t>lazy()</a:t>
            </a:r>
            <a:r>
              <a:rPr lang="en-US" dirty="0"/>
              <a:t> resolves from the module registry instantly — while keeping the Suspense and </a:t>
            </a:r>
            <a:r>
              <a:rPr lang="en-US" dirty="0" err="1"/>
              <a:t>ErrorBoundary</a:t>
            </a:r>
            <a:r>
              <a:rPr lang="en-US" dirty="0"/>
              <a:t> per module.</a:t>
            </a:r>
          </a:p>
          <a:p>
            <a:endParaRPr lang="en-GB" dirty="0"/>
          </a:p>
        </p:txBody>
      </p:sp>
    </p:spTree>
    <p:extLst>
      <p:ext uri="{BB962C8B-B14F-4D97-AF65-F5344CB8AC3E}">
        <p14:creationId xmlns:p14="http://schemas.microsoft.com/office/powerpoint/2010/main" val="23168514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A health monitor that polls remoteEntry.js every five seconds. Kill switches. An A/B deployment ring. That panel is for the demo. I can take a module down in front of you and show you that the rest of the app keeps running. Basically we are going to simulate </a:t>
            </a:r>
            <a:r>
              <a:rPr lang="en-US" sz="1200" i="1" dirty="0">
                <a:solidFill>
                  <a:schemeClr val="bg1">
                    <a:lumMod val="95000"/>
                  </a:schemeClr>
                </a:solidFill>
                <a:latin typeface="Instrument Serif" pitchFamily="34" charset="0"/>
                <a:ea typeface="Instrument Serif" pitchFamily="34" charset="-122"/>
              </a:rPr>
              <a:t>m</a:t>
            </a:r>
            <a:r>
              <a:rPr lang="en-US" sz="1200" i="1" dirty="0">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endParaRPr lang="en-US" dirty="0"/>
          </a:p>
        </p:txBody>
      </p:sp>
    </p:spTree>
    <p:extLst>
      <p:ext uri="{BB962C8B-B14F-4D97-AF65-F5344CB8AC3E}">
        <p14:creationId xmlns:p14="http://schemas.microsoft.com/office/powerpoint/2010/main" val="35995048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7593916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Why events instead of a shared store? A shared store is a shared dependency. Version coupling between teams. Events survive independent deploys. They even survive framework diversity. A Vue remote and a React remote can talk through the same window contract.</a:t>
            </a:r>
          </a:p>
          <a:p>
            <a:r>
              <a:rPr lang="en-US" dirty="0"/>
              <a:t>The payload is still a versioned contract. Keep it backward compatible. Each remote defines the same event shapes in its own types file by augmenting </a:t>
            </a:r>
            <a:r>
              <a:rPr lang="en-US" dirty="0" err="1"/>
              <a:t>WindowEventMap</a:t>
            </a:r>
            <a:r>
              <a:rPr lang="en-US" dirty="0"/>
              <a:t>. No shared package is required. </a:t>
            </a:r>
            <a:r>
              <a:rPr lang="en-US" dirty="0" err="1"/>
              <a:t>addEventListener</a:t>
            </a:r>
            <a:r>
              <a:rPr lang="en-US" dirty="0"/>
              <a:t> is fully typed.</a:t>
            </a:r>
          </a:p>
          <a:p>
            <a:endParaRPr lang="en-GB" dirty="0"/>
          </a:p>
        </p:txBody>
      </p:sp>
    </p:spTree>
    <p:extLst>
      <p:ext uri="{BB962C8B-B14F-4D97-AF65-F5344CB8AC3E}">
        <p14:creationId xmlns:p14="http://schemas.microsoft.com/office/powerpoint/2010/main" val="39748561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Each app owns its own store and its own query client — nothing is shared. For client state they agree on a typed event contract, and whoever owns the state is the one who broadcasts: the shell owns theme and routing, so it broadcasts those; the counter belongs to nobody, so any module can. For server state there's no syncing at all — every app just fetches, because the API is already the shared state.</a:t>
            </a:r>
            <a:endParaRPr lang="en-GB" dirty="0"/>
          </a:p>
        </p:txBody>
      </p:sp>
    </p:spTree>
    <p:extLst>
      <p:ext uri="{BB962C8B-B14F-4D97-AF65-F5344CB8AC3E}">
        <p14:creationId xmlns:p14="http://schemas.microsoft.com/office/powerpoint/2010/main" val="9831269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a:p>
            <a:endParaRPr lang="en-GB" dirty="0"/>
          </a:p>
        </p:txBody>
      </p:sp>
    </p:spTree>
    <p:extLst>
      <p:ext uri="{BB962C8B-B14F-4D97-AF65-F5344CB8AC3E}">
        <p14:creationId xmlns:p14="http://schemas.microsoft.com/office/powerpoint/2010/main" val="272897247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For the rest, the nav link fires on mouse enter. When the cursor touches Prescriptions or Analytics, the chunk starts fetching in the background. Click, and it is often already cached.</a:t>
            </a:r>
          </a:p>
          <a:p>
            <a:r>
              <a:rPr lang="en-US" dirty="0"/>
              <a:t>Instant means the landing page fetches lazily, with no streaming delay. Eager means preloaded the moment the shell mounts. Hover means prefetched when the user aims at a tab. That is why Records feels instant even though it is a separate app on a separate server. The work happened at mount.</a:t>
            </a:r>
          </a:p>
          <a:p>
            <a:endParaRPr lang="en-GB" dirty="0"/>
          </a:p>
        </p:txBody>
      </p:sp>
    </p:spTree>
    <p:extLst>
      <p:ext uri="{BB962C8B-B14F-4D97-AF65-F5344CB8AC3E}">
        <p14:creationId xmlns:p14="http://schemas.microsoft.com/office/powerpoint/2010/main" val="22023825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Seven things to take with you.</a:t>
            </a:r>
          </a:p>
          <a:p>
            <a:r>
              <a:rPr lang="en-US" dirty="0"/>
              <a:t>One. Micro-frontends solve a people problem. Adopt this when your team is growing and the monolith cannot keep up. Independent modules let independent teams ship without blocking each other. Team size is the signal, not bundle size.</a:t>
            </a:r>
          </a:p>
          <a:p>
            <a:r>
              <a:rPr lang="en-US" dirty="0"/>
              <a:t>Two. Suspense fallbacks cover load UX. Module Federation covers team DX. You want both. This demo runs both together.</a:t>
            </a:r>
          </a:p>
          <a:p>
            <a:r>
              <a:rPr lang="en-US" dirty="0"/>
              <a:t>Three. Prefer events over shared state. A custom event on window gives you decoupled communication that survives independent deploys. Keep the payload backward compatible.</a:t>
            </a:r>
          </a:p>
          <a:p>
            <a:r>
              <a:rPr lang="en-US" dirty="0"/>
              <a:t>Four. The host owns routing. Remotes can ask for navigation with </a:t>
            </a:r>
            <a:r>
              <a:rPr lang="en-US" dirty="0" err="1"/>
              <a:t>navigateToModule</a:t>
            </a:r>
            <a:r>
              <a:rPr lang="en-US" dirty="0"/>
              <a:t>. Only the shell mutates router state.</a:t>
            </a:r>
          </a:p>
          <a:p>
            <a:r>
              <a:rPr lang="en-US" dirty="0"/>
              <a:t>Five. Ship fault isolation on purpose. A catch on every lazy import, plus an error boundary per module, keeps one broken remote from taking down the app.</a:t>
            </a:r>
          </a:p>
          <a:p>
            <a:r>
              <a:rPr lang="en-US" dirty="0"/>
              <a:t>Six. </a:t>
            </a:r>
            <a:r>
              <a:rPr lang="en-US" dirty="0" err="1"/>
              <a:t>Rspack</a:t>
            </a:r>
            <a:r>
              <a:rPr lang="en-US" dirty="0"/>
              <a:t> keeps the </a:t>
            </a:r>
            <a:r>
              <a:rPr lang="en-US" dirty="0" err="1"/>
              <a:t>monorepo</a:t>
            </a:r>
            <a:r>
              <a:rPr lang="en-US" dirty="0"/>
              <a:t> fast. Sub-second hot reload across four applications. Module Federation is built in. </a:t>
            </a:r>
            <a:r>
              <a:rPr lang="en-US" dirty="0" err="1"/>
              <a:t>Rspack</a:t>
            </a:r>
            <a:r>
              <a:rPr lang="en-US" dirty="0"/>
              <a:t> 2.1 ships the Rust React Compiler, and persistent caching for faster builds and faster restarts.</a:t>
            </a:r>
          </a:p>
          <a:p>
            <a:r>
              <a:rPr lang="en-US" dirty="0"/>
              <a:t>Seven. Match load strategy to content priority. Instant for the landing page. Eager for high-value content. Streamed for secondary modules, with skeletons. Do not load every remote the same way.</a:t>
            </a:r>
          </a:p>
          <a:p>
            <a:endParaRPr lang="en-GB" dirty="0"/>
          </a:p>
        </p:txBody>
      </p:sp>
    </p:spTree>
    <p:extLst>
      <p:ext uri="{BB962C8B-B14F-4D97-AF65-F5344CB8AC3E}">
        <p14:creationId xmlns:p14="http://schemas.microsoft.com/office/powerpoint/2010/main" val="6938305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32236914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React </a:t>
            </a:r>
            <a:r>
              <a:rPr lang="en-US" sz="6600">
                <a:solidFill>
                  <a:schemeClr val="tx1">
                    <a:lumMod val="95000"/>
                    <a:lumOff val="5000"/>
                  </a:schemeClr>
                </a:solidFill>
                <a:latin typeface="Instrument Serif" pitchFamily="34" charset="0"/>
                <a:ea typeface="Instrument Serif" pitchFamily="34" charset="-122"/>
                <a:cs typeface="Instrument Serif" pitchFamily="34" charset="-120"/>
              </a:rPr>
              <a:t>19 Suspense </a:t>
            </a:r>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1324420" y="2721114"/>
            <a:ext cx="9539984" cy="707886"/>
          </a:xfrm>
          <a:prstGeom prst="rect">
            <a:avLst/>
          </a:prstGeom>
          <a:noFill/>
        </p:spPr>
        <p:txBody>
          <a:bodyPr wrap="none" rtlCol="0">
            <a:spAutoFit/>
          </a:bodyPr>
          <a:lstStyle/>
          <a:p>
            <a:pPr algn="ctr"/>
            <a:r>
              <a:rPr lang="en-US" sz="4000" dirty="0"/>
              <a:t>What are we solving here in </a:t>
            </a:r>
            <a:r>
              <a:rPr lang="en-US" sz="4000" dirty="0" err="1"/>
              <a:t>microfrontends</a:t>
            </a:r>
            <a:r>
              <a:rPr lang="en-US" sz="4000" dirty="0"/>
              <a:t>?</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DDECCB-2C5F-1707-9F5F-328AB2ED0298}"/>
              </a:ext>
            </a:extLst>
          </p:cNvPr>
          <p:cNvPicPr>
            <a:picLocks noChangeAspect="1"/>
          </p:cNvPicPr>
          <p:nvPr/>
        </p:nvPicPr>
        <p:blipFill>
          <a:blip r:embed="rId3"/>
          <a:stretch>
            <a:fillRect/>
          </a:stretch>
        </p:blipFill>
        <p:spPr>
          <a:xfrm>
            <a:off x="0" y="242697"/>
            <a:ext cx="12188825" cy="6615303"/>
          </a:xfrm>
          <a:prstGeom prst="rect">
            <a:avLst/>
          </a:prstGeom>
        </p:spPr>
      </p:pic>
    </p:spTree>
    <p:extLst>
      <p:ext uri="{BB962C8B-B14F-4D97-AF65-F5344CB8AC3E}">
        <p14:creationId xmlns:p14="http://schemas.microsoft.com/office/powerpoint/2010/main" val="40809750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4">
            <a:extLst>
              <a:ext uri="{FF2B5EF4-FFF2-40B4-BE49-F238E27FC236}">
                <a16:creationId xmlns:a16="http://schemas.microsoft.com/office/drawing/2014/main" id="{59B45F36-03DD-1F61-AE4F-49105667989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Prescriptions :3002   STREAMED</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Analytics     :3003   STREAMED</a:t>
            </a:r>
          </a:p>
        </p:txBody>
      </p:sp>
    </p:spTree>
    <p:extLst>
      <p:ext uri="{BB962C8B-B14F-4D97-AF65-F5344CB8AC3E}">
        <p14:creationId xmlns:p14="http://schemas.microsoft.com/office/powerpoint/2010/main" val="33846204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637D03-7E43-E40A-D2C9-714E3D46262C}"/>
              </a:ext>
            </a:extLst>
          </p:cNvPr>
          <p:cNvPicPr>
            <a:picLocks noChangeAspect="1"/>
          </p:cNvPicPr>
          <p:nvPr/>
        </p:nvPicPr>
        <p:blipFill>
          <a:blip r:embed="rId3"/>
          <a:stretch>
            <a:fillRect/>
          </a:stretch>
        </p:blipFill>
        <p:spPr>
          <a:xfrm>
            <a:off x="6370" y="0"/>
            <a:ext cx="12176084" cy="6858000"/>
          </a:xfrm>
          <a:prstGeom prst="rect">
            <a:avLst/>
          </a:prstGeom>
        </p:spPr>
      </p:pic>
    </p:spTree>
    <p:extLst>
      <p:ext uri="{BB962C8B-B14F-4D97-AF65-F5344CB8AC3E}">
        <p14:creationId xmlns:p14="http://schemas.microsoft.com/office/powerpoint/2010/main" val="315652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E7BAA42-8979-2749-678C-C4B2DCFC42D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5E252CBF-4D3F-DA4C-2817-C743E648F88B}"/>
              </a:ext>
            </a:extLst>
          </p:cNvPr>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INSTANT     EAGER          STREAMED             STREAMED</a:t>
            </a:r>
          </a:p>
        </p:txBody>
      </p:sp>
    </p:spTree>
    <p:extLst>
      <p:ext uri="{BB962C8B-B14F-4D97-AF65-F5344CB8AC3E}">
        <p14:creationId xmlns:p14="http://schemas.microsoft.com/office/powerpoint/2010/main" val="320200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15B897A-3EEC-DD92-29A6-A9DC36773ED2}"/>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Three strategies, three layers of resilience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668BF609-EEBF-0FAC-875A-FCD5A6335B19}"/>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1: lazy() + .catch() if remote is unreachable</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2: &lt;Suspense&gt; skeleton while loading</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3: &lt;ErrorBoundary&gt; for runtime errors</a:t>
            </a:r>
          </a:p>
        </p:txBody>
      </p:sp>
    </p:spTree>
    <p:extLst>
      <p:ext uri="{BB962C8B-B14F-4D97-AF65-F5344CB8AC3E}">
        <p14:creationId xmlns:p14="http://schemas.microsoft.com/office/powerpoint/2010/main" val="26191256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6439F7-DFAD-81AB-B8BD-241FD9547508}"/>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8368582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6D9864B-997C-D392-B5C0-9E000C1A03B8}"/>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Question</a:t>
            </a:r>
            <a:endParaRPr lang="en-US" sz="3300" dirty="0">
              <a:solidFill>
                <a:schemeClr val="tx1">
                  <a:lumMod val="95000"/>
                  <a:lumOff val="5000"/>
                </a:schemeClr>
              </a:solidFill>
            </a:endParaRPr>
          </a:p>
        </p:txBody>
      </p:sp>
      <p:sp>
        <p:nvSpPr>
          <p:cNvPr id="7" name="Text 8">
            <a:extLst>
              <a:ext uri="{FF2B5EF4-FFF2-40B4-BE49-F238E27FC236}">
                <a16:creationId xmlns:a16="http://schemas.microsoft.com/office/drawing/2014/main" id="{626E23A0-B775-D9BA-9D15-6D62663E3A4A}"/>
              </a:ext>
            </a:extLst>
          </p:cNvPr>
          <p:cNvSpPr/>
          <p:nvPr/>
        </p:nvSpPr>
        <p:spPr>
          <a:xfrm>
            <a:off x="713232" y="2678653"/>
            <a:ext cx="10395758" cy="1796527"/>
          </a:xfrm>
          <a:prstGeom prst="rect">
            <a:avLst/>
          </a:prstGeom>
          <a:noFill/>
          <a:ln/>
        </p:spPr>
        <p:txBody>
          <a:bodyPr wrap="square" rtlCol="0" anchor="ctr"/>
          <a:lstStyle/>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Why lazy() for eager modules?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Remotes are separate builds resolved at runtime.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Eager import() warms the cache; lazy() resolves from it.</a:t>
            </a:r>
            <a:endParaRPr lang="en-US" sz="2800" dirty="0">
              <a:solidFill>
                <a:schemeClr val="tx1">
                  <a:lumMod val="85000"/>
                  <a:lumOff val="15000"/>
                </a:schemeClr>
              </a:solidFill>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25772246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CC0F34E4-70E8-F750-1B49-A033FEC0C4E2}"/>
              </a:ext>
            </a:extLst>
          </p:cNvPr>
          <p:cNvSpPr/>
          <p:nvPr/>
        </p:nvSpPr>
        <p:spPr>
          <a:xfrm>
            <a:off x="530352" y="135008"/>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Settings · Commands · Federation Lab</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8EB8FE32-AB1B-8F6E-B031-72E31947DF0F}"/>
              </a:ext>
            </a:extLst>
          </p:cNvPr>
          <p:cNvSpPr/>
          <p:nvPr/>
        </p:nvSpPr>
        <p:spPr>
          <a:xfrm>
            <a:off x="576072" y="1202166"/>
            <a:ext cx="10706010" cy="4660752"/>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Health Monitor: polls each remoteEntry.js every 5s, shows latency</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Kill Switches: simulate remote failure; the rest keeps running</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A/B Deployment: toggle Stable ↔ Canary ring, per-module versions</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991074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728B204-4642-8AB0-8C60-54C9C48B708A}"/>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41969021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8D92EEC-F99D-6E3A-015E-51DCF972D10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Prefer events over shared state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F96AB674-C4AE-79FF-80B1-8B452266F247}"/>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No direct cross-module imports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Shell stays the only router owner</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Works across deployments when the event contract stays compatible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Framework-agnostic (React, Vue, Svelte)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Typed via WindowEventMap augmentation</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25832381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6D2C31A-9631-8861-A387-D11C77608896}"/>
              </a:ext>
            </a:extLst>
          </p:cNvPr>
          <p:cNvGraphicFramePr>
            <a:graphicFrameLocks noGrp="1"/>
          </p:cNvGraphicFramePr>
          <p:nvPr>
            <p:extLst>
              <p:ext uri="{D42A27DB-BD31-4B8C-83A1-F6EECF244321}">
                <p14:modId xmlns:p14="http://schemas.microsoft.com/office/powerpoint/2010/main" val="780093546"/>
              </p:ext>
            </p:extLst>
          </p:nvPr>
        </p:nvGraphicFramePr>
        <p:xfrm>
          <a:off x="362857" y="1320800"/>
          <a:ext cx="11654972" cy="5455967"/>
        </p:xfrm>
        <a:graphic>
          <a:graphicData uri="http://schemas.openxmlformats.org/drawingml/2006/table">
            <a:tbl>
              <a:tblPr/>
              <a:tblGrid>
                <a:gridCol w="3178629">
                  <a:extLst>
                    <a:ext uri="{9D8B030D-6E8A-4147-A177-3AD203B41FA5}">
                      <a16:colId xmlns:a16="http://schemas.microsoft.com/office/drawing/2014/main" val="607345058"/>
                    </a:ext>
                  </a:extLst>
                </a:gridCol>
                <a:gridCol w="2975428">
                  <a:extLst>
                    <a:ext uri="{9D8B030D-6E8A-4147-A177-3AD203B41FA5}">
                      <a16:colId xmlns:a16="http://schemas.microsoft.com/office/drawing/2014/main" val="2182254365"/>
                    </a:ext>
                  </a:extLst>
                </a:gridCol>
                <a:gridCol w="5500915">
                  <a:extLst>
                    <a:ext uri="{9D8B030D-6E8A-4147-A177-3AD203B41FA5}">
                      <a16:colId xmlns:a16="http://schemas.microsoft.com/office/drawing/2014/main" val="3397293518"/>
                    </a:ext>
                  </a:extLst>
                </a:gridCol>
              </a:tblGrid>
              <a:tr h="416364">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Event</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Who broadcasts</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Why</a:t>
                      </a:r>
                    </a:p>
                  </a:txBody>
                  <a:tcPr marL="76200" marR="76200" marT="38100" marB="38100" anchor="ctr">
                    <a:lnL>
                      <a:noFill/>
                    </a:lnL>
                    <a:lnR>
                      <a:noFill/>
                    </a:lnR>
                    <a:lnT>
                      <a:noFill/>
                    </a:lnT>
                    <a:lnB>
                      <a:noFill/>
                    </a:lnB>
                    <a:noFill/>
                  </a:tcPr>
                </a:tc>
                <a:extLst>
                  <a:ext uri="{0D108BD9-81ED-4DB2-BD59-A6C34878D82A}">
                    <a16:rowId xmlns:a16="http://schemas.microsoft.com/office/drawing/2014/main" val="3074802040"/>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themeChange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theme</a:t>
                      </a:r>
                    </a:p>
                  </a:txBody>
                  <a:tcPr marL="76200" marR="76200" marT="38100" marB="38100" anchor="ctr">
                    <a:lnL>
                      <a:noFill/>
                    </a:lnL>
                    <a:lnR>
                      <a:noFill/>
                    </a:lnR>
                    <a:lnT>
                      <a:noFill/>
                    </a:lnT>
                    <a:lnB>
                      <a:noFill/>
                    </a:lnB>
                    <a:noFill/>
                  </a:tcPr>
                </a:tc>
                <a:extLst>
                  <a:ext uri="{0D108BD9-81ED-4DB2-BD59-A6C34878D82A}">
                    <a16:rowId xmlns:a16="http://schemas.microsoft.com/office/drawing/2014/main" val="240654752"/>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moduleChange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router</a:t>
                      </a:r>
                    </a:p>
                  </a:txBody>
                  <a:tcPr marL="76200" marR="76200" marT="38100" marB="38100" anchor="ctr">
                    <a:lnL>
                      <a:noFill/>
                    </a:lnL>
                    <a:lnR>
                      <a:noFill/>
                    </a:lnR>
                    <a:lnT>
                      <a:noFill/>
                    </a:lnT>
                    <a:lnB>
                      <a:noFill/>
                    </a:lnB>
                    <a:noFill/>
                  </a:tcPr>
                </a:tc>
                <a:extLst>
                  <a:ext uri="{0D108BD9-81ED-4DB2-BD59-A6C34878D82A}">
                    <a16:rowId xmlns:a16="http://schemas.microsoft.com/office/drawing/2014/main" val="1750626137"/>
                  </a:ext>
                </a:extLst>
              </a:tr>
              <a:tr h="1069222">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addPrescription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dirty="0">
                          <a:solidFill>
                            <a:srgbClr val="3B3B3B"/>
                          </a:solidFill>
                          <a:effectLst/>
                          <a:latin typeface="Cascadia Code" panose="020B0609020000020004" pitchFamily="49" charset="0"/>
                          <a:cs typeface="Cascadia Code" panose="020B0609020000020004" pitchFamily="49" charset="0"/>
                        </a:rPr>
                        <a:t>records</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Records owns "a prescription was requested"</a:t>
                      </a:r>
                    </a:p>
                  </a:txBody>
                  <a:tcPr marL="76200" marR="76200" marT="38100" marB="38100" anchor="ctr">
                    <a:lnL>
                      <a:noFill/>
                    </a:lnL>
                    <a:lnR>
                      <a:noFill/>
                    </a:lnR>
                    <a:lnT>
                      <a:noFill/>
                    </a:lnT>
                    <a:lnB>
                      <a:noFill/>
                    </a:lnB>
                    <a:noFill/>
                  </a:tcPr>
                </a:tc>
                <a:extLst>
                  <a:ext uri="{0D108BD9-81ED-4DB2-BD59-A6C34878D82A}">
                    <a16:rowId xmlns:a16="http://schemas.microsoft.com/office/drawing/2014/main" val="1485486134"/>
                  </a:ext>
                </a:extLst>
              </a:tr>
              <a:tr h="1402485">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showNotification</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Anyone can have something to say; the shell owns the &lt;Toaster /&gt;</a:t>
                      </a:r>
                    </a:p>
                  </a:txBody>
                  <a:tcPr marL="76200" marR="76200" marT="38100" marB="38100" anchor="ctr">
                    <a:lnL>
                      <a:noFill/>
                    </a:lnL>
                    <a:lnR>
                      <a:noFill/>
                    </a:lnR>
                    <a:lnT>
                      <a:noFill/>
                    </a:lnT>
                    <a:lnB>
                      <a:noFill/>
                    </a:lnB>
                    <a:noFill/>
                  </a:tcPr>
                </a:tc>
                <a:extLst>
                  <a:ext uri="{0D108BD9-81ED-4DB2-BD59-A6C34878D82A}">
                    <a16:rowId xmlns:a16="http://schemas.microsoft.com/office/drawing/2014/main" val="3065737248"/>
                  </a:ext>
                </a:extLst>
              </a:tr>
              <a:tr h="1070386">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counterChange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dirty="0">
                          <a:solidFill>
                            <a:srgbClr val="3B3B3B"/>
                          </a:solidFill>
                          <a:effectLst/>
                          <a:latin typeface="Cascadia Code" panose="020B0609020000020004" pitchFamily="49" charset="0"/>
                          <a:cs typeface="Cascadia Code" panose="020B0609020000020004" pitchFamily="49" charset="0"/>
                        </a:rPr>
                        <a:t>Nobody owns the counter — it's genuinely peer state</a:t>
                      </a:r>
                    </a:p>
                  </a:txBody>
                  <a:tcPr marL="76200" marR="76200" marT="38100" marB="38100" anchor="ctr">
                    <a:lnL>
                      <a:noFill/>
                    </a:lnL>
                    <a:lnR>
                      <a:noFill/>
                    </a:lnR>
                    <a:lnT>
                      <a:noFill/>
                    </a:lnT>
                    <a:lnB>
                      <a:noFill/>
                    </a:lnB>
                    <a:noFill/>
                  </a:tcPr>
                </a:tc>
                <a:extLst>
                  <a:ext uri="{0D108BD9-81ED-4DB2-BD59-A6C34878D82A}">
                    <a16:rowId xmlns:a16="http://schemas.microsoft.com/office/drawing/2014/main" val="1091983602"/>
                  </a:ext>
                </a:extLst>
              </a:tr>
            </a:tbl>
          </a:graphicData>
        </a:graphic>
      </p:graphicFrame>
      <p:sp>
        <p:nvSpPr>
          <p:cNvPr id="4" name="TextBox 3">
            <a:extLst>
              <a:ext uri="{FF2B5EF4-FFF2-40B4-BE49-F238E27FC236}">
                <a16:creationId xmlns:a16="http://schemas.microsoft.com/office/drawing/2014/main" id="{FCBFEC0A-AD33-0E5A-BF45-ABD21D98423F}"/>
              </a:ext>
            </a:extLst>
          </p:cNvPr>
          <p:cNvSpPr txBox="1"/>
          <p:nvPr/>
        </p:nvSpPr>
        <p:spPr>
          <a:xfrm>
            <a:off x="362857" y="231614"/>
            <a:ext cx="11161486" cy="646331"/>
          </a:xfrm>
          <a:prstGeom prst="rect">
            <a:avLst/>
          </a:prstGeom>
          <a:noFill/>
        </p:spPr>
        <p:txBody>
          <a:bodyPr wrap="square">
            <a:spAutoFit/>
          </a:bodyPr>
          <a:lstStyle/>
          <a:p>
            <a:r>
              <a:rPr lang="en-US" sz="3600" i="1" dirty="0"/>
              <a:t>The ownership rule </a:t>
            </a:r>
            <a:endParaRPr lang="en-GB" sz="4800" i="1" dirty="0"/>
          </a:p>
        </p:txBody>
      </p:sp>
    </p:spTree>
    <p:extLst>
      <p:ext uri="{BB962C8B-B14F-4D97-AF65-F5344CB8AC3E}">
        <p14:creationId xmlns:p14="http://schemas.microsoft.com/office/powerpoint/2010/main" val="31747231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177067D6-BE87-AD69-1C20-9125336CF2E5}"/>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Shell-owned theming across the federation</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956EBAC9-BB98-ECDE-8693-BBDC50395DCE}"/>
              </a:ext>
            </a:extLst>
          </p:cNvPr>
          <p:cNvSpPr/>
          <p:nvPr/>
        </p:nvSpPr>
        <p:spPr>
          <a:xfrm>
            <a:off x="536448" y="777240"/>
            <a:ext cx="11064240" cy="4741433"/>
          </a:xfrm>
          <a:prstGeom prst="rect">
            <a:avLst/>
          </a:prstGeom>
          <a:noFill/>
          <a:ln/>
        </p:spPr>
        <p:txBody>
          <a:bodyPr wrap="square" rtlCol="0" anchor="t"/>
          <a:lstStyle/>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Shell (owns 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Persists to localStorage ("mf-demo-theme")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Applies CSS variables to document.documentElement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Exposes window.__MF_THEME__ bridge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Broadcasts "themeChange" event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Records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Prescriptions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Analytics     → useActiveTheme()</a:t>
            </a:r>
          </a:p>
        </p:txBody>
      </p:sp>
    </p:spTree>
    <p:extLst>
      <p:ext uri="{BB962C8B-B14F-4D97-AF65-F5344CB8AC3E}">
        <p14:creationId xmlns:p14="http://schemas.microsoft.com/office/powerpoint/2010/main" val="31717383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71A9CA60-7D30-2150-A7B8-47F46A40441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Two-tier preloading: eager on mount, hover on demand</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48D1E0C3-A9F2-6530-FB9F-3E86D646F9DB}"/>
              </a:ext>
            </a:extLst>
          </p:cNvPr>
          <p:cNvGraphicFramePr>
            <a:graphicFrameLocks noGrp="1"/>
          </p:cNvGraphicFramePr>
          <p:nvPr>
            <p:extLst>
              <p:ext uri="{D42A27DB-BD31-4B8C-83A1-F6EECF244321}">
                <p14:modId xmlns:p14="http://schemas.microsoft.com/office/powerpoint/2010/main" val="180649158"/>
              </p:ext>
            </p:extLst>
          </p:nvPr>
        </p:nvGraphicFramePr>
        <p:xfrm>
          <a:off x="548640" y="2302742"/>
          <a:ext cx="11064240" cy="225251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41241">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STRATEGY</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WHEN IT LOADS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EXAMPLE</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Chunk fetched lazily, no streaming delay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Eager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Preloaded the moment the shell mounts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Records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Prefetched when the user hovers a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Prescriptions, Analytics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351787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F027E61-C1A6-D975-A2F7-55C2DC49228C}"/>
              </a:ext>
            </a:extLst>
          </p:cNvPr>
          <p:cNvSpPr/>
          <p:nvPr/>
        </p:nvSpPr>
        <p:spPr>
          <a:xfrm>
            <a:off x="566801"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Seven things to remember</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EFF2B295-89D0-700E-1CD6-1F0E290DD0E1}"/>
              </a:ext>
            </a:extLst>
          </p:cNvPr>
          <p:cNvSpPr/>
          <p:nvPr/>
        </p:nvSpPr>
        <p:spPr>
          <a:xfrm>
            <a:off x="566801" y="777240"/>
            <a:ext cx="11182985" cy="5824728"/>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Micro-frontends solve a people problem: team scale, not bundle size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Suspense fallbacks cover load UX. Module Federation covers team DX</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Prefer events over shared state: CustomEvents survive independent deploys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Host owns routing: remotes request navigation, only the shell mutates it</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Ship fault isolation on purpose: .catch() + ErrorBoundary per module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err="1">
                <a:solidFill>
                  <a:schemeClr val="tx1">
                    <a:lumMod val="95000"/>
                    <a:lumOff val="5000"/>
                  </a:schemeClr>
                </a:solidFill>
                <a:latin typeface="DM Sans" pitchFamily="34" charset="0"/>
                <a:ea typeface="DM Sans" pitchFamily="34" charset="-122"/>
                <a:cs typeface="DM Sans" pitchFamily="34" charset="-120"/>
              </a:rPr>
              <a:t>Rspack</a:t>
            </a:r>
            <a:r>
              <a:rPr lang="en-US" sz="2400" dirty="0">
                <a:solidFill>
                  <a:schemeClr val="tx1">
                    <a:lumMod val="95000"/>
                    <a:lumOff val="5000"/>
                  </a:schemeClr>
                </a:solidFill>
                <a:latin typeface="DM Sans" pitchFamily="34" charset="0"/>
                <a:ea typeface="DM Sans" pitchFamily="34" charset="-122"/>
                <a:cs typeface="DM Sans" pitchFamily="34" charset="-120"/>
              </a:rPr>
              <a:t> keeps the monorepo fast: sub-second HMR, Rust React Compiler, cache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Match load strategy to content: instant / eager / streamed</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10089547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8017"/>
            <a:ext cx="12188475" cy="671909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3453</TotalTime>
  <Words>2247</Words>
  <Application>Microsoft Office PowerPoint</Application>
  <PresentationFormat>Custom</PresentationFormat>
  <Paragraphs>166</Paragraphs>
  <Slides>30</Slides>
  <Notes>30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30</vt:i4>
      </vt:variant>
    </vt:vector>
  </HeadingPairs>
  <TitlesOfParts>
    <vt:vector size="39" baseType="lpstr">
      <vt:lpstr>Aptos</vt:lpstr>
      <vt:lpstr>Arial</vt:lpstr>
      <vt:lpstr>Brush Script MT</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250</cp:revision>
  <dcterms:created xsi:type="dcterms:W3CDTF">2026-07-26T17:49:56Z</dcterms:created>
  <dcterms:modified xsi:type="dcterms:W3CDTF">2026-09-08T08:09:58Z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