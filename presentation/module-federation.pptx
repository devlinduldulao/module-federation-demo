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98" r:id="rId2"/>
    <p:sldId id="256" r:id="rId3"/>
    <p:sldId id="301" r:id="rId4"/>
    <p:sldId id="300" r:id="rId5"/>
    <p:sldId id="313" r:id="rId6"/>
    <p:sldId id="312" r:id="rId7"/>
    <p:sldId id="299" r:id="rId8"/>
    <p:sldId id="314" r:id="rId9"/>
    <p:sldId id="311" r:id="rId10"/>
    <p:sldId id="315" r:id="rId11"/>
    <p:sldId id="317" r:id="rId12"/>
    <p:sldId id="316" r:id="rId13"/>
    <p:sldId id="318" r:id="rId14"/>
    <p:sldId id="336" r:id="rId15"/>
    <p:sldId id="328" r:id="rId16"/>
    <p:sldId id="341" r:id="rId17"/>
    <p:sldId id="337" r:id="rId18"/>
    <p:sldId id="319" r:id="rId19"/>
    <p:sldId id="320" r:id="rId20"/>
    <p:sldId id="329" r:id="rId21"/>
    <p:sldId id="344" r:id="rId22"/>
    <p:sldId id="327" r:id="rId23"/>
    <p:sldId id="335" r:id="rId24"/>
    <p:sldId id="325" r:id="rId25"/>
    <p:sldId id="326" r:id="rId26"/>
    <p:sldId id="342" r:id="rId27"/>
    <p:sldId id="334" r:id="rId28"/>
    <p:sldId id="332" r:id="rId29"/>
    <p:sldId id="333" r:id="rId30"/>
    <p:sldId id="343" r:id="rId31"/>
    <p:sldId id="331" r:id="rId32"/>
    <p:sldId id="340" r:id="rId33"/>
    <p:sldId id="338" r:id="rId34"/>
    <p:sldId id="339" r:id="rId35"/>
    <p:sldId id="322" r:id="rId36"/>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76" autoAdjust="0"/>
    <p:restoredTop sz="66019" autoAdjust="0"/>
  </p:normalViewPr>
  <p:slideViewPr>
    <p:cSldViewPr snapToGrid="0" snapToObjects="1">
      <p:cViewPr varScale="1">
        <p:scale>
          <a:sx n="96" d="100"/>
          <a:sy n="96" d="100"/>
        </p:scale>
        <p:origin x="2040" y="168"/>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are we solving here in </a:t>
            </a:r>
            <a:r>
              <a:rPr lang="en-US" sz="1200" dirty="0" err="1"/>
              <a:t>microfrontends</a:t>
            </a:r>
            <a:r>
              <a:rPr lang="en-US" sz="1200" dirty="0"/>
              <a:t>?</a:t>
            </a:r>
            <a:endParaRPr lang="en-GB" sz="1200" dirty="0"/>
          </a:p>
          <a:p>
            <a:endParaRPr lang="en-GB" dirty="0"/>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Independent deploys, and a smaller blast radius</a:t>
            </a:r>
            <a:endParaRPr lang="en-GB" sz="1200" dirty="0"/>
          </a:p>
          <a:p>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Teams can share a repo happily, but sharing a release pipeline means one failing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Ownership becomes structural, not cultural</a:t>
            </a:r>
            <a:endParaRPr lang="en-GB" sz="1200" dirty="0"/>
          </a:p>
          <a:p>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a:t>
            </a:r>
          </a:p>
          <a:p>
            <a:endParaRPr lang="en-US" dirty="0"/>
          </a:p>
          <a:p>
            <a:r>
              <a:rPr lang="en-US" dirty="0"/>
              <a:t>Down below, each part ships separately, so using Catalog's code means adding a dependency or calling an API. That is a real change in a real file, and a reviewer will see it. </a:t>
            </a:r>
          </a:p>
          <a:p>
            <a:endParaRPr lang="en-US" dirty="0"/>
          </a:p>
          <a:p>
            <a:r>
              <a:rPr lang="en-US" dirty="0"/>
              <a:t>Before, crossing a boundary was invisible. </a:t>
            </a:r>
          </a:p>
          <a:p>
            <a:endParaRPr lang="en-US" dirty="0"/>
          </a:p>
          <a:p>
            <a:r>
              <a:rPr lang="en-US" dirty="0"/>
              <a:t>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Bounded cognitive load as headcount grows.</a:t>
            </a:r>
            <a:endParaRPr lang="en-US" dirty="0"/>
          </a:p>
          <a:p>
            <a:endParaRPr lang="en-US"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in a codebase.</a:t>
            </a:r>
          </a:p>
          <a:p>
            <a:endParaRPr lang="en-US" dirty="0"/>
          </a:p>
          <a:p>
            <a:r>
              <a:rPr lang="en-US" dirty="0"/>
              <a:t>When onboarding a new frontend developer?</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Incremental migration instead of a rewrite</a:t>
            </a:r>
            <a:endParaRPr lang="en-GB" sz="1200"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a:t>
            </a:r>
          </a:p>
          <a:p>
            <a:endParaRPr lang="en-US" dirty="0"/>
          </a:p>
          <a:p>
            <a:r>
              <a:rPr lang="en-US" dirty="0"/>
              <a:t>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demo app is this. 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a:t>
            </a:r>
          </a:p>
          <a:p>
            <a:r>
              <a:rPr lang="en-US" dirty="0"/>
              <a:t>Home is on 3004 and loads instantly. </a:t>
            </a:r>
          </a:p>
          <a:p>
            <a:r>
              <a:rPr lang="en-US" dirty="0"/>
              <a:t>Records is on 3001 and is eagerly preloaded. </a:t>
            </a:r>
          </a:p>
          <a:p>
            <a:r>
              <a:rPr lang="en-US" dirty="0"/>
              <a:t>Prescriptions is on 3002 and suspense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rtl="0"/>
            <a:r>
              <a:rPr lang="en-US" dirty="0"/>
              <a:t>The different ports are just a local dev artifact — three dev servers can't all bind port 3000 on one laptop — and they vanish on deploy. </a:t>
            </a:r>
          </a:p>
          <a:p>
            <a:pPr rtl="0"/>
            <a:endParaRPr lang="en-US" dirty="0"/>
          </a:p>
          <a:p>
            <a:pPr rtl="0"/>
            <a:r>
              <a:rPr lang="en-US" dirty="0"/>
              <a:t>In production the browser only ever sees </a:t>
            </a:r>
            <a:r>
              <a:rPr lang="en-US" sz="1200" kern="1200" dirty="0">
                <a:solidFill>
                  <a:schemeClr val="tx1"/>
                </a:solidFill>
                <a:latin typeface="+mn-lt"/>
                <a:ea typeface="+mn-ea"/>
                <a:cs typeface="+mn-cs"/>
              </a:rPr>
              <a:t>acme.com</a:t>
            </a:r>
            <a:r>
              <a:rPr lang="en-US" dirty="0"/>
              <a:t>, with a router at the edge (a Vercel rewrite, a CloudFront behavior, an nginx </a:t>
            </a:r>
            <a:r>
              <a:rPr lang="en-US" sz="1200" kern="1200" dirty="0" err="1">
                <a:solidFill>
                  <a:schemeClr val="tx1"/>
                </a:solidFill>
                <a:latin typeface="+mn-lt"/>
                <a:ea typeface="+mn-ea"/>
                <a:cs typeface="+mn-cs"/>
              </a:rPr>
              <a:t>proxy_pass</a:t>
            </a:r>
            <a:r>
              <a:rPr lang="en-US" dirty="0"/>
              <a:t>, a Cloudflare Worker) mapping each path to the host where that team deploys, so users stay on one origin while each team still ships on its own schedule. </a:t>
            </a:r>
          </a:p>
          <a:p>
            <a:pPr rtl="0"/>
            <a:endParaRPr lang="en-US" dirty="0"/>
          </a:p>
          <a:p>
            <a:pPr rtl="0"/>
            <a:r>
              <a:rPr lang="en-US" dirty="0"/>
              <a:t>Those deploy targets are free: every platform hands you a hostname, and subdomains of a domain you already own are just DNS records, not purchases. One domain, three paths, nothing extra to buy.</a:t>
            </a:r>
          </a:p>
        </p:txBody>
      </p:sp>
    </p:spTree>
    <p:extLst>
      <p:ext uri="{BB962C8B-B14F-4D97-AF65-F5344CB8AC3E}">
        <p14:creationId xmlns:p14="http://schemas.microsoft.com/office/powerpoint/2010/main" val="1080895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It gives you independent builds and independent deploys. Onboarding improvements.</a:t>
            </a:r>
          </a:p>
          <a:p>
            <a:endParaRPr lang="en-US" dirty="0"/>
          </a:p>
          <a:p>
            <a:r>
              <a:rPr lang="en-US" dirty="0"/>
              <a:t>Suspense and skeletons are for end users. They experience perceived instant load and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endParaRPr lang="en-US" dirty="0"/>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The shell owns navigation, the router, the theme, the counter, and the logged user.</a:t>
            </a:r>
          </a:p>
          <a:p>
            <a:endParaRPr lang="en-US" dirty="0"/>
          </a:p>
          <a:p>
            <a:r>
              <a:rPr lang="en-US" dirty="0"/>
              <a:t>Every remote is wrapped the same way. An error boundary. Then Suspense with a skeleton fallback. Then the remote module itself.</a:t>
            </a:r>
          </a:p>
          <a:p>
            <a:endParaRPr lang="en-US" dirty="0"/>
          </a:p>
          <a:p>
            <a:r>
              <a:rPr lang="en-US" dirty="0"/>
              <a:t>Four remotes hang off that shell. Not every module should load the same way if you want something like this. The strategy will depend on which content you will prioritize.</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endParaRPr lang="en-US" dirty="0"/>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this is the flow if I click the Prescriptions menu which will navigate to the Prescriptions app.</a:t>
            </a:r>
          </a:p>
        </p:txBody>
      </p:sp>
    </p:spTree>
    <p:extLst>
      <p:ext uri="{BB962C8B-B14F-4D97-AF65-F5344CB8AC3E}">
        <p14:creationId xmlns:p14="http://schemas.microsoft.com/office/powerpoint/2010/main" val="8748135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because </a:t>
            </a:r>
            <a:r>
              <a:rPr lang="en-US" sz="1200" kern="1200" dirty="0">
                <a:solidFill>
                  <a:schemeClr val="tx1"/>
                </a:solidFill>
                <a:latin typeface="+mn-lt"/>
                <a:ea typeface="+mn-ea"/>
                <a:cs typeface="+mn-cs"/>
              </a:rPr>
              <a:t>the</a:t>
            </a:r>
            <a:r>
              <a:rPr lang="en-US" dirty="0"/>
              <a:t> dynamic import in </a:t>
            </a:r>
            <a:r>
              <a:rPr lang="en-US" dirty="0" err="1"/>
              <a:t>index.tsx</a:t>
            </a:r>
            <a:r>
              <a:rPr lang="en-US" dirty="0"/>
              <a:t> already resolved the shared scope and that a static import makes the remote block first paint, and leaves nowhere to catch a failed remote.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Before I do another demo, here are the functionalities of the other buttons on the menu header.</a:t>
            </a:r>
          </a:p>
          <a:p>
            <a:endParaRPr lang="en-US" dirty="0"/>
          </a:p>
          <a:p>
            <a:r>
              <a:rPr lang="en-US" dirty="0"/>
              <a:t>A health monitor that polls remoteEntry.js every five seconds. </a:t>
            </a:r>
          </a:p>
          <a:p>
            <a:r>
              <a:rPr lang="en-US" dirty="0"/>
              <a:t>Kill switches. </a:t>
            </a:r>
          </a:p>
          <a:p>
            <a:r>
              <a:rPr lang="en-US" dirty="0"/>
              <a:t>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p>
          <a:p>
            <a:r>
              <a:rPr lang="en-US" sz="1200" i="0" dirty="0">
                <a:solidFill>
                  <a:schemeClr val="bg1">
                    <a:lumMod val="95000"/>
                  </a:schemeClr>
                </a:solidFill>
                <a:latin typeface="Instrument Serif" pitchFamily="34" charset="0"/>
                <a:ea typeface="Instrument Serif" pitchFamily="34" charset="-122"/>
              </a:rPr>
              <a:t>Theming.</a:t>
            </a:r>
            <a:endParaRPr lang="en-US" i="0" dirty="0"/>
          </a:p>
        </p:txBody>
      </p:sp>
    </p:spTree>
    <p:extLst>
      <p:ext uri="{BB962C8B-B14F-4D97-AF65-F5344CB8AC3E}">
        <p14:creationId xmlns:p14="http://schemas.microsoft.com/office/powerpoint/2010/main" val="35995048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US" dirty="0"/>
          </a:p>
        </p:txBody>
      </p:sp>
    </p:spTree>
    <p:extLst>
      <p:ext uri="{BB962C8B-B14F-4D97-AF65-F5344CB8AC3E}">
        <p14:creationId xmlns:p14="http://schemas.microsoft.com/office/powerpoint/2010/main" val="38350487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how you deal with client state management. I will show you more later and also something about server state management like </a:t>
            </a:r>
            <a:r>
              <a:rPr lang="en-GB" dirty="0" err="1"/>
              <a:t>TanStack</a:t>
            </a:r>
            <a:r>
              <a:rPr lang="en-GB" dirty="0"/>
              <a:t> Query.</a:t>
            </a:r>
          </a:p>
        </p:txBody>
      </p:sp>
    </p:spTree>
    <p:extLst>
      <p:ext uri="{BB962C8B-B14F-4D97-AF65-F5344CB8AC3E}">
        <p14:creationId xmlns:p14="http://schemas.microsoft.com/office/powerpoint/2010/main" val="3759391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use the browser </a:t>
            </a:r>
            <a:r>
              <a:rPr lang="en-US" dirty="0" err="1"/>
              <a:t>api</a:t>
            </a:r>
            <a:r>
              <a:rPr lang="en-US" dirty="0"/>
              <a:t> events instead of a shared store? A shared store is a shared dependency. </a:t>
            </a:r>
          </a:p>
          <a:p>
            <a:endParaRPr lang="en-US" dirty="0"/>
          </a:p>
          <a:p>
            <a:r>
              <a:rPr lang="en-US" dirty="0"/>
              <a:t>There will be version coupling between teams if shared stores, while the events will survive in independent deploys. </a:t>
            </a:r>
          </a:p>
          <a:p>
            <a:endParaRPr lang="en-US" dirty="0"/>
          </a:p>
          <a:p>
            <a:r>
              <a:rPr lang="en-US" dirty="0"/>
              <a:t>They even survive framework diversity. For example, a Vue remote and a React remote can talk through the same window contract.</a:t>
            </a:r>
          </a:p>
          <a:p>
            <a:endParaRPr lang="en-US" dirty="0"/>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a:t>
            </a:r>
          </a:p>
          <a:p>
            <a:endParaRPr lang="en-US" dirty="0"/>
          </a:p>
          <a:p>
            <a:r>
              <a:rPr lang="en-US" dirty="0"/>
              <a:t>the shell owns theme and routing, so it broadcasts those; </a:t>
            </a:r>
          </a:p>
          <a:p>
            <a:endParaRPr lang="en-US" dirty="0"/>
          </a:p>
          <a:p>
            <a:r>
              <a:rPr lang="en-US" dirty="0" err="1"/>
              <a:t>addPrescription</a:t>
            </a:r>
            <a:r>
              <a:rPr lang="en-US" dirty="0"/>
              <a:t>.</a:t>
            </a:r>
          </a:p>
          <a:p>
            <a:endParaRPr lang="en-US" dirty="0"/>
          </a:p>
          <a:p>
            <a:r>
              <a:rPr lang="en-US" dirty="0" err="1"/>
              <a:t>showNotification</a:t>
            </a:r>
            <a:r>
              <a:rPr lang="en-US" dirty="0"/>
              <a:t>.</a:t>
            </a:r>
          </a:p>
          <a:p>
            <a:endParaRPr lang="en-US" dirty="0"/>
          </a:p>
          <a:p>
            <a:r>
              <a:rPr lang="en-US" dirty="0"/>
              <a:t>the counter belongs to nobody, so any module can. </a:t>
            </a:r>
          </a:p>
          <a:p>
            <a:endParaRPr lang="en-US" dirty="0"/>
          </a:p>
          <a:p>
            <a:r>
              <a:rPr lang="en-US" dirty="0"/>
              <a:t>For server state, like TanStack Query, there's no syncing at all — every app just fetches, because the REST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And before I end this presentation, I have two things here I want to share. This is important because of our work has changed from writing code to </a:t>
            </a:r>
            <a:r>
              <a:rPr lang="en-GB" dirty="0" err="1"/>
              <a:t>vibecoding</a:t>
            </a:r>
            <a:r>
              <a:rPr lang="en-GB" dirty="0"/>
              <a:t> using AI agents making us 20x engineers now.</a:t>
            </a:r>
          </a:p>
        </p:txBody>
      </p:sp>
    </p:spTree>
    <p:extLst>
      <p:ext uri="{BB962C8B-B14F-4D97-AF65-F5344CB8AC3E}">
        <p14:creationId xmlns:p14="http://schemas.microsoft.com/office/powerpoint/2010/main" val="20694237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First is, you can nest AGENTS.md files to your different micro frontend apps that’s good for your AI agents. And </a:t>
            </a:r>
            <a:r>
              <a:rPr lang="en-GB" dirty="0" err="1"/>
              <a:t>Rspack</a:t>
            </a:r>
            <a:r>
              <a:rPr lang="en-GB" dirty="0"/>
              <a:t> published agent skills that you can use just in case today’s frontier models still don’t have any idea what the </a:t>
            </a:r>
            <a:r>
              <a:rPr lang="en-GB" dirty="0" err="1"/>
              <a:t>Rspack</a:t>
            </a:r>
            <a:r>
              <a:rPr lang="en-GB" dirty="0"/>
              <a:t> v2.0 can do.</a:t>
            </a:r>
          </a:p>
        </p:txBody>
      </p:sp>
    </p:spTree>
    <p:extLst>
      <p:ext uri="{BB962C8B-B14F-4D97-AF65-F5344CB8AC3E}">
        <p14:creationId xmlns:p14="http://schemas.microsoft.com/office/powerpoint/2010/main" val="4203036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you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p:spTree>
      <p:nvGrpSpPr>
        <p:cNvPr id="1" name=""/>
        <p:cNvGrpSpPr/>
        <p:nvPr/>
      </p:nvGrpSpPr>
      <p:grpSpPr>
        <a:xfrm>
          <a:off x="0" y="0"/>
          <a:ext cx="0" cy="0"/>
          <a:chOff x="0" y="0"/>
          <a:chExt cx="0" cy="0"/>
        </a:xfrm>
      </p:grpSpPr>
      <p:sp>
        <p:nvSpPr>
          <p:cNvPr id="11" name="Body Level One…"/>
          <p:cNvSpPr txBox="1">
            <a:spLocks noGrp="1"/>
          </p:cNvSpPr>
          <p:nvPr>
            <p:ph type="body" sz="quarter" idx="1"/>
          </p:nvPr>
        </p:nvSpPr>
        <p:spPr>
          <a:xfrm>
            <a:off x="600514" y="5929931"/>
            <a:ext cx="10982641" cy="318490"/>
          </a:xfrm>
          <a:prstGeom prst="rect">
            <a:avLst/>
          </a:prstGeom>
        </p:spPr>
        <p:txBody>
          <a:bodyPr lIns="45699" tIns="45699" rIns="45699" bIns="45699"/>
          <a:lstStyle>
            <a:lvl1pPr marL="114277" indent="0">
              <a:lnSpc>
                <a:spcPct val="100000"/>
              </a:lnSpc>
              <a:spcBef>
                <a:spcPts val="0"/>
              </a:spcBef>
              <a:buClrTx/>
              <a:buSzTx/>
              <a:buFontTx/>
              <a:buNone/>
              <a:defRPr sz="1800" b="1"/>
            </a:lvl1pPr>
            <a:lvl2pPr marL="410969" indent="-138418">
              <a:lnSpc>
                <a:spcPct val="100000"/>
              </a:lnSpc>
              <a:spcBef>
                <a:spcPts val="0"/>
              </a:spcBef>
              <a:buClrTx/>
              <a:buSzPts val="3600"/>
              <a:buFontTx/>
              <a:defRPr sz="1800" b="1"/>
            </a:lvl2pPr>
            <a:lvl3pPr marL="639523" indent="-138418">
              <a:lnSpc>
                <a:spcPct val="100000"/>
              </a:lnSpc>
              <a:spcBef>
                <a:spcPts val="0"/>
              </a:spcBef>
              <a:buClrTx/>
              <a:buSzPts val="3600"/>
              <a:buFontTx/>
              <a:defRPr sz="1800" b="1"/>
            </a:lvl3pPr>
            <a:lvl4pPr marL="868077" indent="-138418">
              <a:lnSpc>
                <a:spcPct val="100000"/>
              </a:lnSpc>
              <a:spcBef>
                <a:spcPts val="0"/>
              </a:spcBef>
              <a:buClrTx/>
              <a:buSzPts val="3600"/>
              <a:buFontTx/>
              <a:defRPr sz="1800" b="1"/>
            </a:lvl4pPr>
            <a:lvl5pPr marL="1096632" indent="-138418">
              <a:lnSpc>
                <a:spcPct val="100000"/>
              </a:lnSpc>
              <a:spcBef>
                <a:spcPts val="0"/>
              </a:spcBef>
              <a:buClrTx/>
              <a:buSzPts val="3600"/>
              <a:buFontTx/>
              <a:defRPr sz="1800" b="1"/>
            </a:lvl5pPr>
          </a:lstStyle>
          <a:p>
            <a:r>
              <a:t>Body Level One</a:t>
            </a:r>
          </a:p>
          <a:p>
            <a:pPr lvl="1"/>
            <a:r>
              <a:t>Body Level Two</a:t>
            </a:r>
          </a:p>
          <a:p>
            <a:pPr lvl="2"/>
            <a:r>
              <a:t>Body Level Three</a:t>
            </a:r>
          </a:p>
          <a:p>
            <a:pPr lvl="3"/>
            <a:r>
              <a:t>Body Level Four</a:t>
            </a:r>
          </a:p>
          <a:p>
            <a:pPr lvl="4"/>
            <a:r>
              <a:t>Body Level Five</a:t>
            </a:r>
          </a:p>
        </p:txBody>
      </p:sp>
      <p:sp>
        <p:nvSpPr>
          <p:cNvPr id="12" name="Title Text"/>
          <p:cNvSpPr txBox="1">
            <a:spLocks noGrp="1"/>
          </p:cNvSpPr>
          <p:nvPr>
            <p:ph type="title"/>
          </p:nvPr>
        </p:nvSpPr>
        <p:spPr>
          <a:xfrm>
            <a:off x="603091" y="1287495"/>
            <a:ext cx="10982642" cy="2324101"/>
          </a:xfrm>
          <a:prstGeom prst="rect">
            <a:avLst/>
          </a:prstGeom>
        </p:spPr>
        <p:txBody>
          <a:bodyPr anchor="b"/>
          <a:lstStyle>
            <a:lvl1pPr>
              <a:defRPr sz="5799"/>
            </a:lvl1pPr>
          </a:lstStyle>
          <a:p>
            <a:r>
              <a:t>Title Text</a:t>
            </a:r>
          </a:p>
        </p:txBody>
      </p:sp>
      <p:sp>
        <p:nvSpPr>
          <p:cNvPr id="13" name="Google Shape;12;p2"/>
          <p:cNvSpPr txBox="1">
            <a:spLocks noGrp="1"/>
          </p:cNvSpPr>
          <p:nvPr>
            <p:ph type="body" sz="quarter" idx="21"/>
          </p:nvPr>
        </p:nvSpPr>
        <p:spPr>
          <a:xfrm>
            <a:off x="600515" y="3611595"/>
            <a:ext cx="10982640" cy="952501"/>
          </a:xfrm>
          <a:prstGeom prst="rect">
            <a:avLst/>
          </a:prstGeom>
        </p:spPr>
        <p:txBody>
          <a:bodyPr/>
          <a:lstStyle>
            <a:lvl1pPr marL="114277" indent="0">
              <a:lnSpc>
                <a:spcPct val="100000"/>
              </a:lnSpc>
              <a:spcBef>
                <a:spcPts val="0"/>
              </a:spcBef>
              <a:buClrTx/>
              <a:buSzTx/>
              <a:buFontTx/>
              <a:buNone/>
              <a:defRPr sz="5500" b="1"/>
            </a:lvl1pPr>
          </a:lstStyle>
          <a:p>
            <a:pPr marL="228600" indent="0">
              <a:lnSpc>
                <a:spcPct val="100000"/>
              </a:lnSpc>
              <a:spcBef>
                <a:spcPts val="0"/>
              </a:spcBef>
              <a:buClrTx/>
              <a:buSzTx/>
              <a:buFontTx/>
              <a:buNone/>
              <a:defRPr sz="5500" b="1"/>
            </a:pPr>
            <a:endParaRP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2400757004"/>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55660AF-94A0-DF3F-40C1-547982EAE766}"/>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12.png"/><Relationship Id="rId18" Type="http://schemas.openxmlformats.org/officeDocument/2006/relationships/image" Target="../media/image17.png"/><Relationship Id="rId26" Type="http://schemas.openxmlformats.org/officeDocument/2006/relationships/image" Target="../media/image25.png"/><Relationship Id="rId39" Type="http://schemas.openxmlformats.org/officeDocument/2006/relationships/image" Target="../media/image38.png"/><Relationship Id="rId21" Type="http://schemas.openxmlformats.org/officeDocument/2006/relationships/image" Target="../media/image20.png"/><Relationship Id="rId34" Type="http://schemas.openxmlformats.org/officeDocument/2006/relationships/image" Target="../media/image33.png"/><Relationship Id="rId42" Type="http://schemas.openxmlformats.org/officeDocument/2006/relationships/image" Target="../media/image41.png"/><Relationship Id="rId47" Type="http://schemas.openxmlformats.org/officeDocument/2006/relationships/image" Target="../media/image46.png"/><Relationship Id="rId50" Type="http://schemas.openxmlformats.org/officeDocument/2006/relationships/image" Target="../media/image49.png"/><Relationship Id="rId55" Type="http://schemas.openxmlformats.org/officeDocument/2006/relationships/image" Target="../media/image54.png"/><Relationship Id="rId7" Type="http://schemas.openxmlformats.org/officeDocument/2006/relationships/image" Target="../media/image6.png"/><Relationship Id="rId2" Type="http://schemas.openxmlformats.org/officeDocument/2006/relationships/image" Target="../media/image1.png"/><Relationship Id="rId16" Type="http://schemas.openxmlformats.org/officeDocument/2006/relationships/image" Target="../media/image15.png"/><Relationship Id="rId29" Type="http://schemas.openxmlformats.org/officeDocument/2006/relationships/image" Target="../media/image28.png"/><Relationship Id="rId11" Type="http://schemas.openxmlformats.org/officeDocument/2006/relationships/image" Target="../media/image10.png"/><Relationship Id="rId24" Type="http://schemas.openxmlformats.org/officeDocument/2006/relationships/image" Target="../media/image23.png"/><Relationship Id="rId32" Type="http://schemas.openxmlformats.org/officeDocument/2006/relationships/image" Target="../media/image31.png"/><Relationship Id="rId37" Type="http://schemas.openxmlformats.org/officeDocument/2006/relationships/image" Target="../media/image36.png"/><Relationship Id="rId40" Type="http://schemas.openxmlformats.org/officeDocument/2006/relationships/image" Target="../media/image39.png"/><Relationship Id="rId45" Type="http://schemas.openxmlformats.org/officeDocument/2006/relationships/image" Target="../media/image44.png"/><Relationship Id="rId53" Type="http://schemas.openxmlformats.org/officeDocument/2006/relationships/image" Target="../media/image52.png"/><Relationship Id="rId5" Type="http://schemas.openxmlformats.org/officeDocument/2006/relationships/image" Target="../media/image4.png"/><Relationship Id="rId10" Type="http://schemas.openxmlformats.org/officeDocument/2006/relationships/image" Target="../media/image9.png"/><Relationship Id="rId19" Type="http://schemas.openxmlformats.org/officeDocument/2006/relationships/image" Target="../media/image18.png"/><Relationship Id="rId31" Type="http://schemas.openxmlformats.org/officeDocument/2006/relationships/image" Target="../media/image30.png"/><Relationship Id="rId44" Type="http://schemas.openxmlformats.org/officeDocument/2006/relationships/image" Target="../media/image43.png"/><Relationship Id="rId52" Type="http://schemas.openxmlformats.org/officeDocument/2006/relationships/image" Target="../media/image51.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 Id="rId22" Type="http://schemas.openxmlformats.org/officeDocument/2006/relationships/image" Target="../media/image21.png"/><Relationship Id="rId27" Type="http://schemas.openxmlformats.org/officeDocument/2006/relationships/image" Target="../media/image26.png"/><Relationship Id="rId30" Type="http://schemas.openxmlformats.org/officeDocument/2006/relationships/image" Target="../media/image29.png"/><Relationship Id="rId35" Type="http://schemas.openxmlformats.org/officeDocument/2006/relationships/image" Target="../media/image34.png"/><Relationship Id="rId43" Type="http://schemas.openxmlformats.org/officeDocument/2006/relationships/image" Target="../media/image42.png"/><Relationship Id="rId48" Type="http://schemas.openxmlformats.org/officeDocument/2006/relationships/image" Target="../media/image47.png"/><Relationship Id="rId8" Type="http://schemas.openxmlformats.org/officeDocument/2006/relationships/image" Target="../media/image7.png"/><Relationship Id="rId51" Type="http://schemas.openxmlformats.org/officeDocument/2006/relationships/image" Target="../media/image50.png"/><Relationship Id="rId3" Type="http://schemas.openxmlformats.org/officeDocument/2006/relationships/image" Target="../media/image2.png"/><Relationship Id="rId12" Type="http://schemas.openxmlformats.org/officeDocument/2006/relationships/image" Target="../media/image11.png"/><Relationship Id="rId17" Type="http://schemas.openxmlformats.org/officeDocument/2006/relationships/image" Target="../media/image16.png"/><Relationship Id="rId25" Type="http://schemas.openxmlformats.org/officeDocument/2006/relationships/image" Target="../media/image24.png"/><Relationship Id="rId33" Type="http://schemas.openxmlformats.org/officeDocument/2006/relationships/image" Target="../media/image32.png"/><Relationship Id="rId38" Type="http://schemas.openxmlformats.org/officeDocument/2006/relationships/image" Target="../media/image37.png"/><Relationship Id="rId46" Type="http://schemas.openxmlformats.org/officeDocument/2006/relationships/image" Target="../media/image45.png"/><Relationship Id="rId20" Type="http://schemas.openxmlformats.org/officeDocument/2006/relationships/image" Target="../media/image19.png"/><Relationship Id="rId41" Type="http://schemas.openxmlformats.org/officeDocument/2006/relationships/image" Target="../media/image40.png"/><Relationship Id="rId54" Type="http://schemas.openxmlformats.org/officeDocument/2006/relationships/image" Target="../media/image53.png"/><Relationship Id="rId1" Type="http://schemas.openxmlformats.org/officeDocument/2006/relationships/slideLayout" Target="../slideLayouts/slideLayout3.xml"/><Relationship Id="rId6" Type="http://schemas.openxmlformats.org/officeDocument/2006/relationships/image" Target="../media/image5.png"/><Relationship Id="rId15" Type="http://schemas.openxmlformats.org/officeDocument/2006/relationships/image" Target="../media/image14.png"/><Relationship Id="rId23" Type="http://schemas.openxmlformats.org/officeDocument/2006/relationships/image" Target="../media/image22.png"/><Relationship Id="rId28" Type="http://schemas.openxmlformats.org/officeDocument/2006/relationships/image" Target="../media/image27.png"/><Relationship Id="rId36" Type="http://schemas.openxmlformats.org/officeDocument/2006/relationships/image" Target="../media/image35.png"/><Relationship Id="rId49" Type="http://schemas.openxmlformats.org/officeDocument/2006/relationships/image" Target="../media/image48.png"/></Relationships>
</file>

<file path=ppt/slides/_rels/slide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React </a:t>
            </a:r>
            <a:r>
              <a:rPr lang="en-US" sz="6600">
                <a:solidFill>
                  <a:schemeClr val="tx1">
                    <a:lumMod val="95000"/>
                    <a:lumOff val="5000"/>
                  </a:schemeClr>
                </a:solidFill>
                <a:latin typeface="Instrument Serif" pitchFamily="34" charset="0"/>
                <a:ea typeface="Instrument Serif" pitchFamily="34" charset="-122"/>
                <a:cs typeface="Instrument Serif" pitchFamily="34" charset="-120"/>
              </a:rPr>
              <a:t>19 Suspense </a:t>
            </a:r>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Google Shape;86;p19"/>
          <p:cNvSpPr/>
          <p:nvPr/>
        </p:nvSpPr>
        <p:spPr>
          <a:xfrm>
            <a:off x="31740" y="32634"/>
            <a:ext cx="12125393" cy="1219783"/>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2" name="Google Shape;87;p19"/>
          <p:cNvSpPr txBox="1"/>
          <p:nvPr/>
        </p:nvSpPr>
        <p:spPr>
          <a:xfrm>
            <a:off x="106722" y="74914"/>
            <a:ext cx="11975281" cy="2700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3900">
                <a:solidFill>
                  <a:srgbClr val="034D40"/>
                </a:solidFill>
                <a:latin typeface="Arial Black"/>
                <a:ea typeface="Arial Black"/>
                <a:cs typeface="Arial Black"/>
                <a:sym typeface="Arial Black"/>
              </a:defRPr>
            </a:lvl1pPr>
          </a:lstStyle>
          <a:p>
            <a:r>
              <a:rPr sz="1950"/>
              <a:t>Titanium Sponsors</a:t>
            </a:r>
          </a:p>
        </p:txBody>
      </p:sp>
      <p:grpSp>
        <p:nvGrpSpPr>
          <p:cNvPr id="176" name="Google Shape;88;p19"/>
          <p:cNvGrpSpPr/>
          <p:nvPr/>
        </p:nvGrpSpPr>
        <p:grpSpPr>
          <a:xfrm>
            <a:off x="1655706" y="394653"/>
            <a:ext cx="9497889" cy="782120"/>
            <a:chOff x="0" y="0"/>
            <a:chExt cx="19000725" cy="1564645"/>
          </a:xfrm>
        </p:grpSpPr>
        <p:pic>
          <p:nvPicPr>
            <p:cNvPr id="173" name="Google Shape;89;p19" descr="Google Shape;89;p19"/>
            <p:cNvPicPr>
              <a:picLocks noChangeAspect="1"/>
            </p:cNvPicPr>
            <p:nvPr/>
          </p:nvPicPr>
          <p:blipFill>
            <a:blip r:embed="rId2"/>
            <a:stretch>
              <a:fillRect/>
            </a:stretch>
          </p:blipFill>
          <p:spPr>
            <a:xfrm>
              <a:off x="-1" y="0"/>
              <a:ext cx="4629130" cy="1564646"/>
            </a:xfrm>
            <a:prstGeom prst="rect">
              <a:avLst/>
            </a:prstGeom>
            <a:ln w="12700" cap="flat">
              <a:noFill/>
              <a:miter lim="400000"/>
            </a:ln>
            <a:effectLst/>
          </p:spPr>
        </p:pic>
        <p:pic>
          <p:nvPicPr>
            <p:cNvPr id="174" name="Google Shape;90;p19" descr="Google Shape;90;p19"/>
            <p:cNvPicPr>
              <a:picLocks noChangeAspect="1"/>
            </p:cNvPicPr>
            <p:nvPr/>
          </p:nvPicPr>
          <p:blipFill>
            <a:blip r:embed="rId3"/>
            <a:stretch>
              <a:fillRect/>
            </a:stretch>
          </p:blipFill>
          <p:spPr>
            <a:xfrm>
              <a:off x="5091513" y="0"/>
              <a:ext cx="4656681" cy="1564646"/>
            </a:xfrm>
            <a:prstGeom prst="rect">
              <a:avLst/>
            </a:prstGeom>
            <a:ln w="12700" cap="flat">
              <a:noFill/>
              <a:miter lim="400000"/>
            </a:ln>
            <a:effectLst/>
          </p:spPr>
        </p:pic>
        <p:pic>
          <p:nvPicPr>
            <p:cNvPr id="175" name="Google Shape;91;p19" descr="Google Shape;91;p19"/>
            <p:cNvPicPr>
              <a:picLocks noChangeAspect="1"/>
            </p:cNvPicPr>
            <p:nvPr/>
          </p:nvPicPr>
          <p:blipFill>
            <a:blip r:embed="rId4"/>
            <a:stretch>
              <a:fillRect/>
            </a:stretch>
          </p:blipFill>
          <p:spPr>
            <a:xfrm>
              <a:off x="10210582" y="0"/>
              <a:ext cx="8790144" cy="1564646"/>
            </a:xfrm>
            <a:prstGeom prst="rect">
              <a:avLst/>
            </a:prstGeom>
            <a:ln w="12700" cap="flat">
              <a:noFill/>
              <a:miter lim="400000"/>
            </a:ln>
            <a:effectLst/>
          </p:spPr>
        </p:pic>
      </p:grpSp>
      <p:sp>
        <p:nvSpPr>
          <p:cNvPr id="177" name="Google Shape;92;p19"/>
          <p:cNvSpPr/>
          <p:nvPr/>
        </p:nvSpPr>
        <p:spPr>
          <a:xfrm>
            <a:off x="39420" y="1246324"/>
            <a:ext cx="12125393" cy="1625127"/>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78" name="Google Shape;93;p19"/>
          <p:cNvSpPr txBox="1"/>
          <p:nvPr/>
        </p:nvSpPr>
        <p:spPr>
          <a:xfrm rot="16200000">
            <a:off x="10885745" y="1794529"/>
            <a:ext cx="1462570" cy="7104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lnSpc>
                <a:spcPct val="90000"/>
              </a:lnSpc>
              <a:defRPr sz="3000">
                <a:solidFill>
                  <a:srgbClr val="034D40"/>
                </a:solidFill>
                <a:latin typeface="Arial Black"/>
                <a:ea typeface="Arial Black"/>
                <a:cs typeface="Arial Black"/>
                <a:sym typeface="Arial Black"/>
              </a:defRPr>
            </a:pPr>
            <a:r>
              <a:rPr sz="1500"/>
              <a:t>Platinum</a:t>
            </a:r>
          </a:p>
          <a:p>
            <a:pPr algn="ctr">
              <a:lnSpc>
                <a:spcPct val="90000"/>
              </a:lnSpc>
              <a:spcBef>
                <a:spcPts val="2250"/>
              </a:spcBef>
              <a:defRPr sz="3000">
                <a:solidFill>
                  <a:srgbClr val="034D40"/>
                </a:solidFill>
                <a:latin typeface="Arial Black"/>
                <a:ea typeface="Arial Black"/>
                <a:cs typeface="Arial Black"/>
                <a:sym typeface="Arial Black"/>
              </a:defRPr>
            </a:pPr>
            <a:r>
              <a:rPr sz="1500"/>
              <a:t> Sponsors</a:t>
            </a:r>
          </a:p>
        </p:txBody>
      </p:sp>
      <p:pic>
        <p:nvPicPr>
          <p:cNvPr id="179" name="Google Shape;94;p19" descr="Google Shape;94;p19"/>
          <p:cNvPicPr>
            <a:picLocks noChangeAspect="1"/>
          </p:cNvPicPr>
          <p:nvPr/>
        </p:nvPicPr>
        <p:blipFill>
          <a:blip r:embed="rId5"/>
          <a:stretch>
            <a:fillRect/>
          </a:stretch>
        </p:blipFill>
        <p:spPr>
          <a:xfrm>
            <a:off x="1748093" y="1438425"/>
            <a:ext cx="2058665" cy="695837"/>
          </a:xfrm>
          <a:prstGeom prst="rect">
            <a:avLst/>
          </a:prstGeom>
          <a:ln w="12700">
            <a:miter lim="400000"/>
          </a:ln>
        </p:spPr>
      </p:pic>
      <p:pic>
        <p:nvPicPr>
          <p:cNvPr id="180" name="Google Shape;95;p19" descr="Google Shape;95;p19"/>
          <p:cNvPicPr>
            <a:picLocks noChangeAspect="1"/>
          </p:cNvPicPr>
          <p:nvPr/>
        </p:nvPicPr>
        <p:blipFill>
          <a:blip r:embed="rId6"/>
          <a:stretch>
            <a:fillRect/>
          </a:stretch>
        </p:blipFill>
        <p:spPr>
          <a:xfrm>
            <a:off x="4033144" y="1379571"/>
            <a:ext cx="2197768" cy="650540"/>
          </a:xfrm>
          <a:prstGeom prst="rect">
            <a:avLst/>
          </a:prstGeom>
          <a:ln w="12700">
            <a:miter lim="400000"/>
          </a:ln>
        </p:spPr>
      </p:pic>
      <p:pic>
        <p:nvPicPr>
          <p:cNvPr id="181" name="Google Shape;96;p19" descr="Google Shape;96;p19"/>
          <p:cNvPicPr>
            <a:picLocks noChangeAspect="1"/>
          </p:cNvPicPr>
          <p:nvPr/>
        </p:nvPicPr>
        <p:blipFill>
          <a:blip r:embed="rId7"/>
          <a:stretch>
            <a:fillRect/>
          </a:stretch>
        </p:blipFill>
        <p:spPr>
          <a:xfrm>
            <a:off x="6509809" y="1355428"/>
            <a:ext cx="2313998" cy="698832"/>
          </a:xfrm>
          <a:prstGeom prst="rect">
            <a:avLst/>
          </a:prstGeom>
          <a:ln w="12700">
            <a:miter lim="400000"/>
          </a:ln>
        </p:spPr>
      </p:pic>
      <p:pic>
        <p:nvPicPr>
          <p:cNvPr id="182" name="Google Shape;97;p19" descr="Google Shape;97;p19"/>
          <p:cNvPicPr>
            <a:picLocks noChangeAspect="1"/>
          </p:cNvPicPr>
          <p:nvPr/>
        </p:nvPicPr>
        <p:blipFill>
          <a:blip r:embed="rId8"/>
          <a:stretch>
            <a:fillRect/>
          </a:stretch>
        </p:blipFill>
        <p:spPr>
          <a:xfrm>
            <a:off x="8840265" y="1399165"/>
            <a:ext cx="2058668" cy="650540"/>
          </a:xfrm>
          <a:prstGeom prst="rect">
            <a:avLst/>
          </a:prstGeom>
          <a:ln w="12700">
            <a:miter lim="400000"/>
          </a:ln>
        </p:spPr>
      </p:pic>
      <p:pic>
        <p:nvPicPr>
          <p:cNvPr id="183" name="Google Shape;98;p19" descr="Google Shape;98;p19"/>
          <p:cNvPicPr>
            <a:picLocks noChangeAspect="1"/>
          </p:cNvPicPr>
          <p:nvPr/>
        </p:nvPicPr>
        <p:blipFill>
          <a:blip r:embed="rId9"/>
          <a:stretch>
            <a:fillRect/>
          </a:stretch>
        </p:blipFill>
        <p:spPr>
          <a:xfrm>
            <a:off x="230264" y="1579312"/>
            <a:ext cx="1425442" cy="975009"/>
          </a:xfrm>
          <a:prstGeom prst="rect">
            <a:avLst/>
          </a:prstGeom>
          <a:ln w="12700">
            <a:miter lim="400000"/>
          </a:ln>
        </p:spPr>
      </p:pic>
      <p:pic>
        <p:nvPicPr>
          <p:cNvPr id="184" name="Google Shape;99;p19" descr="Google Shape;99;p19"/>
          <p:cNvPicPr>
            <a:picLocks noChangeAspect="1"/>
          </p:cNvPicPr>
          <p:nvPr/>
        </p:nvPicPr>
        <p:blipFill>
          <a:blip r:embed="rId10"/>
          <a:stretch>
            <a:fillRect/>
          </a:stretch>
        </p:blipFill>
        <p:spPr>
          <a:xfrm>
            <a:off x="1741046" y="2284973"/>
            <a:ext cx="2456741" cy="196540"/>
          </a:xfrm>
          <a:prstGeom prst="rect">
            <a:avLst/>
          </a:prstGeom>
          <a:ln w="12700">
            <a:miter lim="400000"/>
          </a:ln>
        </p:spPr>
      </p:pic>
      <p:pic>
        <p:nvPicPr>
          <p:cNvPr id="185" name="Google Shape;100;p19" descr="Google Shape;100;p19"/>
          <p:cNvPicPr>
            <a:picLocks noChangeAspect="1"/>
          </p:cNvPicPr>
          <p:nvPr/>
        </p:nvPicPr>
        <p:blipFill>
          <a:blip r:embed="rId11"/>
          <a:stretch>
            <a:fillRect/>
          </a:stretch>
        </p:blipFill>
        <p:spPr>
          <a:xfrm>
            <a:off x="6219273" y="2113978"/>
            <a:ext cx="1762784" cy="595813"/>
          </a:xfrm>
          <a:prstGeom prst="rect">
            <a:avLst/>
          </a:prstGeom>
          <a:ln w="12700">
            <a:miter lim="400000"/>
          </a:ln>
        </p:spPr>
      </p:pic>
      <p:sp>
        <p:nvSpPr>
          <p:cNvPr id="186" name="Google Shape;101;p19"/>
          <p:cNvSpPr/>
          <p:nvPr/>
        </p:nvSpPr>
        <p:spPr>
          <a:xfrm>
            <a:off x="31666" y="2876893"/>
            <a:ext cx="12125393" cy="1408734"/>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87" name="Google Shape;102;p19"/>
          <p:cNvSpPr txBox="1"/>
          <p:nvPr/>
        </p:nvSpPr>
        <p:spPr>
          <a:xfrm rot="16200000">
            <a:off x="-111322" y="3162116"/>
            <a:ext cx="1126208" cy="696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p>
            <a:pPr algn="ctr">
              <a:lnSpc>
                <a:spcPct val="90000"/>
              </a:lnSpc>
              <a:defRPr sz="2900">
                <a:solidFill>
                  <a:srgbClr val="034D40"/>
                </a:solidFill>
                <a:latin typeface="Arial Black"/>
                <a:ea typeface="Arial Black"/>
                <a:cs typeface="Arial Black"/>
                <a:sym typeface="Arial Black"/>
              </a:defRPr>
            </a:pPr>
            <a:r>
              <a:rPr sz="1450"/>
              <a:t>Gold</a:t>
            </a:r>
            <a:endParaRPr sz="650"/>
          </a:p>
          <a:p>
            <a:pPr algn="ctr">
              <a:lnSpc>
                <a:spcPct val="90000"/>
              </a:lnSpc>
              <a:spcBef>
                <a:spcPts val="2250"/>
              </a:spcBef>
              <a:defRPr sz="2900">
                <a:solidFill>
                  <a:srgbClr val="034D40"/>
                </a:solidFill>
                <a:latin typeface="Arial Black"/>
                <a:ea typeface="Arial Black"/>
                <a:cs typeface="Arial Black"/>
                <a:sym typeface="Arial Black"/>
              </a:defRPr>
            </a:pPr>
            <a:r>
              <a:rPr sz="1450"/>
              <a:t> Sponsors</a:t>
            </a:r>
          </a:p>
        </p:txBody>
      </p:sp>
      <p:pic>
        <p:nvPicPr>
          <p:cNvPr id="188" name="Google Shape;103;p19" descr="Google Shape;103;p19"/>
          <p:cNvPicPr>
            <a:picLocks noChangeAspect="1"/>
          </p:cNvPicPr>
          <p:nvPr/>
        </p:nvPicPr>
        <p:blipFill>
          <a:blip r:embed="rId12"/>
          <a:stretch>
            <a:fillRect/>
          </a:stretch>
        </p:blipFill>
        <p:spPr>
          <a:xfrm>
            <a:off x="2314874" y="2968066"/>
            <a:ext cx="1527081" cy="452016"/>
          </a:xfrm>
          <a:prstGeom prst="rect">
            <a:avLst/>
          </a:prstGeom>
          <a:ln w="12700">
            <a:miter lim="400000"/>
          </a:ln>
        </p:spPr>
      </p:pic>
      <p:pic>
        <p:nvPicPr>
          <p:cNvPr id="189" name="Google Shape;104;p19" descr="Google Shape;104;p19"/>
          <p:cNvPicPr>
            <a:picLocks noChangeAspect="1"/>
          </p:cNvPicPr>
          <p:nvPr/>
        </p:nvPicPr>
        <p:blipFill>
          <a:blip r:embed="rId13"/>
          <a:stretch>
            <a:fillRect/>
          </a:stretch>
        </p:blipFill>
        <p:spPr>
          <a:xfrm>
            <a:off x="954427" y="3592676"/>
            <a:ext cx="1399343" cy="559738"/>
          </a:xfrm>
          <a:prstGeom prst="rect">
            <a:avLst/>
          </a:prstGeom>
          <a:ln w="12700">
            <a:miter lim="400000"/>
          </a:ln>
        </p:spPr>
      </p:pic>
      <p:pic>
        <p:nvPicPr>
          <p:cNvPr id="190" name="Google Shape;106;p19" descr="Google Shape;106;p19"/>
          <p:cNvPicPr>
            <a:picLocks noChangeAspect="1"/>
          </p:cNvPicPr>
          <p:nvPr/>
        </p:nvPicPr>
        <p:blipFill>
          <a:blip r:embed="rId14"/>
          <a:stretch>
            <a:fillRect/>
          </a:stretch>
        </p:blipFill>
        <p:spPr>
          <a:xfrm>
            <a:off x="7351962" y="3690089"/>
            <a:ext cx="1552438" cy="521619"/>
          </a:xfrm>
          <a:prstGeom prst="rect">
            <a:avLst/>
          </a:prstGeom>
          <a:ln w="12700">
            <a:miter lim="400000"/>
          </a:ln>
        </p:spPr>
      </p:pic>
      <p:pic>
        <p:nvPicPr>
          <p:cNvPr id="191" name="Google Shape;107;p19" descr="Google Shape;107;p19"/>
          <p:cNvPicPr>
            <a:picLocks noChangeAspect="1"/>
          </p:cNvPicPr>
          <p:nvPr/>
        </p:nvPicPr>
        <p:blipFill>
          <a:blip r:embed="rId15"/>
          <a:stretch>
            <a:fillRect/>
          </a:stretch>
        </p:blipFill>
        <p:spPr>
          <a:xfrm>
            <a:off x="821156" y="3018077"/>
            <a:ext cx="1665886" cy="559738"/>
          </a:xfrm>
          <a:prstGeom prst="rect">
            <a:avLst/>
          </a:prstGeom>
          <a:ln w="12700">
            <a:miter lim="400000"/>
          </a:ln>
        </p:spPr>
      </p:pic>
      <p:pic>
        <p:nvPicPr>
          <p:cNvPr id="192" name="Google Shape;108;p19" descr="Google Shape;108;p19"/>
          <p:cNvPicPr>
            <a:picLocks noChangeAspect="1"/>
          </p:cNvPicPr>
          <p:nvPr/>
        </p:nvPicPr>
        <p:blipFill>
          <a:blip r:embed="rId16"/>
          <a:stretch>
            <a:fillRect/>
          </a:stretch>
        </p:blipFill>
        <p:spPr>
          <a:xfrm>
            <a:off x="6058406" y="3004229"/>
            <a:ext cx="1277939" cy="559738"/>
          </a:xfrm>
          <a:prstGeom prst="rect">
            <a:avLst/>
          </a:prstGeom>
          <a:ln w="12700">
            <a:miter lim="400000"/>
          </a:ln>
        </p:spPr>
      </p:pic>
      <p:pic>
        <p:nvPicPr>
          <p:cNvPr id="193" name="Google Shape;109;p19" descr="Google Shape;109;p19"/>
          <p:cNvPicPr>
            <a:picLocks noChangeAspect="1"/>
          </p:cNvPicPr>
          <p:nvPr/>
        </p:nvPicPr>
        <p:blipFill>
          <a:blip r:embed="rId17"/>
          <a:stretch>
            <a:fillRect/>
          </a:stretch>
        </p:blipFill>
        <p:spPr>
          <a:xfrm>
            <a:off x="2194969" y="3610975"/>
            <a:ext cx="1675860" cy="559738"/>
          </a:xfrm>
          <a:prstGeom prst="rect">
            <a:avLst/>
          </a:prstGeom>
          <a:ln w="12700">
            <a:miter lim="400000"/>
          </a:ln>
        </p:spPr>
      </p:pic>
      <p:sp>
        <p:nvSpPr>
          <p:cNvPr id="194" name="Google Shape;110;p19"/>
          <p:cNvSpPr/>
          <p:nvPr/>
        </p:nvSpPr>
        <p:spPr>
          <a:xfrm>
            <a:off x="31740" y="4285627"/>
            <a:ext cx="12125393" cy="1828174"/>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195" name="Google Shape;111;p19"/>
          <p:cNvSpPr txBox="1"/>
          <p:nvPr/>
        </p:nvSpPr>
        <p:spPr>
          <a:xfrm>
            <a:off x="106722" y="4375509"/>
            <a:ext cx="2492651" cy="2492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3600">
                <a:solidFill>
                  <a:srgbClr val="034D40"/>
                </a:solidFill>
                <a:latin typeface="Arial Black"/>
                <a:ea typeface="Arial Black"/>
                <a:cs typeface="Arial Black"/>
                <a:sym typeface="Arial Black"/>
              </a:defRPr>
            </a:lvl1pPr>
          </a:lstStyle>
          <a:p>
            <a:r>
              <a:rPr sz="1800"/>
              <a:t>Friends of KCDC</a:t>
            </a:r>
          </a:p>
        </p:txBody>
      </p:sp>
      <p:pic>
        <p:nvPicPr>
          <p:cNvPr id="196" name="Google Shape;112;p19" descr="Google Shape;112;p19"/>
          <p:cNvPicPr>
            <a:picLocks noChangeAspect="1"/>
          </p:cNvPicPr>
          <p:nvPr/>
        </p:nvPicPr>
        <p:blipFill>
          <a:blip r:embed="rId18"/>
          <a:stretch>
            <a:fillRect/>
          </a:stretch>
        </p:blipFill>
        <p:spPr>
          <a:xfrm>
            <a:off x="2673449" y="4505388"/>
            <a:ext cx="1173854" cy="309898"/>
          </a:xfrm>
          <a:prstGeom prst="rect">
            <a:avLst/>
          </a:prstGeom>
          <a:ln w="12700">
            <a:miter lim="400000"/>
          </a:ln>
        </p:spPr>
      </p:pic>
      <p:pic>
        <p:nvPicPr>
          <p:cNvPr id="197" name="Google Shape;113;p19" descr="Google Shape;113;p19"/>
          <p:cNvPicPr>
            <a:picLocks noChangeAspect="1"/>
          </p:cNvPicPr>
          <p:nvPr/>
        </p:nvPicPr>
        <p:blipFill>
          <a:blip r:embed="rId19"/>
          <a:stretch>
            <a:fillRect/>
          </a:stretch>
        </p:blipFill>
        <p:spPr>
          <a:xfrm>
            <a:off x="4083331" y="4452002"/>
            <a:ext cx="463918" cy="309898"/>
          </a:xfrm>
          <a:prstGeom prst="rect">
            <a:avLst/>
          </a:prstGeom>
          <a:ln w="12700">
            <a:miter lim="400000"/>
          </a:ln>
        </p:spPr>
      </p:pic>
      <p:pic>
        <p:nvPicPr>
          <p:cNvPr id="198" name="Google Shape;114;p19" descr="Google Shape;114;p19"/>
          <p:cNvPicPr>
            <a:picLocks noChangeAspect="1"/>
          </p:cNvPicPr>
          <p:nvPr/>
        </p:nvPicPr>
        <p:blipFill>
          <a:blip r:embed="rId20"/>
          <a:stretch>
            <a:fillRect/>
          </a:stretch>
        </p:blipFill>
        <p:spPr>
          <a:xfrm>
            <a:off x="4783280" y="4438881"/>
            <a:ext cx="742269" cy="309898"/>
          </a:xfrm>
          <a:prstGeom prst="rect">
            <a:avLst/>
          </a:prstGeom>
          <a:ln w="12700">
            <a:miter lim="400000"/>
          </a:ln>
        </p:spPr>
      </p:pic>
      <p:pic>
        <p:nvPicPr>
          <p:cNvPr id="199" name="Google Shape;115;p19" descr="Google Shape;115;p19"/>
          <p:cNvPicPr>
            <a:picLocks noChangeAspect="1"/>
          </p:cNvPicPr>
          <p:nvPr/>
        </p:nvPicPr>
        <p:blipFill>
          <a:blip r:embed="rId21"/>
          <a:stretch>
            <a:fillRect/>
          </a:stretch>
        </p:blipFill>
        <p:spPr>
          <a:xfrm>
            <a:off x="5610264" y="4474389"/>
            <a:ext cx="1342026" cy="238881"/>
          </a:xfrm>
          <a:prstGeom prst="rect">
            <a:avLst/>
          </a:prstGeom>
          <a:ln w="12700">
            <a:miter lim="400000"/>
          </a:ln>
        </p:spPr>
      </p:pic>
      <p:pic>
        <p:nvPicPr>
          <p:cNvPr id="200" name="Google Shape;116;p19" descr="Google Shape;116;p19"/>
          <p:cNvPicPr>
            <a:picLocks noChangeAspect="1"/>
          </p:cNvPicPr>
          <p:nvPr/>
        </p:nvPicPr>
        <p:blipFill>
          <a:blip r:embed="rId22"/>
          <a:stretch>
            <a:fillRect/>
          </a:stretch>
        </p:blipFill>
        <p:spPr>
          <a:xfrm>
            <a:off x="7215018" y="4513937"/>
            <a:ext cx="903573" cy="309898"/>
          </a:xfrm>
          <a:prstGeom prst="rect">
            <a:avLst/>
          </a:prstGeom>
          <a:ln w="12700">
            <a:miter lim="400000"/>
          </a:ln>
        </p:spPr>
      </p:pic>
      <p:pic>
        <p:nvPicPr>
          <p:cNvPr id="201" name="Google Shape;117;p19" descr="Google Shape;117;p19"/>
          <p:cNvPicPr>
            <a:picLocks noChangeAspect="1"/>
          </p:cNvPicPr>
          <p:nvPr/>
        </p:nvPicPr>
        <p:blipFill>
          <a:blip r:embed="rId23"/>
          <a:stretch>
            <a:fillRect/>
          </a:stretch>
        </p:blipFill>
        <p:spPr>
          <a:xfrm>
            <a:off x="9517440" y="4277433"/>
            <a:ext cx="704319" cy="704319"/>
          </a:xfrm>
          <a:prstGeom prst="rect">
            <a:avLst/>
          </a:prstGeom>
          <a:ln w="12700">
            <a:miter lim="400000"/>
          </a:ln>
        </p:spPr>
      </p:pic>
      <p:pic>
        <p:nvPicPr>
          <p:cNvPr id="202" name="Google Shape;118;p19" descr="Google Shape;118;p19"/>
          <p:cNvPicPr>
            <a:picLocks noChangeAspect="1"/>
          </p:cNvPicPr>
          <p:nvPr/>
        </p:nvPicPr>
        <p:blipFill>
          <a:blip r:embed="rId24"/>
          <a:stretch>
            <a:fillRect/>
          </a:stretch>
        </p:blipFill>
        <p:spPr>
          <a:xfrm>
            <a:off x="10429192" y="4475742"/>
            <a:ext cx="704312" cy="309898"/>
          </a:xfrm>
          <a:prstGeom prst="rect">
            <a:avLst/>
          </a:prstGeom>
          <a:ln w="12700">
            <a:miter lim="400000"/>
          </a:ln>
        </p:spPr>
      </p:pic>
      <p:pic>
        <p:nvPicPr>
          <p:cNvPr id="203" name="Google Shape;119;p19" descr="Google Shape;119;p19"/>
          <p:cNvPicPr>
            <a:picLocks noChangeAspect="1"/>
          </p:cNvPicPr>
          <p:nvPr/>
        </p:nvPicPr>
        <p:blipFill>
          <a:blip r:embed="rId25"/>
          <a:stretch>
            <a:fillRect/>
          </a:stretch>
        </p:blipFill>
        <p:spPr>
          <a:xfrm>
            <a:off x="572278" y="4990283"/>
            <a:ext cx="916856" cy="309898"/>
          </a:xfrm>
          <a:prstGeom prst="rect">
            <a:avLst/>
          </a:prstGeom>
          <a:ln w="12700">
            <a:miter lim="400000"/>
          </a:ln>
        </p:spPr>
      </p:pic>
      <p:pic>
        <p:nvPicPr>
          <p:cNvPr id="204" name="Google Shape;120;p19" descr="Google Shape;120;p19"/>
          <p:cNvPicPr>
            <a:picLocks noChangeAspect="1"/>
          </p:cNvPicPr>
          <p:nvPr/>
        </p:nvPicPr>
        <p:blipFill>
          <a:blip r:embed="rId26"/>
          <a:stretch>
            <a:fillRect/>
          </a:stretch>
        </p:blipFill>
        <p:spPr>
          <a:xfrm>
            <a:off x="1858437" y="5035050"/>
            <a:ext cx="1342026" cy="232722"/>
          </a:xfrm>
          <a:prstGeom prst="rect">
            <a:avLst/>
          </a:prstGeom>
          <a:ln w="12700">
            <a:miter lim="400000"/>
          </a:ln>
        </p:spPr>
      </p:pic>
      <p:pic>
        <p:nvPicPr>
          <p:cNvPr id="205" name="Google Shape;121;p19" descr="Google Shape;121;p19"/>
          <p:cNvPicPr>
            <a:picLocks noChangeAspect="1"/>
          </p:cNvPicPr>
          <p:nvPr/>
        </p:nvPicPr>
        <p:blipFill>
          <a:blip r:embed="rId27"/>
          <a:stretch>
            <a:fillRect/>
          </a:stretch>
        </p:blipFill>
        <p:spPr>
          <a:xfrm>
            <a:off x="3424908" y="4995013"/>
            <a:ext cx="1229752" cy="309898"/>
          </a:xfrm>
          <a:prstGeom prst="rect">
            <a:avLst/>
          </a:prstGeom>
          <a:ln w="12700">
            <a:miter lim="400000"/>
          </a:ln>
        </p:spPr>
      </p:pic>
      <p:pic>
        <p:nvPicPr>
          <p:cNvPr id="206" name="Google Shape;122;p19" descr="Google Shape;122;p19"/>
          <p:cNvPicPr>
            <a:picLocks noChangeAspect="1"/>
          </p:cNvPicPr>
          <p:nvPr/>
        </p:nvPicPr>
        <p:blipFill>
          <a:blip r:embed="rId28"/>
          <a:stretch>
            <a:fillRect/>
          </a:stretch>
        </p:blipFill>
        <p:spPr>
          <a:xfrm>
            <a:off x="5001445" y="4988458"/>
            <a:ext cx="794609" cy="309898"/>
          </a:xfrm>
          <a:prstGeom prst="rect">
            <a:avLst/>
          </a:prstGeom>
          <a:ln w="12700">
            <a:miter lim="400000"/>
          </a:ln>
        </p:spPr>
      </p:pic>
      <p:pic>
        <p:nvPicPr>
          <p:cNvPr id="207" name="Google Shape;123;p19" descr="Google Shape;123;p19"/>
          <p:cNvPicPr>
            <a:picLocks noChangeAspect="1"/>
          </p:cNvPicPr>
          <p:nvPr/>
        </p:nvPicPr>
        <p:blipFill>
          <a:blip r:embed="rId29"/>
          <a:stretch>
            <a:fillRect/>
          </a:stretch>
        </p:blipFill>
        <p:spPr>
          <a:xfrm>
            <a:off x="7254137" y="5052152"/>
            <a:ext cx="1342027" cy="177148"/>
          </a:xfrm>
          <a:prstGeom prst="rect">
            <a:avLst/>
          </a:prstGeom>
          <a:ln w="12700">
            <a:miter lim="400000"/>
          </a:ln>
        </p:spPr>
      </p:pic>
      <p:pic>
        <p:nvPicPr>
          <p:cNvPr id="208" name="Google Shape;124;p19" descr="Google Shape;124;p19"/>
          <p:cNvPicPr>
            <a:picLocks noChangeAspect="1"/>
          </p:cNvPicPr>
          <p:nvPr/>
        </p:nvPicPr>
        <p:blipFill>
          <a:blip r:embed="rId30"/>
          <a:stretch>
            <a:fillRect/>
          </a:stretch>
        </p:blipFill>
        <p:spPr>
          <a:xfrm>
            <a:off x="9228714" y="5044770"/>
            <a:ext cx="939083" cy="309898"/>
          </a:xfrm>
          <a:prstGeom prst="rect">
            <a:avLst/>
          </a:prstGeom>
          <a:ln w="12700">
            <a:miter lim="400000"/>
          </a:ln>
        </p:spPr>
      </p:pic>
      <p:pic>
        <p:nvPicPr>
          <p:cNvPr id="209" name="Google Shape;125;p19" descr="Google Shape;125;p19"/>
          <p:cNvPicPr>
            <a:picLocks noChangeAspect="1"/>
          </p:cNvPicPr>
          <p:nvPr/>
        </p:nvPicPr>
        <p:blipFill>
          <a:blip r:embed="rId31"/>
          <a:stretch>
            <a:fillRect/>
          </a:stretch>
        </p:blipFill>
        <p:spPr>
          <a:xfrm>
            <a:off x="10624804" y="4990419"/>
            <a:ext cx="1342028" cy="300615"/>
          </a:xfrm>
          <a:prstGeom prst="rect">
            <a:avLst/>
          </a:prstGeom>
          <a:ln w="12700">
            <a:miter lim="400000"/>
          </a:ln>
        </p:spPr>
      </p:pic>
      <p:pic>
        <p:nvPicPr>
          <p:cNvPr id="210" name="Google Shape;126;p19" descr="Google Shape;126;p19"/>
          <p:cNvPicPr>
            <a:picLocks noChangeAspect="1"/>
          </p:cNvPicPr>
          <p:nvPr/>
        </p:nvPicPr>
        <p:blipFill>
          <a:blip r:embed="rId32"/>
          <a:stretch>
            <a:fillRect/>
          </a:stretch>
        </p:blipFill>
        <p:spPr>
          <a:xfrm>
            <a:off x="230259" y="5665691"/>
            <a:ext cx="1521957" cy="273953"/>
          </a:xfrm>
          <a:prstGeom prst="rect">
            <a:avLst/>
          </a:prstGeom>
          <a:ln w="12700">
            <a:miter lim="400000"/>
          </a:ln>
        </p:spPr>
      </p:pic>
      <p:pic>
        <p:nvPicPr>
          <p:cNvPr id="211" name="Google Shape;127;p19" descr="Google Shape;127;p19"/>
          <p:cNvPicPr>
            <a:picLocks noChangeAspect="1"/>
          </p:cNvPicPr>
          <p:nvPr/>
        </p:nvPicPr>
        <p:blipFill>
          <a:blip r:embed="rId33"/>
          <a:stretch>
            <a:fillRect/>
          </a:stretch>
        </p:blipFill>
        <p:spPr>
          <a:xfrm>
            <a:off x="2475969" y="5498133"/>
            <a:ext cx="602913" cy="309898"/>
          </a:xfrm>
          <a:prstGeom prst="rect">
            <a:avLst/>
          </a:prstGeom>
          <a:ln w="12700">
            <a:miter lim="400000"/>
          </a:ln>
        </p:spPr>
      </p:pic>
      <p:pic>
        <p:nvPicPr>
          <p:cNvPr id="212" name="Google Shape;128;p19" descr="Google Shape;128;p19"/>
          <p:cNvPicPr>
            <a:picLocks noChangeAspect="1"/>
          </p:cNvPicPr>
          <p:nvPr/>
        </p:nvPicPr>
        <p:blipFill>
          <a:blip r:embed="rId34"/>
          <a:stretch>
            <a:fillRect/>
          </a:stretch>
        </p:blipFill>
        <p:spPr>
          <a:xfrm>
            <a:off x="3929846" y="5538029"/>
            <a:ext cx="1210536" cy="309898"/>
          </a:xfrm>
          <a:prstGeom prst="rect">
            <a:avLst/>
          </a:prstGeom>
          <a:ln w="12700">
            <a:miter lim="400000"/>
          </a:ln>
        </p:spPr>
      </p:pic>
      <p:pic>
        <p:nvPicPr>
          <p:cNvPr id="213" name="Google Shape;129;p19" descr="Google Shape;129;p19"/>
          <p:cNvPicPr>
            <a:picLocks noChangeAspect="1"/>
          </p:cNvPicPr>
          <p:nvPr/>
        </p:nvPicPr>
        <p:blipFill>
          <a:blip r:embed="rId35"/>
          <a:stretch>
            <a:fillRect/>
          </a:stretch>
        </p:blipFill>
        <p:spPr>
          <a:xfrm>
            <a:off x="5634009" y="5452799"/>
            <a:ext cx="602918" cy="521619"/>
          </a:xfrm>
          <a:prstGeom prst="rect">
            <a:avLst/>
          </a:prstGeom>
          <a:ln w="12700">
            <a:miter lim="400000"/>
          </a:ln>
        </p:spPr>
      </p:pic>
      <p:pic>
        <p:nvPicPr>
          <p:cNvPr id="214" name="Google Shape;130;p19" descr="Google Shape;130;p19"/>
          <p:cNvPicPr>
            <a:picLocks noChangeAspect="1"/>
          </p:cNvPicPr>
          <p:nvPr/>
        </p:nvPicPr>
        <p:blipFill>
          <a:blip r:embed="rId36"/>
          <a:stretch>
            <a:fillRect/>
          </a:stretch>
        </p:blipFill>
        <p:spPr>
          <a:xfrm>
            <a:off x="6830565" y="5563964"/>
            <a:ext cx="1521958" cy="247319"/>
          </a:xfrm>
          <a:prstGeom prst="rect">
            <a:avLst/>
          </a:prstGeom>
          <a:ln w="12700">
            <a:miter lim="400000"/>
          </a:ln>
        </p:spPr>
      </p:pic>
      <p:pic>
        <p:nvPicPr>
          <p:cNvPr id="215" name="Google Shape;131;p19" descr="Google Shape;131;p19"/>
          <p:cNvPicPr>
            <a:picLocks noChangeAspect="1"/>
          </p:cNvPicPr>
          <p:nvPr/>
        </p:nvPicPr>
        <p:blipFill>
          <a:blip r:embed="rId37"/>
          <a:stretch>
            <a:fillRect/>
          </a:stretch>
        </p:blipFill>
        <p:spPr>
          <a:xfrm>
            <a:off x="8688380" y="5524111"/>
            <a:ext cx="1220068" cy="309898"/>
          </a:xfrm>
          <a:prstGeom prst="rect">
            <a:avLst/>
          </a:prstGeom>
          <a:ln w="12700">
            <a:miter lim="400000"/>
          </a:ln>
        </p:spPr>
      </p:pic>
      <p:pic>
        <p:nvPicPr>
          <p:cNvPr id="216" name="Google Shape;132;p19" descr="Google Shape;132;p19"/>
          <p:cNvPicPr>
            <a:picLocks noChangeAspect="1"/>
          </p:cNvPicPr>
          <p:nvPr/>
        </p:nvPicPr>
        <p:blipFill>
          <a:blip r:embed="rId38"/>
          <a:stretch>
            <a:fillRect/>
          </a:stretch>
        </p:blipFill>
        <p:spPr>
          <a:xfrm>
            <a:off x="10533224" y="5493832"/>
            <a:ext cx="1408624" cy="309898"/>
          </a:xfrm>
          <a:prstGeom prst="rect">
            <a:avLst/>
          </a:prstGeom>
          <a:ln w="12700">
            <a:miter lim="400000"/>
          </a:ln>
        </p:spPr>
      </p:pic>
      <p:sp>
        <p:nvSpPr>
          <p:cNvPr id="217" name="Google Shape;133;p19"/>
          <p:cNvSpPr/>
          <p:nvPr/>
        </p:nvSpPr>
        <p:spPr>
          <a:xfrm>
            <a:off x="31741" y="6128874"/>
            <a:ext cx="12125342" cy="696491"/>
          </a:xfrm>
          <a:prstGeom prst="rect">
            <a:avLst/>
          </a:prstGeom>
          <a:ln w="127000">
            <a:solidFill>
              <a:srgbClr val="034D40"/>
            </a:solidFill>
          </a:ln>
        </p:spPr>
        <p:txBody>
          <a:bodyPr lIns="0" tIns="0" rIns="0" bIns="0" anchor="ctr"/>
          <a:lstStyle/>
          <a:p>
            <a:pPr algn="ctr">
              <a:lnSpc>
                <a:spcPct val="90000"/>
              </a:lnSpc>
              <a:defRPr sz="4800">
                <a:latin typeface="Helvetica Neue"/>
                <a:ea typeface="Helvetica Neue"/>
                <a:cs typeface="Helvetica Neue"/>
                <a:sym typeface="Helvetica Neue"/>
              </a:defRPr>
            </a:pPr>
            <a:endParaRPr sz="2400"/>
          </a:p>
        </p:txBody>
      </p:sp>
      <p:sp>
        <p:nvSpPr>
          <p:cNvPr id="218" name="Google Shape;134;p19"/>
          <p:cNvSpPr txBox="1"/>
          <p:nvPr/>
        </p:nvSpPr>
        <p:spPr>
          <a:xfrm>
            <a:off x="1808154" y="6243225"/>
            <a:ext cx="2904444" cy="38779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chor="ctr">
            <a:spAutoFit/>
          </a:bodyPr>
          <a:lstStyle>
            <a:lvl1pPr algn="ctr">
              <a:lnSpc>
                <a:spcPct val="90000"/>
              </a:lnSpc>
              <a:defRPr sz="2800">
                <a:solidFill>
                  <a:srgbClr val="034D40"/>
                </a:solidFill>
                <a:latin typeface="Arial Black"/>
                <a:ea typeface="Arial Black"/>
                <a:cs typeface="Arial Black"/>
                <a:sym typeface="Arial Black"/>
              </a:defRPr>
            </a:lvl1pPr>
          </a:lstStyle>
          <a:p>
            <a:r>
              <a:rPr sz="1400"/>
              <a:t>Other Awesome Organizations</a:t>
            </a:r>
          </a:p>
        </p:txBody>
      </p:sp>
      <p:pic>
        <p:nvPicPr>
          <p:cNvPr id="219" name="Google Shape;135;p19" descr="Google Shape;135;p19"/>
          <p:cNvPicPr>
            <a:picLocks noChangeAspect="1"/>
          </p:cNvPicPr>
          <p:nvPr/>
        </p:nvPicPr>
        <p:blipFill>
          <a:blip r:embed="rId39"/>
          <a:stretch>
            <a:fillRect/>
          </a:stretch>
        </p:blipFill>
        <p:spPr>
          <a:xfrm>
            <a:off x="4607175" y="6342887"/>
            <a:ext cx="937311" cy="280015"/>
          </a:xfrm>
          <a:prstGeom prst="rect">
            <a:avLst/>
          </a:prstGeom>
          <a:ln w="12700">
            <a:miter lim="400000"/>
          </a:ln>
        </p:spPr>
      </p:pic>
      <p:pic>
        <p:nvPicPr>
          <p:cNvPr id="220" name="Google Shape;136;p19" descr="Google Shape;136;p19"/>
          <p:cNvPicPr>
            <a:picLocks noChangeAspect="1"/>
          </p:cNvPicPr>
          <p:nvPr/>
        </p:nvPicPr>
        <p:blipFill>
          <a:blip r:embed="rId40"/>
          <a:stretch>
            <a:fillRect/>
          </a:stretch>
        </p:blipFill>
        <p:spPr>
          <a:xfrm>
            <a:off x="5796057" y="6231093"/>
            <a:ext cx="503619" cy="503619"/>
          </a:xfrm>
          <a:prstGeom prst="rect">
            <a:avLst/>
          </a:prstGeom>
          <a:ln w="12700">
            <a:miter lim="400000"/>
          </a:ln>
        </p:spPr>
      </p:pic>
      <p:pic>
        <p:nvPicPr>
          <p:cNvPr id="221" name="Google Shape;137;p19" descr="Google Shape;137;p19"/>
          <p:cNvPicPr>
            <a:picLocks noChangeAspect="1"/>
          </p:cNvPicPr>
          <p:nvPr/>
        </p:nvPicPr>
        <p:blipFill>
          <a:blip r:embed="rId41"/>
          <a:stretch>
            <a:fillRect/>
          </a:stretch>
        </p:blipFill>
        <p:spPr>
          <a:xfrm>
            <a:off x="6551246" y="6318773"/>
            <a:ext cx="748093" cy="415943"/>
          </a:xfrm>
          <a:prstGeom prst="rect">
            <a:avLst/>
          </a:prstGeom>
          <a:ln w="12700">
            <a:miter lim="400000"/>
          </a:ln>
        </p:spPr>
      </p:pic>
      <p:pic>
        <p:nvPicPr>
          <p:cNvPr id="222" name="Google Shape;138;p19" descr="Google Shape;138;p19"/>
          <p:cNvPicPr>
            <a:picLocks noChangeAspect="1"/>
          </p:cNvPicPr>
          <p:nvPr/>
        </p:nvPicPr>
        <p:blipFill>
          <a:blip r:embed="rId42"/>
          <a:stretch>
            <a:fillRect/>
          </a:stretch>
        </p:blipFill>
        <p:spPr>
          <a:xfrm>
            <a:off x="11143025" y="4105661"/>
            <a:ext cx="939076" cy="939076"/>
          </a:xfrm>
          <a:prstGeom prst="rect">
            <a:avLst/>
          </a:prstGeom>
          <a:ln w="12700">
            <a:miter lim="400000"/>
          </a:ln>
        </p:spPr>
      </p:pic>
      <p:pic>
        <p:nvPicPr>
          <p:cNvPr id="223" name="Google Shape;140;p19" descr="Google Shape;140;p19"/>
          <p:cNvPicPr>
            <a:picLocks noChangeAspect="1"/>
          </p:cNvPicPr>
          <p:nvPr/>
        </p:nvPicPr>
        <p:blipFill>
          <a:blip r:embed="rId43"/>
          <a:srcRect l="35271" t="34580" r="36799" b="43508"/>
          <a:stretch>
            <a:fillRect/>
          </a:stretch>
        </p:blipFill>
        <p:spPr>
          <a:xfrm>
            <a:off x="5858450" y="4933708"/>
            <a:ext cx="1277930" cy="334164"/>
          </a:xfrm>
          <a:prstGeom prst="rect">
            <a:avLst/>
          </a:prstGeom>
          <a:ln w="12700">
            <a:miter lim="400000"/>
          </a:ln>
        </p:spPr>
      </p:pic>
      <p:pic>
        <p:nvPicPr>
          <p:cNvPr id="224" name="Screenshot 2026-09-07 at 2.39.10 PM.pngGoogle Shape;141;p19" descr="Screenshot 2026-09-07 at 2.39.10 PM.pngGoogle Shape;141;p19"/>
          <p:cNvPicPr>
            <a:picLocks noChangeAspect="1"/>
          </p:cNvPicPr>
          <p:nvPr/>
        </p:nvPicPr>
        <p:blipFill>
          <a:blip r:embed="rId44"/>
          <a:stretch>
            <a:fillRect/>
          </a:stretch>
        </p:blipFill>
        <p:spPr>
          <a:xfrm>
            <a:off x="8270632" y="4474990"/>
            <a:ext cx="1175381" cy="387799"/>
          </a:xfrm>
          <a:prstGeom prst="rect">
            <a:avLst/>
          </a:prstGeom>
          <a:ln w="12700">
            <a:miter lim="400000"/>
          </a:ln>
        </p:spPr>
      </p:pic>
      <p:pic>
        <p:nvPicPr>
          <p:cNvPr id="225" name="Kestra.full.logo.dark.png" descr="Kestra.full.logo.dark.png"/>
          <p:cNvPicPr>
            <a:picLocks noChangeAspect="1"/>
          </p:cNvPicPr>
          <p:nvPr/>
        </p:nvPicPr>
        <p:blipFill>
          <a:blip r:embed="rId45"/>
          <a:stretch>
            <a:fillRect/>
          </a:stretch>
        </p:blipFill>
        <p:spPr>
          <a:xfrm>
            <a:off x="9575798" y="2227713"/>
            <a:ext cx="1529076" cy="349160"/>
          </a:xfrm>
          <a:prstGeom prst="rect">
            <a:avLst/>
          </a:prstGeom>
          <a:ln w="12700">
            <a:miter lim="400000"/>
          </a:ln>
        </p:spPr>
      </p:pic>
      <p:pic>
        <p:nvPicPr>
          <p:cNvPr id="226" name="pasted-movie.png" descr="pasted-movie.png"/>
          <p:cNvPicPr>
            <a:picLocks noChangeAspect="1"/>
          </p:cNvPicPr>
          <p:nvPr/>
        </p:nvPicPr>
        <p:blipFill>
          <a:blip r:embed="rId46"/>
          <a:stretch>
            <a:fillRect/>
          </a:stretch>
        </p:blipFill>
        <p:spPr>
          <a:xfrm>
            <a:off x="7929363" y="2137355"/>
            <a:ext cx="1699632" cy="572436"/>
          </a:xfrm>
          <a:prstGeom prst="rect">
            <a:avLst/>
          </a:prstGeom>
          <a:ln w="12700">
            <a:miter lim="400000"/>
          </a:ln>
        </p:spPr>
      </p:pic>
      <p:pic>
        <p:nvPicPr>
          <p:cNvPr id="227" name="pasted-movie.png" descr="pasted-movie.png"/>
          <p:cNvPicPr>
            <a:picLocks noChangeAspect="1"/>
          </p:cNvPicPr>
          <p:nvPr/>
        </p:nvPicPr>
        <p:blipFill>
          <a:blip r:embed="rId47"/>
          <a:stretch>
            <a:fillRect/>
          </a:stretch>
        </p:blipFill>
        <p:spPr>
          <a:xfrm>
            <a:off x="4238688" y="2181574"/>
            <a:ext cx="1883542" cy="437469"/>
          </a:xfrm>
          <a:prstGeom prst="rect">
            <a:avLst/>
          </a:prstGeom>
          <a:ln w="12700">
            <a:miter lim="400000"/>
          </a:ln>
        </p:spPr>
      </p:pic>
      <p:pic>
        <p:nvPicPr>
          <p:cNvPr id="228" name="pasted-movie.png" descr="pasted-movie.png"/>
          <p:cNvPicPr>
            <a:picLocks noChangeAspect="1"/>
          </p:cNvPicPr>
          <p:nvPr/>
        </p:nvPicPr>
        <p:blipFill>
          <a:blip r:embed="rId48"/>
          <a:stretch>
            <a:fillRect/>
          </a:stretch>
        </p:blipFill>
        <p:spPr>
          <a:xfrm>
            <a:off x="7747429" y="2849455"/>
            <a:ext cx="1229752" cy="922314"/>
          </a:xfrm>
          <a:prstGeom prst="rect">
            <a:avLst/>
          </a:prstGeom>
          <a:ln w="12700">
            <a:miter lim="400000"/>
          </a:ln>
        </p:spPr>
      </p:pic>
      <p:pic>
        <p:nvPicPr>
          <p:cNvPr id="229" name="pasted-movie.png" descr="pasted-movie.png"/>
          <p:cNvPicPr>
            <a:picLocks noChangeAspect="1"/>
          </p:cNvPicPr>
          <p:nvPr/>
        </p:nvPicPr>
        <p:blipFill>
          <a:blip r:embed="rId49"/>
          <a:stretch>
            <a:fillRect/>
          </a:stretch>
        </p:blipFill>
        <p:spPr>
          <a:xfrm>
            <a:off x="5887417" y="3749384"/>
            <a:ext cx="1220068" cy="403031"/>
          </a:xfrm>
          <a:prstGeom prst="rect">
            <a:avLst/>
          </a:prstGeom>
          <a:ln w="12700">
            <a:miter lim="400000"/>
          </a:ln>
        </p:spPr>
      </p:pic>
      <p:pic>
        <p:nvPicPr>
          <p:cNvPr id="230" name="DPL-full-color-2-o.svg" descr="DPL-full-color-2-o.svg"/>
          <p:cNvPicPr>
            <a:picLocks noChangeAspect="1"/>
          </p:cNvPicPr>
          <p:nvPr/>
        </p:nvPicPr>
        <p:blipFill>
          <a:blip r:embed="rId50"/>
          <a:stretch>
            <a:fillRect/>
          </a:stretch>
        </p:blipFill>
        <p:spPr>
          <a:xfrm>
            <a:off x="9239899" y="2985078"/>
            <a:ext cx="1343890" cy="695837"/>
          </a:xfrm>
          <a:prstGeom prst="rect">
            <a:avLst/>
          </a:prstGeom>
          <a:ln w="12700">
            <a:miter lim="400000"/>
          </a:ln>
        </p:spPr>
      </p:pic>
      <p:pic>
        <p:nvPicPr>
          <p:cNvPr id="231" name="pasted-movie.png" descr="pasted-movie.png"/>
          <p:cNvPicPr>
            <a:picLocks noChangeAspect="1"/>
          </p:cNvPicPr>
          <p:nvPr/>
        </p:nvPicPr>
        <p:blipFill>
          <a:blip r:embed="rId51"/>
          <a:srcRect l="10454" t="19945" r="7619"/>
          <a:stretch>
            <a:fillRect/>
          </a:stretch>
        </p:blipFill>
        <p:spPr>
          <a:xfrm>
            <a:off x="10664951" y="3004229"/>
            <a:ext cx="1261720" cy="624891"/>
          </a:xfrm>
          <a:prstGeom prst="rect">
            <a:avLst/>
          </a:prstGeom>
          <a:ln w="12700">
            <a:miter lim="400000"/>
          </a:ln>
        </p:spPr>
      </p:pic>
      <p:pic>
        <p:nvPicPr>
          <p:cNvPr id="232" name="pasted-movie.png" descr="pasted-movie.png"/>
          <p:cNvPicPr>
            <a:picLocks noChangeAspect="1"/>
          </p:cNvPicPr>
          <p:nvPr/>
        </p:nvPicPr>
        <p:blipFill>
          <a:blip r:embed="rId52"/>
          <a:srcRect t="22160" b="22160"/>
          <a:stretch>
            <a:fillRect/>
          </a:stretch>
        </p:blipFill>
        <p:spPr>
          <a:xfrm>
            <a:off x="9002868" y="3686239"/>
            <a:ext cx="1547016" cy="487385"/>
          </a:xfrm>
          <a:prstGeom prst="rect">
            <a:avLst/>
          </a:prstGeom>
          <a:ln w="12700">
            <a:miter lim="400000"/>
          </a:ln>
        </p:spPr>
      </p:pic>
      <p:pic>
        <p:nvPicPr>
          <p:cNvPr id="233" name="pasted-movie.png" descr="pasted-movie.png"/>
          <p:cNvPicPr>
            <a:picLocks noChangeAspect="1"/>
          </p:cNvPicPr>
          <p:nvPr/>
        </p:nvPicPr>
        <p:blipFill>
          <a:blip r:embed="rId53"/>
          <a:stretch>
            <a:fillRect/>
          </a:stretch>
        </p:blipFill>
        <p:spPr>
          <a:xfrm>
            <a:off x="10564512" y="3776376"/>
            <a:ext cx="1345986" cy="387799"/>
          </a:xfrm>
          <a:prstGeom prst="rect">
            <a:avLst/>
          </a:prstGeom>
          <a:ln w="12700">
            <a:miter lim="400000"/>
          </a:ln>
        </p:spPr>
      </p:pic>
      <p:pic>
        <p:nvPicPr>
          <p:cNvPr id="234" name="pasted-movie.png" descr="pasted-movie.png"/>
          <p:cNvPicPr>
            <a:picLocks noChangeAspect="1"/>
          </p:cNvPicPr>
          <p:nvPr/>
        </p:nvPicPr>
        <p:blipFill>
          <a:blip r:embed="rId54"/>
          <a:srcRect t="19950" b="19950"/>
          <a:stretch>
            <a:fillRect/>
          </a:stretch>
        </p:blipFill>
        <p:spPr>
          <a:xfrm>
            <a:off x="3989789" y="3652117"/>
            <a:ext cx="1653240" cy="521624"/>
          </a:xfrm>
          <a:prstGeom prst="rect">
            <a:avLst/>
          </a:prstGeom>
          <a:ln w="12700">
            <a:miter lim="400000"/>
          </a:ln>
        </p:spPr>
      </p:pic>
      <p:pic>
        <p:nvPicPr>
          <p:cNvPr id="235" name="pasted-movie.png" descr="pasted-movie.png"/>
          <p:cNvPicPr>
            <a:picLocks noChangeAspect="1"/>
          </p:cNvPicPr>
          <p:nvPr/>
        </p:nvPicPr>
        <p:blipFill>
          <a:blip r:embed="rId55"/>
          <a:stretch>
            <a:fillRect/>
          </a:stretch>
        </p:blipFill>
        <p:spPr>
          <a:xfrm>
            <a:off x="3985407" y="3085883"/>
            <a:ext cx="1661915" cy="309898"/>
          </a:xfrm>
          <a:prstGeom prst="rect">
            <a:avLst/>
          </a:prstGeom>
          <a:ln w="12700">
            <a:miter lim="400000"/>
          </a:ln>
        </p:spPr>
      </p:pic>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SUSPENSE</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SUSPENSE</a:t>
            </a:r>
          </a:p>
        </p:txBody>
      </p:sp>
    </p:spTree>
    <p:extLst>
      <p:ext uri="{BB962C8B-B14F-4D97-AF65-F5344CB8AC3E}">
        <p14:creationId xmlns:p14="http://schemas.microsoft.com/office/powerpoint/2010/main" val="3384620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559209-AAA2-1CB4-6BF2-0C4E86659D30}"/>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F9BFBAD-B63F-0C95-BF4B-77443B953A89}"/>
              </a:ext>
            </a:extLst>
          </p:cNvPr>
          <p:cNvSpPr txBox="1"/>
          <p:nvPr/>
        </p:nvSpPr>
        <p:spPr>
          <a:xfrm>
            <a:off x="634848" y="3075057"/>
            <a:ext cx="10919143" cy="646331"/>
          </a:xfrm>
          <a:prstGeom prst="rect">
            <a:avLst/>
          </a:prstGeom>
          <a:noFill/>
        </p:spPr>
        <p:txBody>
          <a:bodyPr wrap="none" rtlCol="0">
            <a:spAutoFit/>
          </a:bodyPr>
          <a:lstStyle/>
          <a:p>
            <a:pPr algn="ctr"/>
            <a:r>
              <a:rPr lang="en-GB" sz="3600" dirty="0"/>
              <a:t>Code base (</a:t>
            </a:r>
            <a:r>
              <a:rPr lang="en-GB" sz="3600" dirty="0" err="1"/>
              <a:t>bootstrap.tsx</a:t>
            </a:r>
            <a:r>
              <a:rPr lang="en-GB" sz="3600" dirty="0"/>
              <a:t>, Routes, </a:t>
            </a:r>
            <a:r>
              <a:rPr lang="en-GB" sz="3600" dirty="0" err="1"/>
              <a:t>Rspack</a:t>
            </a:r>
            <a:r>
              <a:rPr lang="en-GB" sz="3600" dirty="0"/>
              <a:t> config &amp; plugin)</a:t>
            </a:r>
          </a:p>
        </p:txBody>
      </p:sp>
    </p:spTree>
    <p:extLst>
      <p:ext uri="{BB962C8B-B14F-4D97-AF65-F5344CB8AC3E}">
        <p14:creationId xmlns:p14="http://schemas.microsoft.com/office/powerpoint/2010/main" val="765978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637D03-7E43-E40A-D2C9-714E3D46262C}"/>
              </a:ext>
            </a:extLst>
          </p:cNvPr>
          <p:cNvPicPr>
            <a:picLocks noChangeAspect="1"/>
          </p:cNvPicPr>
          <p:nvPr/>
        </p:nvPicPr>
        <p:blipFill>
          <a:blip r:embed="rId3"/>
          <a:stretch>
            <a:fillRect/>
          </a:stretch>
        </p:blipFill>
        <p:spPr>
          <a:xfrm>
            <a:off x="6370" y="0"/>
            <a:ext cx="12176084" cy="6858000"/>
          </a:xfrm>
          <a:prstGeom prst="rect">
            <a:avLst/>
          </a:prstGeom>
        </p:spPr>
      </p:pic>
    </p:spTree>
    <p:extLst>
      <p:ext uri="{BB962C8B-B14F-4D97-AF65-F5344CB8AC3E}">
        <p14:creationId xmlns:p14="http://schemas.microsoft.com/office/powerpoint/2010/main" val="3156522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3F89-483A-0053-D78D-1A8901B047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8116DE-5DA1-A8F4-171E-98CD8EF39457}"/>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CCE98A8-BD8A-6B23-799E-D4E934D31BDC}"/>
              </a:ext>
            </a:extLst>
          </p:cNvPr>
          <p:cNvSpPr txBox="1"/>
          <p:nvPr/>
        </p:nvSpPr>
        <p:spPr>
          <a:xfrm>
            <a:off x="770310" y="3075057"/>
            <a:ext cx="10648236" cy="707886"/>
          </a:xfrm>
          <a:prstGeom prst="rect">
            <a:avLst/>
          </a:prstGeom>
          <a:noFill/>
        </p:spPr>
        <p:txBody>
          <a:bodyPr wrap="none" rtlCol="0">
            <a:spAutoFit/>
          </a:bodyPr>
          <a:lstStyle/>
          <a:p>
            <a:pPr algn="ctr"/>
            <a:r>
              <a:rPr lang="en-GB" sz="4000" dirty="0"/>
              <a:t>Preloading and prefetching (network tab </a:t>
            </a:r>
            <a:r>
              <a:rPr lang="en-GB" sz="4000" dirty="0" err="1"/>
              <a:t>devtools</a:t>
            </a:r>
            <a:r>
              <a:rPr lang="en-GB" sz="4000" dirty="0"/>
              <a:t>)</a:t>
            </a:r>
          </a:p>
        </p:txBody>
      </p:sp>
    </p:spTree>
    <p:extLst>
      <p:ext uri="{BB962C8B-B14F-4D97-AF65-F5344CB8AC3E}">
        <p14:creationId xmlns:p14="http://schemas.microsoft.com/office/powerpoint/2010/main" val="23981073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226365"/>
            <a:ext cx="10710142" cy="2248815"/>
          </a:xfrm>
          <a:prstGeom prst="rect">
            <a:avLst/>
          </a:prstGeom>
          <a:noFill/>
          <a:ln/>
        </p:spPr>
        <p:txBody>
          <a:bodyPr wrap="square" rtlCol="0" anchor="ctr"/>
          <a:lstStyle/>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Why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for eager modules?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Remotes are separate builds resolved at runtime. </a:t>
            </a:r>
          </a:p>
          <a:p>
            <a:pPr marL="0" indent="0">
              <a:buNone/>
            </a:pP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Eager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import()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warms the cache; </a:t>
            </a:r>
            <a:r>
              <a:rPr lang="en-US" sz="3200" i="1" dirty="0">
                <a:solidFill>
                  <a:schemeClr val="tx1">
                    <a:lumMod val="85000"/>
                    <a:lumOff val="15000"/>
                  </a:schemeClr>
                </a:solidFill>
                <a:latin typeface="Cascadia Code" panose="020B0609020000020004" pitchFamily="34" charset="0"/>
                <a:ea typeface="Cascadia Code" panose="020B0609020000020004" pitchFamily="34" charset="0"/>
                <a:cs typeface="Cascadia Code" panose="020B0609020000020004" pitchFamily="34" charset="0"/>
              </a:rPr>
              <a:t>lazy() </a:t>
            </a:r>
            <a:r>
              <a:rPr lang="en-US" sz="3200" i="1"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rPr>
              <a:t>resolves from it.</a:t>
            </a:r>
            <a:endParaRPr lang="en-US" sz="3200" dirty="0">
              <a:solidFill>
                <a:schemeClr val="tx1">
                  <a:lumMod val="85000"/>
                  <a:lumOff val="15000"/>
                </a:schemeClr>
              </a:solidFill>
              <a:latin typeface="Calibri" panose="020F0502020204030204" pitchFamily="34" charset="0"/>
              <a:ea typeface="Cascadia Code NF" pitchFamily="50" charset="0"/>
              <a:cs typeface="Calibri" panose="020F0502020204030204" pitchFamily="34" charset="0"/>
            </a:endParaRPr>
          </a:p>
        </p:txBody>
      </p:sp>
    </p:spTree>
    <p:extLst>
      <p:ext uri="{BB962C8B-B14F-4D97-AF65-F5344CB8AC3E}">
        <p14:creationId xmlns:p14="http://schemas.microsoft.com/office/powerpoint/2010/main" val="257722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Commands, Federation Lab menus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a:t>
            </a:r>
            <a:r>
              <a:rPr lang="en-US" sz="2800" dirty="0" err="1">
                <a:solidFill>
                  <a:schemeClr val="tx1">
                    <a:lumMod val="95000"/>
                    <a:lumOff val="5000"/>
                  </a:schemeClr>
                </a:solidFill>
                <a:latin typeface="DM Sans" pitchFamily="34" charset="0"/>
                <a:ea typeface="DM Sans" pitchFamily="34" charset="-122"/>
                <a:cs typeface="DM Sans" pitchFamily="34" charset="-120"/>
              </a:rPr>
              <a:t>remoteEntry.js</a:t>
            </a:r>
            <a:r>
              <a:rPr lang="en-US" sz="2800" dirty="0">
                <a:solidFill>
                  <a:schemeClr val="tx1">
                    <a:lumMod val="95000"/>
                    <a:lumOff val="5000"/>
                  </a:schemeClr>
                </a:solidFill>
                <a:latin typeface="DM Sans" pitchFamily="34" charset="0"/>
                <a:ea typeface="DM Sans" pitchFamily="34" charset="-122"/>
                <a:cs typeface="DM Sans" pitchFamily="34" charset="-120"/>
              </a:rPr>
              <a:t>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2434E-A423-B165-16BC-7AF688676E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374511-5B5D-F7F6-D4DE-965190A47438}"/>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4AF8797-4227-8449-C765-143D3A90429D}"/>
              </a:ext>
            </a:extLst>
          </p:cNvPr>
          <p:cNvSpPr txBox="1"/>
          <p:nvPr/>
        </p:nvSpPr>
        <p:spPr>
          <a:xfrm>
            <a:off x="2279283" y="3075057"/>
            <a:ext cx="7630295" cy="707886"/>
          </a:xfrm>
          <a:prstGeom prst="rect">
            <a:avLst/>
          </a:prstGeom>
          <a:noFill/>
        </p:spPr>
        <p:txBody>
          <a:bodyPr wrap="none" rtlCol="0">
            <a:spAutoFit/>
          </a:bodyPr>
          <a:lstStyle/>
          <a:p>
            <a:pPr algn="ctr"/>
            <a:r>
              <a:rPr lang="en-GB" sz="4000" dirty="0"/>
              <a:t>Admin panel for module federation</a:t>
            </a:r>
          </a:p>
        </p:txBody>
      </p:sp>
    </p:spTree>
    <p:extLst>
      <p:ext uri="{BB962C8B-B14F-4D97-AF65-F5344CB8AC3E}">
        <p14:creationId xmlns:p14="http://schemas.microsoft.com/office/powerpoint/2010/main" val="3182694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themeChange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showNotification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E5C8-F845-6867-3F24-0A4D18D440C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51E657-3A4F-F643-B5FE-F848932BB249}"/>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03C690B-5769-EFCF-21B9-2F10CBECB5E3}"/>
              </a:ext>
            </a:extLst>
          </p:cNvPr>
          <p:cNvSpPr txBox="1"/>
          <p:nvPr/>
        </p:nvSpPr>
        <p:spPr>
          <a:xfrm>
            <a:off x="2678228" y="3075057"/>
            <a:ext cx="6832384" cy="707886"/>
          </a:xfrm>
          <a:prstGeom prst="rect">
            <a:avLst/>
          </a:prstGeom>
          <a:noFill/>
        </p:spPr>
        <p:txBody>
          <a:bodyPr wrap="none" rtlCol="0">
            <a:spAutoFit/>
          </a:bodyPr>
          <a:lstStyle/>
          <a:p>
            <a:pPr algn="ctr"/>
            <a:r>
              <a:rPr lang="en-GB" sz="4000" dirty="0"/>
              <a:t>Counter value in different pages</a:t>
            </a:r>
          </a:p>
        </p:txBody>
      </p:sp>
    </p:spTree>
    <p:extLst>
      <p:ext uri="{BB962C8B-B14F-4D97-AF65-F5344CB8AC3E}">
        <p14:creationId xmlns:p14="http://schemas.microsoft.com/office/powerpoint/2010/main" val="2123101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803917B-4381-C3C7-FA95-857D711A79FD}"/>
              </a:ext>
            </a:extLst>
          </p:cNvPr>
          <p:cNvPicPr>
            <a:picLocks noChangeAspect="1"/>
          </p:cNvPicPr>
          <p:nvPr/>
        </p:nvPicPr>
        <p:blipFill>
          <a:blip r:embed="rId3"/>
          <a:stretch>
            <a:fillRect/>
          </a:stretch>
        </p:blipFill>
        <p:spPr>
          <a:xfrm>
            <a:off x="4297407" y="1158714"/>
            <a:ext cx="4087786" cy="3871374"/>
          </a:xfrm>
          <a:prstGeom prst="rect">
            <a:avLst/>
          </a:prstGeom>
        </p:spPr>
      </p:pic>
      <p:sp>
        <p:nvSpPr>
          <p:cNvPr id="12" name="TextBox 11">
            <a:extLst>
              <a:ext uri="{FF2B5EF4-FFF2-40B4-BE49-F238E27FC236}">
                <a16:creationId xmlns:a16="http://schemas.microsoft.com/office/drawing/2014/main" id="{29D0F35D-631E-8C23-5845-6023A66D27DD}"/>
              </a:ext>
            </a:extLst>
          </p:cNvPr>
          <p:cNvSpPr txBox="1"/>
          <p:nvPr/>
        </p:nvSpPr>
        <p:spPr>
          <a:xfrm>
            <a:off x="3822192" y="3655026"/>
            <a:ext cx="1627369" cy="1569660"/>
          </a:xfrm>
          <a:prstGeom prst="rect">
            <a:avLst/>
          </a:prstGeom>
          <a:noFill/>
        </p:spPr>
        <p:txBody>
          <a:bodyPr wrap="none" rtlCol="0">
            <a:spAutoFit/>
          </a:bodyPr>
          <a:lstStyle/>
          <a:p>
            <a:pPr algn="ctr"/>
            <a:r>
              <a:rPr lang="en-GB" sz="9600" dirty="0">
                <a:latin typeface="Cascadia Code" panose="020B0609020000020004" pitchFamily="49" charset="0"/>
                <a:cs typeface="Cascadia Code" panose="020B0609020000020004" pitchFamily="49" charset="0"/>
              </a:rPr>
              <a:t>AI</a:t>
            </a:r>
          </a:p>
        </p:txBody>
      </p:sp>
    </p:spTree>
    <p:extLst>
      <p:ext uri="{BB962C8B-B14F-4D97-AF65-F5344CB8AC3E}">
        <p14:creationId xmlns:p14="http://schemas.microsoft.com/office/powerpoint/2010/main" val="21967390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5158BA-B2A6-2F27-F186-4EF8F56E7BD9}"/>
              </a:ext>
            </a:extLst>
          </p:cNvPr>
          <p:cNvPicPr>
            <a:picLocks noChangeAspect="1"/>
          </p:cNvPicPr>
          <p:nvPr/>
        </p:nvPicPr>
        <p:blipFill>
          <a:blip r:embed="rId3"/>
          <a:stretch>
            <a:fillRect/>
          </a:stretch>
        </p:blipFill>
        <p:spPr>
          <a:xfrm>
            <a:off x="3557944" y="0"/>
            <a:ext cx="5072937" cy="6858000"/>
          </a:xfrm>
          <a:prstGeom prst="rect">
            <a:avLst/>
          </a:prstGeom>
        </p:spPr>
      </p:pic>
    </p:spTree>
    <p:extLst>
      <p:ext uri="{BB962C8B-B14F-4D97-AF65-F5344CB8AC3E}">
        <p14:creationId xmlns:p14="http://schemas.microsoft.com/office/powerpoint/2010/main" val="25882997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382" y="2736683"/>
            <a:ext cx="10027796" cy="1384634"/>
          </a:xfrm>
          <a:prstGeom prst="rect">
            <a:avLst/>
          </a:prstGeom>
          <a:noFill/>
        </p:spPr>
        <p:txBody>
          <a:bodyPr wrap="square">
            <a:spAutoFit/>
          </a:bodyPr>
          <a:lstStyle/>
          <a:p>
            <a:r>
              <a:rPr lang="en-GB" sz="2799" b="1" dirty="0">
                <a:solidFill>
                  <a:schemeClr val="tx1">
                    <a:lumMod val="95000"/>
                    <a:lumOff val="5000"/>
                  </a:schemeClr>
                </a:solidFill>
              </a:rPr>
              <a:t>Knowledge atrophy </a:t>
            </a:r>
            <a:r>
              <a:rPr lang="en-GB" sz="2799"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4130</TotalTime>
  <Words>2155</Words>
  <Application>Microsoft Macintosh PowerPoint</Application>
  <PresentationFormat>Custom</PresentationFormat>
  <Paragraphs>202</Paragraphs>
  <Slides>35</Slides>
  <Notes>31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Brush Script MT</vt:lpstr>
      <vt:lpstr>Aptos</vt:lpstr>
      <vt:lpstr>Arial</vt:lpstr>
      <vt:lpstr>Calibri</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Devlin Duldulao</cp:lastModifiedBy>
  <cp:revision>303</cp:revision>
  <dcterms:created xsi:type="dcterms:W3CDTF">2026-07-26T17:49:56Z</dcterms:created>
  <dcterms:modified xsi:type="dcterms:W3CDTF">2026-09-10T03:31:27Z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y fmtid="{D5CDD505-2E9C-101B-9397-08002B2CF9AE}" pid="3" name="MSIP_Label_178c0f71-65dc-41d1-a799-91080a268621_Enabled">
    <vt:lpwstr>true</vt:lpwstr>
  </property>
  <property fmtid="{D5CDD505-2E9C-101B-9397-08002B2CF9AE}" pid="4" name="MSIP_Label_178c0f71-65dc-41d1-a799-91080a268621_SetDate">
    <vt:lpwstr>2026-09-09T15:35:15Z</vt:lpwstr>
  </property>
  <property fmtid="{D5CDD505-2E9C-101B-9397-08002B2CF9AE}" pid="5" name="MSIP_Label_178c0f71-65dc-41d1-a799-91080a268621_Method">
    <vt:lpwstr>Standard</vt:lpwstr>
  </property>
  <property fmtid="{D5CDD505-2E9C-101B-9397-08002B2CF9AE}" pid="6" name="MSIP_Label_178c0f71-65dc-41d1-a799-91080a268621_Name">
    <vt:lpwstr>Internal - Crayon Group Only</vt:lpwstr>
  </property>
  <property fmtid="{D5CDD505-2E9C-101B-9397-08002B2CF9AE}" pid="7" name="MSIP_Label_178c0f71-65dc-41d1-a799-91080a268621_SiteId">
    <vt:lpwstr>8f47ad71-44ca-48bf-afe3-56b9360a4495</vt:lpwstr>
  </property>
  <property fmtid="{D5CDD505-2E9C-101B-9397-08002B2CF9AE}" pid="8" name="MSIP_Label_178c0f71-65dc-41d1-a799-91080a268621_ActionId">
    <vt:lpwstr>3894cb50-b398-499b-a2fb-df380df3d017</vt:lpwstr>
  </property>
  <property fmtid="{D5CDD505-2E9C-101B-9397-08002B2CF9AE}" pid="9" name="MSIP_Label_178c0f71-65dc-41d1-a799-91080a268621_ContentBits">
    <vt:lpwstr>2</vt:lpwstr>
  </property>
  <property fmtid="{D5CDD505-2E9C-101B-9397-08002B2CF9AE}" pid="10" name="MSIP_Label_178c0f71-65dc-41d1-a799-91080a268621_Tag">
    <vt:lpwstr>50, 3, 0, 1</vt:lpwstr>
  </property>
  <property fmtid="{D5CDD505-2E9C-101B-9397-08002B2CF9AE}" pid="11" name="ClassificationContentMarkingFooterLocations">
    <vt:lpwstr>Office Theme:3</vt:lpwstr>
  </property>
  <property fmtid="{D5CDD505-2E9C-101B-9397-08002B2CF9AE}" pid="12" name="ClassificationContentMarkingFooterText">
    <vt:lpwstr>Internal Only</vt:lpwstr>
  </property>
</Properties>
</file>