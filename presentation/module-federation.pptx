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6"/>
  </p:notesMasterIdLst>
  <p:sldIdLst>
    <p:sldId id="298" r:id="rId2"/>
    <p:sldId id="301" r:id="rId3"/>
    <p:sldId id="300" r:id="rId4"/>
    <p:sldId id="313" r:id="rId5"/>
    <p:sldId id="312" r:id="rId6"/>
    <p:sldId id="299" r:id="rId7"/>
    <p:sldId id="314" r:id="rId8"/>
    <p:sldId id="311" r:id="rId9"/>
    <p:sldId id="315" r:id="rId10"/>
    <p:sldId id="317" r:id="rId11"/>
    <p:sldId id="316" r:id="rId12"/>
    <p:sldId id="318" r:id="rId13"/>
    <p:sldId id="336" r:id="rId14"/>
    <p:sldId id="328" r:id="rId15"/>
    <p:sldId id="341" r:id="rId16"/>
    <p:sldId id="337" r:id="rId17"/>
    <p:sldId id="319" r:id="rId18"/>
    <p:sldId id="320" r:id="rId19"/>
    <p:sldId id="329" r:id="rId20"/>
    <p:sldId id="344" r:id="rId21"/>
    <p:sldId id="327" r:id="rId22"/>
    <p:sldId id="335" r:id="rId23"/>
    <p:sldId id="325" r:id="rId24"/>
    <p:sldId id="326" r:id="rId25"/>
    <p:sldId id="342" r:id="rId26"/>
    <p:sldId id="334" r:id="rId27"/>
    <p:sldId id="332" r:id="rId28"/>
    <p:sldId id="333" r:id="rId29"/>
    <p:sldId id="343" r:id="rId30"/>
    <p:sldId id="331" r:id="rId31"/>
    <p:sldId id="340" r:id="rId32"/>
    <p:sldId id="338" r:id="rId33"/>
    <p:sldId id="339" r:id="rId34"/>
    <p:sldId id="322" r:id="rId35"/>
  </p:sldIdLst>
  <p:sldSz cx="12188825" cy="6858000"/>
  <p:notesSz cx="6858000" cy="1218882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568" autoAdjust="0"/>
    <p:restoredTop sz="96793" autoAdjust="0"/>
  </p:normalViewPr>
  <p:slideViewPr>
    <p:cSldViewPr snapToGrid="0" snapToObjects="1">
      <p:cViewPr varScale="1">
        <p:scale>
          <a:sx n="148" d="100"/>
          <a:sy n="148" d="100"/>
        </p:scale>
        <p:origin x="240" y="192"/>
      </p:cViewPr>
      <p:guideLst/>
    </p:cSldViewPr>
  </p:slideViewPr>
  <p:notesTextViewPr>
    <p:cViewPr>
      <p:scale>
        <a:sx n="140" d="100"/>
        <a:sy n="14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011116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5425" y="1524000"/>
            <a:ext cx="7308850" cy="4113213"/>
          </a:xfrm>
          <a:prstGeom prst="rect">
            <a:avLst/>
          </a:prstGeom>
          <a:noFill/>
          <a:ln w="12700">
            <a:solidFill>
              <a:prstClr val="black"/>
            </a:solidFill>
          </a:ln>
        </p:spPr>
      </p:sp>
      <p:sp>
        <p:nvSpPr>
          <p:cNvPr id="3" name="Notes Placeholder 2"/>
          <p:cNvSpPr>
            <a:spLocks noGrp="1"/>
          </p:cNvSpPr>
          <p:nvPr>
            <p:ph type="body" idx="1"/>
          </p:nvPr>
        </p:nvSpPr>
        <p:spPr>
          <a:xfrm>
            <a:off x="685800" y="5865813"/>
            <a:ext cx="5486400" cy="4799012"/>
          </a:xfrm>
          <a:prstGeom prst="rect">
            <a:avLst/>
          </a:prstGeom>
        </p:spPr>
        <p:txBody>
          <a:bodyPr/>
          <a:lstStyle/>
          <a:p>
            <a:endParaRPr lang="en-GB" dirty="0"/>
          </a:p>
        </p:txBody>
      </p:sp>
    </p:spTree>
    <p:extLst>
      <p:ext uri="{BB962C8B-B14F-4D97-AF65-F5344CB8AC3E}">
        <p14:creationId xmlns:p14="http://schemas.microsoft.com/office/powerpoint/2010/main" val="7188984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5425" y="1524000"/>
            <a:ext cx="7308850" cy="4113213"/>
          </a:xfrm>
          <a:prstGeom prst="rect">
            <a:avLst/>
          </a:prstGeom>
          <a:noFill/>
          <a:ln w="12700">
            <a:solidFill>
              <a:prstClr val="black"/>
            </a:solidFill>
          </a:ln>
        </p:spPr>
      </p:sp>
      <p:sp>
        <p:nvSpPr>
          <p:cNvPr id="3" name="Notes Placeholder 2"/>
          <p:cNvSpPr>
            <a:spLocks noGrp="1"/>
          </p:cNvSpPr>
          <p:nvPr>
            <p:ph type="body" idx="1"/>
          </p:nvPr>
        </p:nvSpPr>
        <p:spPr>
          <a:xfrm>
            <a:off x="685800" y="5865813"/>
            <a:ext cx="5486400" cy="4799012"/>
          </a:xfrm>
          <a:prstGeom prst="rect">
            <a:avLst/>
          </a:prstGeom>
        </p:spPr>
        <p:txBody>
          <a:bodyPr/>
          <a:lstStyle/>
          <a:p>
            <a:endParaRPr lang="en-GB" dirty="0"/>
          </a:p>
        </p:txBody>
      </p:sp>
    </p:spTree>
    <p:extLst>
      <p:ext uri="{BB962C8B-B14F-4D97-AF65-F5344CB8AC3E}">
        <p14:creationId xmlns:p14="http://schemas.microsoft.com/office/powerpoint/2010/main" val="29681038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5425" y="1524000"/>
            <a:ext cx="7308850" cy="4113213"/>
          </a:xfrm>
          <a:prstGeom prst="rect">
            <a:avLst/>
          </a:prstGeom>
          <a:noFill/>
          <a:ln w="12700">
            <a:solidFill>
              <a:prstClr val="black"/>
            </a:solidFill>
          </a:ln>
        </p:spPr>
      </p:sp>
      <p:sp>
        <p:nvSpPr>
          <p:cNvPr id="3" name="Notes Placeholder 2"/>
          <p:cNvSpPr>
            <a:spLocks noGrp="1"/>
          </p:cNvSpPr>
          <p:nvPr>
            <p:ph type="body" idx="1"/>
          </p:nvPr>
        </p:nvSpPr>
        <p:spPr>
          <a:xfrm>
            <a:off x="685800" y="5865813"/>
            <a:ext cx="5486400" cy="4799012"/>
          </a:xfrm>
          <a:prstGeom prst="rect">
            <a:avLst/>
          </a:prstGeom>
        </p:spPr>
        <p:txBody>
          <a:bodyPr/>
          <a:lstStyle/>
          <a:p>
            <a:endParaRPr lang="en-GB" dirty="0"/>
          </a:p>
        </p:txBody>
      </p:sp>
    </p:spTree>
    <p:extLst>
      <p:ext uri="{BB962C8B-B14F-4D97-AF65-F5344CB8AC3E}">
        <p14:creationId xmlns:p14="http://schemas.microsoft.com/office/powerpoint/2010/main" val="38420750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5425" y="1524000"/>
            <a:ext cx="7308850" cy="4113213"/>
          </a:xfrm>
          <a:prstGeom prst="rect">
            <a:avLst/>
          </a:prstGeom>
          <a:noFill/>
          <a:ln w="12700">
            <a:solidFill>
              <a:prstClr val="black"/>
            </a:solidFill>
          </a:ln>
        </p:spPr>
      </p:sp>
      <p:sp>
        <p:nvSpPr>
          <p:cNvPr id="3" name="Notes Placeholder 2"/>
          <p:cNvSpPr>
            <a:spLocks noGrp="1"/>
          </p:cNvSpPr>
          <p:nvPr>
            <p:ph type="body" idx="1"/>
          </p:nvPr>
        </p:nvSpPr>
        <p:spPr>
          <a:xfrm>
            <a:off x="685800" y="5865813"/>
            <a:ext cx="5486400" cy="4799012"/>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What are we solving here in </a:t>
            </a:r>
            <a:r>
              <a:rPr lang="en-US" sz="1200" dirty="0" err="1"/>
              <a:t>microfrontends</a:t>
            </a:r>
            <a:r>
              <a:rPr lang="en-US" sz="1200" dirty="0"/>
              <a:t>?</a:t>
            </a:r>
            <a:endParaRPr lang="en-GB" sz="1200" dirty="0"/>
          </a:p>
          <a:p>
            <a:endParaRPr lang="en-GB" dirty="0"/>
          </a:p>
        </p:txBody>
      </p:sp>
    </p:spTree>
    <p:extLst>
      <p:ext uri="{BB962C8B-B14F-4D97-AF65-F5344CB8AC3E}">
        <p14:creationId xmlns:p14="http://schemas.microsoft.com/office/powerpoint/2010/main" val="6440554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5425" y="1524000"/>
            <a:ext cx="7308850" cy="4113213"/>
          </a:xfrm>
          <a:prstGeom prst="rect">
            <a:avLst/>
          </a:prstGeom>
          <a:noFill/>
          <a:ln w="12700">
            <a:solidFill>
              <a:prstClr val="black"/>
            </a:solidFill>
          </a:ln>
        </p:spPr>
      </p:sp>
      <p:sp>
        <p:nvSpPr>
          <p:cNvPr id="3" name="Notes Placeholder 2"/>
          <p:cNvSpPr>
            <a:spLocks noGrp="1"/>
          </p:cNvSpPr>
          <p:nvPr>
            <p:ph type="body" idx="1"/>
          </p:nvPr>
        </p:nvSpPr>
        <p:spPr>
          <a:xfrm>
            <a:off x="685800" y="5865813"/>
            <a:ext cx="5486400" cy="4799012"/>
          </a:xfrm>
          <a:prstGeom prst="rect">
            <a:avLst/>
          </a:prstGeom>
        </p:spPr>
        <p:txBody>
          <a:bodyPr/>
          <a:lstStyle/>
          <a:p>
            <a:r>
              <a:rPr lang="en-US" dirty="0"/>
              <a:t>Here's the first.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Independent deploys, and a smaller blast radius</a:t>
            </a:r>
            <a:endParaRPr lang="en-GB" sz="1200" dirty="0"/>
          </a:p>
          <a:p>
            <a:endParaRPr lang="en-GB" dirty="0"/>
          </a:p>
        </p:txBody>
      </p:sp>
    </p:spTree>
    <p:extLst>
      <p:ext uri="{BB962C8B-B14F-4D97-AF65-F5344CB8AC3E}">
        <p14:creationId xmlns:p14="http://schemas.microsoft.com/office/powerpoint/2010/main" val="24989094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5425" y="1524000"/>
            <a:ext cx="7308850" cy="4113213"/>
          </a:xfrm>
          <a:prstGeom prst="rect">
            <a:avLst/>
          </a:prstGeom>
          <a:noFill/>
          <a:ln w="12700">
            <a:solidFill>
              <a:prstClr val="black"/>
            </a:solidFill>
          </a:ln>
        </p:spPr>
      </p:sp>
      <p:sp>
        <p:nvSpPr>
          <p:cNvPr id="3" name="Notes Placeholder 2"/>
          <p:cNvSpPr>
            <a:spLocks noGrp="1"/>
          </p:cNvSpPr>
          <p:nvPr>
            <p:ph type="body" idx="1"/>
          </p:nvPr>
        </p:nvSpPr>
        <p:spPr>
          <a:xfrm>
            <a:off x="685800" y="5865813"/>
            <a:ext cx="5486400" cy="4799012"/>
          </a:xfrm>
          <a:prstGeom prst="rect">
            <a:avLst/>
          </a:prstGeom>
        </p:spPr>
        <p:txBody>
          <a:bodyPr/>
          <a:lstStyle/>
          <a:p>
            <a:r>
              <a:rPr lang="en-US" dirty="0"/>
              <a:t>The distinction that matters is between </a:t>
            </a:r>
            <a:r>
              <a:rPr lang="en-US" i="1" dirty="0"/>
              <a:t>build</a:t>
            </a:r>
            <a:r>
              <a:rPr lang="en-US" dirty="0"/>
              <a:t> coupling and </a:t>
            </a:r>
            <a:r>
              <a:rPr lang="en-US" i="1" dirty="0"/>
              <a:t>deploy</a:t>
            </a:r>
            <a:r>
              <a:rPr lang="en-US" dirty="0"/>
              <a:t> coupling. Teams can share a repo happily, but sharing a release pipeline means one failing build becomes everyone's problem.</a:t>
            </a:r>
          </a:p>
          <a:p>
            <a:endParaRPr lang="en-US" dirty="0"/>
          </a:p>
          <a:p>
            <a:r>
              <a:rPr lang="en-US" dirty="0"/>
              <a:t>Team D maybe have a failing build and that’s a blocker in the upper half. </a:t>
            </a:r>
          </a:p>
          <a:p>
            <a:endParaRPr lang="en-US" dirty="0"/>
          </a:p>
          <a:p>
            <a:r>
              <a:rPr lang="en-US" dirty="0"/>
              <a:t>While the lower half lets you own your build and problems stay where they are.</a:t>
            </a:r>
            <a:endParaRPr lang="en-GB" dirty="0"/>
          </a:p>
        </p:txBody>
      </p:sp>
    </p:spTree>
    <p:extLst>
      <p:ext uri="{BB962C8B-B14F-4D97-AF65-F5344CB8AC3E}">
        <p14:creationId xmlns:p14="http://schemas.microsoft.com/office/powerpoint/2010/main" val="28232725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8480B2-0347-0147-6484-CB7C0C98DF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78B400-BACB-AE2D-62B3-0672518FE268}"/>
              </a:ext>
            </a:extLst>
          </p:cNvPr>
          <p:cNvSpPr>
            <a:spLocks noGrp="1" noRot="1" noChangeAspect="1"/>
          </p:cNvSpPr>
          <p:nvPr>
            <p:ph type="sldImg"/>
          </p:nvPr>
        </p:nvSpPr>
        <p:spPr>
          <a:xfrm>
            <a:off x="-225425" y="1524000"/>
            <a:ext cx="7308850" cy="4113213"/>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E6A56066-4C22-F547-B213-2B9B212608B3}"/>
              </a:ext>
            </a:extLst>
          </p:cNvPr>
          <p:cNvSpPr>
            <a:spLocks noGrp="1"/>
          </p:cNvSpPr>
          <p:nvPr>
            <p:ph type="body" idx="1"/>
          </p:nvPr>
        </p:nvSpPr>
        <p:spPr>
          <a:xfrm>
            <a:off x="685800" y="5865813"/>
            <a:ext cx="5486400" cy="4799012"/>
          </a:xfrm>
          <a:prstGeom prst="rect">
            <a:avLst/>
          </a:prstGeom>
        </p:spPr>
        <p:txBody>
          <a:bodyPr/>
          <a:lstStyle/>
          <a:p>
            <a:r>
              <a:rPr lang="en-US" dirty="0"/>
              <a:t>Second reason.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r>
              <a:rPr lang="en-US" sz="1200" dirty="0"/>
              <a:t>Structure in code ownership</a:t>
            </a:r>
            <a:endParaRPr lang="en-GB" dirty="0"/>
          </a:p>
        </p:txBody>
      </p:sp>
    </p:spTree>
    <p:extLst>
      <p:ext uri="{BB962C8B-B14F-4D97-AF65-F5344CB8AC3E}">
        <p14:creationId xmlns:p14="http://schemas.microsoft.com/office/powerpoint/2010/main" val="10259759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5425" y="1524000"/>
            <a:ext cx="7308850" cy="4113213"/>
          </a:xfrm>
          <a:prstGeom prst="rect">
            <a:avLst/>
          </a:prstGeom>
          <a:noFill/>
          <a:ln w="12700">
            <a:solidFill>
              <a:prstClr val="black"/>
            </a:solidFill>
          </a:ln>
        </p:spPr>
      </p:sp>
      <p:sp>
        <p:nvSpPr>
          <p:cNvPr id="3" name="Notes Placeholder 2"/>
          <p:cNvSpPr>
            <a:spLocks noGrp="1"/>
          </p:cNvSpPr>
          <p:nvPr>
            <p:ph type="body" idx="1"/>
          </p:nvPr>
        </p:nvSpPr>
        <p:spPr>
          <a:xfrm>
            <a:off x="685800" y="5865813"/>
            <a:ext cx="5486400" cy="4799012"/>
          </a:xfrm>
          <a:prstGeom prst="rect">
            <a:avLst/>
          </a:prstGeom>
        </p:spPr>
        <p:txBody>
          <a:bodyPr/>
          <a:lstStyle/>
          <a:p>
            <a:r>
              <a:rPr lang="en-US" dirty="0"/>
              <a:t>Up top, Checkout, Catalog, and Account are one app, so any team can import from any other part. The dashed lines are those reaches — they look like normal imports, so nobody notices them in review. </a:t>
            </a:r>
          </a:p>
          <a:p>
            <a:endParaRPr lang="en-US" dirty="0"/>
          </a:p>
          <a:p>
            <a:r>
              <a:rPr lang="en-US" dirty="0"/>
              <a:t>Down below with the green, each part ships separately, so using Catalog's code means adding a dependency or calling an API. That is a real change in a real file, and a reviewer will see it. </a:t>
            </a:r>
          </a:p>
          <a:p>
            <a:endParaRPr lang="en-US" dirty="0"/>
          </a:p>
          <a:p>
            <a:r>
              <a:rPr lang="en-US" dirty="0"/>
              <a:t>Before doing </a:t>
            </a:r>
            <a:r>
              <a:rPr lang="en-US" dirty="0" err="1"/>
              <a:t>microfrontends</a:t>
            </a:r>
            <a:r>
              <a:rPr lang="en-US" dirty="0"/>
              <a:t>, crossing a boundary was invisible. </a:t>
            </a:r>
          </a:p>
          <a:p>
            <a:endParaRPr lang="en-US" dirty="0"/>
          </a:p>
          <a:p>
            <a:r>
              <a:rPr lang="en-US" dirty="0"/>
              <a:t>After having </a:t>
            </a:r>
            <a:r>
              <a:rPr lang="en-US" dirty="0" err="1"/>
              <a:t>microfrontends</a:t>
            </a:r>
            <a:r>
              <a:rPr lang="en-US" dirty="0"/>
              <a:t>, it is visible. </a:t>
            </a:r>
          </a:p>
          <a:p>
            <a:endParaRPr lang="en-US" dirty="0"/>
          </a:p>
          <a:p>
            <a:r>
              <a:rPr lang="en-US" dirty="0"/>
              <a:t>What you can do here is a shared library.</a:t>
            </a:r>
          </a:p>
        </p:txBody>
      </p:sp>
    </p:spTree>
    <p:extLst>
      <p:ext uri="{BB962C8B-B14F-4D97-AF65-F5344CB8AC3E}">
        <p14:creationId xmlns:p14="http://schemas.microsoft.com/office/powerpoint/2010/main" val="38896813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A92F6-6578-1D28-7844-337ACD0A37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FDA50D-8E9C-8787-3767-F6A995568A93}"/>
              </a:ext>
            </a:extLst>
          </p:cNvPr>
          <p:cNvSpPr>
            <a:spLocks noGrp="1" noRot="1" noChangeAspect="1"/>
          </p:cNvSpPr>
          <p:nvPr>
            <p:ph type="sldImg"/>
          </p:nvPr>
        </p:nvSpPr>
        <p:spPr>
          <a:xfrm>
            <a:off x="-225425" y="1524000"/>
            <a:ext cx="7308850" cy="4113213"/>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69EA5E55-6DC6-A1B1-0CE4-0AA4473B1AAC}"/>
              </a:ext>
            </a:extLst>
          </p:cNvPr>
          <p:cNvSpPr>
            <a:spLocks noGrp="1"/>
          </p:cNvSpPr>
          <p:nvPr>
            <p:ph type="body" idx="1"/>
          </p:nvPr>
        </p:nvSpPr>
        <p:spPr>
          <a:xfrm>
            <a:off x="685800" y="5865813"/>
            <a:ext cx="5486400" cy="4799012"/>
          </a:xfrm>
          <a:prstGeom prst="rect">
            <a:avLst/>
          </a:prstGeom>
        </p:spPr>
        <p:txBody>
          <a:bodyPr/>
          <a:lstStyle/>
          <a:p>
            <a:r>
              <a:rPr lang="en-US" dirty="0"/>
              <a:t>Third reason.</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Bounded cognitive load as headcount grows.</a:t>
            </a:r>
            <a:endParaRPr lang="en-US" dirty="0"/>
          </a:p>
          <a:p>
            <a:endParaRPr lang="en-US" dirty="0"/>
          </a:p>
        </p:txBody>
      </p:sp>
    </p:spTree>
    <p:extLst>
      <p:ext uri="{BB962C8B-B14F-4D97-AF65-F5344CB8AC3E}">
        <p14:creationId xmlns:p14="http://schemas.microsoft.com/office/powerpoint/2010/main" val="5601885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5425" y="1524000"/>
            <a:ext cx="7308850" cy="4113213"/>
          </a:xfrm>
          <a:prstGeom prst="rect">
            <a:avLst/>
          </a:prstGeom>
          <a:noFill/>
          <a:ln w="12700">
            <a:solidFill>
              <a:prstClr val="black"/>
            </a:solidFill>
          </a:ln>
        </p:spPr>
      </p:sp>
      <p:sp>
        <p:nvSpPr>
          <p:cNvPr id="3" name="Notes Placeholder 2"/>
          <p:cNvSpPr>
            <a:spLocks noGrp="1"/>
          </p:cNvSpPr>
          <p:nvPr>
            <p:ph type="body" idx="1"/>
          </p:nvPr>
        </p:nvSpPr>
        <p:spPr>
          <a:xfrm>
            <a:off x="685800" y="5865813"/>
            <a:ext cx="5486400" cy="4799012"/>
          </a:xfrm>
          <a:prstGeom prst="rect">
            <a:avLst/>
          </a:prstGeom>
        </p:spPr>
        <p:txBody>
          <a:bodyPr/>
          <a:lstStyle/>
          <a:p>
            <a:r>
              <a:rPr lang="en-US" dirty="0"/>
              <a:t>I think this is underrated or maybe most of you don’t realize. Getting to know the project’s repository isn't about total lines of code — it's about how much of the system a person must hold in their head before they can safely change one line in a codebase.</a:t>
            </a:r>
          </a:p>
          <a:p>
            <a:endParaRPr lang="en-US" dirty="0"/>
          </a:p>
          <a:p>
            <a:r>
              <a:rPr lang="en-US" dirty="0"/>
              <a:t>When onboarding a new frontend developer? You only have to know one isolated application like the cart here.</a:t>
            </a:r>
            <a:endParaRPr lang="en-GB" dirty="0"/>
          </a:p>
        </p:txBody>
      </p:sp>
    </p:spTree>
    <p:extLst>
      <p:ext uri="{BB962C8B-B14F-4D97-AF65-F5344CB8AC3E}">
        <p14:creationId xmlns:p14="http://schemas.microsoft.com/office/powerpoint/2010/main" val="32781999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D9F887-00EC-F6D6-6E74-7210AAE8D7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64D492-9C48-B97E-9725-E950E22EAA19}"/>
              </a:ext>
            </a:extLst>
          </p:cNvPr>
          <p:cNvSpPr>
            <a:spLocks noGrp="1" noRot="1" noChangeAspect="1"/>
          </p:cNvSpPr>
          <p:nvPr>
            <p:ph type="sldImg"/>
          </p:nvPr>
        </p:nvSpPr>
        <p:spPr>
          <a:xfrm>
            <a:off x="-225425" y="1524000"/>
            <a:ext cx="7308850" cy="4113213"/>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A5FFBA45-FE90-16C8-2B3F-345A708DB695}"/>
              </a:ext>
            </a:extLst>
          </p:cNvPr>
          <p:cNvSpPr>
            <a:spLocks noGrp="1"/>
          </p:cNvSpPr>
          <p:nvPr>
            <p:ph type="body" idx="1"/>
          </p:nvPr>
        </p:nvSpPr>
        <p:spPr>
          <a:xfrm>
            <a:off x="685800" y="5865813"/>
            <a:ext cx="5486400" cy="4799012"/>
          </a:xfrm>
          <a:prstGeom prst="rect">
            <a:avLst/>
          </a:prstGeom>
        </p:spPr>
        <p:txBody>
          <a:bodyPr/>
          <a:lstStyle/>
          <a:p>
            <a:r>
              <a:rPr lang="en-US" dirty="0"/>
              <a:t>Last, but not the least. This is actually my first experience in micro-frontend when we were removing little pieces of Angular version 1, which is plain JavaScript, to the latest version of Angular.</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Incremental migration instead of a rewrite.</a:t>
            </a:r>
            <a:endParaRPr lang="en-GB" sz="1200" dirty="0"/>
          </a:p>
        </p:txBody>
      </p:sp>
    </p:spTree>
    <p:extLst>
      <p:ext uri="{BB962C8B-B14F-4D97-AF65-F5344CB8AC3E}">
        <p14:creationId xmlns:p14="http://schemas.microsoft.com/office/powerpoint/2010/main" val="35296758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5425" y="1524000"/>
            <a:ext cx="7308850" cy="4113213"/>
          </a:xfrm>
          <a:prstGeom prst="rect">
            <a:avLst/>
          </a:prstGeom>
          <a:noFill/>
          <a:ln w="12700">
            <a:solidFill>
              <a:prstClr val="black"/>
            </a:solidFill>
          </a:ln>
        </p:spPr>
      </p:sp>
      <p:sp>
        <p:nvSpPr>
          <p:cNvPr id="3" name="Notes Placeholder 2"/>
          <p:cNvSpPr>
            <a:spLocks noGrp="1"/>
          </p:cNvSpPr>
          <p:nvPr>
            <p:ph type="body" idx="1"/>
          </p:nvPr>
        </p:nvSpPr>
        <p:spPr>
          <a:xfrm>
            <a:off x="685800" y="5865813"/>
            <a:ext cx="5486400" cy="4799012"/>
          </a:xfrm>
          <a:prstGeom prst="rect">
            <a:avLst/>
          </a:prstGeom>
        </p:spPr>
        <p:txBody>
          <a:bodyPr/>
          <a:lstStyle/>
          <a:p>
            <a:r>
              <a:rPr lang="en-US" dirty="0"/>
              <a:t>This is the one that stands on its own even when the others don't apply. </a:t>
            </a:r>
          </a:p>
          <a:p>
            <a:endParaRPr lang="en-US" dirty="0"/>
          </a:p>
          <a:p>
            <a:r>
              <a:rPr lang="en-US" dirty="0"/>
              <a:t>The key detail is that both stacks serve real traffic the entire time, which is what makes it reversible.</a:t>
            </a:r>
            <a:endParaRPr lang="en-GB" dirty="0"/>
          </a:p>
        </p:txBody>
      </p:sp>
    </p:spTree>
    <p:extLst>
      <p:ext uri="{BB962C8B-B14F-4D97-AF65-F5344CB8AC3E}">
        <p14:creationId xmlns:p14="http://schemas.microsoft.com/office/powerpoint/2010/main" val="36315776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5425" y="1524000"/>
            <a:ext cx="7308850" cy="4113213"/>
          </a:xfrm>
          <a:prstGeom prst="rect">
            <a:avLst/>
          </a:prstGeom>
          <a:noFill/>
          <a:ln w="12700">
            <a:solidFill>
              <a:prstClr val="black"/>
            </a:solidFill>
          </a:ln>
        </p:spPr>
      </p:sp>
      <p:sp>
        <p:nvSpPr>
          <p:cNvPr id="3" name="Notes Placeholder 2"/>
          <p:cNvSpPr>
            <a:spLocks noGrp="1"/>
          </p:cNvSpPr>
          <p:nvPr>
            <p:ph type="body" idx="1"/>
          </p:nvPr>
        </p:nvSpPr>
        <p:spPr>
          <a:xfrm>
            <a:off x="685800" y="5865813"/>
            <a:ext cx="5486400" cy="4799012"/>
          </a:xfrm>
          <a:prstGeom prst="rect">
            <a:avLst/>
          </a:prstGeom>
        </p:spPr>
        <p:txBody>
          <a:bodyPr/>
          <a:lstStyle/>
          <a:p>
            <a:r>
              <a:rPr lang="en-GB" dirty="0"/>
              <a:t>So, the demo app is this. This is a healthcare app. With some patient records, prescriptions, analytics.</a:t>
            </a:r>
          </a:p>
        </p:txBody>
      </p:sp>
    </p:spTree>
    <p:extLst>
      <p:ext uri="{BB962C8B-B14F-4D97-AF65-F5344CB8AC3E}">
        <p14:creationId xmlns:p14="http://schemas.microsoft.com/office/powerpoint/2010/main" val="12264222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5425" y="1524000"/>
            <a:ext cx="7308850" cy="4113213"/>
          </a:xfrm>
          <a:prstGeom prst="rect">
            <a:avLst/>
          </a:prstGeom>
          <a:noFill/>
          <a:ln w="12700">
            <a:solidFill>
              <a:prstClr val="black"/>
            </a:solidFill>
          </a:ln>
        </p:spPr>
      </p:sp>
      <p:sp>
        <p:nvSpPr>
          <p:cNvPr id="3" name="Notes Placeholder 2"/>
          <p:cNvSpPr>
            <a:spLocks noGrp="1"/>
          </p:cNvSpPr>
          <p:nvPr>
            <p:ph type="body" idx="1"/>
          </p:nvPr>
        </p:nvSpPr>
        <p:spPr>
          <a:xfrm>
            <a:off x="685800" y="5865813"/>
            <a:ext cx="5486400" cy="4799012"/>
          </a:xfrm>
          <a:prstGeom prst="rect">
            <a:avLst/>
          </a:prstGeom>
        </p:spPr>
        <p:txBody>
          <a:bodyPr/>
          <a:lstStyle/>
          <a:p>
            <a:r>
              <a:rPr lang="en-US" dirty="0"/>
              <a:t>This is a diagram of the demo app. It is a running healthcare shell. </a:t>
            </a:r>
          </a:p>
          <a:p>
            <a:r>
              <a:rPr lang="en-US" dirty="0"/>
              <a:t>The host is on port 3000. </a:t>
            </a:r>
          </a:p>
          <a:p>
            <a:r>
              <a:rPr lang="en-US" dirty="0"/>
              <a:t>Home is on 3004 and loads instantly. </a:t>
            </a:r>
          </a:p>
          <a:p>
            <a:r>
              <a:rPr lang="en-US" dirty="0"/>
              <a:t>Records is on 3001 and is eagerly preloaded. </a:t>
            </a:r>
          </a:p>
          <a:p>
            <a:r>
              <a:rPr lang="en-US" dirty="0"/>
              <a:t>Prescriptions is on 3002 and suspense on demand. </a:t>
            </a:r>
          </a:p>
          <a:p>
            <a:r>
              <a:rPr lang="en-US" dirty="0"/>
              <a:t>Analytics is on 3003 and does the same.</a:t>
            </a:r>
          </a:p>
          <a:p>
            <a:endParaRPr lang="en-US" dirty="0"/>
          </a:p>
          <a:p>
            <a:r>
              <a:rPr lang="en-US" dirty="0"/>
              <a:t>Five independent React apps. Each has its own bundler config, its own dev server, and its own test suite. They compose at runtime through Module Federation. React 19. </a:t>
            </a:r>
            <a:r>
              <a:rPr lang="en-US" dirty="0" err="1"/>
              <a:t>Rspack</a:t>
            </a:r>
            <a:r>
              <a:rPr lang="en-US" dirty="0"/>
              <a:t> 2.1.</a:t>
            </a:r>
          </a:p>
          <a:p>
            <a:endParaRPr lang="en-US" dirty="0"/>
          </a:p>
          <a:p>
            <a:r>
              <a:rPr lang="en-US" dirty="0"/>
              <a:t>This module federation gives your teams better developer experience. And suspense fallbacks gives your visitors better user experience. We are going to prove both, live, in the same architecture.</a:t>
            </a:r>
          </a:p>
          <a:p>
            <a:endParaRPr lang="en-US" dirty="0"/>
          </a:p>
          <a:p>
            <a:endParaRPr lang="en-GB" dirty="0"/>
          </a:p>
        </p:txBody>
      </p:sp>
    </p:spTree>
    <p:extLst>
      <p:ext uri="{BB962C8B-B14F-4D97-AF65-F5344CB8AC3E}">
        <p14:creationId xmlns:p14="http://schemas.microsoft.com/office/powerpoint/2010/main" val="13969010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5425" y="1524000"/>
            <a:ext cx="7308850" cy="4113213"/>
          </a:xfrm>
          <a:prstGeom prst="rect">
            <a:avLst/>
          </a:prstGeom>
          <a:noFill/>
          <a:ln w="12700">
            <a:solidFill>
              <a:prstClr val="black"/>
            </a:solidFill>
          </a:ln>
        </p:spPr>
      </p:sp>
      <p:sp>
        <p:nvSpPr>
          <p:cNvPr id="3" name="Notes Placeholder 2"/>
          <p:cNvSpPr>
            <a:spLocks noGrp="1"/>
          </p:cNvSpPr>
          <p:nvPr>
            <p:ph type="body" idx="1"/>
          </p:nvPr>
        </p:nvSpPr>
        <p:spPr>
          <a:xfrm>
            <a:off x="685800" y="5865813"/>
            <a:ext cx="5486400" cy="4799012"/>
          </a:xfrm>
          <a:prstGeom prst="rect">
            <a:avLst/>
          </a:prstGeom>
        </p:spPr>
        <p:txBody>
          <a:bodyPr/>
          <a:lstStyle/>
          <a:p>
            <a:endParaRPr lang="en-GB" dirty="0"/>
          </a:p>
        </p:txBody>
      </p:sp>
    </p:spTree>
    <p:extLst>
      <p:ext uri="{BB962C8B-B14F-4D97-AF65-F5344CB8AC3E}">
        <p14:creationId xmlns:p14="http://schemas.microsoft.com/office/powerpoint/2010/main" val="35901044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5425" y="1524000"/>
            <a:ext cx="7308850" cy="4113213"/>
          </a:xfrm>
          <a:prstGeom prst="rect">
            <a:avLst/>
          </a:prstGeom>
          <a:noFill/>
          <a:ln w="12700">
            <a:solidFill>
              <a:prstClr val="black"/>
            </a:solidFill>
          </a:ln>
        </p:spPr>
      </p:sp>
      <p:sp>
        <p:nvSpPr>
          <p:cNvPr id="3" name="Notes Placeholder 2"/>
          <p:cNvSpPr>
            <a:spLocks noGrp="1"/>
          </p:cNvSpPr>
          <p:nvPr>
            <p:ph type="body" idx="1"/>
          </p:nvPr>
        </p:nvSpPr>
        <p:spPr>
          <a:xfrm>
            <a:off x="685800" y="5865813"/>
            <a:ext cx="5486400" cy="4799012"/>
          </a:xfrm>
          <a:prstGeom prst="rect">
            <a:avLst/>
          </a:prstGeom>
        </p:spPr>
        <p:txBody>
          <a:bodyPr/>
          <a:lstStyle/>
          <a:p>
            <a:pPr rtl="0"/>
            <a:r>
              <a:rPr lang="en-US" dirty="0"/>
              <a:t>The different ports are just a local dev artifact — three dev servers can't all bind port 3000 on one laptop — and they disappear on deployment. </a:t>
            </a:r>
          </a:p>
          <a:p>
            <a:pPr rtl="0"/>
            <a:endParaRPr lang="en-US" dirty="0"/>
          </a:p>
          <a:p>
            <a:pPr rtl="0"/>
            <a:r>
              <a:rPr lang="en-US" dirty="0"/>
              <a:t>In production the browser only ever sees </a:t>
            </a:r>
            <a:r>
              <a:rPr lang="en-US" sz="1200" kern="1200" dirty="0">
                <a:solidFill>
                  <a:schemeClr val="tx1"/>
                </a:solidFill>
                <a:latin typeface="+mn-lt"/>
                <a:ea typeface="+mn-ea"/>
                <a:cs typeface="+mn-cs"/>
              </a:rPr>
              <a:t>acme.com</a:t>
            </a:r>
            <a:r>
              <a:rPr lang="en-US" dirty="0"/>
              <a:t>, with a router at the edge mapping each path to the host where that team deploys, so users stay on one origin while each team still ships on its own schedule. </a:t>
            </a:r>
          </a:p>
          <a:p>
            <a:pPr rtl="0"/>
            <a:endParaRPr lang="en-US" dirty="0"/>
          </a:p>
          <a:p>
            <a:pPr rtl="0"/>
            <a:r>
              <a:rPr lang="en-US" dirty="0"/>
              <a:t>Those deploy targets are free: every platform gives you a hostname, and subdomains of a domain you already own are just DNS records. One domain with three paths.</a:t>
            </a:r>
          </a:p>
        </p:txBody>
      </p:sp>
    </p:spTree>
    <p:extLst>
      <p:ext uri="{BB962C8B-B14F-4D97-AF65-F5344CB8AC3E}">
        <p14:creationId xmlns:p14="http://schemas.microsoft.com/office/powerpoint/2010/main" val="1080895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5425" y="1524000"/>
            <a:ext cx="7308850" cy="4113213"/>
          </a:xfrm>
          <a:prstGeom prst="rect">
            <a:avLst/>
          </a:prstGeom>
          <a:noFill/>
          <a:ln w="12700">
            <a:solidFill>
              <a:prstClr val="black"/>
            </a:solidFill>
          </a:ln>
        </p:spPr>
      </p:sp>
      <p:sp>
        <p:nvSpPr>
          <p:cNvPr id="3" name="Notes Placeholder 2"/>
          <p:cNvSpPr>
            <a:spLocks noGrp="1"/>
          </p:cNvSpPr>
          <p:nvPr>
            <p:ph type="body" idx="1"/>
          </p:nvPr>
        </p:nvSpPr>
        <p:spPr>
          <a:xfrm>
            <a:off x="685800" y="5865813"/>
            <a:ext cx="5486400" cy="4799012"/>
          </a:xfrm>
          <a:prstGeom prst="rect">
            <a:avLst/>
          </a:prstGeom>
        </p:spPr>
        <p:txBody>
          <a:bodyPr/>
          <a:lstStyle/>
          <a:p>
            <a:r>
              <a:rPr lang="en-US" dirty="0"/>
              <a:t>Module Federation is for developers and teams. It gives you independent builds and independent deploys. Onboarding improvements.</a:t>
            </a:r>
          </a:p>
          <a:p>
            <a:endParaRPr lang="en-US" dirty="0"/>
          </a:p>
          <a:p>
            <a:r>
              <a:rPr lang="en-US" dirty="0"/>
              <a:t>Suspense and skeletons are for end users. They experience perceived instant load and no blank screens at runtime.</a:t>
            </a:r>
          </a:p>
          <a:p>
            <a:endParaRPr lang="en-GB" dirty="0"/>
          </a:p>
        </p:txBody>
      </p:sp>
    </p:spTree>
    <p:extLst>
      <p:ext uri="{BB962C8B-B14F-4D97-AF65-F5344CB8AC3E}">
        <p14:creationId xmlns:p14="http://schemas.microsoft.com/office/powerpoint/2010/main" val="44711520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5425" y="1524000"/>
            <a:ext cx="7308850" cy="4113213"/>
          </a:xfrm>
          <a:prstGeom prst="rect">
            <a:avLst/>
          </a:prstGeom>
          <a:noFill/>
          <a:ln w="12700">
            <a:solidFill>
              <a:prstClr val="black"/>
            </a:solidFill>
          </a:ln>
        </p:spPr>
      </p:sp>
      <p:sp>
        <p:nvSpPr>
          <p:cNvPr id="3" name="Notes Placeholder 2"/>
          <p:cNvSpPr>
            <a:spLocks noGrp="1"/>
          </p:cNvSpPr>
          <p:nvPr>
            <p:ph type="body" idx="1"/>
          </p:nvPr>
        </p:nvSpPr>
        <p:spPr>
          <a:xfrm>
            <a:off x="685800" y="5865813"/>
            <a:ext cx="5486400" cy="4799012"/>
          </a:xfrm>
          <a:prstGeom prst="rect">
            <a:avLst/>
          </a:prstGeom>
        </p:spPr>
        <p:txBody>
          <a:bodyPr/>
          <a:lstStyle/>
          <a:p>
            <a:r>
              <a:rPr lang="en-US" dirty="0"/>
              <a:t>Module Federation does not give you Suspense for free. You federate four remotes and still show a blank screen and a spinner every time someone clicks a tab. Clean team ownership, slow user experience.</a:t>
            </a:r>
          </a:p>
          <a:p>
            <a:endParaRPr lang="en-US" dirty="0"/>
          </a:p>
          <a:p>
            <a:r>
              <a:rPr lang="en-US" dirty="0"/>
              <a:t>With Suspense, the user clicks a tab, a skeleton appears instantly, and the content replaces it when it is ready. The host draws the skeleton; each remote decides when it is ready.</a:t>
            </a:r>
            <a:endParaRPr lang="en-GB" dirty="0"/>
          </a:p>
        </p:txBody>
      </p:sp>
    </p:spTree>
    <p:extLst>
      <p:ext uri="{BB962C8B-B14F-4D97-AF65-F5344CB8AC3E}">
        <p14:creationId xmlns:p14="http://schemas.microsoft.com/office/powerpoint/2010/main" val="26720934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5425" y="1524000"/>
            <a:ext cx="7308850" cy="4113213"/>
          </a:xfrm>
          <a:prstGeom prst="rect">
            <a:avLst/>
          </a:prstGeom>
          <a:noFill/>
          <a:ln w="12700">
            <a:solidFill>
              <a:prstClr val="black"/>
            </a:solidFill>
          </a:ln>
        </p:spPr>
      </p:sp>
      <p:sp>
        <p:nvSpPr>
          <p:cNvPr id="3" name="Notes Placeholder 2"/>
          <p:cNvSpPr>
            <a:spLocks noGrp="1"/>
          </p:cNvSpPr>
          <p:nvPr>
            <p:ph type="body" idx="1"/>
          </p:nvPr>
        </p:nvSpPr>
        <p:spPr>
          <a:xfrm>
            <a:off x="685800" y="5865813"/>
            <a:ext cx="5486400" cy="4799012"/>
          </a:xfrm>
          <a:prstGeom prst="rect">
            <a:avLst/>
          </a:prstGeom>
        </p:spPr>
        <p:txBody>
          <a:bodyPr/>
          <a:lstStyle/>
          <a:p>
            <a:r>
              <a:rPr lang="en-US" dirty="0"/>
              <a:t>This is the shape of the app. One shell on port 3000. The shell owns navigation, the router, the theme, the counter, and the logged user.</a:t>
            </a:r>
          </a:p>
          <a:p>
            <a:endParaRPr lang="en-US" dirty="0"/>
          </a:p>
          <a:p>
            <a:r>
              <a:rPr lang="en-US" dirty="0"/>
              <a:t>Every remote is wrapped the same way. An error boundary. Then Suspense with a skeleton fallback. Then the remote module itself.</a:t>
            </a:r>
          </a:p>
          <a:p>
            <a:endParaRPr lang="en-US" dirty="0"/>
          </a:p>
          <a:p>
            <a:r>
              <a:rPr lang="en-US" dirty="0"/>
              <a:t>Four remotes hang off that shell. Not every module should load the same way if you want something like this. The strategy will depend on which content you will prioritize.</a:t>
            </a:r>
          </a:p>
          <a:p>
            <a:endParaRPr lang="en-GB" dirty="0"/>
          </a:p>
        </p:txBody>
      </p:sp>
    </p:spTree>
    <p:extLst>
      <p:ext uri="{BB962C8B-B14F-4D97-AF65-F5344CB8AC3E}">
        <p14:creationId xmlns:p14="http://schemas.microsoft.com/office/powerpoint/2010/main" val="18995684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5425" y="1524000"/>
            <a:ext cx="7308850" cy="4113213"/>
          </a:xfrm>
          <a:prstGeom prst="rect">
            <a:avLst/>
          </a:prstGeom>
          <a:noFill/>
          <a:ln w="12700">
            <a:solidFill>
              <a:prstClr val="black"/>
            </a:solidFill>
          </a:ln>
        </p:spPr>
      </p:sp>
      <p:sp>
        <p:nvSpPr>
          <p:cNvPr id="3" name="Notes Placeholder 2"/>
          <p:cNvSpPr>
            <a:spLocks noGrp="1"/>
          </p:cNvSpPr>
          <p:nvPr>
            <p:ph type="body" idx="1"/>
          </p:nvPr>
        </p:nvSpPr>
        <p:spPr>
          <a:xfrm>
            <a:off x="685800" y="5865813"/>
            <a:ext cx="5486400" cy="4799012"/>
          </a:xfrm>
          <a:prstGeom prst="rect">
            <a:avLst/>
          </a:prstGeom>
        </p:spPr>
        <p:txBody>
          <a:bodyPr/>
          <a:lstStyle/>
          <a:p>
            <a:endParaRPr lang="en-GB"/>
          </a:p>
        </p:txBody>
      </p:sp>
    </p:spTree>
    <p:extLst>
      <p:ext uri="{BB962C8B-B14F-4D97-AF65-F5344CB8AC3E}">
        <p14:creationId xmlns:p14="http://schemas.microsoft.com/office/powerpoint/2010/main" val="3628033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5425" y="1524000"/>
            <a:ext cx="7308850" cy="4113213"/>
          </a:xfrm>
          <a:prstGeom prst="rect">
            <a:avLst/>
          </a:prstGeom>
          <a:noFill/>
          <a:ln w="12700">
            <a:solidFill>
              <a:prstClr val="black"/>
            </a:solidFill>
          </a:ln>
        </p:spPr>
      </p:sp>
      <p:sp>
        <p:nvSpPr>
          <p:cNvPr id="3" name="Notes Placeholder 2"/>
          <p:cNvSpPr>
            <a:spLocks noGrp="1"/>
          </p:cNvSpPr>
          <p:nvPr>
            <p:ph type="body" idx="1"/>
          </p:nvPr>
        </p:nvSpPr>
        <p:spPr>
          <a:xfrm>
            <a:off x="685800" y="5865813"/>
            <a:ext cx="5486400" cy="4799012"/>
          </a:xfrm>
          <a:prstGeom prst="rect">
            <a:avLst/>
          </a:prstGeom>
        </p:spPr>
        <p:txBody>
          <a:bodyPr/>
          <a:lstStyle/>
          <a:p>
            <a:r>
              <a:rPr lang="en-US" dirty="0"/>
              <a:t>Prescriptions and Analytics are streamed. They load on demand, behind per-module skeletons.</a:t>
            </a:r>
          </a:p>
          <a:p>
            <a:endParaRPr lang="en-US" dirty="0"/>
          </a:p>
          <a:p>
            <a:r>
              <a:rPr lang="en-US" dirty="0"/>
              <a:t>Every strategy still gets three layers of resilience. A catch on lazy, so an unreachable remote becomes a fallback instead of a white screen. Suspense, so a loading remote shows its own skeleton. An error boundary, so a runtime crash in one remote does not take down the app.</a:t>
            </a:r>
          </a:p>
          <a:p>
            <a:endParaRPr lang="en-GB" dirty="0"/>
          </a:p>
        </p:txBody>
      </p:sp>
    </p:spTree>
    <p:extLst>
      <p:ext uri="{BB962C8B-B14F-4D97-AF65-F5344CB8AC3E}">
        <p14:creationId xmlns:p14="http://schemas.microsoft.com/office/powerpoint/2010/main" val="404077764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5425" y="1524000"/>
            <a:ext cx="7308850" cy="4113213"/>
          </a:xfrm>
          <a:prstGeom prst="rect">
            <a:avLst/>
          </a:prstGeom>
          <a:noFill/>
          <a:ln w="12700">
            <a:solidFill>
              <a:prstClr val="black"/>
            </a:solidFill>
          </a:ln>
        </p:spPr>
      </p:sp>
      <p:sp>
        <p:nvSpPr>
          <p:cNvPr id="3" name="Notes Placeholder 2"/>
          <p:cNvSpPr>
            <a:spLocks noGrp="1"/>
          </p:cNvSpPr>
          <p:nvPr>
            <p:ph type="body" idx="1"/>
          </p:nvPr>
        </p:nvSpPr>
        <p:spPr>
          <a:xfrm>
            <a:off x="685800" y="5865813"/>
            <a:ext cx="5486400" cy="4799012"/>
          </a:xfrm>
          <a:prstGeom prst="rect">
            <a:avLst/>
          </a:prstGeom>
        </p:spPr>
        <p:txBody>
          <a:bodyPr/>
          <a:lstStyle/>
          <a:p>
            <a:r>
              <a:rPr lang="en-GB" dirty="0"/>
              <a:t>So, this is the flow if I click the Prescriptions menu which will navigate to the Prescriptions app.</a:t>
            </a:r>
          </a:p>
        </p:txBody>
      </p:sp>
    </p:spTree>
    <p:extLst>
      <p:ext uri="{BB962C8B-B14F-4D97-AF65-F5344CB8AC3E}">
        <p14:creationId xmlns:p14="http://schemas.microsoft.com/office/powerpoint/2010/main" val="87481359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5425" y="1524000"/>
            <a:ext cx="7308850" cy="4113213"/>
          </a:xfrm>
          <a:prstGeom prst="rect">
            <a:avLst/>
          </a:prstGeom>
          <a:noFill/>
          <a:ln w="12700">
            <a:solidFill>
              <a:prstClr val="black"/>
            </a:solidFill>
          </a:ln>
        </p:spPr>
      </p:sp>
      <p:sp>
        <p:nvSpPr>
          <p:cNvPr id="3" name="Notes Placeholder 2"/>
          <p:cNvSpPr>
            <a:spLocks noGrp="1"/>
          </p:cNvSpPr>
          <p:nvPr>
            <p:ph type="body" idx="1"/>
          </p:nvPr>
        </p:nvSpPr>
        <p:spPr>
          <a:xfrm>
            <a:off x="685800" y="5865813"/>
            <a:ext cx="5486400" cy="4799012"/>
          </a:xfrm>
          <a:prstGeom prst="rect">
            <a:avLst/>
          </a:prstGeom>
        </p:spPr>
        <p:txBody>
          <a:bodyPr/>
          <a:lstStyle/>
          <a:p>
            <a:r>
              <a:rPr lang="en-US" sz="1200" b="0" i="0" kern="1200" dirty="0">
                <a:solidFill>
                  <a:schemeClr val="tx1"/>
                </a:solidFill>
                <a:effectLst/>
                <a:latin typeface="+mn-lt"/>
                <a:ea typeface="+mn-ea"/>
                <a:cs typeface="+mn-cs"/>
              </a:rPr>
              <a:t>People ask why eager modules are still wrapped in lazy(). Two reasons. A static import would make the shell wait for the remote before first paint, and if that remote were down there'd be no </a:t>
            </a:r>
            <a:r>
              <a:rPr lang="en-US" sz="1200" b="0" i="0" kern="1200" dirty="0" err="1">
                <a:solidFill>
                  <a:schemeClr val="tx1"/>
                </a:solidFill>
                <a:effectLst/>
                <a:latin typeface="+mn-lt"/>
                <a:ea typeface="+mn-ea"/>
                <a:cs typeface="+mn-cs"/>
              </a:rPr>
              <a:t>ErrorBoundary</a:t>
            </a:r>
            <a:r>
              <a:rPr lang="en-US" sz="1200" b="0" i="0" kern="1200" dirty="0">
                <a:solidFill>
                  <a:schemeClr val="tx1"/>
                </a:solidFill>
                <a:effectLst/>
                <a:latin typeface="+mn-lt"/>
                <a:ea typeface="+mn-ea"/>
                <a:cs typeface="+mn-cs"/>
              </a:rPr>
              <a:t> yet to catch it — just a white screen.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So instead we fire import() at shell </a:t>
            </a:r>
            <a:r>
              <a:rPr lang="en-US" sz="1200" b="0" i="0" kern="1200" dirty="0" err="1">
                <a:solidFill>
                  <a:schemeClr val="tx1"/>
                </a:solidFill>
                <a:effectLst/>
                <a:latin typeface="+mn-lt"/>
                <a:ea typeface="+mn-ea"/>
                <a:cs typeface="+mn-cs"/>
              </a:rPr>
              <a:t>init</a:t>
            </a:r>
            <a:r>
              <a:rPr lang="en-US" sz="1200" b="0" i="0" kern="1200" dirty="0">
                <a:solidFill>
                  <a:schemeClr val="tx1"/>
                </a:solidFill>
                <a:effectLst/>
                <a:latin typeface="+mn-lt"/>
                <a:ea typeface="+mn-ea"/>
                <a:cs typeface="+mn-cs"/>
              </a:rPr>
              <a:t> to warm the module registry, and lazy() resolves from it with no network round-trip, while every module keeps its own Suspense and </a:t>
            </a:r>
            <a:r>
              <a:rPr lang="en-US" sz="1200" b="0" i="0" kern="1200" dirty="0" err="1">
                <a:solidFill>
                  <a:schemeClr val="tx1"/>
                </a:solidFill>
                <a:effectLst/>
                <a:latin typeface="+mn-lt"/>
                <a:ea typeface="+mn-ea"/>
                <a:cs typeface="+mn-cs"/>
              </a:rPr>
              <a:t>ErrorBoundary</a:t>
            </a:r>
            <a:r>
              <a:rPr lang="en-US" sz="1200" b="0" i="0" kern="1200" dirty="0">
                <a:solidFill>
                  <a:schemeClr val="tx1"/>
                </a:solidFill>
                <a:effectLst/>
                <a:latin typeface="+mn-lt"/>
                <a:ea typeface="+mn-ea"/>
                <a:cs typeface="+mn-cs"/>
              </a:rPr>
              <a:t>.</a:t>
            </a:r>
            <a:endParaRPr lang="en-GB" dirty="0"/>
          </a:p>
        </p:txBody>
      </p:sp>
    </p:spTree>
    <p:extLst>
      <p:ext uri="{BB962C8B-B14F-4D97-AF65-F5344CB8AC3E}">
        <p14:creationId xmlns:p14="http://schemas.microsoft.com/office/powerpoint/2010/main" val="231685149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5425" y="1524000"/>
            <a:ext cx="7308850" cy="4113213"/>
          </a:xfrm>
          <a:prstGeom prst="rect">
            <a:avLst/>
          </a:prstGeom>
          <a:noFill/>
          <a:ln w="12700">
            <a:solidFill>
              <a:prstClr val="black"/>
            </a:solidFill>
          </a:ln>
        </p:spPr>
      </p:sp>
      <p:sp>
        <p:nvSpPr>
          <p:cNvPr id="3" name="Notes Placeholder 2"/>
          <p:cNvSpPr>
            <a:spLocks noGrp="1"/>
          </p:cNvSpPr>
          <p:nvPr>
            <p:ph type="body" idx="1"/>
          </p:nvPr>
        </p:nvSpPr>
        <p:spPr>
          <a:xfrm>
            <a:off x="685800" y="5865813"/>
            <a:ext cx="5486400" cy="4799012"/>
          </a:xfrm>
          <a:prstGeom prst="rect">
            <a:avLst/>
          </a:prstGeom>
        </p:spPr>
        <p:txBody>
          <a:bodyPr/>
          <a:lstStyle/>
          <a:p>
            <a:r>
              <a:rPr lang="en-US" dirty="0"/>
              <a:t>Before I do another demo, here are the functionalities of the other buttons on the menu header.</a:t>
            </a:r>
          </a:p>
          <a:p>
            <a:endParaRPr lang="en-US" dirty="0"/>
          </a:p>
          <a:p>
            <a:r>
              <a:rPr lang="en-US" dirty="0"/>
              <a:t>A health monitor that polls remoteEntry.js every five seconds. </a:t>
            </a:r>
          </a:p>
          <a:p>
            <a:r>
              <a:rPr lang="en-US" dirty="0"/>
              <a:t>Kill switches. </a:t>
            </a:r>
          </a:p>
          <a:p>
            <a:r>
              <a:rPr lang="en-US" dirty="0"/>
              <a:t>That panel is for the demo. I can take a module down in front of you and show you that the rest of the app keeps running. Basically, we are going to simulate </a:t>
            </a:r>
            <a:r>
              <a:rPr lang="en-US" sz="1200" i="1" dirty="0">
                <a:solidFill>
                  <a:schemeClr val="bg1">
                    <a:lumMod val="95000"/>
                  </a:schemeClr>
                </a:solidFill>
                <a:latin typeface="Instrument Serif" pitchFamily="34" charset="0"/>
                <a:ea typeface="Instrument Serif" pitchFamily="34" charset="-122"/>
              </a:rPr>
              <a:t>m</a:t>
            </a:r>
            <a:r>
              <a:rPr lang="en-US" sz="1200" i="1" dirty="0">
                <a:solidFill>
                  <a:schemeClr val="bg1">
                    <a:lumMod val="95000"/>
                  </a:schemeClr>
                </a:solidFill>
                <a:latin typeface="Instrument Serif" pitchFamily="34" charset="0"/>
                <a:ea typeface="Instrument Serif" pitchFamily="34" charset="-122"/>
                <a:cs typeface="Instrument Serif" pitchFamily="34" charset="-120"/>
              </a:rPr>
              <a:t>odule-level crashes, network failures, and bad deploys are isolated at the boundary. </a:t>
            </a:r>
          </a:p>
          <a:p>
            <a:r>
              <a:rPr lang="en-US" sz="1200" i="0" dirty="0">
                <a:solidFill>
                  <a:schemeClr val="bg1">
                    <a:lumMod val="95000"/>
                  </a:schemeClr>
                </a:solidFill>
                <a:latin typeface="Instrument Serif" pitchFamily="34" charset="0"/>
                <a:ea typeface="Instrument Serif" pitchFamily="34" charset="-122"/>
              </a:rPr>
              <a:t>Theming.</a:t>
            </a:r>
            <a:endParaRPr lang="en-US" i="0" dirty="0"/>
          </a:p>
        </p:txBody>
      </p:sp>
    </p:spTree>
    <p:extLst>
      <p:ext uri="{BB962C8B-B14F-4D97-AF65-F5344CB8AC3E}">
        <p14:creationId xmlns:p14="http://schemas.microsoft.com/office/powerpoint/2010/main" val="35995048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5425" y="1524000"/>
            <a:ext cx="7308850" cy="4113213"/>
          </a:xfrm>
          <a:prstGeom prst="rect">
            <a:avLst/>
          </a:prstGeom>
          <a:noFill/>
          <a:ln w="12700">
            <a:solidFill>
              <a:prstClr val="black"/>
            </a:solidFill>
          </a:ln>
        </p:spPr>
      </p:sp>
      <p:sp>
        <p:nvSpPr>
          <p:cNvPr id="3" name="Notes Placeholder 2"/>
          <p:cNvSpPr>
            <a:spLocks noGrp="1"/>
          </p:cNvSpPr>
          <p:nvPr>
            <p:ph type="body" idx="1"/>
          </p:nvPr>
        </p:nvSpPr>
        <p:spPr>
          <a:xfrm>
            <a:off x="685800" y="5865813"/>
            <a:ext cx="5486400" cy="4799012"/>
          </a:xfrm>
          <a:prstGeom prst="rect">
            <a:avLst/>
          </a:prstGeom>
        </p:spPr>
        <p:txBody>
          <a:bodyPr/>
          <a:lstStyle/>
          <a:p>
            <a:endParaRPr lang="en-US" dirty="0"/>
          </a:p>
        </p:txBody>
      </p:sp>
    </p:spTree>
    <p:extLst>
      <p:ext uri="{BB962C8B-B14F-4D97-AF65-F5344CB8AC3E}">
        <p14:creationId xmlns:p14="http://schemas.microsoft.com/office/powerpoint/2010/main" val="383504877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5425" y="1524000"/>
            <a:ext cx="7308850" cy="4113213"/>
          </a:xfrm>
          <a:prstGeom prst="rect">
            <a:avLst/>
          </a:prstGeom>
          <a:noFill/>
          <a:ln w="12700">
            <a:solidFill>
              <a:prstClr val="black"/>
            </a:solidFill>
          </a:ln>
        </p:spPr>
      </p:sp>
      <p:sp>
        <p:nvSpPr>
          <p:cNvPr id="3" name="Notes Placeholder 2"/>
          <p:cNvSpPr>
            <a:spLocks noGrp="1"/>
          </p:cNvSpPr>
          <p:nvPr>
            <p:ph type="body" idx="1"/>
          </p:nvPr>
        </p:nvSpPr>
        <p:spPr>
          <a:xfrm>
            <a:off x="685800" y="5865813"/>
            <a:ext cx="5486400" cy="4799012"/>
          </a:xfrm>
          <a:prstGeom prst="rect">
            <a:avLst/>
          </a:prstGeom>
        </p:spPr>
        <p:txBody>
          <a:bodyPr/>
          <a:lstStyle/>
          <a:p>
            <a:r>
              <a:rPr lang="en-GB" dirty="0"/>
              <a:t>This is how you deal with client state management. I will show you more later and also something about server state management like </a:t>
            </a:r>
            <a:r>
              <a:rPr lang="en-GB" dirty="0" err="1"/>
              <a:t>TanStack</a:t>
            </a:r>
            <a:r>
              <a:rPr lang="en-GB" dirty="0"/>
              <a:t> Query.</a:t>
            </a:r>
          </a:p>
        </p:txBody>
      </p:sp>
    </p:spTree>
    <p:extLst>
      <p:ext uri="{BB962C8B-B14F-4D97-AF65-F5344CB8AC3E}">
        <p14:creationId xmlns:p14="http://schemas.microsoft.com/office/powerpoint/2010/main" val="375939164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5425" y="1524000"/>
            <a:ext cx="7308850" cy="4113213"/>
          </a:xfrm>
          <a:prstGeom prst="rect">
            <a:avLst/>
          </a:prstGeom>
          <a:noFill/>
          <a:ln w="12700">
            <a:solidFill>
              <a:prstClr val="black"/>
            </a:solidFill>
          </a:ln>
        </p:spPr>
      </p:sp>
      <p:sp>
        <p:nvSpPr>
          <p:cNvPr id="3" name="Notes Placeholder 2"/>
          <p:cNvSpPr>
            <a:spLocks noGrp="1"/>
          </p:cNvSpPr>
          <p:nvPr>
            <p:ph type="body" idx="1"/>
          </p:nvPr>
        </p:nvSpPr>
        <p:spPr>
          <a:xfrm>
            <a:off x="685800" y="5865813"/>
            <a:ext cx="5486400" cy="4799012"/>
          </a:xfrm>
          <a:prstGeom prst="rect">
            <a:avLst/>
          </a:prstGeom>
        </p:spPr>
        <p:txBody>
          <a:bodyPr/>
          <a:lstStyle/>
          <a:p>
            <a:r>
              <a:rPr lang="en-US" dirty="0"/>
              <a:t>Why use the browser </a:t>
            </a:r>
            <a:r>
              <a:rPr lang="en-US" dirty="0" err="1"/>
              <a:t>api</a:t>
            </a:r>
            <a:r>
              <a:rPr lang="en-US" dirty="0"/>
              <a:t> events instead of a shared store? A shared store is a shared dependency. </a:t>
            </a:r>
          </a:p>
          <a:p>
            <a:endParaRPr lang="en-US" dirty="0"/>
          </a:p>
          <a:p>
            <a:r>
              <a:rPr lang="en-US" dirty="0"/>
              <a:t>There will be version coupling between teams if shared stores, while the events will survive in independent deploys. </a:t>
            </a:r>
          </a:p>
          <a:p>
            <a:endParaRPr lang="en-US" dirty="0"/>
          </a:p>
          <a:p>
            <a:r>
              <a:rPr lang="en-US" dirty="0"/>
              <a:t>They even survive framework diversity. For example, a Vue remote and a React remote can talk through the same window contract.</a:t>
            </a:r>
          </a:p>
          <a:p>
            <a:endParaRPr lang="en-US" dirty="0"/>
          </a:p>
          <a:p>
            <a:r>
              <a:rPr lang="en-US" dirty="0"/>
              <a:t>The payload is still a versioned contract. Keep it backward compatible. Each remote defines the same event shapes in its own types file by augmenting </a:t>
            </a:r>
            <a:r>
              <a:rPr lang="en-US" dirty="0" err="1"/>
              <a:t>WindowEventMap</a:t>
            </a:r>
            <a:r>
              <a:rPr lang="en-US" dirty="0"/>
              <a:t>. No shared package is required. </a:t>
            </a:r>
            <a:r>
              <a:rPr lang="en-US" dirty="0" err="1"/>
              <a:t>addEventListener</a:t>
            </a:r>
            <a:r>
              <a:rPr lang="en-US" dirty="0"/>
              <a:t> is fully typed.</a:t>
            </a:r>
          </a:p>
          <a:p>
            <a:endParaRPr lang="en-GB" dirty="0"/>
          </a:p>
        </p:txBody>
      </p:sp>
    </p:spTree>
    <p:extLst>
      <p:ext uri="{BB962C8B-B14F-4D97-AF65-F5344CB8AC3E}">
        <p14:creationId xmlns:p14="http://schemas.microsoft.com/office/powerpoint/2010/main" val="397485614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5425" y="1524000"/>
            <a:ext cx="7308850" cy="4113213"/>
          </a:xfrm>
          <a:prstGeom prst="rect">
            <a:avLst/>
          </a:prstGeom>
          <a:noFill/>
          <a:ln w="12700">
            <a:solidFill>
              <a:prstClr val="black"/>
            </a:solidFill>
          </a:ln>
        </p:spPr>
      </p:sp>
      <p:sp>
        <p:nvSpPr>
          <p:cNvPr id="3" name="Notes Placeholder 2"/>
          <p:cNvSpPr>
            <a:spLocks noGrp="1"/>
          </p:cNvSpPr>
          <p:nvPr>
            <p:ph type="body" idx="1"/>
          </p:nvPr>
        </p:nvSpPr>
        <p:spPr>
          <a:xfrm>
            <a:off x="685800" y="5865813"/>
            <a:ext cx="5486400" cy="4799012"/>
          </a:xfrm>
          <a:prstGeom prst="rect">
            <a:avLst/>
          </a:prstGeom>
        </p:spPr>
        <p:txBody>
          <a:bodyPr/>
          <a:lstStyle/>
          <a:p>
            <a:r>
              <a:rPr lang="en-US" dirty="0"/>
              <a:t>Each app owns its own store and its own query client — nothing is shared. For client state they agree on a typed event contract, and whoever owns the state is the one who broadcasts: </a:t>
            </a:r>
          </a:p>
          <a:p>
            <a:endParaRPr lang="en-US" dirty="0"/>
          </a:p>
          <a:p>
            <a:r>
              <a:rPr lang="en-US" dirty="0"/>
              <a:t>the shell owns theme and routing, so it broadcasts those; </a:t>
            </a:r>
          </a:p>
          <a:p>
            <a:endParaRPr lang="en-US" dirty="0"/>
          </a:p>
          <a:p>
            <a:r>
              <a:rPr lang="en-US" dirty="0" err="1"/>
              <a:t>addPrescription</a:t>
            </a:r>
            <a:r>
              <a:rPr lang="en-US" dirty="0"/>
              <a:t>.</a:t>
            </a:r>
          </a:p>
          <a:p>
            <a:endParaRPr lang="en-US" dirty="0"/>
          </a:p>
          <a:p>
            <a:r>
              <a:rPr lang="en-US" dirty="0" err="1"/>
              <a:t>showNotification</a:t>
            </a:r>
            <a:r>
              <a:rPr lang="en-US" dirty="0"/>
              <a:t>.</a:t>
            </a:r>
          </a:p>
          <a:p>
            <a:endParaRPr lang="en-US" dirty="0"/>
          </a:p>
          <a:p>
            <a:r>
              <a:rPr lang="en-US" dirty="0"/>
              <a:t>the counter belongs to nobody, so any module can. </a:t>
            </a:r>
          </a:p>
          <a:p>
            <a:endParaRPr lang="en-US" dirty="0"/>
          </a:p>
          <a:p>
            <a:r>
              <a:rPr lang="en-US" dirty="0"/>
              <a:t>For server state, like TanStack Query, there's no syncing at all — every app just fetches, because the REST API is already the shared state.</a:t>
            </a:r>
            <a:endParaRPr lang="en-GB" dirty="0"/>
          </a:p>
        </p:txBody>
      </p:sp>
    </p:spTree>
    <p:extLst>
      <p:ext uri="{BB962C8B-B14F-4D97-AF65-F5344CB8AC3E}">
        <p14:creationId xmlns:p14="http://schemas.microsoft.com/office/powerpoint/2010/main" val="98312696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5425" y="1524000"/>
            <a:ext cx="7308850" cy="4113213"/>
          </a:xfrm>
          <a:prstGeom prst="rect">
            <a:avLst/>
          </a:prstGeom>
          <a:noFill/>
          <a:ln w="12700">
            <a:solidFill>
              <a:prstClr val="black"/>
            </a:solidFill>
          </a:ln>
        </p:spPr>
      </p:sp>
      <p:sp>
        <p:nvSpPr>
          <p:cNvPr id="3" name="Notes Placeholder 2"/>
          <p:cNvSpPr>
            <a:spLocks noGrp="1"/>
          </p:cNvSpPr>
          <p:nvPr>
            <p:ph type="body" idx="1"/>
          </p:nvPr>
        </p:nvSpPr>
        <p:spPr>
          <a:xfrm>
            <a:off x="685800" y="5865813"/>
            <a:ext cx="5486400" cy="4799012"/>
          </a:xfrm>
          <a:prstGeom prst="rect">
            <a:avLst/>
          </a:prstGeom>
        </p:spPr>
        <p:txBody>
          <a:bodyPr/>
          <a:lstStyle/>
          <a:p>
            <a:endParaRPr lang="en-GB"/>
          </a:p>
        </p:txBody>
      </p:sp>
    </p:spTree>
    <p:extLst>
      <p:ext uri="{BB962C8B-B14F-4D97-AF65-F5344CB8AC3E}">
        <p14:creationId xmlns:p14="http://schemas.microsoft.com/office/powerpoint/2010/main" val="46022945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5425" y="1524000"/>
            <a:ext cx="7308850" cy="4113213"/>
          </a:xfrm>
          <a:prstGeom prst="rect">
            <a:avLst/>
          </a:prstGeom>
          <a:noFill/>
          <a:ln w="12700">
            <a:solidFill>
              <a:prstClr val="black"/>
            </a:solidFill>
          </a:ln>
        </p:spPr>
      </p:sp>
      <p:sp>
        <p:nvSpPr>
          <p:cNvPr id="3" name="Notes Placeholder 2"/>
          <p:cNvSpPr>
            <a:spLocks noGrp="1"/>
          </p:cNvSpPr>
          <p:nvPr>
            <p:ph type="body" idx="1"/>
          </p:nvPr>
        </p:nvSpPr>
        <p:spPr>
          <a:xfrm>
            <a:off x="685800" y="5865813"/>
            <a:ext cx="5486400" cy="4799012"/>
          </a:xfrm>
          <a:prstGeom prst="rect">
            <a:avLst/>
          </a:prstGeom>
        </p:spPr>
        <p:txBody>
          <a:bodyPr/>
          <a:lstStyle/>
          <a:p>
            <a:r>
              <a:rPr lang="en-US" dirty="0"/>
              <a:t>Theming is a cross-cutting concern, and the shell owns it.</a:t>
            </a:r>
          </a:p>
          <a:p>
            <a:r>
              <a:rPr lang="en-US" dirty="0"/>
              <a:t>The shell persists the choice to local storage. It applies CSS variables to the document element. It exposes a small bridge on window so a remote can read or set the theme without importing host code. And it broadcasts a theme-change event.</a:t>
            </a:r>
          </a:p>
          <a:p>
            <a:endParaRPr lang="en-GB" dirty="0"/>
          </a:p>
        </p:txBody>
      </p:sp>
    </p:spTree>
    <p:extLst>
      <p:ext uri="{BB962C8B-B14F-4D97-AF65-F5344CB8AC3E}">
        <p14:creationId xmlns:p14="http://schemas.microsoft.com/office/powerpoint/2010/main" val="272897247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5425" y="1524000"/>
            <a:ext cx="7308850" cy="4113213"/>
          </a:xfrm>
          <a:prstGeom prst="rect">
            <a:avLst/>
          </a:prstGeom>
          <a:noFill/>
          <a:ln w="12700">
            <a:solidFill>
              <a:prstClr val="black"/>
            </a:solidFill>
          </a:ln>
        </p:spPr>
      </p:sp>
      <p:sp>
        <p:nvSpPr>
          <p:cNvPr id="3" name="Notes Placeholder 2"/>
          <p:cNvSpPr>
            <a:spLocks noGrp="1"/>
          </p:cNvSpPr>
          <p:nvPr>
            <p:ph type="body" idx="1"/>
          </p:nvPr>
        </p:nvSpPr>
        <p:spPr>
          <a:xfrm>
            <a:off x="685800" y="5865813"/>
            <a:ext cx="5486400" cy="4799012"/>
          </a:xfrm>
          <a:prstGeom prst="rect">
            <a:avLst/>
          </a:prstGeom>
        </p:spPr>
        <p:txBody>
          <a:bodyPr/>
          <a:lstStyle/>
          <a:p>
            <a:r>
              <a:rPr lang="en-GB" dirty="0"/>
              <a:t>And for agents. Simply add </a:t>
            </a:r>
            <a:r>
              <a:rPr lang="en-GB" dirty="0" err="1"/>
              <a:t>AGENTS.md</a:t>
            </a:r>
            <a:r>
              <a:rPr lang="en-GB" dirty="0"/>
              <a:t> in each application folder.</a:t>
            </a:r>
          </a:p>
        </p:txBody>
      </p:sp>
    </p:spTree>
    <p:extLst>
      <p:ext uri="{BB962C8B-B14F-4D97-AF65-F5344CB8AC3E}">
        <p14:creationId xmlns:p14="http://schemas.microsoft.com/office/powerpoint/2010/main" val="206942372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5425" y="1524000"/>
            <a:ext cx="7308850" cy="4113213"/>
          </a:xfrm>
          <a:prstGeom prst="rect">
            <a:avLst/>
          </a:prstGeom>
          <a:noFill/>
          <a:ln w="12700">
            <a:solidFill>
              <a:prstClr val="black"/>
            </a:solidFill>
          </a:ln>
        </p:spPr>
      </p:sp>
      <p:sp>
        <p:nvSpPr>
          <p:cNvPr id="3" name="Notes Placeholder 2"/>
          <p:cNvSpPr>
            <a:spLocks noGrp="1"/>
          </p:cNvSpPr>
          <p:nvPr>
            <p:ph type="body" idx="1"/>
          </p:nvPr>
        </p:nvSpPr>
        <p:spPr>
          <a:xfrm>
            <a:off x="685800" y="5865813"/>
            <a:ext cx="5486400" cy="4799012"/>
          </a:xfrm>
          <a:prstGeom prst="rect">
            <a:avLst/>
          </a:prstGeom>
        </p:spPr>
        <p:txBody>
          <a:bodyPr/>
          <a:lstStyle/>
          <a:p>
            <a:r>
              <a:rPr lang="en-GB" dirty="0"/>
              <a:t>First is, you can nest AGENTS.md files to your different micro frontend apps that’s good for your AI agents. </a:t>
            </a:r>
          </a:p>
        </p:txBody>
      </p:sp>
    </p:spTree>
    <p:extLst>
      <p:ext uri="{BB962C8B-B14F-4D97-AF65-F5344CB8AC3E}">
        <p14:creationId xmlns:p14="http://schemas.microsoft.com/office/powerpoint/2010/main" val="420303674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1FA9EC-F1C4-8475-4C34-982AA7BE60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28C641-A123-4973-51FA-0665B28136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824122-D8E6-13A2-EF59-883AC6891774}"/>
              </a:ext>
            </a:extLst>
          </p:cNvPr>
          <p:cNvSpPr>
            <a:spLocks noGrp="1"/>
          </p:cNvSpPr>
          <p:nvPr>
            <p:ph type="body" idx="1"/>
          </p:nvPr>
        </p:nvSpPr>
        <p:spPr/>
        <p:txBody>
          <a:bodyPr/>
          <a:lstStyle/>
          <a:p>
            <a:r>
              <a:rPr lang="en-US" dirty="0"/>
              <a:t>Knowledge atrophy, or cognitive atrophy, is the gradual decline of memory, critical thinking, and problem-solving skills caused by overreliance on AI tools like LLMs for mental work. </a:t>
            </a:r>
            <a:br>
              <a:rPr lang="en-US" dirty="0"/>
            </a:br>
            <a:br>
              <a:rPr lang="en-US" dirty="0"/>
            </a:br>
            <a:r>
              <a:rPr lang="en-US" dirty="0"/>
              <a:t>Keep learning the technical details of things that you are building. This will help you in the future in guiding agents to the right directions. It will save you money because of lesser prompting. And lastly it will improve your skills</a:t>
            </a:r>
          </a:p>
        </p:txBody>
      </p:sp>
      <p:sp>
        <p:nvSpPr>
          <p:cNvPr id="4" name="Slide Number Placeholder 3">
            <a:extLst>
              <a:ext uri="{FF2B5EF4-FFF2-40B4-BE49-F238E27FC236}">
                <a16:creationId xmlns:a16="http://schemas.microsoft.com/office/drawing/2014/main" id="{876E6526-0A27-7059-0E06-088E9428FC92}"/>
              </a:ext>
            </a:extLst>
          </p:cNvPr>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348623072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5425" y="1524000"/>
            <a:ext cx="7308850" cy="4113213"/>
          </a:xfrm>
          <a:prstGeom prst="rect">
            <a:avLst/>
          </a:prstGeom>
          <a:noFill/>
          <a:ln w="12700">
            <a:solidFill>
              <a:prstClr val="black"/>
            </a:solidFill>
          </a:ln>
        </p:spPr>
      </p:sp>
      <p:sp>
        <p:nvSpPr>
          <p:cNvPr id="3" name="Notes Placeholder 2"/>
          <p:cNvSpPr>
            <a:spLocks noGrp="1"/>
          </p:cNvSpPr>
          <p:nvPr>
            <p:ph type="body" idx="1"/>
          </p:nvPr>
        </p:nvSpPr>
        <p:spPr>
          <a:xfrm>
            <a:off x="685800" y="5865813"/>
            <a:ext cx="5486400" cy="4799012"/>
          </a:xfrm>
          <a:prstGeom prst="rect">
            <a:avLst/>
          </a:prstGeom>
        </p:spPr>
        <p:txBody>
          <a:bodyPr/>
          <a:lstStyle/>
          <a:p>
            <a:endParaRPr lang="en-GB"/>
          </a:p>
        </p:txBody>
      </p:sp>
    </p:spTree>
    <p:extLst>
      <p:ext uri="{BB962C8B-B14F-4D97-AF65-F5344CB8AC3E}">
        <p14:creationId xmlns:p14="http://schemas.microsoft.com/office/powerpoint/2010/main" val="32236914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10/30/26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398876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55660AF-94A0-DF3F-40C1-547982EAE766}"/>
              </a:ext>
            </a:extLst>
          </p:cNvPr>
          <p:cNvSpPr txBox="1"/>
          <p:nvPr userDrawn="1">
            <p:extLst>
              <p:ext uri="{1162E1C5-73C7-4A58-AE30-91384D911F3F}">
                <p184:classification xmlns:p184="http://schemas.microsoft.com/office/powerpoint/2018/4/main" val="ftr"/>
              </p:ext>
            </p:extLst>
          </p:nvPr>
        </p:nvSpPr>
        <p:spPr>
          <a:xfrm>
            <a:off x="63500" y="6642100"/>
            <a:ext cx="730250" cy="152400"/>
          </a:xfrm>
          <a:prstGeom prst="rect">
            <a:avLst/>
          </a:prstGeom>
        </p:spPr>
        <p:txBody>
          <a:bodyPr horzOverflow="overflow" lIns="0" tIns="0" rIns="0" bIns="0">
            <a:spAutoFit/>
          </a:bodyPr>
          <a:lstStyle/>
          <a:p>
            <a:pPr algn="l"/>
            <a:r>
              <a:rPr lang="en-US" sz="1000">
                <a:solidFill>
                  <a:srgbClr val="000000">
                    <a:alpha val="50000"/>
                  </a:srgbClr>
                </a:solidFill>
                <a:latin typeface="Aptos" panose="020B0004020202020204" pitchFamily="34" charset="0"/>
              </a:rPr>
              <a:t>Internal Only</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2">
            <a:extLst>
              <a:ext uri="{FF2B5EF4-FFF2-40B4-BE49-F238E27FC236}">
                <a16:creationId xmlns:a16="http://schemas.microsoft.com/office/drawing/2014/main" id="{B7053B5D-29EA-AE09-763F-669E2CB6A66B}"/>
              </a:ext>
            </a:extLst>
          </p:cNvPr>
          <p:cNvSpPr/>
          <p:nvPr/>
        </p:nvSpPr>
        <p:spPr>
          <a:xfrm>
            <a:off x="548640" y="0"/>
            <a:ext cx="11064240" cy="4184073"/>
          </a:xfrm>
          <a:prstGeom prst="rect">
            <a:avLst/>
          </a:prstGeom>
          <a:noFill/>
          <a:ln/>
        </p:spPr>
        <p:txBody>
          <a:bodyPr wrap="square" rtlCol="0" anchor="ctr"/>
          <a:lstStyle/>
          <a:p>
            <a:r>
              <a:rPr lang="en-US" sz="6600" dirty="0">
                <a:solidFill>
                  <a:schemeClr val="tx1">
                    <a:lumMod val="95000"/>
                    <a:lumOff val="5000"/>
                  </a:schemeClr>
                </a:solidFill>
                <a:latin typeface="Instrument Serif" pitchFamily="34" charset="0"/>
                <a:ea typeface="Instrument Serif" pitchFamily="34" charset="-122"/>
                <a:cs typeface="Instrument Serif" pitchFamily="34" charset="-120"/>
              </a:rPr>
              <a:t>React </a:t>
            </a:r>
            <a:r>
              <a:rPr lang="en-US" sz="6600">
                <a:solidFill>
                  <a:schemeClr val="tx1">
                    <a:lumMod val="95000"/>
                    <a:lumOff val="5000"/>
                  </a:schemeClr>
                </a:solidFill>
                <a:latin typeface="Instrument Serif" pitchFamily="34" charset="0"/>
                <a:ea typeface="Instrument Serif" pitchFamily="34" charset="-122"/>
                <a:cs typeface="Instrument Serif" pitchFamily="34" charset="-120"/>
              </a:rPr>
              <a:t>19 Suspense </a:t>
            </a:r>
            <a:r>
              <a:rPr lang="en-US" sz="6600" dirty="0">
                <a:solidFill>
                  <a:schemeClr val="tx1">
                    <a:lumMod val="95000"/>
                    <a:lumOff val="5000"/>
                  </a:schemeClr>
                </a:solidFill>
                <a:latin typeface="Instrument Serif" pitchFamily="34" charset="0"/>
                <a:ea typeface="Instrument Serif" pitchFamily="34" charset="-122"/>
                <a:cs typeface="Instrument Serif" pitchFamily="34" charset="-120"/>
              </a:rPr>
              <a:t>Meets Module Federation</a:t>
            </a:r>
            <a:endParaRPr lang="en-US" sz="6600" dirty="0">
              <a:solidFill>
                <a:schemeClr val="tx1">
                  <a:lumMod val="95000"/>
                  <a:lumOff val="5000"/>
                </a:schemeClr>
              </a:solidFill>
            </a:endParaRPr>
          </a:p>
        </p:txBody>
      </p:sp>
      <p:sp>
        <p:nvSpPr>
          <p:cNvPr id="5" name="Text 5">
            <a:extLst>
              <a:ext uri="{FF2B5EF4-FFF2-40B4-BE49-F238E27FC236}">
                <a16:creationId xmlns:a16="http://schemas.microsoft.com/office/drawing/2014/main" id="{20F4622D-BBA0-5770-FF0A-7D2BEDE063C9}"/>
              </a:ext>
            </a:extLst>
          </p:cNvPr>
          <p:cNvSpPr/>
          <p:nvPr/>
        </p:nvSpPr>
        <p:spPr>
          <a:xfrm>
            <a:off x="640080" y="5486400"/>
            <a:ext cx="10972800" cy="1001486"/>
          </a:xfrm>
          <a:prstGeom prst="rect">
            <a:avLst/>
          </a:prstGeom>
          <a:noFill/>
          <a:ln/>
        </p:spPr>
        <p:txBody>
          <a:bodyPr wrap="square" rtlCol="0" anchor="ctr"/>
          <a:lstStyle/>
          <a:p>
            <a:pPr marL="0" indent="0">
              <a:lnSpc>
                <a:spcPct val="150000"/>
              </a:lnSpc>
              <a:buNone/>
            </a:pPr>
            <a:r>
              <a:rPr lang="en-US" sz="2800" kern="0" spc="200" dirty="0">
                <a:solidFill>
                  <a:schemeClr val="tx1">
                    <a:lumMod val="95000"/>
                    <a:lumOff val="5000"/>
                  </a:schemeClr>
                </a:solidFill>
                <a:latin typeface="IBM Plex Mono" pitchFamily="34" charset="0"/>
                <a:ea typeface="IBM Plex Mono" pitchFamily="34" charset="-122"/>
                <a:cs typeface="IBM Plex Mono" pitchFamily="34" charset="-120"/>
              </a:rPr>
              <a:t>@DevlinDuldulao</a:t>
            </a:r>
          </a:p>
          <a:p>
            <a:pPr marL="0" indent="0">
              <a:lnSpc>
                <a:spcPct val="150000"/>
              </a:lnSpc>
              <a:buNone/>
            </a:pPr>
            <a:r>
              <a:rPr lang="en-US" sz="2800" kern="0" spc="200" dirty="0">
                <a:solidFill>
                  <a:schemeClr val="tx1">
                    <a:lumMod val="95000"/>
                    <a:lumOff val="5000"/>
                  </a:schemeClr>
                </a:solidFill>
                <a:latin typeface="IBM Plex Mono" pitchFamily="34" charset="0"/>
                <a:ea typeface="IBM Plex Mono" pitchFamily="34" charset="-122"/>
                <a:cs typeface="IBM Plex Mono" pitchFamily="34" charset="-120"/>
              </a:rPr>
              <a:t>Senior consultant at SoftwareOne Norway</a:t>
            </a:r>
          </a:p>
        </p:txBody>
      </p:sp>
    </p:spTree>
    <p:extLst>
      <p:ext uri="{BB962C8B-B14F-4D97-AF65-F5344CB8AC3E}">
        <p14:creationId xmlns:p14="http://schemas.microsoft.com/office/powerpoint/2010/main" val="17623700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FB71C00-2A0F-52B9-7571-DF6FB0B264F7}"/>
              </a:ext>
            </a:extLst>
          </p:cNvPr>
          <p:cNvPicPr>
            <a:picLocks noChangeAspect="1"/>
          </p:cNvPicPr>
          <p:nvPr/>
        </p:nvPicPr>
        <p:blipFill>
          <a:blip r:embed="rId3"/>
          <a:stretch>
            <a:fillRect/>
          </a:stretch>
        </p:blipFill>
        <p:spPr>
          <a:xfrm>
            <a:off x="1651" y="0"/>
            <a:ext cx="12185522" cy="6858000"/>
          </a:xfrm>
          <a:prstGeom prst="rect">
            <a:avLst/>
          </a:prstGeom>
        </p:spPr>
      </p:pic>
    </p:spTree>
    <p:extLst>
      <p:ext uri="{BB962C8B-B14F-4D97-AF65-F5344CB8AC3E}">
        <p14:creationId xmlns:p14="http://schemas.microsoft.com/office/powerpoint/2010/main" val="12997504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B9A376A-3636-76E5-D24F-AF8C7DF7CA35}"/>
              </a:ext>
            </a:extLst>
          </p:cNvPr>
          <p:cNvPicPr>
            <a:picLocks noChangeAspect="1"/>
          </p:cNvPicPr>
          <p:nvPr/>
        </p:nvPicPr>
        <p:blipFill>
          <a:blip r:embed="rId3"/>
          <a:stretch>
            <a:fillRect/>
          </a:stretch>
        </p:blipFill>
        <p:spPr>
          <a:xfrm>
            <a:off x="47418" y="30185"/>
            <a:ext cx="12093988" cy="6797629"/>
          </a:xfrm>
          <a:prstGeom prst="rect">
            <a:avLst/>
          </a:prstGeom>
        </p:spPr>
      </p:pic>
      <p:pic>
        <p:nvPicPr>
          <p:cNvPr id="5" name="Picture 4">
            <a:extLst>
              <a:ext uri="{FF2B5EF4-FFF2-40B4-BE49-F238E27FC236}">
                <a16:creationId xmlns:a16="http://schemas.microsoft.com/office/drawing/2014/main" id="{538E6DFA-D017-C2D3-DD79-3073AC4B07D2}"/>
              </a:ext>
            </a:extLst>
          </p:cNvPr>
          <p:cNvPicPr>
            <a:picLocks noChangeAspect="1"/>
          </p:cNvPicPr>
          <p:nvPr/>
        </p:nvPicPr>
        <p:blipFill>
          <a:blip r:embed="rId4"/>
          <a:stretch>
            <a:fillRect/>
          </a:stretch>
        </p:blipFill>
        <p:spPr>
          <a:xfrm>
            <a:off x="7431314" y="4198348"/>
            <a:ext cx="4372594" cy="2629466"/>
          </a:xfrm>
          <a:prstGeom prst="rect">
            <a:avLst/>
          </a:prstGeom>
        </p:spPr>
      </p:pic>
    </p:spTree>
    <p:extLst>
      <p:ext uri="{BB962C8B-B14F-4D97-AF65-F5344CB8AC3E}">
        <p14:creationId xmlns:p14="http://schemas.microsoft.com/office/powerpoint/2010/main" val="10700079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E014679-5AD2-B7E1-FFC9-B9A93814AA10}"/>
              </a:ext>
            </a:extLst>
          </p:cNvPr>
          <p:cNvSpPr txBox="1"/>
          <p:nvPr/>
        </p:nvSpPr>
        <p:spPr>
          <a:xfrm>
            <a:off x="1324420" y="2721114"/>
            <a:ext cx="9539984" cy="707886"/>
          </a:xfrm>
          <a:prstGeom prst="rect">
            <a:avLst/>
          </a:prstGeom>
          <a:noFill/>
        </p:spPr>
        <p:txBody>
          <a:bodyPr wrap="none" rtlCol="0">
            <a:spAutoFit/>
          </a:bodyPr>
          <a:lstStyle/>
          <a:p>
            <a:pPr algn="ctr"/>
            <a:r>
              <a:rPr lang="en-US" sz="4000" dirty="0"/>
              <a:t>What are we solving here in </a:t>
            </a:r>
            <a:r>
              <a:rPr lang="en-US" sz="4000" dirty="0" err="1"/>
              <a:t>microfrontends</a:t>
            </a:r>
            <a:r>
              <a:rPr lang="en-US" sz="4000" dirty="0"/>
              <a:t>?</a:t>
            </a:r>
            <a:endParaRPr lang="en-GB" sz="4000" dirty="0"/>
          </a:p>
        </p:txBody>
      </p:sp>
    </p:spTree>
    <p:extLst>
      <p:ext uri="{BB962C8B-B14F-4D97-AF65-F5344CB8AC3E}">
        <p14:creationId xmlns:p14="http://schemas.microsoft.com/office/powerpoint/2010/main" val="6832043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2C1F190-E834-235E-DD1A-000447BDF89A}"/>
              </a:ext>
            </a:extLst>
          </p:cNvPr>
          <p:cNvSpPr txBox="1"/>
          <p:nvPr/>
        </p:nvSpPr>
        <p:spPr>
          <a:xfrm>
            <a:off x="522514" y="391886"/>
            <a:ext cx="9118074" cy="646331"/>
          </a:xfrm>
          <a:prstGeom prst="rect">
            <a:avLst/>
          </a:prstGeom>
          <a:noFill/>
        </p:spPr>
        <p:txBody>
          <a:bodyPr wrap="none" rtlCol="0">
            <a:spAutoFit/>
          </a:bodyPr>
          <a:lstStyle/>
          <a:p>
            <a:r>
              <a:rPr lang="en-US" sz="3600" dirty="0"/>
              <a:t>Independent deploys, and a smaller blast radius</a:t>
            </a:r>
            <a:endParaRPr lang="en-GB" sz="3600" dirty="0"/>
          </a:p>
        </p:txBody>
      </p:sp>
    </p:spTree>
    <p:extLst>
      <p:ext uri="{BB962C8B-B14F-4D97-AF65-F5344CB8AC3E}">
        <p14:creationId xmlns:p14="http://schemas.microsoft.com/office/powerpoint/2010/main" val="14011853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704CADF-316C-61D9-61BD-A1F136C01873}"/>
              </a:ext>
            </a:extLst>
          </p:cNvPr>
          <p:cNvPicPr>
            <a:picLocks noChangeAspect="1"/>
          </p:cNvPicPr>
          <p:nvPr/>
        </p:nvPicPr>
        <p:blipFill>
          <a:blip r:embed="rId3"/>
          <a:stretch>
            <a:fillRect/>
          </a:stretch>
        </p:blipFill>
        <p:spPr>
          <a:xfrm>
            <a:off x="819028" y="0"/>
            <a:ext cx="10550769" cy="6858000"/>
          </a:xfrm>
          <a:prstGeom prst="rect">
            <a:avLst/>
          </a:prstGeom>
        </p:spPr>
      </p:pic>
    </p:spTree>
    <p:extLst>
      <p:ext uri="{BB962C8B-B14F-4D97-AF65-F5344CB8AC3E}">
        <p14:creationId xmlns:p14="http://schemas.microsoft.com/office/powerpoint/2010/main" val="9770059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FCDCF2-6C93-ECFA-136A-D291D018D0B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2F6432A-EC7A-50D9-539A-ECCE5FD7C886}"/>
              </a:ext>
            </a:extLst>
          </p:cNvPr>
          <p:cNvSpPr txBox="1"/>
          <p:nvPr/>
        </p:nvSpPr>
        <p:spPr>
          <a:xfrm>
            <a:off x="522514" y="391886"/>
            <a:ext cx="5461367" cy="646331"/>
          </a:xfrm>
          <a:prstGeom prst="rect">
            <a:avLst/>
          </a:prstGeom>
          <a:noFill/>
        </p:spPr>
        <p:txBody>
          <a:bodyPr wrap="none" rtlCol="0">
            <a:spAutoFit/>
          </a:bodyPr>
          <a:lstStyle/>
          <a:p>
            <a:r>
              <a:rPr lang="en-US" sz="3600" dirty="0"/>
              <a:t>Structure in code ownership</a:t>
            </a:r>
            <a:endParaRPr lang="en-GB" sz="3600" dirty="0"/>
          </a:p>
        </p:txBody>
      </p:sp>
    </p:spTree>
    <p:extLst>
      <p:ext uri="{BB962C8B-B14F-4D97-AF65-F5344CB8AC3E}">
        <p14:creationId xmlns:p14="http://schemas.microsoft.com/office/powerpoint/2010/main" val="10636551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99CAB62-D9FA-E52A-A2DB-1DB5AC024453}"/>
              </a:ext>
            </a:extLst>
          </p:cNvPr>
          <p:cNvPicPr>
            <a:picLocks noChangeAspect="1"/>
          </p:cNvPicPr>
          <p:nvPr/>
        </p:nvPicPr>
        <p:blipFill>
          <a:blip r:embed="rId3"/>
          <a:stretch>
            <a:fillRect/>
          </a:stretch>
        </p:blipFill>
        <p:spPr>
          <a:xfrm>
            <a:off x="0" y="5374"/>
            <a:ext cx="12188825" cy="6847252"/>
          </a:xfrm>
          <a:prstGeom prst="rect">
            <a:avLst/>
          </a:prstGeom>
        </p:spPr>
      </p:pic>
    </p:spTree>
    <p:extLst>
      <p:ext uri="{BB962C8B-B14F-4D97-AF65-F5344CB8AC3E}">
        <p14:creationId xmlns:p14="http://schemas.microsoft.com/office/powerpoint/2010/main" val="29568345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AD6755-A1FF-B7BF-A56D-3C072B5FA70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82A6AB0-2C3E-4789-A6C8-9C5F7D502F44}"/>
              </a:ext>
            </a:extLst>
          </p:cNvPr>
          <p:cNvSpPr txBox="1"/>
          <p:nvPr/>
        </p:nvSpPr>
        <p:spPr>
          <a:xfrm>
            <a:off x="522514" y="391886"/>
            <a:ext cx="8431219" cy="646331"/>
          </a:xfrm>
          <a:prstGeom prst="rect">
            <a:avLst/>
          </a:prstGeom>
          <a:noFill/>
        </p:spPr>
        <p:txBody>
          <a:bodyPr wrap="none" rtlCol="0">
            <a:spAutoFit/>
          </a:bodyPr>
          <a:lstStyle/>
          <a:p>
            <a:r>
              <a:rPr lang="en-US" sz="3600" dirty="0"/>
              <a:t>Bounded cognitive load as headcount grows</a:t>
            </a:r>
            <a:endParaRPr lang="en-GB" sz="3600" dirty="0"/>
          </a:p>
        </p:txBody>
      </p:sp>
    </p:spTree>
    <p:extLst>
      <p:ext uri="{BB962C8B-B14F-4D97-AF65-F5344CB8AC3E}">
        <p14:creationId xmlns:p14="http://schemas.microsoft.com/office/powerpoint/2010/main" val="5073010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A78FAD2-EDC1-87B8-794D-98B00BB06363}"/>
              </a:ext>
            </a:extLst>
          </p:cNvPr>
          <p:cNvPicPr>
            <a:picLocks noChangeAspect="1"/>
          </p:cNvPicPr>
          <p:nvPr/>
        </p:nvPicPr>
        <p:blipFill>
          <a:blip r:embed="rId3"/>
          <a:stretch>
            <a:fillRect/>
          </a:stretch>
        </p:blipFill>
        <p:spPr>
          <a:xfrm>
            <a:off x="0" y="561041"/>
            <a:ext cx="12188825" cy="5735918"/>
          </a:xfrm>
          <a:prstGeom prst="rect">
            <a:avLst/>
          </a:prstGeom>
        </p:spPr>
      </p:pic>
    </p:spTree>
    <p:extLst>
      <p:ext uri="{BB962C8B-B14F-4D97-AF65-F5344CB8AC3E}">
        <p14:creationId xmlns:p14="http://schemas.microsoft.com/office/powerpoint/2010/main" val="7819243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81C19D-B8B5-A045-8540-E8EFA319618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C35973B-F87B-8B33-54C3-EA899AFACDA5}"/>
              </a:ext>
            </a:extLst>
          </p:cNvPr>
          <p:cNvSpPr txBox="1"/>
          <p:nvPr/>
        </p:nvSpPr>
        <p:spPr>
          <a:xfrm>
            <a:off x="522514" y="391886"/>
            <a:ext cx="8087150" cy="646331"/>
          </a:xfrm>
          <a:prstGeom prst="rect">
            <a:avLst/>
          </a:prstGeom>
          <a:noFill/>
        </p:spPr>
        <p:txBody>
          <a:bodyPr wrap="none" rtlCol="0">
            <a:spAutoFit/>
          </a:bodyPr>
          <a:lstStyle/>
          <a:p>
            <a:r>
              <a:rPr lang="en-US" sz="3600" dirty="0"/>
              <a:t>Incremental migration instead of a rewrite</a:t>
            </a:r>
            <a:endParaRPr lang="en-GB" sz="3600" dirty="0"/>
          </a:p>
        </p:txBody>
      </p:sp>
    </p:spTree>
    <p:extLst>
      <p:ext uri="{BB962C8B-B14F-4D97-AF65-F5344CB8AC3E}">
        <p14:creationId xmlns:p14="http://schemas.microsoft.com/office/powerpoint/2010/main" val="16785437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8E1DEDB-C2B7-7D6B-CA16-7849717E9A36}"/>
              </a:ext>
            </a:extLst>
          </p:cNvPr>
          <p:cNvPicPr>
            <a:picLocks noChangeAspect="1"/>
          </p:cNvPicPr>
          <p:nvPr/>
        </p:nvPicPr>
        <p:blipFill>
          <a:blip r:embed="rId3"/>
          <a:stretch>
            <a:fillRect/>
          </a:stretch>
        </p:blipFill>
        <p:spPr>
          <a:xfrm>
            <a:off x="0" y="274245"/>
            <a:ext cx="12188825" cy="6309509"/>
          </a:xfrm>
          <a:prstGeom prst="rect">
            <a:avLst/>
          </a:prstGeom>
        </p:spPr>
      </p:pic>
    </p:spTree>
    <p:extLst>
      <p:ext uri="{BB962C8B-B14F-4D97-AF65-F5344CB8AC3E}">
        <p14:creationId xmlns:p14="http://schemas.microsoft.com/office/powerpoint/2010/main" val="4066867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BDDECCB-2C5F-1707-9F5F-328AB2ED0298}"/>
              </a:ext>
            </a:extLst>
          </p:cNvPr>
          <p:cNvPicPr>
            <a:picLocks noChangeAspect="1"/>
          </p:cNvPicPr>
          <p:nvPr/>
        </p:nvPicPr>
        <p:blipFill>
          <a:blip r:embed="rId3"/>
          <a:stretch>
            <a:fillRect/>
          </a:stretch>
        </p:blipFill>
        <p:spPr>
          <a:xfrm>
            <a:off x="0" y="242697"/>
            <a:ext cx="12188825" cy="6615303"/>
          </a:xfrm>
          <a:prstGeom prst="rect">
            <a:avLst/>
          </a:prstGeom>
        </p:spPr>
      </p:pic>
    </p:spTree>
    <p:extLst>
      <p:ext uri="{BB962C8B-B14F-4D97-AF65-F5344CB8AC3E}">
        <p14:creationId xmlns:p14="http://schemas.microsoft.com/office/powerpoint/2010/main" val="40809750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4">
            <a:extLst>
              <a:ext uri="{FF2B5EF4-FFF2-40B4-BE49-F238E27FC236}">
                <a16:creationId xmlns:a16="http://schemas.microsoft.com/office/drawing/2014/main" id="{59B45F36-03DD-1F61-AE4F-491056679896}"/>
              </a:ext>
            </a:extLst>
          </p:cNvPr>
          <p:cNvSpPr/>
          <p:nvPr/>
        </p:nvSpPr>
        <p:spPr>
          <a:xfrm>
            <a:off x="651325" y="1025090"/>
            <a:ext cx="10886173" cy="4807819"/>
          </a:xfrm>
          <a:prstGeom prst="rect">
            <a:avLst/>
          </a:prstGeom>
          <a:noFill/>
          <a:ln/>
        </p:spPr>
        <p:txBody>
          <a:bodyPr wrap="square" rtlCol="0" anchor="t"/>
          <a:lstStyle/>
          <a:p>
            <a:pPr marL="0" indent="0" algn="l">
              <a:lnSpc>
                <a:spcPct val="150000"/>
              </a:lnSpc>
              <a:buNone/>
            </a:pPr>
            <a:r>
              <a:rPr lang="en-US" sz="4000" dirty="0">
                <a:solidFill>
                  <a:schemeClr val="tx1">
                    <a:lumMod val="95000"/>
                    <a:lumOff val="5000"/>
                  </a:schemeClr>
                </a:solidFill>
                <a:latin typeface="Cascadia Code NF" pitchFamily="50" charset="0"/>
                <a:ea typeface="Cascadia Code NF" pitchFamily="50" charset="0"/>
                <a:cs typeface="Cascadia Code NF" pitchFamily="50" charset="0"/>
              </a:rPr>
              <a:t>Shell (host)      :3000</a:t>
            </a:r>
          </a:p>
          <a:p>
            <a:pPr marL="0" indent="0" algn="l">
              <a:lnSpc>
                <a:spcPct val="150000"/>
              </a:lnSpc>
              <a:buNone/>
            </a:pPr>
            <a:r>
              <a:rPr lang="en-US" sz="4000" dirty="0">
                <a:solidFill>
                  <a:schemeClr val="tx1">
                    <a:lumMod val="95000"/>
                    <a:lumOff val="5000"/>
                  </a:schemeClr>
                </a:solidFill>
                <a:latin typeface="Cascadia Code NF" pitchFamily="50" charset="0"/>
                <a:ea typeface="Cascadia Code NF" pitchFamily="50" charset="0"/>
                <a:cs typeface="Cascadia Code NF" pitchFamily="50" charset="0"/>
              </a:rPr>
              <a:t>├── Home          :3004   INSTANT</a:t>
            </a:r>
          </a:p>
          <a:p>
            <a:pPr marL="0" indent="0" algn="l">
              <a:lnSpc>
                <a:spcPct val="150000"/>
              </a:lnSpc>
              <a:buNone/>
            </a:pPr>
            <a:r>
              <a:rPr lang="en-US" sz="4000" dirty="0">
                <a:solidFill>
                  <a:schemeClr val="tx1">
                    <a:lumMod val="95000"/>
                    <a:lumOff val="5000"/>
                  </a:schemeClr>
                </a:solidFill>
                <a:latin typeface="Cascadia Code NF" pitchFamily="50" charset="0"/>
                <a:ea typeface="Cascadia Code NF" pitchFamily="50" charset="0"/>
                <a:cs typeface="Cascadia Code NF" pitchFamily="50" charset="0"/>
              </a:rPr>
              <a:t>├── Records       :3001   EAGER</a:t>
            </a:r>
          </a:p>
          <a:p>
            <a:pPr marL="0" indent="0" algn="l">
              <a:lnSpc>
                <a:spcPct val="150000"/>
              </a:lnSpc>
              <a:buNone/>
            </a:pPr>
            <a:r>
              <a:rPr lang="en-US" sz="4000" dirty="0">
                <a:solidFill>
                  <a:schemeClr val="tx1">
                    <a:lumMod val="95000"/>
                    <a:lumOff val="5000"/>
                  </a:schemeClr>
                </a:solidFill>
                <a:latin typeface="Cascadia Code NF" pitchFamily="50" charset="0"/>
                <a:ea typeface="Cascadia Code NF" pitchFamily="50" charset="0"/>
                <a:cs typeface="Cascadia Code NF" pitchFamily="50" charset="0"/>
              </a:rPr>
              <a:t>├── Prescriptions :3002   SUSPENSE</a:t>
            </a:r>
          </a:p>
          <a:p>
            <a:pPr marL="0" indent="0" algn="l">
              <a:lnSpc>
                <a:spcPct val="150000"/>
              </a:lnSpc>
              <a:buNone/>
            </a:pPr>
            <a:r>
              <a:rPr lang="en-US" sz="4000" dirty="0">
                <a:solidFill>
                  <a:schemeClr val="tx1">
                    <a:lumMod val="95000"/>
                    <a:lumOff val="5000"/>
                  </a:schemeClr>
                </a:solidFill>
                <a:latin typeface="Cascadia Code NF" pitchFamily="50" charset="0"/>
                <a:ea typeface="Cascadia Code NF" pitchFamily="50" charset="0"/>
                <a:cs typeface="Cascadia Code NF" pitchFamily="50" charset="0"/>
              </a:rPr>
              <a:t>└── Analytics     :3003   SUSPENSE</a:t>
            </a:r>
          </a:p>
        </p:txBody>
      </p:sp>
    </p:spTree>
    <p:extLst>
      <p:ext uri="{BB962C8B-B14F-4D97-AF65-F5344CB8AC3E}">
        <p14:creationId xmlns:p14="http://schemas.microsoft.com/office/powerpoint/2010/main" val="33846204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8559209-AAA2-1CB4-6BF2-0C4E86659D30}"/>
              </a:ext>
            </a:extLst>
          </p:cNvPr>
          <p:cNvSpPr txBox="1"/>
          <p:nvPr/>
        </p:nvSpPr>
        <p:spPr>
          <a:xfrm>
            <a:off x="722376" y="576072"/>
            <a:ext cx="1436612" cy="707886"/>
          </a:xfrm>
          <a:prstGeom prst="rect">
            <a:avLst/>
          </a:prstGeom>
          <a:noFill/>
        </p:spPr>
        <p:txBody>
          <a:bodyPr wrap="none" rtlCol="0">
            <a:spAutoFit/>
          </a:bodyPr>
          <a:lstStyle/>
          <a:p>
            <a:r>
              <a:rPr lang="en-GB" sz="4000" dirty="0"/>
              <a:t>Demo</a:t>
            </a:r>
          </a:p>
        </p:txBody>
      </p:sp>
      <p:sp>
        <p:nvSpPr>
          <p:cNvPr id="4" name="TextBox 3">
            <a:extLst>
              <a:ext uri="{FF2B5EF4-FFF2-40B4-BE49-F238E27FC236}">
                <a16:creationId xmlns:a16="http://schemas.microsoft.com/office/drawing/2014/main" id="{FF9BFBAD-B63F-0C95-BF4B-77443B953A89}"/>
              </a:ext>
            </a:extLst>
          </p:cNvPr>
          <p:cNvSpPr txBox="1"/>
          <p:nvPr/>
        </p:nvSpPr>
        <p:spPr>
          <a:xfrm>
            <a:off x="634848" y="3075057"/>
            <a:ext cx="10919143" cy="646331"/>
          </a:xfrm>
          <a:prstGeom prst="rect">
            <a:avLst/>
          </a:prstGeom>
          <a:noFill/>
        </p:spPr>
        <p:txBody>
          <a:bodyPr wrap="none" rtlCol="0">
            <a:spAutoFit/>
          </a:bodyPr>
          <a:lstStyle/>
          <a:p>
            <a:pPr algn="ctr"/>
            <a:r>
              <a:rPr lang="en-GB" sz="3600" dirty="0"/>
              <a:t>Code base (</a:t>
            </a:r>
            <a:r>
              <a:rPr lang="en-GB" sz="3600" dirty="0" err="1"/>
              <a:t>bootstrap.tsx</a:t>
            </a:r>
            <a:r>
              <a:rPr lang="en-GB" sz="3600" dirty="0"/>
              <a:t>, Routes, </a:t>
            </a:r>
            <a:r>
              <a:rPr lang="en-GB" sz="3600" dirty="0" err="1"/>
              <a:t>Rspack</a:t>
            </a:r>
            <a:r>
              <a:rPr lang="en-GB" sz="3600" dirty="0"/>
              <a:t> config &amp; plugin)</a:t>
            </a:r>
          </a:p>
        </p:txBody>
      </p:sp>
    </p:spTree>
    <p:extLst>
      <p:ext uri="{BB962C8B-B14F-4D97-AF65-F5344CB8AC3E}">
        <p14:creationId xmlns:p14="http://schemas.microsoft.com/office/powerpoint/2010/main" val="7659784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6637D03-7E43-E40A-D2C9-714E3D46262C}"/>
              </a:ext>
            </a:extLst>
          </p:cNvPr>
          <p:cNvPicPr>
            <a:picLocks noChangeAspect="1"/>
          </p:cNvPicPr>
          <p:nvPr/>
        </p:nvPicPr>
        <p:blipFill>
          <a:blip r:embed="rId3"/>
          <a:stretch>
            <a:fillRect/>
          </a:stretch>
        </p:blipFill>
        <p:spPr>
          <a:xfrm>
            <a:off x="6370" y="0"/>
            <a:ext cx="12176084" cy="6858000"/>
          </a:xfrm>
          <a:prstGeom prst="rect">
            <a:avLst/>
          </a:prstGeom>
        </p:spPr>
      </p:pic>
    </p:spTree>
    <p:extLst>
      <p:ext uri="{BB962C8B-B14F-4D97-AF65-F5344CB8AC3E}">
        <p14:creationId xmlns:p14="http://schemas.microsoft.com/office/powerpoint/2010/main" val="315652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2">
            <a:extLst>
              <a:ext uri="{FF2B5EF4-FFF2-40B4-BE49-F238E27FC236}">
                <a16:creationId xmlns:a16="http://schemas.microsoft.com/office/drawing/2014/main" id="{9A9DEAA5-4B4B-A105-176E-3D92BDE4A29B}"/>
              </a:ext>
            </a:extLst>
          </p:cNvPr>
          <p:cNvSpPr/>
          <p:nvPr/>
        </p:nvSpPr>
        <p:spPr>
          <a:xfrm>
            <a:off x="530352" y="713232"/>
            <a:ext cx="11109960" cy="777240"/>
          </a:xfrm>
          <a:prstGeom prst="rect">
            <a:avLst/>
          </a:prstGeom>
          <a:noFill/>
          <a:ln/>
        </p:spPr>
        <p:txBody>
          <a:bodyPr wrap="square" rtlCol="0" anchor="ctr"/>
          <a:lstStyle/>
          <a:p>
            <a:pPr marL="0" indent="0">
              <a:buNone/>
            </a:pPr>
            <a:r>
              <a:rPr lang="en-US" sz="3300" i="1" dirty="0">
                <a:solidFill>
                  <a:schemeClr val="tx1">
                    <a:lumMod val="95000"/>
                    <a:lumOff val="5000"/>
                  </a:schemeClr>
                </a:solidFill>
                <a:latin typeface="Instrument Serif" pitchFamily="34" charset="0"/>
                <a:ea typeface="Instrument Serif" pitchFamily="34" charset="-122"/>
                <a:cs typeface="Instrument Serif" pitchFamily="34" charset="-120"/>
              </a:rPr>
              <a:t>Module Federation for teams, Suspense for load UX</a:t>
            </a:r>
            <a:endParaRPr lang="en-US" sz="3300" dirty="0">
              <a:solidFill>
                <a:schemeClr val="tx1">
                  <a:lumMod val="95000"/>
                  <a:lumOff val="5000"/>
                </a:schemeClr>
              </a:solidFill>
            </a:endParaRPr>
          </a:p>
        </p:txBody>
      </p:sp>
      <p:graphicFrame>
        <p:nvGraphicFramePr>
          <p:cNvPr id="5" name="Table 0">
            <a:extLst>
              <a:ext uri="{FF2B5EF4-FFF2-40B4-BE49-F238E27FC236}">
                <a16:creationId xmlns:a16="http://schemas.microsoft.com/office/drawing/2014/main" id="{BEEF10F7-35A9-BC5C-5D04-700AD07AB51B}"/>
              </a:ext>
            </a:extLst>
          </p:cNvPr>
          <p:cNvGraphicFramePr>
            <a:graphicFrameLocks noGrp="1"/>
          </p:cNvGraphicFramePr>
          <p:nvPr>
            <p:extLst>
              <p:ext uri="{D42A27DB-BD31-4B8C-83A1-F6EECF244321}">
                <p14:modId xmlns:p14="http://schemas.microsoft.com/office/powerpoint/2010/main" val="525117784"/>
              </p:ext>
            </p:extLst>
          </p:nvPr>
        </p:nvGraphicFramePr>
        <p:xfrm>
          <a:off x="548640" y="2811780"/>
          <a:ext cx="11064240" cy="1950720"/>
        </p:xfrm>
        <a:graphic>
          <a:graphicData uri="http://schemas.openxmlformats.org/drawingml/2006/table">
            <a:tbl>
              <a:tblPr/>
              <a:tblGrid>
                <a:gridCol w="283464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5486400">
                  <a:extLst>
                    <a:ext uri="{9D8B030D-6E8A-4147-A177-3AD203B41FA5}">
                      <a16:colId xmlns:a16="http://schemas.microsoft.com/office/drawing/2014/main" val="20002"/>
                    </a:ext>
                  </a:extLst>
                </a:gridCol>
              </a:tblGrid>
              <a:tr h="411480">
                <a:tc>
                  <a:txBody>
                    <a:bodyPr/>
                    <a:lstStyle/>
                    <a:p>
                      <a:pPr marL="0" indent="0">
                        <a:buNone/>
                      </a:pPr>
                      <a:r>
                        <a:rPr lang="en-US" sz="1800" b="1" kern="0" spc="200" dirty="0">
                          <a:solidFill>
                            <a:srgbClr val="D4FF00"/>
                          </a:solidFill>
                          <a:latin typeface="IBM Plex Mono" pitchFamily="34" charset="0"/>
                          <a:ea typeface="IBM Plex Mono" pitchFamily="34" charset="-122"/>
                          <a:cs typeface="IBM Plex Mono" pitchFamily="34" charset="-120"/>
                        </a:rPr>
                        <a:t>CONCERN</a:t>
                      </a:r>
                      <a:endParaRPr lang="en-US" sz="1800" dirty="0">
                        <a:latin typeface="IBM Plex Mono" charset="0"/>
                        <a:ea typeface="IBM Plex Mono" charset="0"/>
                        <a:cs typeface="IBM Plex Mono" charset="0"/>
                      </a:endParaRPr>
                    </a:p>
                  </a:txBody>
                  <a:tcPr marL="76200" marR="76200" marT="76200" marB="76200" anchor="ctr">
                    <a:lnL w="9525" cap="flat" cmpd="sng" algn="ctr">
                      <a:solidFill>
                        <a:srgbClr val="2E2E2E"/>
                      </a:solidFill>
                      <a:prstDash val="solid"/>
                      <a:round/>
                      <a:headEnd type="none" w="med" len="med"/>
                      <a:tailEnd type="none" w="med" len="med"/>
                    </a:lnL>
                    <a:lnR w="9525" cap="flat" cmpd="sng" algn="ctr">
                      <a:solidFill>
                        <a:srgbClr val="2E2E2E"/>
                      </a:solidFill>
                      <a:prstDash val="solid"/>
                      <a:round/>
                      <a:headEnd type="none" w="med" len="med"/>
                      <a:tailEnd type="none" w="med" len="med"/>
                    </a:lnR>
                    <a:lnT w="9525" cap="flat" cmpd="sng" algn="ctr">
                      <a:solidFill>
                        <a:srgbClr val="2E2E2E"/>
                      </a:solidFill>
                      <a:prstDash val="solid"/>
                      <a:round/>
                      <a:headEnd type="none" w="med" len="med"/>
                      <a:tailEnd type="none" w="med" len="med"/>
                    </a:lnT>
                    <a:lnB w="9525" cap="flat" cmpd="sng" algn="ctr">
                      <a:solidFill>
                        <a:srgbClr val="2E2E2E"/>
                      </a:solidFill>
                      <a:prstDash val="solid"/>
                      <a:round/>
                      <a:headEnd type="none" w="med" len="med"/>
                      <a:tailEnd type="none" w="med" len="med"/>
                    </a:lnB>
                    <a:solidFill>
                      <a:srgbClr val="1C1C1C"/>
                    </a:solidFill>
                  </a:tcPr>
                </a:tc>
                <a:tc>
                  <a:txBody>
                    <a:bodyPr/>
                    <a:lstStyle/>
                    <a:p>
                      <a:pPr marL="0" indent="0">
                        <a:buNone/>
                      </a:pPr>
                      <a:r>
                        <a:rPr lang="en-US" sz="1800" b="1" kern="0" spc="200" dirty="0">
                          <a:solidFill>
                            <a:srgbClr val="D4FF00"/>
                          </a:solidFill>
                          <a:latin typeface="IBM Plex Mono" pitchFamily="34" charset="0"/>
                          <a:ea typeface="IBM Plex Mono" pitchFamily="34" charset="-122"/>
                          <a:cs typeface="IBM Plex Mono" pitchFamily="34" charset="-120"/>
                        </a:rPr>
                        <a:t>WHO BENEFITS</a:t>
                      </a:r>
                      <a:endParaRPr lang="en-US" sz="1800" dirty="0">
                        <a:latin typeface="IBM Plex Mono" charset="0"/>
                        <a:ea typeface="IBM Plex Mono" charset="0"/>
                        <a:cs typeface="IBM Plex Mono" charset="0"/>
                      </a:endParaRPr>
                    </a:p>
                  </a:txBody>
                  <a:tcPr marL="76200" marR="76200" marT="76200" marB="76200" anchor="ctr">
                    <a:lnL w="9525" cap="flat" cmpd="sng" algn="ctr">
                      <a:solidFill>
                        <a:srgbClr val="2E2E2E"/>
                      </a:solidFill>
                      <a:prstDash val="solid"/>
                      <a:round/>
                      <a:headEnd type="none" w="med" len="med"/>
                      <a:tailEnd type="none" w="med" len="med"/>
                    </a:lnL>
                    <a:lnR w="9525" cap="flat" cmpd="sng" algn="ctr">
                      <a:solidFill>
                        <a:srgbClr val="2E2E2E"/>
                      </a:solidFill>
                      <a:prstDash val="solid"/>
                      <a:round/>
                      <a:headEnd type="none" w="med" len="med"/>
                      <a:tailEnd type="none" w="med" len="med"/>
                    </a:lnR>
                    <a:lnT w="9525" cap="flat" cmpd="sng" algn="ctr">
                      <a:solidFill>
                        <a:srgbClr val="2E2E2E"/>
                      </a:solidFill>
                      <a:prstDash val="solid"/>
                      <a:round/>
                      <a:headEnd type="none" w="med" len="med"/>
                      <a:tailEnd type="none" w="med" len="med"/>
                    </a:lnT>
                    <a:lnB w="9525" cap="flat" cmpd="sng" algn="ctr">
                      <a:solidFill>
                        <a:srgbClr val="2E2E2E"/>
                      </a:solidFill>
                      <a:prstDash val="solid"/>
                      <a:round/>
                      <a:headEnd type="none" w="med" len="med"/>
                      <a:tailEnd type="none" w="med" len="med"/>
                    </a:lnB>
                    <a:solidFill>
                      <a:srgbClr val="1C1C1C"/>
                    </a:solidFill>
                  </a:tcPr>
                </a:tc>
                <a:tc>
                  <a:txBody>
                    <a:bodyPr/>
                    <a:lstStyle/>
                    <a:p>
                      <a:pPr marL="0" indent="0">
                        <a:buNone/>
                      </a:pPr>
                      <a:r>
                        <a:rPr lang="en-US" sz="1800" b="1" kern="0" spc="200" dirty="0">
                          <a:solidFill>
                            <a:srgbClr val="D4FF00"/>
                          </a:solidFill>
                          <a:latin typeface="IBM Plex Mono" pitchFamily="34" charset="0"/>
                          <a:ea typeface="IBM Plex Mono" pitchFamily="34" charset="-122"/>
                          <a:cs typeface="IBM Plex Mono" pitchFamily="34" charset="-120"/>
                        </a:rPr>
                        <a:t>WHAT IT SOLVES</a:t>
                      </a:r>
                      <a:endParaRPr lang="en-US" sz="1800" dirty="0">
                        <a:latin typeface="IBM Plex Mono" charset="0"/>
                        <a:ea typeface="IBM Plex Mono" charset="0"/>
                        <a:cs typeface="IBM Plex Mono" charset="0"/>
                      </a:endParaRPr>
                    </a:p>
                  </a:txBody>
                  <a:tcPr marL="76200" marR="76200" marT="76200" marB="76200" anchor="ctr">
                    <a:lnL w="9525" cap="flat" cmpd="sng" algn="ctr">
                      <a:solidFill>
                        <a:srgbClr val="2E2E2E"/>
                      </a:solidFill>
                      <a:prstDash val="solid"/>
                      <a:round/>
                      <a:headEnd type="none" w="med" len="med"/>
                      <a:tailEnd type="none" w="med" len="med"/>
                    </a:lnL>
                    <a:lnR w="9525" cap="flat" cmpd="sng" algn="ctr">
                      <a:solidFill>
                        <a:srgbClr val="2E2E2E"/>
                      </a:solidFill>
                      <a:prstDash val="solid"/>
                      <a:round/>
                      <a:headEnd type="none" w="med" len="med"/>
                      <a:tailEnd type="none" w="med" len="med"/>
                    </a:lnR>
                    <a:lnT w="9525" cap="flat" cmpd="sng" algn="ctr">
                      <a:solidFill>
                        <a:srgbClr val="2E2E2E"/>
                      </a:solidFill>
                      <a:prstDash val="solid"/>
                      <a:round/>
                      <a:headEnd type="none" w="med" len="med"/>
                      <a:tailEnd type="none" w="med" len="med"/>
                    </a:lnT>
                    <a:lnB w="9525" cap="flat" cmpd="sng" algn="ctr">
                      <a:solidFill>
                        <a:srgbClr val="2E2E2E"/>
                      </a:solidFill>
                      <a:prstDash val="solid"/>
                      <a:round/>
                      <a:headEnd type="none" w="med" len="med"/>
                      <a:tailEnd type="none" w="med" len="med"/>
                    </a:lnB>
                    <a:solidFill>
                      <a:srgbClr val="1C1C1C"/>
                    </a:solidFill>
                  </a:tcPr>
                </a:tc>
                <a:extLst>
                  <a:ext uri="{0D108BD9-81ED-4DB2-BD59-A6C34878D82A}">
                    <a16:rowId xmlns:a16="http://schemas.microsoft.com/office/drawing/2014/main" val="10000"/>
                  </a:ext>
                </a:extLst>
              </a:tr>
              <a:tr h="411480">
                <a:tc>
                  <a:txBody>
                    <a:bodyPr/>
                    <a:lstStyle/>
                    <a:p>
                      <a:pPr marL="0" indent="0">
                        <a:buNone/>
                      </a:pPr>
                      <a:r>
                        <a:rPr lang="en-US" sz="2000" dirty="0">
                          <a:solidFill>
                            <a:srgbClr val="FAFAF9"/>
                          </a:solidFill>
                          <a:latin typeface="DM Sans" pitchFamily="34" charset="0"/>
                          <a:ea typeface="DM Sans" pitchFamily="34" charset="-122"/>
                          <a:cs typeface="DM Sans" pitchFamily="34" charset="-120"/>
                        </a:rPr>
                        <a:t>Module Federation</a:t>
                      </a:r>
                      <a:endParaRPr lang="en-US" sz="2000" dirty="0">
                        <a:latin typeface="DM Sans" charset="0"/>
                        <a:ea typeface="DM Sans" charset="0"/>
                        <a:cs typeface="DM Sans" charset="0"/>
                      </a:endParaRPr>
                    </a:p>
                  </a:txBody>
                  <a:tcPr marL="76200" marR="76200" marT="76200" marB="76200" anchor="ctr">
                    <a:lnL w="9525" cap="flat" cmpd="sng" algn="ctr">
                      <a:solidFill>
                        <a:srgbClr val="2E2E2E"/>
                      </a:solidFill>
                      <a:prstDash val="solid"/>
                      <a:round/>
                      <a:headEnd type="none" w="med" len="med"/>
                      <a:tailEnd type="none" w="med" len="med"/>
                    </a:lnL>
                    <a:lnR w="9525" cap="flat" cmpd="sng" algn="ctr">
                      <a:solidFill>
                        <a:srgbClr val="2E2E2E"/>
                      </a:solidFill>
                      <a:prstDash val="solid"/>
                      <a:round/>
                      <a:headEnd type="none" w="med" len="med"/>
                      <a:tailEnd type="none" w="med" len="med"/>
                    </a:lnR>
                    <a:lnT w="9525" cap="flat" cmpd="sng" algn="ctr">
                      <a:solidFill>
                        <a:srgbClr val="2E2E2E"/>
                      </a:solidFill>
                      <a:prstDash val="solid"/>
                      <a:round/>
                      <a:headEnd type="none" w="med" len="med"/>
                      <a:tailEnd type="none" w="med" len="med"/>
                    </a:lnT>
                    <a:lnB w="9525" cap="flat" cmpd="sng" algn="ctr">
                      <a:solidFill>
                        <a:srgbClr val="2E2E2E"/>
                      </a:solidFill>
                      <a:prstDash val="solid"/>
                      <a:round/>
                      <a:headEnd type="none" w="med" len="med"/>
                      <a:tailEnd type="none" w="med" len="med"/>
                    </a:lnB>
                    <a:solidFill>
                      <a:srgbClr val="141414"/>
                    </a:solidFill>
                  </a:tcPr>
                </a:tc>
                <a:tc>
                  <a:txBody>
                    <a:bodyPr/>
                    <a:lstStyle/>
                    <a:p>
                      <a:pPr marL="0" indent="0">
                        <a:buNone/>
                      </a:pPr>
                      <a:r>
                        <a:rPr lang="en-US" sz="2000" dirty="0">
                          <a:solidFill>
                            <a:srgbClr val="FAFAF9"/>
                          </a:solidFill>
                          <a:latin typeface="DM Sans" pitchFamily="34" charset="0"/>
                          <a:ea typeface="DM Sans" pitchFamily="34" charset="-122"/>
                          <a:cs typeface="DM Sans" pitchFamily="34" charset="-120"/>
                        </a:rPr>
                        <a:t>Developers &amp; teams</a:t>
                      </a:r>
                      <a:endParaRPr lang="en-US" sz="2000" dirty="0">
                        <a:latin typeface="DM Sans" charset="0"/>
                        <a:ea typeface="DM Sans" charset="0"/>
                        <a:cs typeface="DM Sans" charset="0"/>
                      </a:endParaRPr>
                    </a:p>
                  </a:txBody>
                  <a:tcPr marL="76200" marR="76200" marT="76200" marB="76200" anchor="ctr">
                    <a:lnL w="9525" cap="flat" cmpd="sng" algn="ctr">
                      <a:solidFill>
                        <a:srgbClr val="2E2E2E"/>
                      </a:solidFill>
                      <a:prstDash val="solid"/>
                      <a:round/>
                      <a:headEnd type="none" w="med" len="med"/>
                      <a:tailEnd type="none" w="med" len="med"/>
                    </a:lnL>
                    <a:lnR w="9525" cap="flat" cmpd="sng" algn="ctr">
                      <a:solidFill>
                        <a:srgbClr val="2E2E2E"/>
                      </a:solidFill>
                      <a:prstDash val="solid"/>
                      <a:round/>
                      <a:headEnd type="none" w="med" len="med"/>
                      <a:tailEnd type="none" w="med" len="med"/>
                    </a:lnR>
                    <a:lnT w="9525" cap="flat" cmpd="sng" algn="ctr">
                      <a:solidFill>
                        <a:srgbClr val="2E2E2E"/>
                      </a:solidFill>
                      <a:prstDash val="solid"/>
                      <a:round/>
                      <a:headEnd type="none" w="med" len="med"/>
                      <a:tailEnd type="none" w="med" len="med"/>
                    </a:lnT>
                    <a:lnB w="9525" cap="flat" cmpd="sng" algn="ctr">
                      <a:solidFill>
                        <a:srgbClr val="2E2E2E"/>
                      </a:solidFill>
                      <a:prstDash val="solid"/>
                      <a:round/>
                      <a:headEnd type="none" w="med" len="med"/>
                      <a:tailEnd type="none" w="med" len="med"/>
                    </a:lnB>
                    <a:solidFill>
                      <a:srgbClr val="141414"/>
                    </a:solidFill>
                  </a:tcPr>
                </a:tc>
                <a:tc>
                  <a:txBody>
                    <a:bodyPr/>
                    <a:lstStyle/>
                    <a:p>
                      <a:pPr marL="0" indent="0">
                        <a:buNone/>
                      </a:pPr>
                      <a:r>
                        <a:rPr lang="en-US" sz="2000" dirty="0">
                          <a:solidFill>
                            <a:srgbClr val="FAFAF9"/>
                          </a:solidFill>
                          <a:latin typeface="DM Sans" pitchFamily="34" charset="0"/>
                          <a:ea typeface="DM Sans" pitchFamily="34" charset="-122"/>
                          <a:cs typeface="DM Sans" pitchFamily="34" charset="-120"/>
                        </a:rPr>
                        <a:t>Independent builds, deploys, onboarding at scale, slow rewrite</a:t>
                      </a:r>
                      <a:endParaRPr lang="en-US" sz="2000" dirty="0">
                        <a:latin typeface="DM Sans" charset="0"/>
                        <a:ea typeface="DM Sans" charset="0"/>
                        <a:cs typeface="DM Sans" charset="0"/>
                      </a:endParaRPr>
                    </a:p>
                  </a:txBody>
                  <a:tcPr marL="76200" marR="76200" marT="76200" marB="76200" anchor="ctr">
                    <a:lnL w="9525" cap="flat" cmpd="sng" algn="ctr">
                      <a:solidFill>
                        <a:srgbClr val="2E2E2E"/>
                      </a:solidFill>
                      <a:prstDash val="solid"/>
                      <a:round/>
                      <a:headEnd type="none" w="med" len="med"/>
                      <a:tailEnd type="none" w="med" len="med"/>
                    </a:lnL>
                    <a:lnR w="9525" cap="flat" cmpd="sng" algn="ctr">
                      <a:solidFill>
                        <a:srgbClr val="2E2E2E"/>
                      </a:solidFill>
                      <a:prstDash val="solid"/>
                      <a:round/>
                      <a:headEnd type="none" w="med" len="med"/>
                      <a:tailEnd type="none" w="med" len="med"/>
                    </a:lnR>
                    <a:lnT w="9525" cap="flat" cmpd="sng" algn="ctr">
                      <a:solidFill>
                        <a:srgbClr val="2E2E2E"/>
                      </a:solidFill>
                      <a:prstDash val="solid"/>
                      <a:round/>
                      <a:headEnd type="none" w="med" len="med"/>
                      <a:tailEnd type="none" w="med" len="med"/>
                    </a:lnT>
                    <a:lnB w="9525" cap="flat" cmpd="sng" algn="ctr">
                      <a:solidFill>
                        <a:srgbClr val="2E2E2E"/>
                      </a:solidFill>
                      <a:prstDash val="solid"/>
                      <a:round/>
                      <a:headEnd type="none" w="med" len="med"/>
                      <a:tailEnd type="none" w="med" len="med"/>
                    </a:lnB>
                    <a:solidFill>
                      <a:srgbClr val="141414"/>
                    </a:solidFill>
                  </a:tcPr>
                </a:tc>
                <a:extLst>
                  <a:ext uri="{0D108BD9-81ED-4DB2-BD59-A6C34878D82A}">
                    <a16:rowId xmlns:a16="http://schemas.microsoft.com/office/drawing/2014/main" val="10001"/>
                  </a:ext>
                </a:extLst>
              </a:tr>
              <a:tr h="411480">
                <a:tc>
                  <a:txBody>
                    <a:bodyPr/>
                    <a:lstStyle/>
                    <a:p>
                      <a:pPr marL="0" indent="0">
                        <a:buNone/>
                      </a:pPr>
                      <a:r>
                        <a:rPr lang="en-US" sz="2000" dirty="0">
                          <a:solidFill>
                            <a:srgbClr val="FAFAF9"/>
                          </a:solidFill>
                          <a:latin typeface="DM Sans" pitchFamily="34" charset="0"/>
                          <a:ea typeface="DM Sans" pitchFamily="34" charset="-122"/>
                          <a:cs typeface="DM Sans" pitchFamily="34" charset="-120"/>
                        </a:rPr>
                        <a:t>Suspense + skeletons</a:t>
                      </a:r>
                      <a:endParaRPr lang="en-US" sz="2000" dirty="0">
                        <a:latin typeface="DM Sans" charset="0"/>
                        <a:ea typeface="DM Sans" charset="0"/>
                        <a:cs typeface="DM Sans" charset="0"/>
                      </a:endParaRPr>
                    </a:p>
                  </a:txBody>
                  <a:tcPr marL="76200" marR="76200" marT="76200" marB="76200" anchor="ctr">
                    <a:lnL w="9525" cap="flat" cmpd="sng" algn="ctr">
                      <a:solidFill>
                        <a:srgbClr val="2E2E2E"/>
                      </a:solidFill>
                      <a:prstDash val="solid"/>
                      <a:round/>
                      <a:headEnd type="none" w="med" len="med"/>
                      <a:tailEnd type="none" w="med" len="med"/>
                    </a:lnL>
                    <a:lnR w="9525" cap="flat" cmpd="sng" algn="ctr">
                      <a:solidFill>
                        <a:srgbClr val="2E2E2E"/>
                      </a:solidFill>
                      <a:prstDash val="solid"/>
                      <a:round/>
                      <a:headEnd type="none" w="med" len="med"/>
                      <a:tailEnd type="none" w="med" len="med"/>
                    </a:lnR>
                    <a:lnT w="9525" cap="flat" cmpd="sng" algn="ctr">
                      <a:solidFill>
                        <a:srgbClr val="2E2E2E"/>
                      </a:solidFill>
                      <a:prstDash val="solid"/>
                      <a:round/>
                      <a:headEnd type="none" w="med" len="med"/>
                      <a:tailEnd type="none" w="med" len="med"/>
                    </a:lnT>
                    <a:lnB w="9525" cap="flat" cmpd="sng" algn="ctr">
                      <a:solidFill>
                        <a:srgbClr val="2E2E2E"/>
                      </a:solidFill>
                      <a:prstDash val="solid"/>
                      <a:round/>
                      <a:headEnd type="none" w="med" len="med"/>
                      <a:tailEnd type="none" w="med" len="med"/>
                    </a:lnB>
                    <a:solidFill>
                      <a:srgbClr val="141414"/>
                    </a:solidFill>
                  </a:tcPr>
                </a:tc>
                <a:tc>
                  <a:txBody>
                    <a:bodyPr/>
                    <a:lstStyle/>
                    <a:p>
                      <a:pPr marL="0" indent="0">
                        <a:buNone/>
                      </a:pPr>
                      <a:r>
                        <a:rPr lang="en-US" sz="2000" dirty="0">
                          <a:solidFill>
                            <a:srgbClr val="FAFAF9"/>
                          </a:solidFill>
                          <a:latin typeface="DM Sans" pitchFamily="34" charset="0"/>
                          <a:ea typeface="DM Sans" pitchFamily="34" charset="-122"/>
                          <a:cs typeface="DM Sans" pitchFamily="34" charset="-120"/>
                        </a:rPr>
                        <a:t>End users &amp; visitors</a:t>
                      </a:r>
                      <a:endParaRPr lang="en-US" sz="2000" dirty="0">
                        <a:latin typeface="DM Sans" charset="0"/>
                        <a:ea typeface="DM Sans" charset="0"/>
                        <a:cs typeface="DM Sans" charset="0"/>
                      </a:endParaRPr>
                    </a:p>
                  </a:txBody>
                  <a:tcPr marL="76200" marR="76200" marT="76200" marB="76200" anchor="ctr">
                    <a:lnL w="9525" cap="flat" cmpd="sng" algn="ctr">
                      <a:solidFill>
                        <a:srgbClr val="2E2E2E"/>
                      </a:solidFill>
                      <a:prstDash val="solid"/>
                      <a:round/>
                      <a:headEnd type="none" w="med" len="med"/>
                      <a:tailEnd type="none" w="med" len="med"/>
                    </a:lnL>
                    <a:lnR w="9525" cap="flat" cmpd="sng" algn="ctr">
                      <a:solidFill>
                        <a:srgbClr val="2E2E2E"/>
                      </a:solidFill>
                      <a:prstDash val="solid"/>
                      <a:round/>
                      <a:headEnd type="none" w="med" len="med"/>
                      <a:tailEnd type="none" w="med" len="med"/>
                    </a:lnR>
                    <a:lnT w="9525" cap="flat" cmpd="sng" algn="ctr">
                      <a:solidFill>
                        <a:srgbClr val="2E2E2E"/>
                      </a:solidFill>
                      <a:prstDash val="solid"/>
                      <a:round/>
                      <a:headEnd type="none" w="med" len="med"/>
                      <a:tailEnd type="none" w="med" len="med"/>
                    </a:lnT>
                    <a:lnB w="9525" cap="flat" cmpd="sng" algn="ctr">
                      <a:solidFill>
                        <a:srgbClr val="2E2E2E"/>
                      </a:solidFill>
                      <a:prstDash val="solid"/>
                      <a:round/>
                      <a:headEnd type="none" w="med" len="med"/>
                      <a:tailEnd type="none" w="med" len="med"/>
                    </a:lnB>
                    <a:solidFill>
                      <a:srgbClr val="141414"/>
                    </a:solidFill>
                  </a:tcPr>
                </a:tc>
                <a:tc>
                  <a:txBody>
                    <a:bodyPr/>
                    <a:lstStyle/>
                    <a:p>
                      <a:pPr marL="0" indent="0">
                        <a:buNone/>
                      </a:pPr>
                      <a:r>
                        <a:rPr lang="en-US" sz="2000" dirty="0">
                          <a:solidFill>
                            <a:srgbClr val="FAFAF9"/>
                          </a:solidFill>
                          <a:latin typeface="DM Sans" pitchFamily="34" charset="0"/>
                          <a:ea typeface="DM Sans" pitchFamily="34" charset="-122"/>
                          <a:cs typeface="DM Sans" pitchFamily="34" charset="-120"/>
                        </a:rPr>
                        <a:t>Instant perceived load, no blank screens at runtime</a:t>
                      </a:r>
                      <a:endParaRPr lang="en-US" sz="2000" dirty="0">
                        <a:latin typeface="DM Sans" charset="0"/>
                        <a:ea typeface="DM Sans" charset="0"/>
                        <a:cs typeface="DM Sans" charset="0"/>
                      </a:endParaRPr>
                    </a:p>
                  </a:txBody>
                  <a:tcPr marL="76200" marR="76200" marT="76200" marB="76200" anchor="ctr">
                    <a:lnL w="9525" cap="flat" cmpd="sng" algn="ctr">
                      <a:solidFill>
                        <a:srgbClr val="2E2E2E"/>
                      </a:solidFill>
                      <a:prstDash val="solid"/>
                      <a:round/>
                      <a:headEnd type="none" w="med" len="med"/>
                      <a:tailEnd type="none" w="med" len="med"/>
                    </a:lnL>
                    <a:lnR w="9525" cap="flat" cmpd="sng" algn="ctr">
                      <a:solidFill>
                        <a:srgbClr val="2E2E2E"/>
                      </a:solidFill>
                      <a:prstDash val="solid"/>
                      <a:round/>
                      <a:headEnd type="none" w="med" len="med"/>
                      <a:tailEnd type="none" w="med" len="med"/>
                    </a:lnR>
                    <a:lnT w="9525" cap="flat" cmpd="sng" algn="ctr">
                      <a:solidFill>
                        <a:srgbClr val="2E2E2E"/>
                      </a:solidFill>
                      <a:prstDash val="solid"/>
                      <a:round/>
                      <a:headEnd type="none" w="med" len="med"/>
                      <a:tailEnd type="none" w="med" len="med"/>
                    </a:lnT>
                    <a:lnB w="9525" cap="flat" cmpd="sng" algn="ctr">
                      <a:solidFill>
                        <a:srgbClr val="2E2E2E"/>
                      </a:solidFill>
                      <a:prstDash val="solid"/>
                      <a:round/>
                      <a:headEnd type="none" w="med" len="med"/>
                      <a:tailEnd type="none" w="med" len="med"/>
                    </a:lnB>
                    <a:solidFill>
                      <a:srgbClr val="141414"/>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3559784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2">
            <a:extLst>
              <a:ext uri="{FF2B5EF4-FFF2-40B4-BE49-F238E27FC236}">
                <a16:creationId xmlns:a16="http://schemas.microsoft.com/office/drawing/2014/main" id="{31711E41-ABC8-61F2-D009-B7AB6AF21110}"/>
              </a:ext>
            </a:extLst>
          </p:cNvPr>
          <p:cNvSpPr/>
          <p:nvPr/>
        </p:nvSpPr>
        <p:spPr>
          <a:xfrm>
            <a:off x="530352" y="713232"/>
            <a:ext cx="11109960" cy="777240"/>
          </a:xfrm>
          <a:prstGeom prst="rect">
            <a:avLst/>
          </a:prstGeom>
          <a:noFill/>
          <a:ln/>
        </p:spPr>
        <p:txBody>
          <a:bodyPr wrap="square" rtlCol="0" anchor="ctr"/>
          <a:lstStyle/>
          <a:p>
            <a:r>
              <a:rPr lang="en-US" sz="3300" i="1" dirty="0">
                <a:solidFill>
                  <a:schemeClr val="tx1">
                    <a:lumMod val="95000"/>
                    <a:lumOff val="5000"/>
                  </a:schemeClr>
                </a:solidFill>
                <a:latin typeface="Instrument Serif" pitchFamily="34" charset="0"/>
                <a:ea typeface="Instrument Serif" pitchFamily="34" charset="-122"/>
                <a:cs typeface="Instrument Serif" pitchFamily="34" charset="-120"/>
              </a:rPr>
              <a:t>MF is for teams. Suspense is for users. You need both.</a:t>
            </a:r>
            <a:endParaRPr lang="en-US" sz="3300" dirty="0">
              <a:solidFill>
                <a:schemeClr val="tx1">
                  <a:lumMod val="95000"/>
                  <a:lumOff val="5000"/>
                </a:schemeClr>
              </a:solidFill>
            </a:endParaRPr>
          </a:p>
        </p:txBody>
      </p:sp>
      <p:sp>
        <p:nvSpPr>
          <p:cNvPr id="5" name="Text 5">
            <a:extLst>
              <a:ext uri="{FF2B5EF4-FFF2-40B4-BE49-F238E27FC236}">
                <a16:creationId xmlns:a16="http://schemas.microsoft.com/office/drawing/2014/main" id="{497A809A-85C2-9736-231A-B5C634D123D4}"/>
              </a:ext>
            </a:extLst>
          </p:cNvPr>
          <p:cNvSpPr/>
          <p:nvPr/>
        </p:nvSpPr>
        <p:spPr>
          <a:xfrm>
            <a:off x="530352" y="3027144"/>
            <a:ext cx="11064240" cy="1825271"/>
          </a:xfrm>
          <a:prstGeom prst="rect">
            <a:avLst/>
          </a:prstGeom>
          <a:noFill/>
          <a:ln/>
        </p:spPr>
        <p:txBody>
          <a:bodyPr wrap="square" rtlCol="0" anchor="t"/>
          <a:lstStyle/>
          <a:p>
            <a:pPr>
              <a:lnSpc>
                <a:spcPts val="1750"/>
              </a:lnSpc>
            </a:pPr>
            <a:r>
              <a:rPr lang="en-US" sz="2000" dirty="0">
                <a:solidFill>
                  <a:schemeClr val="tx1">
                    <a:lumMod val="95000"/>
                    <a:lumOff val="5000"/>
                  </a:schemeClr>
                </a:solidFill>
                <a:latin typeface="Cascadia Code" panose="020B0609020000020004" pitchFamily="49" charset="0"/>
                <a:ea typeface="IBM Plex Mono" pitchFamily="34" charset="-122"/>
                <a:cs typeface="Cascadia Code" panose="020B0609020000020004" pitchFamily="49" charset="0"/>
              </a:rPr>
              <a:t>Federation without Suspense:  click → blank → spinner → content. </a:t>
            </a:r>
          </a:p>
          <a:p>
            <a:pPr>
              <a:lnSpc>
                <a:spcPts val="1750"/>
              </a:lnSpc>
            </a:pPr>
            <a:r>
              <a:rPr lang="en-US" sz="2000" dirty="0">
                <a:solidFill>
                  <a:schemeClr val="tx1">
                    <a:lumMod val="95000"/>
                    <a:lumOff val="5000"/>
                  </a:schemeClr>
                </a:solidFill>
                <a:latin typeface="Cascadia Code" panose="020B0609020000020004" pitchFamily="49" charset="0"/>
                <a:ea typeface="IBM Plex Mono" pitchFamily="34" charset="-122"/>
                <a:cs typeface="Cascadia Code" panose="020B0609020000020004" pitchFamily="49" charset="0"/>
              </a:rPr>
              <a:t>				      Clean ownership, slow-feeling app.</a:t>
            </a:r>
          </a:p>
          <a:p>
            <a:pPr>
              <a:lnSpc>
                <a:spcPts val="1750"/>
              </a:lnSpc>
            </a:pPr>
            <a:endParaRPr lang="en-US" sz="2000" dirty="0">
              <a:solidFill>
                <a:schemeClr val="tx1">
                  <a:lumMod val="95000"/>
                  <a:lumOff val="5000"/>
                </a:schemeClr>
              </a:solidFill>
              <a:latin typeface="Cascadia Code" panose="020B0609020000020004" pitchFamily="49" charset="0"/>
              <a:ea typeface="IBM Plex Mono" pitchFamily="34" charset="-122"/>
              <a:cs typeface="Cascadia Code" panose="020B0609020000020004" pitchFamily="49" charset="0"/>
            </a:endParaRPr>
          </a:p>
          <a:p>
            <a:pPr>
              <a:lnSpc>
                <a:spcPts val="1750"/>
              </a:lnSpc>
            </a:pPr>
            <a:endParaRPr lang="en-US" sz="2000" dirty="0">
              <a:solidFill>
                <a:schemeClr val="tx1">
                  <a:lumMod val="95000"/>
                  <a:lumOff val="5000"/>
                </a:schemeClr>
              </a:solidFill>
              <a:latin typeface="Cascadia Code" panose="020B0609020000020004" pitchFamily="49" charset="0"/>
              <a:cs typeface="Cascadia Code" panose="020B0609020000020004" pitchFamily="49" charset="0"/>
            </a:endParaRPr>
          </a:p>
          <a:p>
            <a:pPr>
              <a:lnSpc>
                <a:spcPts val="1750"/>
              </a:lnSpc>
            </a:pPr>
            <a:r>
              <a:rPr lang="en-US" sz="2000" dirty="0">
                <a:solidFill>
                  <a:schemeClr val="tx1">
                    <a:lumMod val="95000"/>
                    <a:lumOff val="5000"/>
                  </a:schemeClr>
                </a:solidFill>
                <a:latin typeface="Cascadia Code" panose="020B0609020000020004" pitchFamily="49" charset="0"/>
                <a:ea typeface="IBM Plex Mono" pitchFamily="34" charset="-122"/>
                <a:cs typeface="Cascadia Code" panose="020B0609020000020004" pitchFamily="49" charset="0"/>
              </a:rPr>
              <a:t>With Suspense:                click → skeleton instantly → content when 				      ready. </a:t>
            </a:r>
          </a:p>
          <a:p>
            <a:pPr>
              <a:lnSpc>
                <a:spcPts val="1750"/>
              </a:lnSpc>
            </a:pPr>
            <a:r>
              <a:rPr lang="en-US" sz="2000" dirty="0">
                <a:solidFill>
                  <a:schemeClr val="tx1">
                    <a:lumMod val="95000"/>
                    <a:lumOff val="5000"/>
                  </a:schemeClr>
                </a:solidFill>
                <a:latin typeface="Cascadia Code" panose="020B0609020000020004" pitchFamily="49" charset="0"/>
                <a:ea typeface="IBM Plex Mono" pitchFamily="34" charset="-122"/>
                <a:cs typeface="Cascadia Code" panose="020B0609020000020004" pitchFamily="49" charset="0"/>
              </a:rPr>
              <a:t>                              And each remote decides when "ready" is.</a:t>
            </a:r>
            <a:endParaRPr lang="en-US" sz="2000" dirty="0">
              <a:solidFill>
                <a:schemeClr val="tx1">
                  <a:lumMod val="95000"/>
                  <a:lumOff val="5000"/>
                </a:schemeClr>
              </a:solidFill>
              <a:latin typeface="Cascadia Code" panose="020B0609020000020004" pitchFamily="49" charset="0"/>
              <a:cs typeface="Cascadia Code" panose="020B0609020000020004" pitchFamily="49" charset="0"/>
            </a:endParaRPr>
          </a:p>
        </p:txBody>
      </p:sp>
    </p:spTree>
    <p:extLst>
      <p:ext uri="{BB962C8B-B14F-4D97-AF65-F5344CB8AC3E}">
        <p14:creationId xmlns:p14="http://schemas.microsoft.com/office/powerpoint/2010/main" val="30185272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2">
            <a:extLst>
              <a:ext uri="{FF2B5EF4-FFF2-40B4-BE49-F238E27FC236}">
                <a16:creationId xmlns:a16="http://schemas.microsoft.com/office/drawing/2014/main" id="{AE7BAA42-8979-2749-678C-C4B2DCFC42DC}"/>
              </a:ext>
            </a:extLst>
          </p:cNvPr>
          <p:cNvSpPr/>
          <p:nvPr/>
        </p:nvSpPr>
        <p:spPr>
          <a:xfrm>
            <a:off x="530352" y="713232"/>
            <a:ext cx="11109960" cy="777240"/>
          </a:xfrm>
          <a:prstGeom prst="rect">
            <a:avLst/>
          </a:prstGeom>
          <a:noFill/>
          <a:ln/>
        </p:spPr>
        <p:txBody>
          <a:bodyPr wrap="square" rtlCol="0" anchor="ctr"/>
          <a:lstStyle/>
          <a:p>
            <a:pPr marL="0" indent="0">
              <a:buNone/>
            </a:pPr>
            <a:r>
              <a:rPr lang="en-US" sz="3300" i="1" dirty="0">
                <a:solidFill>
                  <a:schemeClr val="tx1">
                    <a:lumMod val="95000"/>
                    <a:lumOff val="5000"/>
                  </a:schemeClr>
                </a:solidFill>
                <a:latin typeface="Instrument Serif" pitchFamily="34" charset="0"/>
                <a:ea typeface="Instrument Serif" pitchFamily="34" charset="-122"/>
                <a:cs typeface="Instrument Serif" pitchFamily="34" charset="-120"/>
              </a:rPr>
              <a:t>One shell, four remotes, three loading strategies</a:t>
            </a:r>
            <a:endParaRPr lang="en-US" sz="3300" dirty="0">
              <a:solidFill>
                <a:schemeClr val="tx1">
                  <a:lumMod val="95000"/>
                  <a:lumOff val="5000"/>
                </a:schemeClr>
              </a:solidFill>
            </a:endParaRPr>
          </a:p>
        </p:txBody>
      </p:sp>
      <p:sp>
        <p:nvSpPr>
          <p:cNvPr id="5" name="Text 5">
            <a:extLst>
              <a:ext uri="{FF2B5EF4-FFF2-40B4-BE49-F238E27FC236}">
                <a16:creationId xmlns:a16="http://schemas.microsoft.com/office/drawing/2014/main" id="{5E252CBF-4D3F-DA4C-2817-C743E648F88B}"/>
              </a:ext>
            </a:extLst>
          </p:cNvPr>
          <p:cNvSpPr/>
          <p:nvPr/>
        </p:nvSpPr>
        <p:spPr>
          <a:xfrm>
            <a:off x="562292" y="2764715"/>
            <a:ext cx="11064240" cy="2834640"/>
          </a:xfrm>
          <a:prstGeom prst="rect">
            <a:avLst/>
          </a:prstGeom>
          <a:noFill/>
          <a:ln/>
        </p:spPr>
        <p:txBody>
          <a:bodyPr wrap="square" rtlCol="0" anchor="t"/>
          <a:lstStyle/>
          <a:p>
            <a:pPr marL="0" indent="0" algn="l">
              <a:lnSpc>
                <a:spcPts val="1610"/>
              </a:lnSpc>
              <a:buNone/>
            </a:pPr>
            <a:r>
              <a:rPr lang="en-US" dirty="0">
                <a:solidFill>
                  <a:schemeClr val="tx1">
                    <a:lumMod val="95000"/>
                    <a:lumOff val="5000"/>
                  </a:schemeClr>
                </a:solidFill>
                <a:latin typeface="Cascadia Code NF" pitchFamily="50" charset="0"/>
                <a:ea typeface="Cascadia Code NF" pitchFamily="50" charset="0"/>
                <a:cs typeface="Cascadia Code NF" pitchFamily="50" charset="0"/>
              </a:rPr>
              <a:t>┌───────────────────────── SHELL :3000 ─────────────────────────┐</a:t>
            </a:r>
          </a:p>
          <a:p>
            <a:pPr marL="0" indent="0" algn="l">
              <a:lnSpc>
                <a:spcPts val="1610"/>
              </a:lnSpc>
              <a:buNone/>
            </a:pPr>
            <a:r>
              <a:rPr lang="en-US" dirty="0">
                <a:solidFill>
                  <a:schemeClr val="tx1">
                    <a:lumMod val="95000"/>
                    <a:lumOff val="5000"/>
                  </a:schemeClr>
                </a:solidFill>
                <a:latin typeface="Cascadia Code NF" pitchFamily="50" charset="0"/>
                <a:ea typeface="Cascadia Code NF" pitchFamily="50" charset="0"/>
                <a:cs typeface="Cascadia Code NF" pitchFamily="50" charset="0"/>
              </a:rPr>
              <a:t>│  Nav · Router · Theme · Status strip (INSTANT|EAGER|STREAMING)│</a:t>
            </a:r>
          </a:p>
          <a:p>
            <a:pPr marL="0" indent="0" algn="l">
              <a:lnSpc>
                <a:spcPts val="1610"/>
              </a:lnSpc>
              <a:buNone/>
            </a:pPr>
            <a:r>
              <a:rPr lang="en-US" dirty="0">
                <a:solidFill>
                  <a:schemeClr val="tx1">
                    <a:lumMod val="95000"/>
                    <a:lumOff val="5000"/>
                  </a:schemeClr>
                </a:solidFill>
                <a:latin typeface="Cascadia Code NF" pitchFamily="50" charset="0"/>
                <a:ea typeface="Cascadia Code NF" pitchFamily="50" charset="0"/>
                <a:cs typeface="Cascadia Code NF" pitchFamily="50" charset="0"/>
              </a:rPr>
              <a:t>│                                                               │</a:t>
            </a:r>
          </a:p>
          <a:p>
            <a:pPr marL="0" indent="0" algn="l">
              <a:lnSpc>
                <a:spcPts val="1610"/>
              </a:lnSpc>
              <a:buNone/>
            </a:pPr>
            <a:r>
              <a:rPr lang="en-US" dirty="0">
                <a:solidFill>
                  <a:schemeClr val="tx1">
                    <a:lumMod val="95000"/>
                    <a:lumOff val="5000"/>
                  </a:schemeClr>
                </a:solidFill>
                <a:latin typeface="Cascadia Code NF" pitchFamily="50" charset="0"/>
                <a:ea typeface="Cascadia Code NF" pitchFamily="50" charset="0"/>
                <a:cs typeface="Cascadia Code NF" pitchFamily="50" charset="0"/>
              </a:rPr>
              <a:t>│    &lt;ErrorBoundary&gt;                                            │</a:t>
            </a:r>
          </a:p>
          <a:p>
            <a:pPr marL="0" indent="0" algn="l">
              <a:lnSpc>
                <a:spcPts val="1610"/>
              </a:lnSpc>
              <a:buNone/>
            </a:pPr>
            <a:r>
              <a:rPr lang="en-US" dirty="0">
                <a:solidFill>
                  <a:schemeClr val="tx1">
                    <a:lumMod val="95000"/>
                    <a:lumOff val="5000"/>
                  </a:schemeClr>
                </a:solidFill>
                <a:latin typeface="Cascadia Code NF" pitchFamily="50" charset="0"/>
                <a:ea typeface="Cascadia Code NF" pitchFamily="50" charset="0"/>
                <a:cs typeface="Cascadia Code NF" pitchFamily="50" charset="0"/>
              </a:rPr>
              <a:t>│      &lt;Suspense fallback={&lt;Skeleton /&gt;}&gt;                       │</a:t>
            </a:r>
          </a:p>
          <a:p>
            <a:pPr marL="0" indent="0" algn="l">
              <a:lnSpc>
                <a:spcPts val="1610"/>
              </a:lnSpc>
              <a:buNone/>
            </a:pPr>
            <a:r>
              <a:rPr lang="en-US" dirty="0">
                <a:solidFill>
                  <a:schemeClr val="tx1">
                    <a:lumMod val="95000"/>
                    <a:lumOff val="5000"/>
                  </a:schemeClr>
                </a:solidFill>
                <a:latin typeface="Cascadia Code NF" pitchFamily="50" charset="0"/>
                <a:ea typeface="Cascadia Code NF" pitchFamily="50" charset="0"/>
                <a:cs typeface="Cascadia Code NF" pitchFamily="50" charset="0"/>
              </a:rPr>
              <a:t>│        &lt;RemoteModule /&gt;                                       │</a:t>
            </a:r>
          </a:p>
          <a:p>
            <a:pPr marL="0" indent="0" algn="l">
              <a:lnSpc>
                <a:spcPts val="1610"/>
              </a:lnSpc>
              <a:buNone/>
            </a:pPr>
            <a:r>
              <a:rPr lang="en-US" dirty="0">
                <a:solidFill>
                  <a:schemeClr val="tx1">
                    <a:lumMod val="95000"/>
                    <a:lumOff val="5000"/>
                  </a:schemeClr>
                </a:solidFill>
                <a:latin typeface="Cascadia Code NF" pitchFamily="50" charset="0"/>
                <a:ea typeface="Cascadia Code NF" pitchFamily="50" charset="0"/>
                <a:cs typeface="Cascadia Code NF" pitchFamily="50" charset="0"/>
              </a:rPr>
              <a:t>│      &lt;/Suspense&gt;                                              │</a:t>
            </a:r>
          </a:p>
          <a:p>
            <a:pPr marL="0" indent="0" algn="l">
              <a:lnSpc>
                <a:spcPts val="1610"/>
              </a:lnSpc>
              <a:buNone/>
            </a:pPr>
            <a:r>
              <a:rPr lang="en-US" dirty="0">
                <a:solidFill>
                  <a:schemeClr val="tx1">
                    <a:lumMod val="95000"/>
                    <a:lumOff val="5000"/>
                  </a:schemeClr>
                </a:solidFill>
                <a:latin typeface="Cascadia Code NF" pitchFamily="50" charset="0"/>
                <a:ea typeface="Cascadia Code NF" pitchFamily="50" charset="0"/>
                <a:cs typeface="Cascadia Code NF" pitchFamily="50" charset="0"/>
              </a:rPr>
              <a:t>│    &lt;/ErrorBoundary&gt;                                           │</a:t>
            </a:r>
          </a:p>
          <a:p>
            <a:pPr marL="0" indent="0" algn="l">
              <a:lnSpc>
                <a:spcPts val="1610"/>
              </a:lnSpc>
              <a:buNone/>
            </a:pPr>
            <a:r>
              <a:rPr lang="en-US" dirty="0">
                <a:solidFill>
                  <a:schemeClr val="tx1">
                    <a:lumMod val="95000"/>
                    <a:lumOff val="5000"/>
                  </a:schemeClr>
                </a:solidFill>
                <a:latin typeface="Cascadia Code NF" pitchFamily="50" charset="0"/>
                <a:ea typeface="Cascadia Code NF" pitchFamily="50" charset="0"/>
                <a:cs typeface="Cascadia Code NF" pitchFamily="50" charset="0"/>
              </a:rPr>
              <a:t>└───────┬───────────┬────────────────┬──────────────┬───────────┘</a:t>
            </a:r>
          </a:p>
          <a:p>
            <a:pPr marL="0" indent="0" algn="l">
              <a:lnSpc>
                <a:spcPts val="1610"/>
              </a:lnSpc>
              <a:buNone/>
            </a:pPr>
            <a:r>
              <a:rPr lang="en-US" dirty="0">
                <a:solidFill>
                  <a:schemeClr val="tx1">
                    <a:lumMod val="95000"/>
                    <a:lumOff val="5000"/>
                  </a:schemeClr>
                </a:solidFill>
                <a:latin typeface="Cascadia Code NF" pitchFamily="50" charset="0"/>
                <a:ea typeface="Cascadia Code NF" pitchFamily="50" charset="0"/>
                <a:cs typeface="Cascadia Code NF" pitchFamily="50" charset="0"/>
              </a:rPr>
              <a:t>     Home :3004  Records :3001  Prescriptions :3002  Analytics :3003</a:t>
            </a:r>
          </a:p>
          <a:p>
            <a:pPr marL="0" indent="0" algn="l">
              <a:lnSpc>
                <a:spcPts val="1610"/>
              </a:lnSpc>
              <a:buNone/>
            </a:pPr>
            <a:r>
              <a:rPr lang="en-US" dirty="0">
                <a:solidFill>
                  <a:schemeClr val="tx1">
                    <a:lumMod val="95000"/>
                    <a:lumOff val="5000"/>
                  </a:schemeClr>
                </a:solidFill>
                <a:latin typeface="Cascadia Code NF" pitchFamily="50" charset="0"/>
                <a:ea typeface="Cascadia Code NF" pitchFamily="50" charset="0"/>
                <a:cs typeface="Cascadia Code NF" pitchFamily="50" charset="0"/>
              </a:rPr>
              <a:t>     INSTANT     EAGER          STREAMED             STREAMED</a:t>
            </a:r>
          </a:p>
        </p:txBody>
      </p:sp>
    </p:spTree>
    <p:extLst>
      <p:ext uri="{BB962C8B-B14F-4D97-AF65-F5344CB8AC3E}">
        <p14:creationId xmlns:p14="http://schemas.microsoft.com/office/powerpoint/2010/main" val="320200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E3F89-483A-0053-D78D-1A8901B047F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48116DE-5DA1-A8F4-171E-98CD8EF39457}"/>
              </a:ext>
            </a:extLst>
          </p:cNvPr>
          <p:cNvSpPr txBox="1"/>
          <p:nvPr/>
        </p:nvSpPr>
        <p:spPr>
          <a:xfrm>
            <a:off x="722376" y="576072"/>
            <a:ext cx="1436612" cy="707886"/>
          </a:xfrm>
          <a:prstGeom prst="rect">
            <a:avLst/>
          </a:prstGeom>
          <a:noFill/>
        </p:spPr>
        <p:txBody>
          <a:bodyPr wrap="none" rtlCol="0">
            <a:spAutoFit/>
          </a:bodyPr>
          <a:lstStyle/>
          <a:p>
            <a:r>
              <a:rPr lang="en-GB" sz="4000" dirty="0"/>
              <a:t>Demo</a:t>
            </a:r>
          </a:p>
        </p:txBody>
      </p:sp>
      <p:sp>
        <p:nvSpPr>
          <p:cNvPr id="4" name="TextBox 3">
            <a:extLst>
              <a:ext uri="{FF2B5EF4-FFF2-40B4-BE49-F238E27FC236}">
                <a16:creationId xmlns:a16="http://schemas.microsoft.com/office/drawing/2014/main" id="{FCCE98A8-BD8A-6B23-799E-D4E934D31BDC}"/>
              </a:ext>
            </a:extLst>
          </p:cNvPr>
          <p:cNvSpPr txBox="1"/>
          <p:nvPr/>
        </p:nvSpPr>
        <p:spPr>
          <a:xfrm>
            <a:off x="770310" y="3075057"/>
            <a:ext cx="10648236" cy="707886"/>
          </a:xfrm>
          <a:prstGeom prst="rect">
            <a:avLst/>
          </a:prstGeom>
          <a:noFill/>
        </p:spPr>
        <p:txBody>
          <a:bodyPr wrap="none" rtlCol="0">
            <a:spAutoFit/>
          </a:bodyPr>
          <a:lstStyle/>
          <a:p>
            <a:pPr algn="ctr"/>
            <a:r>
              <a:rPr lang="en-GB" sz="4000" dirty="0"/>
              <a:t>Preloading and prefetching (network tab </a:t>
            </a:r>
            <a:r>
              <a:rPr lang="en-GB" sz="4000" dirty="0" err="1"/>
              <a:t>devtools</a:t>
            </a:r>
            <a:r>
              <a:rPr lang="en-GB" sz="4000" dirty="0"/>
              <a:t>)</a:t>
            </a:r>
          </a:p>
        </p:txBody>
      </p:sp>
    </p:spTree>
    <p:extLst>
      <p:ext uri="{BB962C8B-B14F-4D97-AF65-F5344CB8AC3E}">
        <p14:creationId xmlns:p14="http://schemas.microsoft.com/office/powerpoint/2010/main" val="23981073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2">
            <a:extLst>
              <a:ext uri="{FF2B5EF4-FFF2-40B4-BE49-F238E27FC236}">
                <a16:creationId xmlns:a16="http://schemas.microsoft.com/office/drawing/2014/main" id="{915B897A-3EEC-DD92-29A6-A9DC36773ED2}"/>
              </a:ext>
            </a:extLst>
          </p:cNvPr>
          <p:cNvSpPr/>
          <p:nvPr/>
        </p:nvSpPr>
        <p:spPr>
          <a:xfrm>
            <a:off x="530352" y="713232"/>
            <a:ext cx="11109960" cy="777240"/>
          </a:xfrm>
          <a:prstGeom prst="rect">
            <a:avLst/>
          </a:prstGeom>
          <a:noFill/>
          <a:ln/>
        </p:spPr>
        <p:txBody>
          <a:bodyPr wrap="square" rtlCol="0" anchor="ctr"/>
          <a:lstStyle/>
          <a:p>
            <a:pPr marL="0" indent="0">
              <a:buNone/>
            </a:pPr>
            <a:r>
              <a:rPr lang="en-US" sz="3300" i="1" dirty="0">
                <a:solidFill>
                  <a:schemeClr val="tx1">
                    <a:lumMod val="95000"/>
                    <a:lumOff val="5000"/>
                  </a:schemeClr>
                </a:solidFill>
                <a:latin typeface="Instrument Serif" pitchFamily="34" charset="0"/>
                <a:ea typeface="Instrument Serif" pitchFamily="34" charset="-122"/>
                <a:cs typeface="Instrument Serif" pitchFamily="34" charset="-120"/>
              </a:rPr>
              <a:t>Three strategies, three layers of resilience</a:t>
            </a:r>
            <a:endParaRPr lang="en-US" sz="3300" dirty="0">
              <a:solidFill>
                <a:schemeClr val="tx1">
                  <a:lumMod val="95000"/>
                  <a:lumOff val="5000"/>
                </a:schemeClr>
              </a:solidFill>
            </a:endParaRPr>
          </a:p>
        </p:txBody>
      </p:sp>
      <p:sp>
        <p:nvSpPr>
          <p:cNvPr id="5" name="Text 6">
            <a:extLst>
              <a:ext uri="{FF2B5EF4-FFF2-40B4-BE49-F238E27FC236}">
                <a16:creationId xmlns:a16="http://schemas.microsoft.com/office/drawing/2014/main" id="{668BF609-EEBF-0FAC-875A-FCD5A6335B19}"/>
              </a:ext>
            </a:extLst>
          </p:cNvPr>
          <p:cNvSpPr/>
          <p:nvPr/>
        </p:nvSpPr>
        <p:spPr>
          <a:xfrm>
            <a:off x="548640" y="2850776"/>
            <a:ext cx="10854466" cy="2377440"/>
          </a:xfrm>
          <a:prstGeom prst="rect">
            <a:avLst/>
          </a:prstGeom>
          <a:noFill/>
          <a:ln/>
        </p:spPr>
        <p:txBody>
          <a:bodyPr wrap="square" rtlCol="0" anchor="t"/>
          <a:lstStyle/>
          <a:p>
            <a:pPr>
              <a:lnSpc>
                <a:spcPct val="150000"/>
              </a:lnSpc>
              <a:buSzPct val="100000"/>
            </a:pPr>
            <a:r>
              <a:rPr lang="en-US" sz="2800" dirty="0">
                <a:solidFill>
                  <a:schemeClr val="tx1">
                    <a:lumMod val="95000"/>
                    <a:lumOff val="5000"/>
                  </a:schemeClr>
                </a:solidFill>
                <a:latin typeface="Cascadia Code NF" pitchFamily="50" charset="0"/>
                <a:ea typeface="Cascadia Code NF" pitchFamily="50" charset="0"/>
                <a:cs typeface="Cascadia Code NF" pitchFamily="50" charset="0"/>
              </a:rPr>
              <a:t>Layer 1: lazy() + .catch() if remote is unreachable</a:t>
            </a:r>
          </a:p>
          <a:p>
            <a:pPr>
              <a:lnSpc>
                <a:spcPct val="150000"/>
              </a:lnSpc>
              <a:buSzPct val="100000"/>
            </a:pPr>
            <a:r>
              <a:rPr lang="en-US" sz="2800" dirty="0">
                <a:solidFill>
                  <a:schemeClr val="tx1">
                    <a:lumMod val="95000"/>
                    <a:lumOff val="5000"/>
                  </a:schemeClr>
                </a:solidFill>
                <a:latin typeface="Cascadia Code NF" pitchFamily="50" charset="0"/>
                <a:ea typeface="Cascadia Code NF" pitchFamily="50" charset="0"/>
                <a:cs typeface="Cascadia Code NF" pitchFamily="50" charset="0"/>
              </a:rPr>
              <a:t>Layer 2: &lt;Suspense&gt; skeleton while loading</a:t>
            </a:r>
          </a:p>
          <a:p>
            <a:pPr>
              <a:lnSpc>
                <a:spcPct val="150000"/>
              </a:lnSpc>
              <a:buSzPct val="100000"/>
            </a:pPr>
            <a:r>
              <a:rPr lang="en-US" sz="2800" dirty="0">
                <a:solidFill>
                  <a:schemeClr val="tx1">
                    <a:lumMod val="95000"/>
                    <a:lumOff val="5000"/>
                  </a:schemeClr>
                </a:solidFill>
                <a:latin typeface="Cascadia Code NF" pitchFamily="50" charset="0"/>
                <a:ea typeface="Cascadia Code NF" pitchFamily="50" charset="0"/>
                <a:cs typeface="Cascadia Code NF" pitchFamily="50" charset="0"/>
              </a:rPr>
              <a:t>Layer 3: &lt;ErrorBoundary&gt; for runtime errors</a:t>
            </a:r>
          </a:p>
        </p:txBody>
      </p:sp>
    </p:spTree>
    <p:extLst>
      <p:ext uri="{BB962C8B-B14F-4D97-AF65-F5344CB8AC3E}">
        <p14:creationId xmlns:p14="http://schemas.microsoft.com/office/powerpoint/2010/main" val="26191256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66439F7-DFAD-81AB-B8BD-241FD9547508}"/>
              </a:ext>
            </a:extLst>
          </p:cNvPr>
          <p:cNvPicPr>
            <a:picLocks noChangeAspect="1"/>
          </p:cNvPicPr>
          <p:nvPr/>
        </p:nvPicPr>
        <p:blipFill>
          <a:blip r:embed="rId3"/>
          <a:stretch>
            <a:fillRect/>
          </a:stretch>
        </p:blipFill>
        <p:spPr>
          <a:xfrm>
            <a:off x="192869" y="0"/>
            <a:ext cx="11803086" cy="6858000"/>
          </a:xfrm>
          <a:prstGeom prst="rect">
            <a:avLst/>
          </a:prstGeom>
        </p:spPr>
      </p:pic>
    </p:spTree>
    <p:extLst>
      <p:ext uri="{BB962C8B-B14F-4D97-AF65-F5344CB8AC3E}">
        <p14:creationId xmlns:p14="http://schemas.microsoft.com/office/powerpoint/2010/main" val="8368582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2">
            <a:extLst>
              <a:ext uri="{FF2B5EF4-FFF2-40B4-BE49-F238E27FC236}">
                <a16:creationId xmlns:a16="http://schemas.microsoft.com/office/drawing/2014/main" id="{E6D9864B-997C-D392-B5C0-9E000C1A03B8}"/>
              </a:ext>
            </a:extLst>
          </p:cNvPr>
          <p:cNvSpPr/>
          <p:nvPr/>
        </p:nvSpPr>
        <p:spPr>
          <a:xfrm>
            <a:off x="530352" y="713232"/>
            <a:ext cx="11109960" cy="777240"/>
          </a:xfrm>
          <a:prstGeom prst="rect">
            <a:avLst/>
          </a:prstGeom>
          <a:noFill/>
          <a:ln/>
        </p:spPr>
        <p:txBody>
          <a:bodyPr wrap="square" rtlCol="0" anchor="ctr"/>
          <a:lstStyle/>
          <a:p>
            <a:pPr marL="0" indent="0">
              <a:buNone/>
            </a:pPr>
            <a:r>
              <a:rPr lang="en-US" sz="3300" i="1" dirty="0">
                <a:solidFill>
                  <a:schemeClr val="tx1">
                    <a:lumMod val="95000"/>
                    <a:lumOff val="5000"/>
                  </a:schemeClr>
                </a:solidFill>
                <a:latin typeface="Instrument Serif" pitchFamily="34" charset="0"/>
                <a:ea typeface="Instrument Serif" pitchFamily="34" charset="-122"/>
                <a:cs typeface="Instrument Serif" pitchFamily="34" charset="-120"/>
              </a:rPr>
              <a:t>Question</a:t>
            </a:r>
            <a:endParaRPr lang="en-US" sz="3300" dirty="0">
              <a:solidFill>
                <a:schemeClr val="tx1">
                  <a:lumMod val="95000"/>
                  <a:lumOff val="5000"/>
                </a:schemeClr>
              </a:solidFill>
            </a:endParaRPr>
          </a:p>
        </p:txBody>
      </p:sp>
      <p:sp>
        <p:nvSpPr>
          <p:cNvPr id="7" name="Text 8">
            <a:extLst>
              <a:ext uri="{FF2B5EF4-FFF2-40B4-BE49-F238E27FC236}">
                <a16:creationId xmlns:a16="http://schemas.microsoft.com/office/drawing/2014/main" id="{626E23A0-B775-D9BA-9D15-6D62663E3A4A}"/>
              </a:ext>
            </a:extLst>
          </p:cNvPr>
          <p:cNvSpPr/>
          <p:nvPr/>
        </p:nvSpPr>
        <p:spPr>
          <a:xfrm>
            <a:off x="713232" y="2226365"/>
            <a:ext cx="10710142" cy="2248815"/>
          </a:xfrm>
          <a:prstGeom prst="rect">
            <a:avLst/>
          </a:prstGeom>
          <a:noFill/>
          <a:ln/>
        </p:spPr>
        <p:txBody>
          <a:bodyPr wrap="square" rtlCol="0" anchor="ctr"/>
          <a:lstStyle/>
          <a:p>
            <a:pPr marL="0" indent="0">
              <a:buNone/>
            </a:pPr>
            <a:r>
              <a:rPr lang="en-US" sz="3200" i="1" dirty="0">
                <a:solidFill>
                  <a:schemeClr val="tx1">
                    <a:lumMod val="85000"/>
                    <a:lumOff val="15000"/>
                  </a:schemeClr>
                </a:solidFill>
                <a:latin typeface="Calibri" panose="020F0502020204030204" pitchFamily="34" charset="0"/>
                <a:ea typeface="Cascadia Code NF" pitchFamily="50" charset="0"/>
                <a:cs typeface="Calibri" panose="020F0502020204030204" pitchFamily="34" charset="0"/>
              </a:rPr>
              <a:t>Why </a:t>
            </a:r>
            <a:r>
              <a:rPr lang="en-US" sz="3200" i="1" dirty="0">
                <a:solidFill>
                  <a:schemeClr val="tx1">
                    <a:lumMod val="85000"/>
                    <a:lumOff val="15000"/>
                  </a:schemeClr>
                </a:solidFill>
                <a:latin typeface="Cascadia Code" panose="020B0609020000020004" pitchFamily="34" charset="0"/>
                <a:ea typeface="Cascadia Code" panose="020B0609020000020004" pitchFamily="34" charset="0"/>
                <a:cs typeface="Cascadia Code" panose="020B0609020000020004" pitchFamily="34" charset="0"/>
              </a:rPr>
              <a:t>lazy() </a:t>
            </a:r>
            <a:r>
              <a:rPr lang="en-US" sz="3200" i="1" dirty="0">
                <a:solidFill>
                  <a:schemeClr val="tx1">
                    <a:lumMod val="85000"/>
                    <a:lumOff val="15000"/>
                  </a:schemeClr>
                </a:solidFill>
                <a:latin typeface="Calibri" panose="020F0502020204030204" pitchFamily="34" charset="0"/>
                <a:ea typeface="Cascadia Code NF" pitchFamily="50" charset="0"/>
                <a:cs typeface="Calibri" panose="020F0502020204030204" pitchFamily="34" charset="0"/>
              </a:rPr>
              <a:t>for eager modules? </a:t>
            </a:r>
          </a:p>
          <a:p>
            <a:pPr marL="0" indent="0">
              <a:buNone/>
            </a:pPr>
            <a:r>
              <a:rPr lang="en-US" sz="3200" i="1" dirty="0">
                <a:solidFill>
                  <a:schemeClr val="tx1">
                    <a:lumMod val="85000"/>
                    <a:lumOff val="15000"/>
                  </a:schemeClr>
                </a:solidFill>
                <a:latin typeface="Calibri" panose="020F0502020204030204" pitchFamily="34" charset="0"/>
                <a:ea typeface="Cascadia Code NF" pitchFamily="50" charset="0"/>
                <a:cs typeface="Calibri" panose="020F0502020204030204" pitchFamily="34" charset="0"/>
              </a:rPr>
              <a:t>Remotes are separate builds resolved at runtime. </a:t>
            </a:r>
          </a:p>
          <a:p>
            <a:pPr marL="0" indent="0">
              <a:buNone/>
            </a:pPr>
            <a:r>
              <a:rPr lang="en-US" sz="3200" i="1" dirty="0">
                <a:solidFill>
                  <a:schemeClr val="tx1">
                    <a:lumMod val="85000"/>
                    <a:lumOff val="15000"/>
                  </a:schemeClr>
                </a:solidFill>
                <a:latin typeface="Calibri" panose="020F0502020204030204" pitchFamily="34" charset="0"/>
                <a:ea typeface="Cascadia Code NF" pitchFamily="50" charset="0"/>
                <a:cs typeface="Calibri" panose="020F0502020204030204" pitchFamily="34" charset="0"/>
              </a:rPr>
              <a:t>Eager </a:t>
            </a:r>
            <a:r>
              <a:rPr lang="en-US" sz="3200" i="1" dirty="0">
                <a:solidFill>
                  <a:schemeClr val="tx1">
                    <a:lumMod val="85000"/>
                    <a:lumOff val="15000"/>
                  </a:schemeClr>
                </a:solidFill>
                <a:latin typeface="Cascadia Code" panose="020B0609020000020004" pitchFamily="34" charset="0"/>
                <a:ea typeface="Cascadia Code" panose="020B0609020000020004" pitchFamily="34" charset="0"/>
                <a:cs typeface="Cascadia Code" panose="020B0609020000020004" pitchFamily="34" charset="0"/>
              </a:rPr>
              <a:t>import() </a:t>
            </a:r>
            <a:r>
              <a:rPr lang="en-US" sz="3200" i="1" dirty="0">
                <a:solidFill>
                  <a:schemeClr val="tx1">
                    <a:lumMod val="85000"/>
                    <a:lumOff val="15000"/>
                  </a:schemeClr>
                </a:solidFill>
                <a:latin typeface="Calibri" panose="020F0502020204030204" pitchFamily="34" charset="0"/>
                <a:ea typeface="Cascadia Code NF" pitchFamily="50" charset="0"/>
                <a:cs typeface="Calibri" panose="020F0502020204030204" pitchFamily="34" charset="0"/>
              </a:rPr>
              <a:t>warms the cache; </a:t>
            </a:r>
            <a:r>
              <a:rPr lang="en-US" sz="3200" i="1" dirty="0">
                <a:solidFill>
                  <a:schemeClr val="tx1">
                    <a:lumMod val="85000"/>
                    <a:lumOff val="15000"/>
                  </a:schemeClr>
                </a:solidFill>
                <a:latin typeface="Cascadia Code" panose="020B0609020000020004" pitchFamily="34" charset="0"/>
                <a:ea typeface="Cascadia Code" panose="020B0609020000020004" pitchFamily="34" charset="0"/>
                <a:cs typeface="Cascadia Code" panose="020B0609020000020004" pitchFamily="34" charset="0"/>
              </a:rPr>
              <a:t>lazy() </a:t>
            </a:r>
            <a:r>
              <a:rPr lang="en-US" sz="3200" i="1" dirty="0">
                <a:solidFill>
                  <a:schemeClr val="tx1">
                    <a:lumMod val="85000"/>
                    <a:lumOff val="15000"/>
                  </a:schemeClr>
                </a:solidFill>
                <a:latin typeface="Calibri" panose="020F0502020204030204" pitchFamily="34" charset="0"/>
                <a:ea typeface="Cascadia Code NF" pitchFamily="50" charset="0"/>
                <a:cs typeface="Calibri" panose="020F0502020204030204" pitchFamily="34" charset="0"/>
              </a:rPr>
              <a:t>resolves from it.</a:t>
            </a:r>
            <a:endParaRPr lang="en-US" sz="3200" dirty="0">
              <a:solidFill>
                <a:schemeClr val="tx1">
                  <a:lumMod val="85000"/>
                  <a:lumOff val="15000"/>
                </a:schemeClr>
              </a:solidFill>
              <a:latin typeface="Calibri" panose="020F0502020204030204" pitchFamily="34" charset="0"/>
              <a:ea typeface="Cascadia Code NF" pitchFamily="50" charset="0"/>
              <a:cs typeface="Calibri" panose="020F0502020204030204" pitchFamily="34" charset="0"/>
            </a:endParaRPr>
          </a:p>
        </p:txBody>
      </p:sp>
    </p:spTree>
    <p:extLst>
      <p:ext uri="{BB962C8B-B14F-4D97-AF65-F5344CB8AC3E}">
        <p14:creationId xmlns:p14="http://schemas.microsoft.com/office/powerpoint/2010/main" val="25772246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2">
            <a:extLst>
              <a:ext uri="{FF2B5EF4-FFF2-40B4-BE49-F238E27FC236}">
                <a16:creationId xmlns:a16="http://schemas.microsoft.com/office/drawing/2014/main" id="{CC0F34E4-70E8-F750-1B49-A033FEC0C4E2}"/>
              </a:ext>
            </a:extLst>
          </p:cNvPr>
          <p:cNvSpPr/>
          <p:nvPr/>
        </p:nvSpPr>
        <p:spPr>
          <a:xfrm>
            <a:off x="530352" y="135008"/>
            <a:ext cx="11109960" cy="777240"/>
          </a:xfrm>
          <a:prstGeom prst="rect">
            <a:avLst/>
          </a:prstGeom>
          <a:noFill/>
          <a:ln/>
        </p:spPr>
        <p:txBody>
          <a:bodyPr wrap="square" rtlCol="0" anchor="ctr"/>
          <a:lstStyle/>
          <a:p>
            <a:pPr marL="0" indent="0">
              <a:buNone/>
            </a:pPr>
            <a:r>
              <a:rPr lang="en-US" sz="3300" i="1" dirty="0">
                <a:solidFill>
                  <a:schemeClr val="tx1">
                    <a:lumMod val="95000"/>
                    <a:lumOff val="5000"/>
                  </a:schemeClr>
                </a:solidFill>
                <a:latin typeface="Instrument Serif" pitchFamily="34" charset="0"/>
                <a:ea typeface="Instrument Serif" pitchFamily="34" charset="-122"/>
                <a:cs typeface="Instrument Serif" pitchFamily="34" charset="-120"/>
              </a:rPr>
              <a:t>Settings, Commands, Federation Lab menus</a:t>
            </a:r>
            <a:endParaRPr lang="en-US" sz="3300" dirty="0">
              <a:solidFill>
                <a:schemeClr val="tx1">
                  <a:lumMod val="95000"/>
                  <a:lumOff val="5000"/>
                </a:schemeClr>
              </a:solidFill>
            </a:endParaRPr>
          </a:p>
        </p:txBody>
      </p:sp>
      <p:sp>
        <p:nvSpPr>
          <p:cNvPr id="5" name="Text 5">
            <a:extLst>
              <a:ext uri="{FF2B5EF4-FFF2-40B4-BE49-F238E27FC236}">
                <a16:creationId xmlns:a16="http://schemas.microsoft.com/office/drawing/2014/main" id="{8EB8FE32-AB1B-8F6E-B031-72E31947DF0F}"/>
              </a:ext>
            </a:extLst>
          </p:cNvPr>
          <p:cNvSpPr/>
          <p:nvPr/>
        </p:nvSpPr>
        <p:spPr>
          <a:xfrm>
            <a:off x="576072" y="1202166"/>
            <a:ext cx="10706010" cy="4660752"/>
          </a:xfrm>
          <a:prstGeom prst="rect">
            <a:avLst/>
          </a:prstGeom>
          <a:noFill/>
          <a:ln/>
        </p:spPr>
        <p:txBody>
          <a:bodyPr wrap="square" rtlCol="0" anchor="t"/>
          <a:lstStyle/>
          <a:p>
            <a:pPr marL="285750" indent="-285750">
              <a:lnSpc>
                <a:spcPct val="150000"/>
              </a:lnSpc>
              <a:buSzPct val="100000"/>
              <a:buFont typeface="Arial" panose="020B0604020202020204" pitchFamily="34" charset="0"/>
              <a:buChar char="•"/>
            </a:pPr>
            <a:r>
              <a:rPr lang="en-US" sz="2800" dirty="0">
                <a:solidFill>
                  <a:schemeClr val="tx1">
                    <a:lumMod val="95000"/>
                    <a:lumOff val="5000"/>
                  </a:schemeClr>
                </a:solidFill>
                <a:latin typeface="DM Sans" pitchFamily="34" charset="0"/>
                <a:ea typeface="DM Sans" pitchFamily="34" charset="-122"/>
                <a:cs typeface="DM Sans" pitchFamily="34" charset="-120"/>
              </a:rPr>
              <a:t>Health Monitor: polls each </a:t>
            </a:r>
            <a:r>
              <a:rPr lang="en-US" sz="2800" dirty="0" err="1">
                <a:solidFill>
                  <a:schemeClr val="tx1">
                    <a:lumMod val="95000"/>
                    <a:lumOff val="5000"/>
                  </a:schemeClr>
                </a:solidFill>
                <a:latin typeface="DM Sans" pitchFamily="34" charset="0"/>
                <a:ea typeface="DM Sans" pitchFamily="34" charset="-122"/>
                <a:cs typeface="DM Sans" pitchFamily="34" charset="-120"/>
              </a:rPr>
              <a:t>remoteEntry.js</a:t>
            </a:r>
            <a:r>
              <a:rPr lang="en-US" sz="2800" dirty="0">
                <a:solidFill>
                  <a:schemeClr val="tx1">
                    <a:lumMod val="95000"/>
                    <a:lumOff val="5000"/>
                  </a:schemeClr>
                </a:solidFill>
                <a:latin typeface="DM Sans" pitchFamily="34" charset="0"/>
                <a:ea typeface="DM Sans" pitchFamily="34" charset="-122"/>
                <a:cs typeface="DM Sans" pitchFamily="34" charset="-120"/>
              </a:rPr>
              <a:t> every 5s, shows latency</a:t>
            </a:r>
            <a:endParaRPr lang="en-US" sz="2800" dirty="0">
              <a:solidFill>
                <a:schemeClr val="tx1">
                  <a:lumMod val="95000"/>
                  <a:lumOff val="5000"/>
                </a:schemeClr>
              </a:solidFill>
            </a:endParaRPr>
          </a:p>
          <a:p>
            <a:pPr marL="285750" indent="-285750">
              <a:lnSpc>
                <a:spcPct val="150000"/>
              </a:lnSpc>
              <a:buSzPct val="100000"/>
              <a:buFont typeface="Arial" panose="020B0604020202020204" pitchFamily="34" charset="0"/>
              <a:buChar char="•"/>
            </a:pPr>
            <a:r>
              <a:rPr lang="en-US" sz="2800" dirty="0">
                <a:solidFill>
                  <a:schemeClr val="tx1">
                    <a:lumMod val="95000"/>
                    <a:lumOff val="5000"/>
                  </a:schemeClr>
                </a:solidFill>
                <a:latin typeface="DM Sans" pitchFamily="34" charset="0"/>
                <a:ea typeface="DM Sans" pitchFamily="34" charset="-122"/>
                <a:cs typeface="DM Sans" pitchFamily="34" charset="-120"/>
              </a:rPr>
              <a:t>Kill Switches: simulate remote failure; the rest keeps running</a:t>
            </a:r>
            <a:endParaRPr lang="en-US" sz="2800" dirty="0">
              <a:solidFill>
                <a:schemeClr val="tx1">
                  <a:lumMod val="95000"/>
                  <a:lumOff val="5000"/>
                </a:schemeClr>
              </a:solidFill>
            </a:endParaRPr>
          </a:p>
          <a:p>
            <a:pPr marL="285750" indent="-285750">
              <a:lnSpc>
                <a:spcPct val="150000"/>
              </a:lnSpc>
              <a:buSzPct val="100000"/>
              <a:buFont typeface="Arial" panose="020B0604020202020204" pitchFamily="34" charset="0"/>
              <a:buChar char="•"/>
            </a:pPr>
            <a:r>
              <a:rPr lang="en-US" sz="2800" dirty="0">
                <a:solidFill>
                  <a:schemeClr val="tx1">
                    <a:lumMod val="95000"/>
                    <a:lumOff val="5000"/>
                  </a:schemeClr>
                </a:solidFill>
                <a:latin typeface="DM Sans" pitchFamily="34" charset="0"/>
                <a:ea typeface="DM Sans" pitchFamily="34" charset="-122"/>
                <a:cs typeface="DM Sans" pitchFamily="34" charset="-120"/>
              </a:rPr>
              <a:t>Theme: CSS variables + localStorage + themeChange event, zero shared imports</a:t>
            </a:r>
          </a:p>
        </p:txBody>
      </p:sp>
    </p:spTree>
    <p:extLst>
      <p:ext uri="{BB962C8B-B14F-4D97-AF65-F5344CB8AC3E}">
        <p14:creationId xmlns:p14="http://schemas.microsoft.com/office/powerpoint/2010/main" val="3991074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C2434E-A423-B165-16BC-7AF688676ED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6374511-5B5D-F7F6-D4DE-965190A47438}"/>
              </a:ext>
            </a:extLst>
          </p:cNvPr>
          <p:cNvSpPr txBox="1"/>
          <p:nvPr/>
        </p:nvSpPr>
        <p:spPr>
          <a:xfrm>
            <a:off x="722376" y="576072"/>
            <a:ext cx="1436612" cy="707886"/>
          </a:xfrm>
          <a:prstGeom prst="rect">
            <a:avLst/>
          </a:prstGeom>
          <a:noFill/>
        </p:spPr>
        <p:txBody>
          <a:bodyPr wrap="none" rtlCol="0">
            <a:spAutoFit/>
          </a:bodyPr>
          <a:lstStyle/>
          <a:p>
            <a:r>
              <a:rPr lang="en-GB" sz="4000" dirty="0"/>
              <a:t>Demo</a:t>
            </a:r>
          </a:p>
        </p:txBody>
      </p:sp>
      <p:sp>
        <p:nvSpPr>
          <p:cNvPr id="4" name="TextBox 3">
            <a:extLst>
              <a:ext uri="{FF2B5EF4-FFF2-40B4-BE49-F238E27FC236}">
                <a16:creationId xmlns:a16="http://schemas.microsoft.com/office/drawing/2014/main" id="{34AF8797-4227-8449-C765-143D3A90429D}"/>
              </a:ext>
            </a:extLst>
          </p:cNvPr>
          <p:cNvSpPr txBox="1"/>
          <p:nvPr/>
        </p:nvSpPr>
        <p:spPr>
          <a:xfrm>
            <a:off x="2279283" y="3075057"/>
            <a:ext cx="7630295" cy="707886"/>
          </a:xfrm>
          <a:prstGeom prst="rect">
            <a:avLst/>
          </a:prstGeom>
          <a:noFill/>
        </p:spPr>
        <p:txBody>
          <a:bodyPr wrap="none" rtlCol="0">
            <a:spAutoFit/>
          </a:bodyPr>
          <a:lstStyle/>
          <a:p>
            <a:pPr algn="ctr"/>
            <a:r>
              <a:rPr lang="en-GB" sz="4000" dirty="0"/>
              <a:t>Admin panel for module federation</a:t>
            </a:r>
          </a:p>
        </p:txBody>
      </p:sp>
    </p:spTree>
    <p:extLst>
      <p:ext uri="{BB962C8B-B14F-4D97-AF65-F5344CB8AC3E}">
        <p14:creationId xmlns:p14="http://schemas.microsoft.com/office/powerpoint/2010/main" val="3182694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728B204-4642-8AB0-8C60-54C9C48B708A}"/>
              </a:ext>
            </a:extLst>
          </p:cNvPr>
          <p:cNvPicPr>
            <a:picLocks noChangeAspect="1"/>
          </p:cNvPicPr>
          <p:nvPr/>
        </p:nvPicPr>
        <p:blipFill>
          <a:blip r:embed="rId3"/>
          <a:stretch>
            <a:fillRect/>
          </a:stretch>
        </p:blipFill>
        <p:spPr>
          <a:xfrm>
            <a:off x="192869" y="0"/>
            <a:ext cx="11803086" cy="6858000"/>
          </a:xfrm>
          <a:prstGeom prst="rect">
            <a:avLst/>
          </a:prstGeom>
        </p:spPr>
      </p:pic>
    </p:spTree>
    <p:extLst>
      <p:ext uri="{BB962C8B-B14F-4D97-AF65-F5344CB8AC3E}">
        <p14:creationId xmlns:p14="http://schemas.microsoft.com/office/powerpoint/2010/main" val="41969021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2">
            <a:extLst>
              <a:ext uri="{FF2B5EF4-FFF2-40B4-BE49-F238E27FC236}">
                <a16:creationId xmlns:a16="http://schemas.microsoft.com/office/drawing/2014/main" id="{48D92EEC-F99D-6E3A-015E-51DCF972D104}"/>
              </a:ext>
            </a:extLst>
          </p:cNvPr>
          <p:cNvSpPr/>
          <p:nvPr/>
        </p:nvSpPr>
        <p:spPr>
          <a:xfrm>
            <a:off x="530352" y="713232"/>
            <a:ext cx="11109960" cy="777240"/>
          </a:xfrm>
          <a:prstGeom prst="rect">
            <a:avLst/>
          </a:prstGeom>
          <a:noFill/>
          <a:ln/>
        </p:spPr>
        <p:txBody>
          <a:bodyPr wrap="square" rtlCol="0" anchor="ctr"/>
          <a:lstStyle/>
          <a:p>
            <a:pPr marL="0" indent="0">
              <a:buNone/>
            </a:pPr>
            <a:r>
              <a:rPr lang="en-US" sz="3300" i="1" dirty="0">
                <a:solidFill>
                  <a:schemeClr val="tx1">
                    <a:lumMod val="95000"/>
                    <a:lumOff val="5000"/>
                  </a:schemeClr>
                </a:solidFill>
                <a:latin typeface="Instrument Serif" pitchFamily="34" charset="0"/>
                <a:ea typeface="Instrument Serif" pitchFamily="34" charset="-122"/>
                <a:cs typeface="Instrument Serif" pitchFamily="34" charset="-120"/>
              </a:rPr>
              <a:t>Prefer events over shared state</a:t>
            </a:r>
            <a:endParaRPr lang="en-US" sz="3300" dirty="0">
              <a:solidFill>
                <a:schemeClr val="tx1">
                  <a:lumMod val="95000"/>
                  <a:lumOff val="5000"/>
                </a:schemeClr>
              </a:solidFill>
            </a:endParaRPr>
          </a:p>
        </p:txBody>
      </p:sp>
      <p:sp>
        <p:nvSpPr>
          <p:cNvPr id="5" name="Text 6">
            <a:extLst>
              <a:ext uri="{FF2B5EF4-FFF2-40B4-BE49-F238E27FC236}">
                <a16:creationId xmlns:a16="http://schemas.microsoft.com/office/drawing/2014/main" id="{F96AB674-C4AE-79FF-80B1-8B452266F247}"/>
              </a:ext>
            </a:extLst>
          </p:cNvPr>
          <p:cNvSpPr/>
          <p:nvPr/>
        </p:nvSpPr>
        <p:spPr>
          <a:xfrm>
            <a:off x="548640" y="2474259"/>
            <a:ext cx="11064240" cy="3291840"/>
          </a:xfrm>
          <a:prstGeom prst="rect">
            <a:avLst/>
          </a:prstGeom>
          <a:noFill/>
          <a:ln/>
        </p:spPr>
        <p:txBody>
          <a:bodyPr wrap="square" rtlCol="0" anchor="t"/>
          <a:lstStyle/>
          <a:p>
            <a:pPr marL="342900" indent="-342900">
              <a:lnSpc>
                <a:spcPct val="150000"/>
              </a:lnSpc>
              <a:buSzPct val="100000"/>
              <a:buFont typeface="Arial" panose="020B0604020202020204" pitchFamily="34" charset="0"/>
              <a:buChar char="•"/>
            </a:pPr>
            <a:r>
              <a:rPr lang="en-US" sz="2400" dirty="0">
                <a:solidFill>
                  <a:schemeClr val="tx1">
                    <a:lumMod val="95000"/>
                    <a:lumOff val="5000"/>
                  </a:schemeClr>
                </a:solidFill>
                <a:latin typeface="DM Sans" pitchFamily="34" charset="0"/>
                <a:ea typeface="DM Sans" pitchFamily="34" charset="-122"/>
                <a:cs typeface="DM Sans" pitchFamily="34" charset="-120"/>
              </a:rPr>
              <a:t>No direct cross-module imports</a:t>
            </a:r>
            <a:endParaRPr lang="en-US" sz="2400" dirty="0">
              <a:solidFill>
                <a:schemeClr val="tx1">
                  <a:lumMod val="95000"/>
                  <a:lumOff val="5000"/>
                </a:schemeClr>
              </a:solidFill>
            </a:endParaRPr>
          </a:p>
          <a:p>
            <a:pPr marL="342900" indent="-342900">
              <a:lnSpc>
                <a:spcPct val="150000"/>
              </a:lnSpc>
              <a:buSzPct val="100000"/>
              <a:buFont typeface="Arial" panose="020B0604020202020204" pitchFamily="34" charset="0"/>
              <a:buChar char="•"/>
            </a:pPr>
            <a:r>
              <a:rPr lang="en-US" sz="2400" dirty="0">
                <a:solidFill>
                  <a:schemeClr val="tx1">
                    <a:lumMod val="95000"/>
                    <a:lumOff val="5000"/>
                  </a:schemeClr>
                </a:solidFill>
                <a:latin typeface="DM Sans" pitchFamily="34" charset="0"/>
                <a:ea typeface="DM Sans" pitchFamily="34" charset="-122"/>
                <a:cs typeface="DM Sans" pitchFamily="34" charset="-120"/>
              </a:rPr>
              <a:t>Shell stays the only router owner</a:t>
            </a:r>
            <a:endParaRPr lang="en-US" sz="2400" dirty="0">
              <a:solidFill>
                <a:schemeClr val="tx1">
                  <a:lumMod val="95000"/>
                  <a:lumOff val="5000"/>
                </a:schemeClr>
              </a:solidFill>
            </a:endParaRPr>
          </a:p>
          <a:p>
            <a:pPr marL="342900" indent="-342900">
              <a:lnSpc>
                <a:spcPct val="150000"/>
              </a:lnSpc>
              <a:buSzPct val="100000"/>
              <a:buFont typeface="Arial" panose="020B0604020202020204" pitchFamily="34" charset="0"/>
              <a:buChar char="•"/>
            </a:pPr>
            <a:r>
              <a:rPr lang="en-US" sz="2400" dirty="0">
                <a:solidFill>
                  <a:schemeClr val="tx1">
                    <a:lumMod val="95000"/>
                    <a:lumOff val="5000"/>
                  </a:schemeClr>
                </a:solidFill>
                <a:latin typeface="DM Sans" pitchFamily="34" charset="0"/>
                <a:ea typeface="DM Sans" pitchFamily="34" charset="-122"/>
                <a:cs typeface="DM Sans" pitchFamily="34" charset="-120"/>
              </a:rPr>
              <a:t>Works across deployments when the event contract stays compatible</a:t>
            </a:r>
            <a:endParaRPr lang="en-US" sz="2400" dirty="0">
              <a:solidFill>
                <a:schemeClr val="tx1">
                  <a:lumMod val="95000"/>
                  <a:lumOff val="5000"/>
                </a:schemeClr>
              </a:solidFill>
            </a:endParaRPr>
          </a:p>
          <a:p>
            <a:pPr marL="342900" indent="-342900">
              <a:lnSpc>
                <a:spcPct val="150000"/>
              </a:lnSpc>
              <a:buSzPct val="100000"/>
              <a:buFont typeface="Arial" panose="020B0604020202020204" pitchFamily="34" charset="0"/>
              <a:buChar char="•"/>
            </a:pPr>
            <a:r>
              <a:rPr lang="en-US" sz="2400" dirty="0">
                <a:solidFill>
                  <a:schemeClr val="tx1">
                    <a:lumMod val="95000"/>
                    <a:lumOff val="5000"/>
                  </a:schemeClr>
                </a:solidFill>
                <a:latin typeface="DM Sans" pitchFamily="34" charset="0"/>
                <a:ea typeface="DM Sans" pitchFamily="34" charset="-122"/>
                <a:cs typeface="DM Sans" pitchFamily="34" charset="-120"/>
              </a:rPr>
              <a:t>Framework-agnostic (React, Vue, Svelte)</a:t>
            </a:r>
            <a:endParaRPr lang="en-US" sz="2400" dirty="0">
              <a:solidFill>
                <a:schemeClr val="tx1">
                  <a:lumMod val="95000"/>
                  <a:lumOff val="5000"/>
                </a:schemeClr>
              </a:solidFill>
            </a:endParaRPr>
          </a:p>
          <a:p>
            <a:pPr marL="342900" indent="-342900">
              <a:lnSpc>
                <a:spcPct val="150000"/>
              </a:lnSpc>
              <a:buSzPct val="100000"/>
              <a:buFont typeface="Arial" panose="020B0604020202020204" pitchFamily="34" charset="0"/>
              <a:buChar char="•"/>
            </a:pPr>
            <a:r>
              <a:rPr lang="en-US" sz="2400" dirty="0">
                <a:solidFill>
                  <a:schemeClr val="tx1">
                    <a:lumMod val="95000"/>
                    <a:lumOff val="5000"/>
                  </a:schemeClr>
                </a:solidFill>
                <a:latin typeface="DM Sans" pitchFamily="34" charset="0"/>
                <a:ea typeface="DM Sans" pitchFamily="34" charset="-122"/>
                <a:cs typeface="DM Sans" pitchFamily="34" charset="-120"/>
              </a:rPr>
              <a:t>Typed via WindowEventMap augmentation</a:t>
            </a:r>
            <a:endParaRPr lang="en-US" sz="2400" dirty="0">
              <a:solidFill>
                <a:schemeClr val="tx1">
                  <a:lumMod val="95000"/>
                  <a:lumOff val="5000"/>
                </a:schemeClr>
              </a:solidFill>
            </a:endParaRPr>
          </a:p>
        </p:txBody>
      </p:sp>
    </p:spTree>
    <p:extLst>
      <p:ext uri="{BB962C8B-B14F-4D97-AF65-F5344CB8AC3E}">
        <p14:creationId xmlns:p14="http://schemas.microsoft.com/office/powerpoint/2010/main" val="25832381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46D2C31A-9631-8861-A387-D11C77608896}"/>
              </a:ext>
            </a:extLst>
          </p:cNvPr>
          <p:cNvGraphicFramePr>
            <a:graphicFrameLocks noGrp="1"/>
          </p:cNvGraphicFramePr>
          <p:nvPr>
            <p:extLst>
              <p:ext uri="{D42A27DB-BD31-4B8C-83A1-F6EECF244321}">
                <p14:modId xmlns:p14="http://schemas.microsoft.com/office/powerpoint/2010/main" val="780093546"/>
              </p:ext>
            </p:extLst>
          </p:nvPr>
        </p:nvGraphicFramePr>
        <p:xfrm>
          <a:off x="362857" y="1320800"/>
          <a:ext cx="11654972" cy="5455967"/>
        </p:xfrm>
        <a:graphic>
          <a:graphicData uri="http://schemas.openxmlformats.org/drawingml/2006/table">
            <a:tbl>
              <a:tblPr/>
              <a:tblGrid>
                <a:gridCol w="3178629">
                  <a:extLst>
                    <a:ext uri="{9D8B030D-6E8A-4147-A177-3AD203B41FA5}">
                      <a16:colId xmlns:a16="http://schemas.microsoft.com/office/drawing/2014/main" val="607345058"/>
                    </a:ext>
                  </a:extLst>
                </a:gridCol>
                <a:gridCol w="2975428">
                  <a:extLst>
                    <a:ext uri="{9D8B030D-6E8A-4147-A177-3AD203B41FA5}">
                      <a16:colId xmlns:a16="http://schemas.microsoft.com/office/drawing/2014/main" val="2182254365"/>
                    </a:ext>
                  </a:extLst>
                </a:gridCol>
                <a:gridCol w="5500915">
                  <a:extLst>
                    <a:ext uri="{9D8B030D-6E8A-4147-A177-3AD203B41FA5}">
                      <a16:colId xmlns:a16="http://schemas.microsoft.com/office/drawing/2014/main" val="3397293518"/>
                    </a:ext>
                  </a:extLst>
                </a:gridCol>
              </a:tblGrid>
              <a:tr h="416364">
                <a:tc>
                  <a:txBody>
                    <a:bodyPr/>
                    <a:lstStyle/>
                    <a:p>
                      <a:pPr algn="l">
                        <a:buNone/>
                      </a:pPr>
                      <a:r>
                        <a:rPr lang="en-US" sz="2400" b="0" i="0">
                          <a:solidFill>
                            <a:srgbClr val="3B3B3B"/>
                          </a:solidFill>
                          <a:effectLst/>
                          <a:latin typeface="Cascadia Code" panose="020B0609020000020004" pitchFamily="49" charset="0"/>
                          <a:cs typeface="Cascadia Code" panose="020B0609020000020004" pitchFamily="49" charset="0"/>
                        </a:rPr>
                        <a:t>Event</a:t>
                      </a:r>
                    </a:p>
                  </a:txBody>
                  <a:tcPr marL="76200" marR="76200" marT="38100" marB="38100" anchor="ctr">
                    <a:lnL>
                      <a:noFill/>
                    </a:lnL>
                    <a:lnR>
                      <a:noFill/>
                    </a:lnR>
                    <a:lnT>
                      <a:noFill/>
                    </a:lnT>
                    <a:lnB>
                      <a:noFill/>
                    </a:lnB>
                    <a:noFill/>
                  </a:tcPr>
                </a:tc>
                <a:tc>
                  <a:txBody>
                    <a:bodyPr/>
                    <a:lstStyle/>
                    <a:p>
                      <a:pPr algn="l">
                        <a:buNone/>
                      </a:pPr>
                      <a:r>
                        <a:rPr lang="en-US" sz="2400" b="0" i="0">
                          <a:solidFill>
                            <a:srgbClr val="3B3B3B"/>
                          </a:solidFill>
                          <a:effectLst/>
                          <a:latin typeface="Cascadia Code" panose="020B0609020000020004" pitchFamily="49" charset="0"/>
                          <a:cs typeface="Cascadia Code" panose="020B0609020000020004" pitchFamily="49" charset="0"/>
                        </a:rPr>
                        <a:t>Who broadcasts</a:t>
                      </a:r>
                    </a:p>
                  </a:txBody>
                  <a:tcPr marL="76200" marR="76200" marT="38100" marB="38100" anchor="ctr">
                    <a:lnL>
                      <a:noFill/>
                    </a:lnL>
                    <a:lnR>
                      <a:noFill/>
                    </a:lnR>
                    <a:lnT>
                      <a:noFill/>
                    </a:lnT>
                    <a:lnB>
                      <a:noFill/>
                    </a:lnB>
                    <a:noFill/>
                  </a:tcPr>
                </a:tc>
                <a:tc>
                  <a:txBody>
                    <a:bodyPr/>
                    <a:lstStyle/>
                    <a:p>
                      <a:pPr algn="l">
                        <a:buNone/>
                      </a:pPr>
                      <a:r>
                        <a:rPr lang="en-US" sz="2400" b="0" i="0">
                          <a:solidFill>
                            <a:srgbClr val="3B3B3B"/>
                          </a:solidFill>
                          <a:effectLst/>
                          <a:latin typeface="Cascadia Code" panose="020B0609020000020004" pitchFamily="49" charset="0"/>
                          <a:cs typeface="Cascadia Code" panose="020B0609020000020004" pitchFamily="49" charset="0"/>
                        </a:rPr>
                        <a:t>Why</a:t>
                      </a:r>
                    </a:p>
                  </a:txBody>
                  <a:tcPr marL="76200" marR="76200" marT="38100" marB="38100" anchor="ctr">
                    <a:lnL>
                      <a:noFill/>
                    </a:lnL>
                    <a:lnR>
                      <a:noFill/>
                    </a:lnR>
                    <a:lnT>
                      <a:noFill/>
                    </a:lnT>
                    <a:lnB>
                      <a:noFill/>
                    </a:lnB>
                    <a:noFill/>
                  </a:tcPr>
                </a:tc>
                <a:extLst>
                  <a:ext uri="{0D108BD9-81ED-4DB2-BD59-A6C34878D82A}">
                    <a16:rowId xmlns:a16="http://schemas.microsoft.com/office/drawing/2014/main" val="3074802040"/>
                  </a:ext>
                </a:extLst>
              </a:tr>
              <a:tr h="735957">
                <a:tc>
                  <a:txBody>
                    <a:bodyPr/>
                    <a:lstStyle/>
                    <a:p>
                      <a:pPr algn="l">
                        <a:buNone/>
                      </a:pPr>
                      <a:r>
                        <a:rPr lang="en-US" sz="2400" b="0" i="0" dirty="0" err="1">
                          <a:solidFill>
                            <a:srgbClr val="3B3B3B"/>
                          </a:solidFill>
                          <a:effectLst/>
                          <a:latin typeface="Cascadia Code" panose="020B0609020000020004" pitchFamily="49" charset="0"/>
                          <a:cs typeface="Cascadia Code" panose="020B0609020000020004" pitchFamily="49" charset="0"/>
                        </a:rPr>
                        <a:t>themeChange</a:t>
                      </a:r>
                      <a:endParaRPr lang="en-US" sz="2400" b="0" i="0" dirty="0">
                        <a:solidFill>
                          <a:srgbClr val="3B3B3B"/>
                        </a:solidFill>
                        <a:effectLst/>
                        <a:latin typeface="Cascadia Code" panose="020B0609020000020004" pitchFamily="49" charset="0"/>
                        <a:cs typeface="Cascadia Code" panose="020B0609020000020004" pitchFamily="49" charset="0"/>
                      </a:endParaRPr>
                    </a:p>
                  </a:txBody>
                  <a:tcPr marL="76200" marR="76200" marT="38100" marB="38100" anchor="ctr">
                    <a:lnL>
                      <a:noFill/>
                    </a:lnL>
                    <a:lnR>
                      <a:noFill/>
                    </a:lnR>
                    <a:lnT>
                      <a:noFill/>
                    </a:lnT>
                    <a:lnB>
                      <a:noFill/>
                    </a:lnB>
                    <a:noFill/>
                  </a:tcPr>
                </a:tc>
                <a:tc>
                  <a:txBody>
                    <a:bodyPr/>
                    <a:lstStyle/>
                    <a:p>
                      <a:pPr algn="l">
                        <a:buNone/>
                      </a:pPr>
                      <a:r>
                        <a:rPr lang="en-US" sz="2400" b="1" i="0">
                          <a:solidFill>
                            <a:srgbClr val="3B3B3B"/>
                          </a:solidFill>
                          <a:effectLst/>
                          <a:latin typeface="Cascadia Code" panose="020B0609020000020004" pitchFamily="49" charset="0"/>
                          <a:cs typeface="Cascadia Code" panose="020B0609020000020004" pitchFamily="49" charset="0"/>
                        </a:rPr>
                        <a:t>shell only</a:t>
                      </a:r>
                      <a:endParaRPr lang="en-US" sz="2400" b="0" i="0">
                        <a:solidFill>
                          <a:srgbClr val="3B3B3B"/>
                        </a:solidFill>
                        <a:effectLst/>
                        <a:latin typeface="Cascadia Code" panose="020B0609020000020004" pitchFamily="49" charset="0"/>
                        <a:cs typeface="Cascadia Code" panose="020B0609020000020004" pitchFamily="49" charset="0"/>
                      </a:endParaRPr>
                    </a:p>
                  </a:txBody>
                  <a:tcPr marL="76200" marR="76200" marT="38100" marB="38100" anchor="ctr">
                    <a:lnL>
                      <a:noFill/>
                    </a:lnL>
                    <a:lnR>
                      <a:noFill/>
                    </a:lnR>
                    <a:lnT>
                      <a:noFill/>
                    </a:lnT>
                    <a:lnB>
                      <a:noFill/>
                    </a:lnB>
                    <a:noFill/>
                  </a:tcPr>
                </a:tc>
                <a:tc>
                  <a:txBody>
                    <a:bodyPr/>
                    <a:lstStyle/>
                    <a:p>
                      <a:pPr algn="l">
                        <a:buNone/>
                      </a:pPr>
                      <a:r>
                        <a:rPr lang="en-US" sz="2400" b="0" i="0">
                          <a:solidFill>
                            <a:srgbClr val="3B3B3B"/>
                          </a:solidFill>
                          <a:effectLst/>
                          <a:latin typeface="Cascadia Code" panose="020B0609020000020004" pitchFamily="49" charset="0"/>
                          <a:cs typeface="Cascadia Code" panose="020B0609020000020004" pitchFamily="49" charset="0"/>
                        </a:rPr>
                        <a:t>The shell owns the theme</a:t>
                      </a:r>
                    </a:p>
                  </a:txBody>
                  <a:tcPr marL="76200" marR="76200" marT="38100" marB="38100" anchor="ctr">
                    <a:lnL>
                      <a:noFill/>
                    </a:lnL>
                    <a:lnR>
                      <a:noFill/>
                    </a:lnR>
                    <a:lnT>
                      <a:noFill/>
                    </a:lnT>
                    <a:lnB>
                      <a:noFill/>
                    </a:lnB>
                    <a:noFill/>
                  </a:tcPr>
                </a:tc>
                <a:extLst>
                  <a:ext uri="{0D108BD9-81ED-4DB2-BD59-A6C34878D82A}">
                    <a16:rowId xmlns:a16="http://schemas.microsoft.com/office/drawing/2014/main" val="240654752"/>
                  </a:ext>
                </a:extLst>
              </a:tr>
              <a:tr h="735957">
                <a:tc>
                  <a:txBody>
                    <a:bodyPr/>
                    <a:lstStyle/>
                    <a:p>
                      <a:pPr algn="l">
                        <a:buNone/>
                      </a:pPr>
                      <a:r>
                        <a:rPr lang="en-US" sz="2400" b="0" i="0">
                          <a:solidFill>
                            <a:srgbClr val="3B3B3B"/>
                          </a:solidFill>
                          <a:effectLst/>
                          <a:latin typeface="Cascadia Code" panose="020B0609020000020004" pitchFamily="49" charset="0"/>
                          <a:cs typeface="Cascadia Code" panose="020B0609020000020004" pitchFamily="49" charset="0"/>
                        </a:rPr>
                        <a:t>moduleChange</a:t>
                      </a:r>
                    </a:p>
                  </a:txBody>
                  <a:tcPr marL="76200" marR="76200" marT="38100" marB="38100" anchor="ctr">
                    <a:lnL>
                      <a:noFill/>
                    </a:lnL>
                    <a:lnR>
                      <a:noFill/>
                    </a:lnR>
                    <a:lnT>
                      <a:noFill/>
                    </a:lnT>
                    <a:lnB>
                      <a:noFill/>
                    </a:lnB>
                    <a:noFill/>
                  </a:tcPr>
                </a:tc>
                <a:tc>
                  <a:txBody>
                    <a:bodyPr/>
                    <a:lstStyle/>
                    <a:p>
                      <a:pPr algn="l">
                        <a:buNone/>
                      </a:pPr>
                      <a:r>
                        <a:rPr lang="en-US" sz="2400" b="1" i="0">
                          <a:solidFill>
                            <a:srgbClr val="3B3B3B"/>
                          </a:solidFill>
                          <a:effectLst/>
                          <a:latin typeface="Cascadia Code" panose="020B0609020000020004" pitchFamily="49" charset="0"/>
                          <a:cs typeface="Cascadia Code" panose="020B0609020000020004" pitchFamily="49" charset="0"/>
                        </a:rPr>
                        <a:t>shell only</a:t>
                      </a:r>
                      <a:endParaRPr lang="en-US" sz="2400" b="0" i="0">
                        <a:solidFill>
                          <a:srgbClr val="3B3B3B"/>
                        </a:solidFill>
                        <a:effectLst/>
                        <a:latin typeface="Cascadia Code" panose="020B0609020000020004" pitchFamily="49" charset="0"/>
                        <a:cs typeface="Cascadia Code" panose="020B0609020000020004" pitchFamily="49" charset="0"/>
                      </a:endParaRPr>
                    </a:p>
                  </a:txBody>
                  <a:tcPr marL="76200" marR="76200" marT="38100" marB="38100" anchor="ctr">
                    <a:lnL>
                      <a:noFill/>
                    </a:lnL>
                    <a:lnR>
                      <a:noFill/>
                    </a:lnR>
                    <a:lnT>
                      <a:noFill/>
                    </a:lnT>
                    <a:lnB>
                      <a:noFill/>
                    </a:lnB>
                    <a:noFill/>
                  </a:tcPr>
                </a:tc>
                <a:tc>
                  <a:txBody>
                    <a:bodyPr/>
                    <a:lstStyle/>
                    <a:p>
                      <a:pPr algn="l">
                        <a:buNone/>
                      </a:pPr>
                      <a:r>
                        <a:rPr lang="en-US" sz="2400" b="0" i="0">
                          <a:solidFill>
                            <a:srgbClr val="3B3B3B"/>
                          </a:solidFill>
                          <a:effectLst/>
                          <a:latin typeface="Cascadia Code" panose="020B0609020000020004" pitchFamily="49" charset="0"/>
                          <a:cs typeface="Cascadia Code" panose="020B0609020000020004" pitchFamily="49" charset="0"/>
                        </a:rPr>
                        <a:t>The shell owns the router</a:t>
                      </a:r>
                    </a:p>
                  </a:txBody>
                  <a:tcPr marL="76200" marR="76200" marT="38100" marB="38100" anchor="ctr">
                    <a:lnL>
                      <a:noFill/>
                    </a:lnL>
                    <a:lnR>
                      <a:noFill/>
                    </a:lnR>
                    <a:lnT>
                      <a:noFill/>
                    </a:lnT>
                    <a:lnB>
                      <a:noFill/>
                    </a:lnB>
                    <a:noFill/>
                  </a:tcPr>
                </a:tc>
                <a:extLst>
                  <a:ext uri="{0D108BD9-81ED-4DB2-BD59-A6C34878D82A}">
                    <a16:rowId xmlns:a16="http://schemas.microsoft.com/office/drawing/2014/main" val="1750626137"/>
                  </a:ext>
                </a:extLst>
              </a:tr>
              <a:tr h="1069222">
                <a:tc>
                  <a:txBody>
                    <a:bodyPr/>
                    <a:lstStyle/>
                    <a:p>
                      <a:pPr algn="l">
                        <a:buNone/>
                      </a:pPr>
                      <a:r>
                        <a:rPr lang="en-US" sz="2400" b="0" i="0" dirty="0" err="1">
                          <a:solidFill>
                            <a:srgbClr val="3B3B3B"/>
                          </a:solidFill>
                          <a:effectLst/>
                          <a:latin typeface="Cascadia Code" panose="020B0609020000020004" pitchFamily="49" charset="0"/>
                          <a:cs typeface="Cascadia Code" panose="020B0609020000020004" pitchFamily="49" charset="0"/>
                        </a:rPr>
                        <a:t>addPrescription</a:t>
                      </a:r>
                      <a:endParaRPr lang="en-US" sz="2400" b="0" i="0" dirty="0">
                        <a:solidFill>
                          <a:srgbClr val="3B3B3B"/>
                        </a:solidFill>
                        <a:effectLst/>
                        <a:latin typeface="Cascadia Code" panose="020B0609020000020004" pitchFamily="49" charset="0"/>
                        <a:cs typeface="Cascadia Code" panose="020B0609020000020004" pitchFamily="49" charset="0"/>
                      </a:endParaRPr>
                    </a:p>
                  </a:txBody>
                  <a:tcPr marL="76200" marR="76200" marT="38100" marB="38100" anchor="ctr">
                    <a:lnL>
                      <a:noFill/>
                    </a:lnL>
                    <a:lnR>
                      <a:noFill/>
                    </a:lnR>
                    <a:lnT>
                      <a:noFill/>
                    </a:lnT>
                    <a:lnB>
                      <a:noFill/>
                    </a:lnB>
                    <a:noFill/>
                  </a:tcPr>
                </a:tc>
                <a:tc>
                  <a:txBody>
                    <a:bodyPr/>
                    <a:lstStyle/>
                    <a:p>
                      <a:pPr algn="l">
                        <a:buNone/>
                      </a:pPr>
                      <a:r>
                        <a:rPr lang="en-US" sz="2400" b="1" i="0" dirty="0">
                          <a:solidFill>
                            <a:srgbClr val="3B3B3B"/>
                          </a:solidFill>
                          <a:effectLst/>
                          <a:latin typeface="Cascadia Code" panose="020B0609020000020004" pitchFamily="49" charset="0"/>
                          <a:cs typeface="Cascadia Code" panose="020B0609020000020004" pitchFamily="49" charset="0"/>
                        </a:rPr>
                        <a:t>records</a:t>
                      </a:r>
                      <a:endParaRPr lang="en-US" sz="2400" b="0" i="0" dirty="0">
                        <a:solidFill>
                          <a:srgbClr val="3B3B3B"/>
                        </a:solidFill>
                        <a:effectLst/>
                        <a:latin typeface="Cascadia Code" panose="020B0609020000020004" pitchFamily="49" charset="0"/>
                        <a:cs typeface="Cascadia Code" panose="020B0609020000020004" pitchFamily="49" charset="0"/>
                      </a:endParaRPr>
                    </a:p>
                  </a:txBody>
                  <a:tcPr marL="76200" marR="76200" marT="38100" marB="38100" anchor="ctr">
                    <a:lnL>
                      <a:noFill/>
                    </a:lnL>
                    <a:lnR>
                      <a:noFill/>
                    </a:lnR>
                    <a:lnT>
                      <a:noFill/>
                    </a:lnT>
                    <a:lnB>
                      <a:noFill/>
                    </a:lnB>
                    <a:noFill/>
                  </a:tcPr>
                </a:tc>
                <a:tc>
                  <a:txBody>
                    <a:bodyPr/>
                    <a:lstStyle/>
                    <a:p>
                      <a:pPr algn="l">
                        <a:buNone/>
                      </a:pPr>
                      <a:r>
                        <a:rPr lang="en-US" sz="2400" b="0" i="0">
                          <a:solidFill>
                            <a:srgbClr val="3B3B3B"/>
                          </a:solidFill>
                          <a:effectLst/>
                          <a:latin typeface="Cascadia Code" panose="020B0609020000020004" pitchFamily="49" charset="0"/>
                          <a:cs typeface="Cascadia Code" panose="020B0609020000020004" pitchFamily="49" charset="0"/>
                        </a:rPr>
                        <a:t>Records owns "a prescription was requested"</a:t>
                      </a:r>
                    </a:p>
                  </a:txBody>
                  <a:tcPr marL="76200" marR="76200" marT="38100" marB="38100" anchor="ctr">
                    <a:lnL>
                      <a:noFill/>
                    </a:lnL>
                    <a:lnR>
                      <a:noFill/>
                    </a:lnR>
                    <a:lnT>
                      <a:noFill/>
                    </a:lnT>
                    <a:lnB>
                      <a:noFill/>
                    </a:lnB>
                    <a:noFill/>
                  </a:tcPr>
                </a:tc>
                <a:extLst>
                  <a:ext uri="{0D108BD9-81ED-4DB2-BD59-A6C34878D82A}">
                    <a16:rowId xmlns:a16="http://schemas.microsoft.com/office/drawing/2014/main" val="1485486134"/>
                  </a:ext>
                </a:extLst>
              </a:tr>
              <a:tr h="1402485">
                <a:tc>
                  <a:txBody>
                    <a:bodyPr/>
                    <a:lstStyle/>
                    <a:p>
                      <a:pPr algn="l">
                        <a:buNone/>
                      </a:pPr>
                      <a:r>
                        <a:rPr lang="en-US" sz="2400" b="0" i="0" dirty="0" err="1">
                          <a:solidFill>
                            <a:srgbClr val="3B3B3B"/>
                          </a:solidFill>
                          <a:effectLst/>
                          <a:latin typeface="Cascadia Code" panose="020B0609020000020004" pitchFamily="49" charset="0"/>
                          <a:cs typeface="Cascadia Code" panose="020B0609020000020004" pitchFamily="49" charset="0"/>
                        </a:rPr>
                        <a:t>showNotification</a:t>
                      </a:r>
                      <a:endParaRPr lang="en-US" sz="2400" b="0" i="0" dirty="0">
                        <a:solidFill>
                          <a:srgbClr val="3B3B3B"/>
                        </a:solidFill>
                        <a:effectLst/>
                        <a:latin typeface="Cascadia Code" panose="020B0609020000020004" pitchFamily="49" charset="0"/>
                        <a:cs typeface="Cascadia Code" panose="020B0609020000020004" pitchFamily="49" charset="0"/>
                      </a:endParaRPr>
                    </a:p>
                  </a:txBody>
                  <a:tcPr marL="76200" marR="76200" marT="38100" marB="38100" anchor="ctr">
                    <a:lnL>
                      <a:noFill/>
                    </a:lnL>
                    <a:lnR>
                      <a:noFill/>
                    </a:lnR>
                    <a:lnT>
                      <a:noFill/>
                    </a:lnT>
                    <a:lnB>
                      <a:noFill/>
                    </a:lnB>
                    <a:noFill/>
                  </a:tcPr>
                </a:tc>
                <a:tc>
                  <a:txBody>
                    <a:bodyPr/>
                    <a:lstStyle/>
                    <a:p>
                      <a:pPr algn="l">
                        <a:buNone/>
                      </a:pPr>
                      <a:r>
                        <a:rPr lang="en-US" sz="2400" b="1" i="0">
                          <a:solidFill>
                            <a:srgbClr val="3B3B3B"/>
                          </a:solidFill>
                          <a:effectLst/>
                          <a:latin typeface="Cascadia Code" panose="020B0609020000020004" pitchFamily="49" charset="0"/>
                          <a:cs typeface="Cascadia Code" panose="020B0609020000020004" pitchFamily="49" charset="0"/>
                        </a:rPr>
                        <a:t>any module</a:t>
                      </a:r>
                      <a:endParaRPr lang="en-US" sz="2400" b="0" i="0">
                        <a:solidFill>
                          <a:srgbClr val="3B3B3B"/>
                        </a:solidFill>
                        <a:effectLst/>
                        <a:latin typeface="Cascadia Code" panose="020B0609020000020004" pitchFamily="49" charset="0"/>
                        <a:cs typeface="Cascadia Code" panose="020B0609020000020004" pitchFamily="49" charset="0"/>
                      </a:endParaRPr>
                    </a:p>
                  </a:txBody>
                  <a:tcPr marL="76200" marR="76200" marT="38100" marB="38100" anchor="ctr">
                    <a:lnL>
                      <a:noFill/>
                    </a:lnL>
                    <a:lnR>
                      <a:noFill/>
                    </a:lnR>
                    <a:lnT>
                      <a:noFill/>
                    </a:lnT>
                    <a:lnB>
                      <a:noFill/>
                    </a:lnB>
                    <a:noFill/>
                  </a:tcPr>
                </a:tc>
                <a:tc>
                  <a:txBody>
                    <a:bodyPr/>
                    <a:lstStyle/>
                    <a:p>
                      <a:pPr algn="l">
                        <a:buNone/>
                      </a:pPr>
                      <a:r>
                        <a:rPr lang="en-US" sz="2400" b="0" i="0">
                          <a:solidFill>
                            <a:srgbClr val="3B3B3B"/>
                          </a:solidFill>
                          <a:effectLst/>
                          <a:latin typeface="Cascadia Code" panose="020B0609020000020004" pitchFamily="49" charset="0"/>
                          <a:cs typeface="Cascadia Code" panose="020B0609020000020004" pitchFamily="49" charset="0"/>
                        </a:rPr>
                        <a:t>Anyone can have something to say; the shell owns the &lt;Toaster /&gt;</a:t>
                      </a:r>
                    </a:p>
                  </a:txBody>
                  <a:tcPr marL="76200" marR="76200" marT="38100" marB="38100" anchor="ctr">
                    <a:lnL>
                      <a:noFill/>
                    </a:lnL>
                    <a:lnR>
                      <a:noFill/>
                    </a:lnR>
                    <a:lnT>
                      <a:noFill/>
                    </a:lnT>
                    <a:lnB>
                      <a:noFill/>
                    </a:lnB>
                    <a:noFill/>
                  </a:tcPr>
                </a:tc>
                <a:extLst>
                  <a:ext uri="{0D108BD9-81ED-4DB2-BD59-A6C34878D82A}">
                    <a16:rowId xmlns:a16="http://schemas.microsoft.com/office/drawing/2014/main" val="3065737248"/>
                  </a:ext>
                </a:extLst>
              </a:tr>
              <a:tr h="1070386">
                <a:tc>
                  <a:txBody>
                    <a:bodyPr/>
                    <a:lstStyle/>
                    <a:p>
                      <a:pPr algn="l">
                        <a:buNone/>
                      </a:pPr>
                      <a:r>
                        <a:rPr lang="en-US" sz="2400" b="0" i="0" dirty="0" err="1">
                          <a:solidFill>
                            <a:srgbClr val="3B3B3B"/>
                          </a:solidFill>
                          <a:effectLst/>
                          <a:latin typeface="Cascadia Code" panose="020B0609020000020004" pitchFamily="49" charset="0"/>
                          <a:cs typeface="Cascadia Code" panose="020B0609020000020004" pitchFamily="49" charset="0"/>
                        </a:rPr>
                        <a:t>counterChange</a:t>
                      </a:r>
                      <a:endParaRPr lang="en-US" sz="2400" b="0" i="0" dirty="0">
                        <a:solidFill>
                          <a:srgbClr val="3B3B3B"/>
                        </a:solidFill>
                        <a:effectLst/>
                        <a:latin typeface="Cascadia Code" panose="020B0609020000020004" pitchFamily="49" charset="0"/>
                        <a:cs typeface="Cascadia Code" panose="020B0609020000020004" pitchFamily="49" charset="0"/>
                      </a:endParaRPr>
                    </a:p>
                  </a:txBody>
                  <a:tcPr marL="76200" marR="76200" marT="38100" marB="38100" anchor="ctr">
                    <a:lnL>
                      <a:noFill/>
                    </a:lnL>
                    <a:lnR>
                      <a:noFill/>
                    </a:lnR>
                    <a:lnT>
                      <a:noFill/>
                    </a:lnT>
                    <a:lnB>
                      <a:noFill/>
                    </a:lnB>
                    <a:noFill/>
                  </a:tcPr>
                </a:tc>
                <a:tc>
                  <a:txBody>
                    <a:bodyPr/>
                    <a:lstStyle/>
                    <a:p>
                      <a:pPr algn="l">
                        <a:buNone/>
                      </a:pPr>
                      <a:r>
                        <a:rPr lang="en-US" sz="2400" b="1" i="0">
                          <a:solidFill>
                            <a:srgbClr val="3B3B3B"/>
                          </a:solidFill>
                          <a:effectLst/>
                          <a:latin typeface="Cascadia Code" panose="020B0609020000020004" pitchFamily="49" charset="0"/>
                          <a:cs typeface="Cascadia Code" panose="020B0609020000020004" pitchFamily="49" charset="0"/>
                        </a:rPr>
                        <a:t>any module</a:t>
                      </a:r>
                      <a:endParaRPr lang="en-US" sz="2400" b="0" i="0">
                        <a:solidFill>
                          <a:srgbClr val="3B3B3B"/>
                        </a:solidFill>
                        <a:effectLst/>
                        <a:latin typeface="Cascadia Code" panose="020B0609020000020004" pitchFamily="49" charset="0"/>
                        <a:cs typeface="Cascadia Code" panose="020B0609020000020004" pitchFamily="49" charset="0"/>
                      </a:endParaRPr>
                    </a:p>
                  </a:txBody>
                  <a:tcPr marL="76200" marR="76200" marT="38100" marB="38100" anchor="ctr">
                    <a:lnL>
                      <a:noFill/>
                    </a:lnL>
                    <a:lnR>
                      <a:noFill/>
                    </a:lnR>
                    <a:lnT>
                      <a:noFill/>
                    </a:lnT>
                    <a:lnB>
                      <a:noFill/>
                    </a:lnB>
                    <a:noFill/>
                  </a:tcPr>
                </a:tc>
                <a:tc>
                  <a:txBody>
                    <a:bodyPr/>
                    <a:lstStyle/>
                    <a:p>
                      <a:pPr algn="l">
                        <a:buNone/>
                      </a:pPr>
                      <a:r>
                        <a:rPr lang="en-US" sz="2400" b="0" i="0" dirty="0">
                          <a:solidFill>
                            <a:srgbClr val="3B3B3B"/>
                          </a:solidFill>
                          <a:effectLst/>
                          <a:latin typeface="Cascadia Code" panose="020B0609020000020004" pitchFamily="49" charset="0"/>
                          <a:cs typeface="Cascadia Code" panose="020B0609020000020004" pitchFamily="49" charset="0"/>
                        </a:rPr>
                        <a:t>Nobody owns the counter — it's genuinely peer state</a:t>
                      </a:r>
                    </a:p>
                  </a:txBody>
                  <a:tcPr marL="76200" marR="76200" marT="38100" marB="38100" anchor="ctr">
                    <a:lnL>
                      <a:noFill/>
                    </a:lnL>
                    <a:lnR>
                      <a:noFill/>
                    </a:lnR>
                    <a:lnT>
                      <a:noFill/>
                    </a:lnT>
                    <a:lnB>
                      <a:noFill/>
                    </a:lnB>
                    <a:noFill/>
                  </a:tcPr>
                </a:tc>
                <a:extLst>
                  <a:ext uri="{0D108BD9-81ED-4DB2-BD59-A6C34878D82A}">
                    <a16:rowId xmlns:a16="http://schemas.microsoft.com/office/drawing/2014/main" val="1091983602"/>
                  </a:ext>
                </a:extLst>
              </a:tr>
            </a:tbl>
          </a:graphicData>
        </a:graphic>
      </p:graphicFrame>
      <p:sp>
        <p:nvSpPr>
          <p:cNvPr id="4" name="TextBox 3">
            <a:extLst>
              <a:ext uri="{FF2B5EF4-FFF2-40B4-BE49-F238E27FC236}">
                <a16:creationId xmlns:a16="http://schemas.microsoft.com/office/drawing/2014/main" id="{FCBFEC0A-AD33-0E5A-BF45-ABD21D98423F}"/>
              </a:ext>
            </a:extLst>
          </p:cNvPr>
          <p:cNvSpPr txBox="1"/>
          <p:nvPr/>
        </p:nvSpPr>
        <p:spPr>
          <a:xfrm>
            <a:off x="362857" y="231614"/>
            <a:ext cx="11161486" cy="646331"/>
          </a:xfrm>
          <a:prstGeom prst="rect">
            <a:avLst/>
          </a:prstGeom>
          <a:noFill/>
        </p:spPr>
        <p:txBody>
          <a:bodyPr wrap="square">
            <a:spAutoFit/>
          </a:bodyPr>
          <a:lstStyle/>
          <a:p>
            <a:r>
              <a:rPr lang="en-US" sz="3600" i="1" dirty="0"/>
              <a:t>The ownership rule </a:t>
            </a:r>
            <a:endParaRPr lang="en-GB" sz="4800" i="1" dirty="0"/>
          </a:p>
        </p:txBody>
      </p:sp>
    </p:spTree>
    <p:extLst>
      <p:ext uri="{BB962C8B-B14F-4D97-AF65-F5344CB8AC3E}">
        <p14:creationId xmlns:p14="http://schemas.microsoft.com/office/powerpoint/2010/main" val="31747231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74E5C8-F845-6867-3F24-0A4D18D440C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251E657-3A4F-F643-B5FE-F848932BB249}"/>
              </a:ext>
            </a:extLst>
          </p:cNvPr>
          <p:cNvSpPr txBox="1"/>
          <p:nvPr/>
        </p:nvSpPr>
        <p:spPr>
          <a:xfrm>
            <a:off x="722376" y="576072"/>
            <a:ext cx="1436612" cy="707886"/>
          </a:xfrm>
          <a:prstGeom prst="rect">
            <a:avLst/>
          </a:prstGeom>
          <a:noFill/>
        </p:spPr>
        <p:txBody>
          <a:bodyPr wrap="none" rtlCol="0">
            <a:spAutoFit/>
          </a:bodyPr>
          <a:lstStyle/>
          <a:p>
            <a:r>
              <a:rPr lang="en-GB" sz="4000" dirty="0"/>
              <a:t>Demo</a:t>
            </a:r>
          </a:p>
        </p:txBody>
      </p:sp>
      <p:sp>
        <p:nvSpPr>
          <p:cNvPr id="4" name="TextBox 3">
            <a:extLst>
              <a:ext uri="{FF2B5EF4-FFF2-40B4-BE49-F238E27FC236}">
                <a16:creationId xmlns:a16="http://schemas.microsoft.com/office/drawing/2014/main" id="{303C690B-5769-EFCF-21B9-2F10CBECB5E3}"/>
              </a:ext>
            </a:extLst>
          </p:cNvPr>
          <p:cNvSpPr txBox="1"/>
          <p:nvPr/>
        </p:nvSpPr>
        <p:spPr>
          <a:xfrm>
            <a:off x="2678228" y="3075057"/>
            <a:ext cx="6832384" cy="707886"/>
          </a:xfrm>
          <a:prstGeom prst="rect">
            <a:avLst/>
          </a:prstGeom>
          <a:noFill/>
        </p:spPr>
        <p:txBody>
          <a:bodyPr wrap="none" rtlCol="0">
            <a:spAutoFit/>
          </a:bodyPr>
          <a:lstStyle/>
          <a:p>
            <a:pPr algn="ctr"/>
            <a:r>
              <a:rPr lang="en-GB" sz="4000" dirty="0"/>
              <a:t>Counter value in different pages</a:t>
            </a:r>
          </a:p>
        </p:txBody>
      </p:sp>
    </p:spTree>
    <p:extLst>
      <p:ext uri="{BB962C8B-B14F-4D97-AF65-F5344CB8AC3E}">
        <p14:creationId xmlns:p14="http://schemas.microsoft.com/office/powerpoint/2010/main" val="2123101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2">
            <a:extLst>
              <a:ext uri="{FF2B5EF4-FFF2-40B4-BE49-F238E27FC236}">
                <a16:creationId xmlns:a16="http://schemas.microsoft.com/office/drawing/2014/main" id="{177067D6-BE87-AD69-1C20-9125336CF2E5}"/>
              </a:ext>
            </a:extLst>
          </p:cNvPr>
          <p:cNvSpPr/>
          <p:nvPr/>
        </p:nvSpPr>
        <p:spPr>
          <a:xfrm>
            <a:off x="530352" y="0"/>
            <a:ext cx="11109960" cy="777240"/>
          </a:xfrm>
          <a:prstGeom prst="rect">
            <a:avLst/>
          </a:prstGeom>
          <a:noFill/>
          <a:ln/>
        </p:spPr>
        <p:txBody>
          <a:bodyPr wrap="square" rtlCol="0" anchor="ctr"/>
          <a:lstStyle/>
          <a:p>
            <a:pPr marL="0" indent="0">
              <a:buNone/>
            </a:pPr>
            <a:r>
              <a:rPr lang="en-US" sz="3300" i="1" dirty="0">
                <a:solidFill>
                  <a:schemeClr val="tx1">
                    <a:lumMod val="95000"/>
                    <a:lumOff val="5000"/>
                  </a:schemeClr>
                </a:solidFill>
                <a:latin typeface="Instrument Serif" pitchFamily="34" charset="0"/>
                <a:ea typeface="Instrument Serif" pitchFamily="34" charset="-122"/>
                <a:cs typeface="Instrument Serif" pitchFamily="34" charset="-120"/>
              </a:rPr>
              <a:t>Shell-owned theming across the federation</a:t>
            </a:r>
            <a:endParaRPr lang="en-US" sz="3300" dirty="0">
              <a:solidFill>
                <a:schemeClr val="tx1">
                  <a:lumMod val="95000"/>
                  <a:lumOff val="5000"/>
                </a:schemeClr>
              </a:solidFill>
            </a:endParaRPr>
          </a:p>
        </p:txBody>
      </p:sp>
      <p:sp>
        <p:nvSpPr>
          <p:cNvPr id="5" name="Text 5">
            <a:extLst>
              <a:ext uri="{FF2B5EF4-FFF2-40B4-BE49-F238E27FC236}">
                <a16:creationId xmlns:a16="http://schemas.microsoft.com/office/drawing/2014/main" id="{956EBAC9-BB98-ECDE-8693-BBDC50395DCE}"/>
              </a:ext>
            </a:extLst>
          </p:cNvPr>
          <p:cNvSpPr/>
          <p:nvPr/>
        </p:nvSpPr>
        <p:spPr>
          <a:xfrm>
            <a:off x="536448" y="777240"/>
            <a:ext cx="11064240" cy="4741433"/>
          </a:xfrm>
          <a:prstGeom prst="rect">
            <a:avLst/>
          </a:prstGeom>
          <a:noFill/>
          <a:ln/>
        </p:spPr>
        <p:txBody>
          <a:bodyPr wrap="square" rtlCol="0" anchor="t"/>
          <a:lstStyle/>
          <a:p>
            <a:pPr marL="0" indent="0" algn="l">
              <a:lnSpc>
                <a:spcPct val="150000"/>
              </a:lnSpc>
              <a:buNone/>
            </a:pPr>
            <a:r>
              <a:rPr lang="en-US" sz="2400" dirty="0">
                <a:solidFill>
                  <a:schemeClr val="tx1">
                    <a:lumMod val="95000"/>
                    <a:lumOff val="5000"/>
                  </a:schemeClr>
                </a:solidFill>
                <a:latin typeface="Cascadia Code NF" pitchFamily="50" charset="0"/>
                <a:ea typeface="Cascadia Code NF" pitchFamily="50" charset="0"/>
                <a:cs typeface="Cascadia Code NF" pitchFamily="50" charset="0"/>
              </a:rPr>
              <a:t>Shell (owns theme)</a:t>
            </a:r>
          </a:p>
          <a:p>
            <a:pPr marL="0" indent="0" algn="l">
              <a:lnSpc>
                <a:spcPct val="150000"/>
              </a:lnSpc>
              <a:buNone/>
            </a:pPr>
            <a:r>
              <a:rPr lang="en-US" sz="2400" dirty="0">
                <a:solidFill>
                  <a:schemeClr val="tx1">
                    <a:lumMod val="95000"/>
                    <a:lumOff val="5000"/>
                  </a:schemeClr>
                </a:solidFill>
                <a:latin typeface="Cascadia Code NF" pitchFamily="50" charset="0"/>
                <a:ea typeface="Cascadia Code NF" pitchFamily="50" charset="0"/>
                <a:cs typeface="Cascadia Code NF" pitchFamily="50" charset="0"/>
              </a:rPr>
              <a:t>  ├── Persists to localStorage ("mf-demo-theme")</a:t>
            </a:r>
          </a:p>
          <a:p>
            <a:pPr marL="0" indent="0" algn="l">
              <a:lnSpc>
                <a:spcPct val="150000"/>
              </a:lnSpc>
              <a:buNone/>
            </a:pPr>
            <a:r>
              <a:rPr lang="en-US" sz="2400" dirty="0">
                <a:solidFill>
                  <a:schemeClr val="tx1">
                    <a:lumMod val="95000"/>
                    <a:lumOff val="5000"/>
                  </a:schemeClr>
                </a:solidFill>
                <a:latin typeface="Cascadia Code NF" pitchFamily="50" charset="0"/>
                <a:ea typeface="Cascadia Code NF" pitchFamily="50" charset="0"/>
                <a:cs typeface="Cascadia Code NF" pitchFamily="50" charset="0"/>
              </a:rPr>
              <a:t>  ├── Applies CSS variables to document.documentElement</a:t>
            </a:r>
          </a:p>
          <a:p>
            <a:pPr marL="0" indent="0" algn="l">
              <a:lnSpc>
                <a:spcPct val="150000"/>
              </a:lnSpc>
              <a:buNone/>
            </a:pPr>
            <a:r>
              <a:rPr lang="en-US" sz="2400" dirty="0">
                <a:solidFill>
                  <a:schemeClr val="tx1">
                    <a:lumMod val="95000"/>
                    <a:lumOff val="5000"/>
                  </a:schemeClr>
                </a:solidFill>
                <a:latin typeface="Cascadia Code NF" pitchFamily="50" charset="0"/>
                <a:ea typeface="Cascadia Code NF" pitchFamily="50" charset="0"/>
                <a:cs typeface="Cascadia Code NF" pitchFamily="50" charset="0"/>
              </a:rPr>
              <a:t>  ├── Exposes window.__MF_THEME__ bridge</a:t>
            </a:r>
          </a:p>
          <a:p>
            <a:pPr marL="0" indent="0" algn="l">
              <a:lnSpc>
                <a:spcPct val="150000"/>
              </a:lnSpc>
              <a:buNone/>
            </a:pPr>
            <a:r>
              <a:rPr lang="en-US" sz="2400" dirty="0">
                <a:solidFill>
                  <a:schemeClr val="tx1">
                    <a:lumMod val="95000"/>
                    <a:lumOff val="5000"/>
                  </a:schemeClr>
                </a:solidFill>
                <a:latin typeface="Cascadia Code NF" pitchFamily="50" charset="0"/>
                <a:ea typeface="Cascadia Code NF" pitchFamily="50" charset="0"/>
                <a:cs typeface="Cascadia Code NF" pitchFamily="50" charset="0"/>
              </a:rPr>
              <a:t>  └── Broadcasts "themeChange" event</a:t>
            </a:r>
          </a:p>
          <a:p>
            <a:pPr marL="0" indent="0" algn="l">
              <a:lnSpc>
                <a:spcPct val="150000"/>
              </a:lnSpc>
              <a:buNone/>
            </a:pPr>
            <a:r>
              <a:rPr lang="en-US" sz="2400" dirty="0">
                <a:solidFill>
                  <a:schemeClr val="tx1">
                    <a:lumMod val="95000"/>
                    <a:lumOff val="5000"/>
                  </a:schemeClr>
                </a:solidFill>
                <a:latin typeface="Cascadia Code NF" pitchFamily="50" charset="0"/>
                <a:ea typeface="Cascadia Code NF" pitchFamily="50" charset="0"/>
                <a:cs typeface="Cascadia Code NF" pitchFamily="50" charset="0"/>
              </a:rPr>
              <a:t>        ├── Records       → useActiveTheme()</a:t>
            </a:r>
          </a:p>
          <a:p>
            <a:pPr marL="0" indent="0" algn="l">
              <a:lnSpc>
                <a:spcPct val="150000"/>
              </a:lnSpc>
              <a:buNone/>
            </a:pPr>
            <a:r>
              <a:rPr lang="en-US" sz="2400" dirty="0">
                <a:solidFill>
                  <a:schemeClr val="tx1">
                    <a:lumMod val="95000"/>
                    <a:lumOff val="5000"/>
                  </a:schemeClr>
                </a:solidFill>
                <a:latin typeface="Cascadia Code NF" pitchFamily="50" charset="0"/>
                <a:ea typeface="Cascadia Code NF" pitchFamily="50" charset="0"/>
                <a:cs typeface="Cascadia Code NF" pitchFamily="50" charset="0"/>
              </a:rPr>
              <a:t>        ├── Prescriptions → useActiveTheme()</a:t>
            </a:r>
          </a:p>
          <a:p>
            <a:pPr marL="0" indent="0" algn="l">
              <a:lnSpc>
                <a:spcPct val="150000"/>
              </a:lnSpc>
              <a:buNone/>
            </a:pPr>
            <a:r>
              <a:rPr lang="en-US" sz="2400" dirty="0">
                <a:solidFill>
                  <a:schemeClr val="tx1">
                    <a:lumMod val="95000"/>
                    <a:lumOff val="5000"/>
                  </a:schemeClr>
                </a:solidFill>
                <a:latin typeface="Cascadia Code NF" pitchFamily="50" charset="0"/>
                <a:ea typeface="Cascadia Code NF" pitchFamily="50" charset="0"/>
                <a:cs typeface="Cascadia Code NF" pitchFamily="50" charset="0"/>
              </a:rPr>
              <a:t>        └── Analytics     → useActiveTheme()</a:t>
            </a:r>
          </a:p>
        </p:txBody>
      </p:sp>
    </p:spTree>
    <p:extLst>
      <p:ext uri="{BB962C8B-B14F-4D97-AF65-F5344CB8AC3E}">
        <p14:creationId xmlns:p14="http://schemas.microsoft.com/office/powerpoint/2010/main" val="31717383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A803917B-4381-C3C7-FA95-857D711A79FD}"/>
              </a:ext>
            </a:extLst>
          </p:cNvPr>
          <p:cNvPicPr>
            <a:picLocks noChangeAspect="1"/>
          </p:cNvPicPr>
          <p:nvPr/>
        </p:nvPicPr>
        <p:blipFill>
          <a:blip r:embed="rId3"/>
          <a:stretch>
            <a:fillRect/>
          </a:stretch>
        </p:blipFill>
        <p:spPr>
          <a:xfrm>
            <a:off x="4297407" y="1158714"/>
            <a:ext cx="4087786" cy="3871374"/>
          </a:xfrm>
          <a:prstGeom prst="rect">
            <a:avLst/>
          </a:prstGeom>
        </p:spPr>
      </p:pic>
      <p:sp>
        <p:nvSpPr>
          <p:cNvPr id="12" name="TextBox 11">
            <a:extLst>
              <a:ext uri="{FF2B5EF4-FFF2-40B4-BE49-F238E27FC236}">
                <a16:creationId xmlns:a16="http://schemas.microsoft.com/office/drawing/2014/main" id="{29D0F35D-631E-8C23-5845-6023A66D27DD}"/>
              </a:ext>
            </a:extLst>
          </p:cNvPr>
          <p:cNvSpPr txBox="1"/>
          <p:nvPr/>
        </p:nvSpPr>
        <p:spPr>
          <a:xfrm>
            <a:off x="3822192" y="3655026"/>
            <a:ext cx="1627369" cy="1569660"/>
          </a:xfrm>
          <a:prstGeom prst="rect">
            <a:avLst/>
          </a:prstGeom>
          <a:noFill/>
        </p:spPr>
        <p:txBody>
          <a:bodyPr wrap="none" rtlCol="0">
            <a:spAutoFit/>
          </a:bodyPr>
          <a:lstStyle/>
          <a:p>
            <a:pPr algn="ctr"/>
            <a:r>
              <a:rPr lang="en-GB" sz="9600" dirty="0">
                <a:latin typeface="Cascadia Code" panose="020B0609020000020004" pitchFamily="49" charset="0"/>
                <a:cs typeface="Cascadia Code" panose="020B0609020000020004" pitchFamily="49" charset="0"/>
              </a:rPr>
              <a:t>AI</a:t>
            </a:r>
          </a:p>
        </p:txBody>
      </p:sp>
    </p:spTree>
    <p:extLst>
      <p:ext uri="{BB962C8B-B14F-4D97-AF65-F5344CB8AC3E}">
        <p14:creationId xmlns:p14="http://schemas.microsoft.com/office/powerpoint/2010/main" val="21967390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B5158BA-B2A6-2F27-F186-4EF8F56E7BD9}"/>
              </a:ext>
            </a:extLst>
          </p:cNvPr>
          <p:cNvPicPr>
            <a:picLocks noChangeAspect="1"/>
          </p:cNvPicPr>
          <p:nvPr/>
        </p:nvPicPr>
        <p:blipFill>
          <a:blip r:embed="rId3"/>
          <a:stretch>
            <a:fillRect/>
          </a:stretch>
        </p:blipFill>
        <p:spPr>
          <a:xfrm>
            <a:off x="3557944" y="0"/>
            <a:ext cx="5072937" cy="6858000"/>
          </a:xfrm>
          <a:prstGeom prst="rect">
            <a:avLst/>
          </a:prstGeom>
        </p:spPr>
      </p:pic>
    </p:spTree>
    <p:extLst>
      <p:ext uri="{BB962C8B-B14F-4D97-AF65-F5344CB8AC3E}">
        <p14:creationId xmlns:p14="http://schemas.microsoft.com/office/powerpoint/2010/main" val="25882997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1F1A212-8E57-6816-E45C-C202E54FFB15}"/>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FDFC6324-4D3C-F263-D3FB-B7304428462B}"/>
              </a:ext>
            </a:extLst>
          </p:cNvPr>
          <p:cNvSpPr txBox="1"/>
          <p:nvPr/>
        </p:nvSpPr>
        <p:spPr>
          <a:xfrm>
            <a:off x="1119382" y="2736683"/>
            <a:ext cx="10027796" cy="1384634"/>
          </a:xfrm>
          <a:prstGeom prst="rect">
            <a:avLst/>
          </a:prstGeom>
          <a:noFill/>
        </p:spPr>
        <p:txBody>
          <a:bodyPr wrap="square">
            <a:spAutoFit/>
          </a:bodyPr>
          <a:lstStyle/>
          <a:p>
            <a:r>
              <a:rPr lang="en-GB" sz="2799" b="1" dirty="0">
                <a:solidFill>
                  <a:schemeClr val="tx1">
                    <a:lumMod val="95000"/>
                    <a:lumOff val="5000"/>
                  </a:schemeClr>
                </a:solidFill>
              </a:rPr>
              <a:t>Knowledge atrophy </a:t>
            </a:r>
            <a:r>
              <a:rPr lang="en-GB" sz="2799" dirty="0">
                <a:solidFill>
                  <a:schemeClr val="bg2">
                    <a:lumMod val="25000"/>
                  </a:schemeClr>
                </a:solidFill>
              </a:rPr>
              <a:t>is the gradual weakening of human thinking and problem-solving skills through overreliance on AI to do our mental work.</a:t>
            </a:r>
          </a:p>
        </p:txBody>
      </p:sp>
    </p:spTree>
    <p:extLst>
      <p:ext uri="{BB962C8B-B14F-4D97-AF65-F5344CB8AC3E}">
        <p14:creationId xmlns:p14="http://schemas.microsoft.com/office/powerpoint/2010/main" val="17713808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1">
            <a:extLst>
              <a:ext uri="{FF2B5EF4-FFF2-40B4-BE49-F238E27FC236}">
                <a16:creationId xmlns:a16="http://schemas.microsoft.com/office/drawing/2014/main" id="{B9B17927-D537-2054-3DCD-46D230E54D61}"/>
              </a:ext>
            </a:extLst>
          </p:cNvPr>
          <p:cNvSpPr/>
          <p:nvPr/>
        </p:nvSpPr>
        <p:spPr>
          <a:xfrm>
            <a:off x="548640" y="2331720"/>
            <a:ext cx="11064240" cy="1280160"/>
          </a:xfrm>
          <a:prstGeom prst="rect">
            <a:avLst/>
          </a:prstGeom>
          <a:noFill/>
          <a:ln/>
        </p:spPr>
        <p:txBody>
          <a:bodyPr wrap="square" rtlCol="0" anchor="ctr"/>
          <a:lstStyle/>
          <a:p>
            <a:pPr marL="0" indent="0">
              <a:buNone/>
            </a:pPr>
            <a:r>
              <a:rPr lang="en-US" sz="6000" i="1" dirty="0">
                <a:solidFill>
                  <a:schemeClr val="tx1">
                    <a:lumMod val="95000"/>
                    <a:lumOff val="5000"/>
                  </a:schemeClr>
                </a:solidFill>
                <a:latin typeface="Instrument Serif" pitchFamily="34" charset="0"/>
                <a:ea typeface="Instrument Serif" pitchFamily="34" charset="-122"/>
                <a:cs typeface="Instrument Serif" pitchFamily="34" charset="-120"/>
              </a:rPr>
              <a:t>Thank you.</a:t>
            </a:r>
            <a:endParaRPr lang="en-US" sz="6000" dirty="0">
              <a:solidFill>
                <a:schemeClr val="tx1">
                  <a:lumMod val="95000"/>
                  <a:lumOff val="5000"/>
                </a:schemeClr>
              </a:solidFill>
            </a:endParaRPr>
          </a:p>
        </p:txBody>
      </p:sp>
      <p:sp>
        <p:nvSpPr>
          <p:cNvPr id="7" name="Text 2">
            <a:extLst>
              <a:ext uri="{FF2B5EF4-FFF2-40B4-BE49-F238E27FC236}">
                <a16:creationId xmlns:a16="http://schemas.microsoft.com/office/drawing/2014/main" id="{74B31B54-B88A-D269-A665-00C530BE9093}"/>
              </a:ext>
            </a:extLst>
          </p:cNvPr>
          <p:cNvSpPr/>
          <p:nvPr/>
        </p:nvSpPr>
        <p:spPr>
          <a:xfrm>
            <a:off x="640080" y="3703320"/>
            <a:ext cx="10972800" cy="457200"/>
          </a:xfrm>
          <a:prstGeom prst="rect">
            <a:avLst/>
          </a:prstGeom>
          <a:noFill/>
          <a:ln/>
        </p:spPr>
        <p:txBody>
          <a:bodyPr wrap="square" rtlCol="0" anchor="ctr"/>
          <a:lstStyle/>
          <a:p>
            <a:pPr marL="0" indent="0">
              <a:buNone/>
            </a:pPr>
            <a:r>
              <a:rPr lang="en-US" sz="2800" dirty="0">
                <a:solidFill>
                  <a:schemeClr val="tx1">
                    <a:lumMod val="95000"/>
                    <a:lumOff val="5000"/>
                  </a:schemeClr>
                </a:solidFill>
                <a:latin typeface="DM Sans" pitchFamily="34" charset="0"/>
                <a:ea typeface="DM Sans" pitchFamily="34" charset="-122"/>
                <a:cs typeface="DM Sans" pitchFamily="34" charset="-120"/>
              </a:rPr>
              <a:t>@DevlinDuldulao</a:t>
            </a:r>
            <a:endParaRPr lang="en-US" sz="2800" dirty="0">
              <a:solidFill>
                <a:schemeClr val="tx1">
                  <a:lumMod val="95000"/>
                  <a:lumOff val="5000"/>
                </a:schemeClr>
              </a:solidFill>
            </a:endParaRPr>
          </a:p>
        </p:txBody>
      </p:sp>
      <p:pic>
        <p:nvPicPr>
          <p:cNvPr id="11" name="Picture 10">
            <a:extLst>
              <a:ext uri="{FF2B5EF4-FFF2-40B4-BE49-F238E27FC236}">
                <a16:creationId xmlns:a16="http://schemas.microsoft.com/office/drawing/2014/main" id="{EE42FC8F-E622-B57A-8D17-21F71B4A52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90945" y="534340"/>
            <a:ext cx="4874920" cy="4874920"/>
          </a:xfrm>
          <a:prstGeom prst="rect">
            <a:avLst/>
          </a:prstGeom>
        </p:spPr>
      </p:pic>
      <p:sp>
        <p:nvSpPr>
          <p:cNvPr id="13" name="Text 3">
            <a:extLst>
              <a:ext uri="{FF2B5EF4-FFF2-40B4-BE49-F238E27FC236}">
                <a16:creationId xmlns:a16="http://schemas.microsoft.com/office/drawing/2014/main" id="{C8E8866F-ACA3-AC4B-2C7F-ED97CBE40635}"/>
              </a:ext>
            </a:extLst>
          </p:cNvPr>
          <p:cNvSpPr/>
          <p:nvPr/>
        </p:nvSpPr>
        <p:spPr>
          <a:xfrm>
            <a:off x="7022465" y="5294960"/>
            <a:ext cx="3611880" cy="228600"/>
          </a:xfrm>
          <a:prstGeom prst="rect">
            <a:avLst/>
          </a:prstGeom>
          <a:noFill/>
          <a:ln/>
        </p:spPr>
        <p:txBody>
          <a:bodyPr wrap="square" rtlCol="0" anchor="ctr"/>
          <a:lstStyle/>
          <a:p>
            <a:pPr marL="0" indent="0" algn="ctr">
              <a:buNone/>
            </a:pPr>
            <a:r>
              <a:rPr lang="en-US" sz="2000" kern="0" spc="100" dirty="0">
                <a:solidFill>
                  <a:schemeClr val="tx1">
                    <a:lumMod val="95000"/>
                    <a:lumOff val="5000"/>
                  </a:schemeClr>
                </a:solidFill>
                <a:latin typeface="Brush Script MT" panose="03060802040406070304" pitchFamily="66" charset="0"/>
                <a:ea typeface="IBM Plex Mono" pitchFamily="34" charset="-122"/>
                <a:cs typeface="IBM Plex Mono" pitchFamily="34" charset="-120"/>
              </a:rPr>
              <a:t>Social links</a:t>
            </a:r>
            <a:endParaRPr lang="en-US" sz="2000" dirty="0">
              <a:solidFill>
                <a:schemeClr val="tx1">
                  <a:lumMod val="95000"/>
                  <a:lumOff val="5000"/>
                </a:schemeClr>
              </a:solidFill>
              <a:latin typeface="Brush Script MT" panose="03060802040406070304" pitchFamily="66" charset="0"/>
            </a:endParaRPr>
          </a:p>
        </p:txBody>
      </p:sp>
    </p:spTree>
    <p:extLst>
      <p:ext uri="{BB962C8B-B14F-4D97-AF65-F5344CB8AC3E}">
        <p14:creationId xmlns:p14="http://schemas.microsoft.com/office/powerpoint/2010/main" val="29172654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48141450-2387-4aca-b41f-19cd6be9dd3c}" enabled="1" method="Standard" siteId="{adf10e2b-b6e9-41d6-be2f-c12bb566019c}" contentBits="0" removed="0"/>
</clbl:labelList>
</file>

<file path=docProps/app.xml><?xml version="1.0" encoding="utf-8"?>
<Properties xmlns="http://schemas.openxmlformats.org/officeDocument/2006/extended-properties" xmlns:vt="http://schemas.openxmlformats.org/officeDocument/2006/docPropsVTypes">
  <TotalTime>5920</TotalTime>
  <Words>2091</Words>
  <Application>Microsoft Macintosh PowerPoint</Application>
  <PresentationFormat>Custom</PresentationFormat>
  <Paragraphs>199</Paragraphs>
  <Slides>34</Slides>
  <Notes>34</Notes>
  <HiddenSlides>5</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34</vt:i4>
      </vt:variant>
    </vt:vector>
  </HeadingPairs>
  <TitlesOfParts>
    <vt:vector size="44" baseType="lpstr">
      <vt:lpstr>Brush Script MT</vt:lpstr>
      <vt:lpstr>Aptos</vt:lpstr>
      <vt:lpstr>Arial</vt:lpstr>
      <vt:lpstr>Calibri</vt:lpstr>
      <vt:lpstr>Cascadia Code</vt:lpstr>
      <vt:lpstr>Cascadia Code NF</vt:lpstr>
      <vt:lpstr>DM Sans</vt:lpstr>
      <vt:lpstr>IBM Plex Mono</vt:lpstr>
      <vt:lpstr>Instrument Serif</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5 Devs to 200 — Micro-Frontends That Scale Your Team and Keep the UI Responsive</dc:title>
  <dc:subject>PptxGenJS Presentation</dc:subject>
  <dc:creator>Module Federation Demo</dc:creator>
  <cp:lastModifiedBy>Devlin Duldulao</cp:lastModifiedBy>
  <cp:revision>319</cp:revision>
  <dcterms:created xsi:type="dcterms:W3CDTF">2026-07-26T17:49:56Z</dcterms:created>
  <dcterms:modified xsi:type="dcterms:W3CDTF">2026-10-30T23:17:48Z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ocumentInfoFinished">
    <vt:lpwstr>True</vt:lpwstr>
  </property>
  <property fmtid="{D5CDD505-2E9C-101B-9397-08002B2CF9AE}" pid="3" name="MSIP_Label_178c0f71-65dc-41d1-a799-91080a268621_Enabled">
    <vt:lpwstr>true</vt:lpwstr>
  </property>
  <property fmtid="{D5CDD505-2E9C-101B-9397-08002B2CF9AE}" pid="4" name="MSIP_Label_178c0f71-65dc-41d1-a799-91080a268621_SetDate">
    <vt:lpwstr>2026-09-09T15:35:15Z</vt:lpwstr>
  </property>
  <property fmtid="{D5CDD505-2E9C-101B-9397-08002B2CF9AE}" pid="5" name="MSIP_Label_178c0f71-65dc-41d1-a799-91080a268621_Method">
    <vt:lpwstr>Standard</vt:lpwstr>
  </property>
  <property fmtid="{D5CDD505-2E9C-101B-9397-08002B2CF9AE}" pid="6" name="MSIP_Label_178c0f71-65dc-41d1-a799-91080a268621_Name">
    <vt:lpwstr>Internal - Crayon Group Only</vt:lpwstr>
  </property>
  <property fmtid="{D5CDD505-2E9C-101B-9397-08002B2CF9AE}" pid="7" name="MSIP_Label_178c0f71-65dc-41d1-a799-91080a268621_SiteId">
    <vt:lpwstr>8f47ad71-44ca-48bf-afe3-56b9360a4495</vt:lpwstr>
  </property>
  <property fmtid="{D5CDD505-2E9C-101B-9397-08002B2CF9AE}" pid="8" name="MSIP_Label_178c0f71-65dc-41d1-a799-91080a268621_ActionId">
    <vt:lpwstr>3894cb50-b398-499b-a2fb-df380df3d017</vt:lpwstr>
  </property>
  <property fmtid="{D5CDD505-2E9C-101B-9397-08002B2CF9AE}" pid="9" name="MSIP_Label_178c0f71-65dc-41d1-a799-91080a268621_ContentBits">
    <vt:lpwstr>2</vt:lpwstr>
  </property>
  <property fmtid="{D5CDD505-2E9C-101B-9397-08002B2CF9AE}" pid="10" name="MSIP_Label_178c0f71-65dc-41d1-a799-91080a268621_Tag">
    <vt:lpwstr>50, 3, 0, 1</vt:lpwstr>
  </property>
  <property fmtid="{D5CDD505-2E9C-101B-9397-08002B2CF9AE}" pid="11" name="ClassificationContentMarkingFooterLocations">
    <vt:lpwstr>Office Theme:3</vt:lpwstr>
  </property>
  <property fmtid="{D5CDD505-2E9C-101B-9397-08002B2CF9AE}" pid="12" name="ClassificationContentMarkingFooterText">
    <vt:lpwstr>Internal Only</vt:lpwstr>
  </property>
</Properties>
</file>