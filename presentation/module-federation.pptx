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328" r:id="rId14"/>
    <p:sldId id="319" r:id="rId15"/>
    <p:sldId id="320" r:id="rId16"/>
    <p:sldId id="329" r:id="rId17"/>
    <p:sldId id="327" r:id="rId18"/>
    <p:sldId id="335" r:id="rId19"/>
    <p:sldId id="325" r:id="rId20"/>
    <p:sldId id="326" r:id="rId21"/>
    <p:sldId id="334" r:id="rId22"/>
    <p:sldId id="332" r:id="rId23"/>
    <p:sldId id="333" r:id="rId24"/>
    <p:sldId id="331" r:id="rId25"/>
    <p:sldId id="323" r:id="rId26"/>
    <p:sldId id="330" r:id="rId27"/>
    <p:sldId id="310" r:id="rId28"/>
    <p:sldId id="322" r:id="rId29"/>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69231" autoAdjust="0"/>
  </p:normalViewPr>
  <p:slideViewPr>
    <p:cSldViewPr snapToGrid="0" snapToObjects="1">
      <p:cViewPr varScale="1">
        <p:scale>
          <a:sx n="44" d="100"/>
          <a:sy n="44" d="100"/>
        </p:scale>
        <p:origin x="1396" y="28"/>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644055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 teams can share a repo happily, but sharing a release train means one team's red build becomes everyone's problem.</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subtler because the failure is gradual. Nobody decides to violate a boundary; someone is just on a deadline and reaches across, and the import survives review because it looks like every other import. Deploy boundaries make that reach physically visible.</a:t>
            </a:r>
            <a:endParaRPr lang="en-GB" dirty="0"/>
          </a:p>
        </p:txBody>
      </p:sp>
    </p:spTree>
    <p:extLst>
      <p:ext uri="{BB962C8B-B14F-4D97-AF65-F5344CB8AC3E}">
        <p14:creationId xmlns:p14="http://schemas.microsoft.com/office/powerpoint/2010/main" val="388968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endParaRPr lang="en-GB" dirty="0"/>
          </a:p>
        </p:txBody>
      </p:sp>
    </p:spTree>
    <p:extLst>
      <p:ext uri="{BB962C8B-B14F-4D97-AF65-F5344CB8AC3E}">
        <p14:creationId xmlns:p14="http://schemas.microsoft.com/office/powerpoint/2010/main" val="560188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of it.</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endParaRPr lang="en-GB" dirty="0"/>
          </a:p>
        </p:txBody>
      </p:sp>
    </p:spTree>
    <p:extLst>
      <p:ext uri="{BB962C8B-B14F-4D97-AF65-F5344CB8AC3E}">
        <p14:creationId xmlns:p14="http://schemas.microsoft.com/office/powerpoint/2010/main" val="3529675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a diagram of the demo app.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 TypeScript 7. Tailwind CSS v4. You can clone this after the talk and run it.</a:t>
            </a:r>
          </a:p>
          <a:p>
            <a:endParaRPr lang="en-US" dirty="0"/>
          </a:p>
          <a:p>
            <a:r>
              <a:rPr lang="en-US" dirty="0"/>
              <a:t>Two promises. Module Federation gives growing teams better developer experience. Suspense fallbacks give visitors better user experience. We are going to prove both, live, in the same architecture.</a:t>
            </a:r>
          </a:p>
          <a:p>
            <a:endParaRPr lang="en-US" dirty="0"/>
          </a:p>
          <a:p>
            <a:endParaRPr lang="en-GB" dirty="0"/>
          </a:p>
        </p:txBody>
      </p:sp>
    </p:spTree>
    <p:extLst>
      <p:ext uri="{BB962C8B-B14F-4D97-AF65-F5344CB8AC3E}">
        <p14:creationId xmlns:p14="http://schemas.microsoft.com/office/powerpoint/2010/main" val="1396901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Independent builds. Independent deploys. Onboarding that actually scales.</a:t>
            </a:r>
          </a:p>
          <a:p>
            <a:endParaRPr lang="en-US" dirty="0"/>
          </a:p>
          <a:p>
            <a:r>
              <a:rPr lang="en-US" dirty="0"/>
              <a:t>Suspense and skeletons are for end users. Instant perceived load.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r>
              <a:rPr lang="en-US" dirty="0"/>
              <a:t>Four remotes hang off that shell. Home on 3004, instant. Records on 3001, eager. Prescriptions on 3002, streamed. Analytics on 3003, streamed. Not every module should load the same way. Content priority decides the strategy.</a:t>
            </a:r>
          </a:p>
          <a:p>
            <a:endParaRPr lang="en-GB" dirty="0"/>
          </a:p>
        </p:txBody>
      </p:sp>
    </p:spTree>
    <p:extLst>
      <p:ext uri="{BB962C8B-B14F-4D97-AF65-F5344CB8AC3E}">
        <p14:creationId xmlns:p14="http://schemas.microsoft.com/office/powerpoint/2010/main" val="18995684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874813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not that static imports are impossible — they work, because </a:t>
            </a:r>
            <a:r>
              <a:rPr lang="en-US" sz="1200" kern="1200" dirty="0" err="1">
                <a:solidFill>
                  <a:schemeClr val="tx1"/>
                </a:solidFill>
                <a:latin typeface="+mn-lt"/>
                <a:ea typeface="+mn-ea"/>
                <a:cs typeface="+mn-cs"/>
              </a:rPr>
              <a:t>index.tsx</a:t>
            </a:r>
            <a:r>
              <a:rPr lang="en-US" dirty="0" err="1"/>
              <a:t>'s</a:t>
            </a:r>
            <a:r>
              <a:rPr lang="en-US" dirty="0"/>
              <a:t> dynamic import already resolved the shared scope. It's that a static import makes the remote block first paint, and leaves nowhere to catch a failed remote. 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A health monitor that polls remoteEntry.js every five seconds. Kill switches. An A/B deployment ring. 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endParaRPr lang="en-US" dirty="0"/>
          </a:p>
        </p:txBody>
      </p:sp>
    </p:spTree>
    <p:extLst>
      <p:ext uri="{BB962C8B-B14F-4D97-AF65-F5344CB8AC3E}">
        <p14:creationId xmlns:p14="http://schemas.microsoft.com/office/powerpoint/2010/main" val="35995048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7593916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a:t>
            </a:r>
            <a:r>
              <a:rPr lang="en-US" dirty="0" err="1"/>
              <a:t>WindowEventMap</a:t>
            </a:r>
            <a:r>
              <a:rPr lang="en-US" dirty="0"/>
              <a:t>. No shared package is required. </a:t>
            </a:r>
            <a:r>
              <a:rPr lang="en-US" dirty="0" err="1"/>
              <a:t>addEventListener</a:t>
            </a:r>
            <a:r>
              <a:rPr lang="en-US" dirty="0"/>
              <a:t> is fully typed.</a:t>
            </a:r>
          </a:p>
          <a:p>
            <a:endParaRPr lang="en-GB" dirty="0"/>
          </a:p>
        </p:txBody>
      </p:sp>
    </p:spTree>
    <p:extLst>
      <p:ext uri="{BB962C8B-B14F-4D97-AF65-F5344CB8AC3E}">
        <p14:creationId xmlns:p14="http://schemas.microsoft.com/office/powerpoint/2010/main" val="39748561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Each app owns its own store and its own query client — nothing is shared. For client state they agree on a typed event contract, and whoever owns the state is the one who broadcasts: the shell owns theme and routing, so it broadcasts those; the counter belongs to nobody, so any module can. For server state there's no syncing at all — every app just fetches, because the API is already the shared state.</a:t>
            </a:r>
            <a:endParaRPr lang="en-GB" dirty="0"/>
          </a:p>
        </p:txBody>
      </p:sp>
    </p:spTree>
    <p:extLst>
      <p:ext uri="{BB962C8B-B14F-4D97-AF65-F5344CB8AC3E}">
        <p14:creationId xmlns:p14="http://schemas.microsoft.com/office/powerpoint/2010/main" val="9831269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endParaRPr lang="en-GB" dirty="0"/>
          </a:p>
        </p:txBody>
      </p:sp>
    </p:spTree>
    <p:extLst>
      <p:ext uri="{BB962C8B-B14F-4D97-AF65-F5344CB8AC3E}">
        <p14:creationId xmlns:p14="http://schemas.microsoft.com/office/powerpoint/2010/main" val="27289724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a:p>
            <a:endParaRPr lang="en-GB" dirty="0"/>
          </a:p>
        </p:txBody>
      </p:sp>
    </p:spTree>
    <p:extLst>
      <p:ext uri="{BB962C8B-B14F-4D97-AF65-F5344CB8AC3E}">
        <p14:creationId xmlns:p14="http://schemas.microsoft.com/office/powerpoint/2010/main" val="22023825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a:t>
            </a:r>
            <a:r>
              <a:rPr lang="en-US" dirty="0" err="1"/>
              <a:t>navigateToModule</a:t>
            </a:r>
            <a:r>
              <a:rPr lang="en-US" dirty="0"/>
              <a:t>. Only the shell mutates router state.</a:t>
            </a:r>
          </a:p>
          <a:p>
            <a:r>
              <a:rPr lang="en-US" dirty="0"/>
              <a:t>Five. Ship fault isolation on purpose. A catch on every lazy import, plus an error boundary per module, keeps one broken remote from taking down the app.</a:t>
            </a:r>
          </a:p>
          <a:p>
            <a:r>
              <a:rPr lang="en-US" dirty="0"/>
              <a:t>Six. </a:t>
            </a:r>
            <a:r>
              <a:rPr lang="en-US" dirty="0" err="1"/>
              <a:t>Rspack</a:t>
            </a:r>
            <a:r>
              <a:rPr lang="en-US" dirty="0"/>
              <a:t> keeps the </a:t>
            </a:r>
            <a:r>
              <a:rPr lang="en-US" dirty="0" err="1"/>
              <a:t>monorepo</a:t>
            </a:r>
            <a:r>
              <a:rPr lang="en-US" dirty="0"/>
              <a:t> fast. Sub-second hot reload across four applications. Module Federation is built in. </a:t>
            </a:r>
            <a:r>
              <a:rPr lang="en-US" dirty="0" err="1"/>
              <a:t>Rspack</a:t>
            </a:r>
            <a:r>
              <a:rPr lang="en-US" dirty="0"/>
              <a:t>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a:p>
            <a:endParaRPr lang="en-GB" dirty="0"/>
          </a:p>
        </p:txBody>
      </p:sp>
    </p:spTree>
    <p:extLst>
      <p:ext uri="{BB962C8B-B14F-4D97-AF65-F5344CB8AC3E}">
        <p14:creationId xmlns:p14="http://schemas.microsoft.com/office/powerpoint/2010/main" val="6938305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223691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Streaming Micro-Frontends: React 19 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3748972" y="2782669"/>
            <a:ext cx="5713167" cy="707886"/>
          </a:xfrm>
          <a:prstGeom prst="rect">
            <a:avLst/>
          </a:prstGeom>
          <a:noFill/>
        </p:spPr>
        <p:txBody>
          <a:bodyPr wrap="none" rtlCol="0">
            <a:spAutoFit/>
          </a:bodyPr>
          <a:lstStyle/>
          <a:p>
            <a:pPr algn="ctr"/>
            <a:r>
              <a:rPr lang="en-US" sz="4000" dirty="0"/>
              <a:t>What are we solving here?</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4">
            <a:extLst>
              <a:ext uri="{FF2B5EF4-FFF2-40B4-BE49-F238E27FC236}">
                <a16:creationId xmlns:a16="http://schemas.microsoft.com/office/drawing/2014/main" id="{59B45F36-03DD-1F61-AE4F-49105667989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33846204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E7BAA42-8979-2749-678C-C4B2DCFC42D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5E252CBF-4D3F-DA4C-2817-C743E648F88B}"/>
              </a:ext>
            </a:extLst>
          </p:cNvPr>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INSTANT     EAGER          STREAMED             STREAMED</a:t>
            </a:r>
          </a:p>
        </p:txBody>
      </p:sp>
    </p:spTree>
    <p:extLst>
      <p:ext uri="{BB962C8B-B14F-4D97-AF65-F5344CB8AC3E}">
        <p14:creationId xmlns:p14="http://schemas.microsoft.com/office/powerpoint/2010/main" val="320200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6439F7-DFAD-81AB-B8BD-241FD9547508}"/>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8368582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678653"/>
            <a:ext cx="10395758" cy="1796527"/>
          </a:xfrm>
          <a:prstGeom prst="rect">
            <a:avLst/>
          </a:prstGeom>
          <a:noFill/>
          <a:ln/>
        </p:spPr>
        <p:txBody>
          <a:bodyPr wrap="square" rtlCol="0" anchor="ctr"/>
          <a:lstStyle/>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Why lazy() for eager modules?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Remotes are separate builds resolved at runtime.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Eager import() warms the cache; lazy() resolves from it.</a:t>
            </a:r>
            <a:endParaRPr lang="en-US" sz="2800" dirty="0">
              <a:solidFill>
                <a:schemeClr val="tx1">
                  <a:lumMod val="85000"/>
                  <a:lumOff val="1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25772246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 Commands · Federation Lab</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remoteEntry.js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A/B Deployment: toggle Stable ↔ Canary ring, per-module versions</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28B204-4642-8AB0-8C60-54C9C48B708A}"/>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41969021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8D92EEC-F99D-6E3A-015E-51DCF972D10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Prefer events over shared state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F96AB674-C4AE-79FF-80B1-8B452266F247}"/>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No direct cross-module imports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Shell stays the only router owner</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Works across deployments when the event contract stays compatible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Framework-agnostic (React, Vue, Svelte)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Typed via WindowEventMap augmentation</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25832381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D2C31A-9631-8861-A387-D11C77608896}"/>
              </a:ext>
            </a:extLst>
          </p:cNvPr>
          <p:cNvGraphicFramePr>
            <a:graphicFrameLocks noGrp="1"/>
          </p:cNvGraphicFramePr>
          <p:nvPr>
            <p:extLst>
              <p:ext uri="{D42A27DB-BD31-4B8C-83A1-F6EECF244321}">
                <p14:modId xmlns:p14="http://schemas.microsoft.com/office/powerpoint/2010/main" val="780093546"/>
              </p:ext>
            </p:extLst>
          </p:nvPr>
        </p:nvGraphicFramePr>
        <p:xfrm>
          <a:off x="362857" y="1320800"/>
          <a:ext cx="11654972" cy="5455967"/>
        </p:xfrm>
        <a:graphic>
          <a:graphicData uri="http://schemas.openxmlformats.org/drawingml/2006/table">
            <a:tbl>
              <a:tblPr/>
              <a:tblGrid>
                <a:gridCol w="3178629">
                  <a:extLst>
                    <a:ext uri="{9D8B030D-6E8A-4147-A177-3AD203B41FA5}">
                      <a16:colId xmlns:a16="http://schemas.microsoft.com/office/drawing/2014/main" val="607345058"/>
                    </a:ext>
                  </a:extLst>
                </a:gridCol>
                <a:gridCol w="2975428">
                  <a:extLst>
                    <a:ext uri="{9D8B030D-6E8A-4147-A177-3AD203B41FA5}">
                      <a16:colId xmlns:a16="http://schemas.microsoft.com/office/drawing/2014/main" val="2182254365"/>
                    </a:ext>
                  </a:extLst>
                </a:gridCol>
                <a:gridCol w="5500915">
                  <a:extLst>
                    <a:ext uri="{9D8B030D-6E8A-4147-A177-3AD203B41FA5}">
                      <a16:colId xmlns:a16="http://schemas.microsoft.com/office/drawing/2014/main" val="3397293518"/>
                    </a:ext>
                  </a:extLst>
                </a:gridCol>
              </a:tblGrid>
              <a:tr h="416364">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Event</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Who broadcasts</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Why</a:t>
                      </a:r>
                    </a:p>
                  </a:txBody>
                  <a:tcPr marL="76200" marR="76200" marT="38100" marB="38100" anchor="ctr">
                    <a:lnL>
                      <a:noFill/>
                    </a:lnL>
                    <a:lnR>
                      <a:noFill/>
                    </a:lnR>
                    <a:lnT>
                      <a:noFill/>
                    </a:lnT>
                    <a:lnB>
                      <a:noFill/>
                    </a:lnB>
                    <a:noFill/>
                  </a:tcPr>
                </a:tc>
                <a:extLst>
                  <a:ext uri="{0D108BD9-81ED-4DB2-BD59-A6C34878D82A}">
                    <a16:rowId xmlns:a16="http://schemas.microsoft.com/office/drawing/2014/main" val="3074802040"/>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themeChange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theme</a:t>
                      </a:r>
                    </a:p>
                  </a:txBody>
                  <a:tcPr marL="76200" marR="76200" marT="38100" marB="38100" anchor="ctr">
                    <a:lnL>
                      <a:noFill/>
                    </a:lnL>
                    <a:lnR>
                      <a:noFill/>
                    </a:lnR>
                    <a:lnT>
                      <a:noFill/>
                    </a:lnT>
                    <a:lnB>
                      <a:noFill/>
                    </a:lnB>
                    <a:noFill/>
                  </a:tcPr>
                </a:tc>
                <a:extLst>
                  <a:ext uri="{0D108BD9-81ED-4DB2-BD59-A6C34878D82A}">
                    <a16:rowId xmlns:a16="http://schemas.microsoft.com/office/drawing/2014/main" val="240654752"/>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moduleChange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router</a:t>
                      </a:r>
                    </a:p>
                  </a:txBody>
                  <a:tcPr marL="76200" marR="76200" marT="38100" marB="38100" anchor="ctr">
                    <a:lnL>
                      <a:noFill/>
                    </a:lnL>
                    <a:lnR>
                      <a:noFill/>
                    </a:lnR>
                    <a:lnT>
                      <a:noFill/>
                    </a:lnT>
                    <a:lnB>
                      <a:noFill/>
                    </a:lnB>
                    <a:noFill/>
                  </a:tcPr>
                </a:tc>
                <a:extLst>
                  <a:ext uri="{0D108BD9-81ED-4DB2-BD59-A6C34878D82A}">
                    <a16:rowId xmlns:a16="http://schemas.microsoft.com/office/drawing/2014/main" val="1750626137"/>
                  </a:ext>
                </a:extLst>
              </a:tr>
              <a:tr h="1069222">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addPrescription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dirty="0">
                          <a:solidFill>
                            <a:srgbClr val="3B3B3B"/>
                          </a:solidFill>
                          <a:effectLst/>
                          <a:latin typeface="Cascadia Code" panose="020B0609020000020004" pitchFamily="49" charset="0"/>
                          <a:cs typeface="Cascadia Code" panose="020B0609020000020004" pitchFamily="49" charset="0"/>
                        </a:rPr>
                        <a:t>records</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Records owns "a prescription was requested"</a:t>
                      </a:r>
                    </a:p>
                  </a:txBody>
                  <a:tcPr marL="76200" marR="76200" marT="38100" marB="38100" anchor="ctr">
                    <a:lnL>
                      <a:noFill/>
                    </a:lnL>
                    <a:lnR>
                      <a:noFill/>
                    </a:lnR>
                    <a:lnT>
                      <a:noFill/>
                    </a:lnT>
                    <a:lnB>
                      <a:noFill/>
                    </a:lnB>
                    <a:noFill/>
                  </a:tcPr>
                </a:tc>
                <a:extLst>
                  <a:ext uri="{0D108BD9-81ED-4DB2-BD59-A6C34878D82A}">
                    <a16:rowId xmlns:a16="http://schemas.microsoft.com/office/drawing/2014/main" val="1485486134"/>
                  </a:ext>
                </a:extLst>
              </a:tr>
              <a:tr h="1402485">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showNotification</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Anyone can have something to say; the shell owns the &lt;Toaster /&gt;</a:t>
                      </a:r>
                    </a:p>
                  </a:txBody>
                  <a:tcPr marL="76200" marR="76200" marT="38100" marB="38100" anchor="ctr">
                    <a:lnL>
                      <a:noFill/>
                    </a:lnL>
                    <a:lnR>
                      <a:noFill/>
                    </a:lnR>
                    <a:lnT>
                      <a:noFill/>
                    </a:lnT>
                    <a:lnB>
                      <a:noFill/>
                    </a:lnB>
                    <a:noFill/>
                  </a:tcPr>
                </a:tc>
                <a:extLst>
                  <a:ext uri="{0D108BD9-81ED-4DB2-BD59-A6C34878D82A}">
                    <a16:rowId xmlns:a16="http://schemas.microsoft.com/office/drawing/2014/main" val="3065737248"/>
                  </a:ext>
                </a:extLst>
              </a:tr>
              <a:tr h="1070386">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counterChange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dirty="0">
                          <a:solidFill>
                            <a:srgbClr val="3B3B3B"/>
                          </a:solidFill>
                          <a:effectLst/>
                          <a:latin typeface="Cascadia Code" panose="020B0609020000020004" pitchFamily="49" charset="0"/>
                          <a:cs typeface="Cascadia Code" panose="020B0609020000020004" pitchFamily="49" charset="0"/>
                        </a:rPr>
                        <a:t>Nobody owns the counter — it's genuinely peer state</a:t>
                      </a:r>
                    </a:p>
                  </a:txBody>
                  <a:tcPr marL="76200" marR="76200" marT="38100" marB="38100" anchor="ctr">
                    <a:lnL>
                      <a:noFill/>
                    </a:lnL>
                    <a:lnR>
                      <a:noFill/>
                    </a:lnR>
                    <a:lnT>
                      <a:noFill/>
                    </a:lnT>
                    <a:lnB>
                      <a:noFill/>
                    </a:lnB>
                    <a:noFill/>
                  </a:tcPr>
                </a:tc>
                <a:extLst>
                  <a:ext uri="{0D108BD9-81ED-4DB2-BD59-A6C34878D82A}">
                    <a16:rowId xmlns:a16="http://schemas.microsoft.com/office/drawing/2014/main" val="1091983602"/>
                  </a:ext>
                </a:extLst>
              </a:tr>
            </a:tbl>
          </a:graphicData>
        </a:graphic>
      </p:graphicFrame>
      <p:sp>
        <p:nvSpPr>
          <p:cNvPr id="4" name="TextBox 3">
            <a:extLst>
              <a:ext uri="{FF2B5EF4-FFF2-40B4-BE49-F238E27FC236}">
                <a16:creationId xmlns:a16="http://schemas.microsoft.com/office/drawing/2014/main" id="{FCBFEC0A-AD33-0E5A-BF45-ABD21D98423F}"/>
              </a:ext>
            </a:extLst>
          </p:cNvPr>
          <p:cNvSpPr txBox="1"/>
          <p:nvPr/>
        </p:nvSpPr>
        <p:spPr>
          <a:xfrm>
            <a:off x="362857" y="231614"/>
            <a:ext cx="11161486" cy="646331"/>
          </a:xfrm>
          <a:prstGeom prst="rect">
            <a:avLst/>
          </a:prstGeom>
          <a:noFill/>
        </p:spPr>
        <p:txBody>
          <a:bodyPr wrap="square">
            <a:spAutoFit/>
          </a:bodyPr>
          <a:lstStyle/>
          <a:p>
            <a:r>
              <a:rPr lang="en-US" sz="3600" i="1" dirty="0"/>
              <a:t>The ownership rule </a:t>
            </a:r>
            <a:endParaRPr lang="en-GB" sz="4800" i="1" dirty="0"/>
          </a:p>
        </p:txBody>
      </p:sp>
    </p:spTree>
    <p:extLst>
      <p:ext uri="{BB962C8B-B14F-4D97-AF65-F5344CB8AC3E}">
        <p14:creationId xmlns:p14="http://schemas.microsoft.com/office/powerpoint/2010/main" val="31747231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177067D6-BE87-AD69-1C20-9125336CF2E5}"/>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Shell-owned theming across the federation</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956EBAC9-BB98-ECDE-8693-BBDC50395DCE}"/>
              </a:ext>
            </a:extLst>
          </p:cNvPr>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Shell (owns 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Persists to localStorage ("mf-demo-theme")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Applies CSS variables to document.documentElement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Exposes window.__MF_THEME__ bridge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Broadcasts "themeChange" event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Records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Prescriptions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Analytics     → useActiveTheme()</a:t>
            </a:r>
          </a:p>
        </p:txBody>
      </p:sp>
    </p:spTree>
    <p:extLst>
      <p:ext uri="{BB962C8B-B14F-4D97-AF65-F5344CB8AC3E}">
        <p14:creationId xmlns:p14="http://schemas.microsoft.com/office/powerpoint/2010/main" val="3171738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71A9CA60-7D30-2150-A7B8-47F46A40441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Two-tier preloading: eager on mount, hover on demand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48D1E0C3-A9F2-6530-FB9F-3E86D646F9DB}"/>
              </a:ext>
            </a:extLst>
          </p:cNvPr>
          <p:cNvGraphicFramePr>
            <a:graphicFrameLocks noGrp="1"/>
          </p:cNvGraphicFramePr>
          <p:nvPr>
            <p:extLst>
              <p:ext uri="{D42A27DB-BD31-4B8C-83A1-F6EECF244321}">
                <p14:modId xmlns:p14="http://schemas.microsoft.com/office/powerpoint/2010/main" val="180649158"/>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351787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F027E61-C1A6-D975-A2F7-55C2DC49228C}"/>
              </a:ext>
            </a:extLst>
          </p:cNvPr>
          <p:cNvSpPr/>
          <p:nvPr/>
        </p:nvSpPr>
        <p:spPr>
          <a:xfrm>
            <a:off x="566801"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Seven things to remember</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EFF2B295-89D0-700E-1CD6-1F0E290DD0E1}"/>
              </a:ext>
            </a:extLst>
          </p:cNvPr>
          <p:cNvSpPr/>
          <p:nvPr/>
        </p:nvSpPr>
        <p:spPr>
          <a:xfrm>
            <a:off x="566801" y="777240"/>
            <a:ext cx="11182985" cy="5824728"/>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Micro-frontends solve a people problem: team scale, not bundle size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Suspense fallbacks cover load UX. Module Federation covers team DX</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Prefer events over shared state: CustomEvents survive independent deploys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Host owns routing: remotes request navigation, only the shell mutates it</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Ship fault isolation on purpose: .catch() + ErrorBoundary per module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err="1">
                <a:solidFill>
                  <a:schemeClr val="tx1">
                    <a:lumMod val="95000"/>
                    <a:lumOff val="5000"/>
                  </a:schemeClr>
                </a:solidFill>
                <a:latin typeface="DM Sans" pitchFamily="34" charset="0"/>
                <a:ea typeface="DM Sans" pitchFamily="34" charset="-122"/>
                <a:cs typeface="DM Sans" pitchFamily="34" charset="-120"/>
              </a:rPr>
              <a:t>Rspack</a:t>
            </a:r>
            <a:r>
              <a:rPr lang="en-US" sz="2400" dirty="0">
                <a:solidFill>
                  <a:schemeClr val="tx1">
                    <a:lumMod val="95000"/>
                    <a:lumOff val="5000"/>
                  </a:schemeClr>
                </a:solidFill>
                <a:latin typeface="DM Sans" pitchFamily="34" charset="0"/>
                <a:ea typeface="DM Sans" pitchFamily="34" charset="-122"/>
                <a:cs typeface="DM Sans" pitchFamily="34" charset="-120"/>
              </a:rPr>
              <a:t> keeps the monorepo fast: sub-second HMR, Rust React Compiler, cache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Match load strategy to content: instant / eager / streamed</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10089547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8017"/>
            <a:ext cx="12188475" cy="671909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1807</TotalTime>
  <Words>2027</Words>
  <Application>Microsoft Office PowerPoint</Application>
  <PresentationFormat>Custom</PresentationFormat>
  <Paragraphs>156</Paragraphs>
  <Slides>28</Slides>
  <Notes>28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Aptos</vt:lpstr>
      <vt:lpstr>Arial</vt:lpstr>
      <vt:lpstr>Brush Script MT</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233</cp:revision>
  <dcterms:created xsi:type="dcterms:W3CDTF">2026-07-26T17:49:56Z</dcterms:created>
  <dcterms:modified xsi:type="dcterms:W3CDTF">2026-08-31T15:08:53Z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