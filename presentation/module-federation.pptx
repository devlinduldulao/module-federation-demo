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98" r:id="rId2"/>
    <p:sldId id="256" r:id="rId3"/>
    <p:sldId id="301" r:id="rId4"/>
    <p:sldId id="300" r:id="rId5"/>
    <p:sldId id="313" r:id="rId6"/>
    <p:sldId id="312" r:id="rId7"/>
    <p:sldId id="299" r:id="rId8"/>
    <p:sldId id="314" r:id="rId9"/>
    <p:sldId id="311" r:id="rId10"/>
    <p:sldId id="315" r:id="rId11"/>
    <p:sldId id="317" r:id="rId12"/>
    <p:sldId id="316" r:id="rId13"/>
    <p:sldId id="318" r:id="rId14"/>
    <p:sldId id="336" r:id="rId15"/>
    <p:sldId id="328" r:id="rId16"/>
    <p:sldId id="341" r:id="rId17"/>
    <p:sldId id="337" r:id="rId18"/>
    <p:sldId id="319" r:id="rId19"/>
    <p:sldId id="320" r:id="rId20"/>
    <p:sldId id="329" r:id="rId21"/>
    <p:sldId id="344" r:id="rId22"/>
    <p:sldId id="327" r:id="rId23"/>
    <p:sldId id="335" r:id="rId24"/>
    <p:sldId id="325" r:id="rId25"/>
    <p:sldId id="326" r:id="rId26"/>
    <p:sldId id="342" r:id="rId27"/>
    <p:sldId id="334" r:id="rId28"/>
    <p:sldId id="332" r:id="rId29"/>
    <p:sldId id="333" r:id="rId30"/>
    <p:sldId id="343" r:id="rId31"/>
    <p:sldId id="331" r:id="rId32"/>
    <p:sldId id="340" r:id="rId33"/>
    <p:sldId id="338" r:id="rId34"/>
    <p:sldId id="339" r:id="rId35"/>
    <p:sldId id="322" r:id="rId36"/>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66019" autoAdjust="0"/>
  </p:normalViewPr>
  <p:slideViewPr>
    <p:cSldViewPr snapToGrid="0" snapToObjects="1">
      <p:cViewPr varScale="1">
        <p:scale>
          <a:sx n="96" d="100"/>
          <a:sy n="96" d="100"/>
        </p:scale>
        <p:origin x="2040" y="168"/>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are we solving here in </a:t>
            </a:r>
            <a:r>
              <a:rPr lang="en-US" sz="1200" dirty="0" err="1"/>
              <a:t>microfrontends</a:t>
            </a:r>
            <a:r>
              <a:rPr lang="en-US" sz="1200" dirty="0"/>
              <a:t>?</a:t>
            </a:r>
            <a:endParaRPr lang="en-GB" sz="1200" dirty="0"/>
          </a:p>
          <a:p>
            <a:endParaRPr lang="en-GB" dirty="0"/>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Independent deploys, and a smaller blast radius</a:t>
            </a:r>
            <a:endParaRPr lang="en-GB" sz="1200" dirty="0"/>
          </a:p>
          <a:p>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Teams can share a repo happily, but sharing a release pipeline means one failing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Ownership becomes structural, not cultural</a:t>
            </a:r>
            <a:endParaRPr lang="en-GB" sz="1200" dirty="0"/>
          </a:p>
          <a:p>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a:t>
            </a:r>
          </a:p>
          <a:p>
            <a:endParaRPr lang="en-US" dirty="0"/>
          </a:p>
          <a:p>
            <a:r>
              <a:rPr lang="en-US" dirty="0"/>
              <a:t>Down below, each part ships separately, so using Catalog's code means adding a dependency or calling an API. That is a real change in a real file, and a reviewer will see it. </a:t>
            </a:r>
          </a:p>
          <a:p>
            <a:endParaRPr lang="en-US" dirty="0"/>
          </a:p>
          <a:p>
            <a:r>
              <a:rPr lang="en-US" dirty="0"/>
              <a:t>Before, crossing a boundary was invisible. </a:t>
            </a:r>
          </a:p>
          <a:p>
            <a:endParaRPr lang="en-US" dirty="0"/>
          </a:p>
          <a:p>
            <a:r>
              <a:rPr lang="en-US" dirty="0"/>
              <a:t>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Bounded cognitive load as headcount grows.</a:t>
            </a:r>
            <a:endParaRPr lang="en-US" dirty="0"/>
          </a:p>
          <a:p>
            <a:endParaRPr lang="en-US"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in a codebase.</a:t>
            </a:r>
          </a:p>
          <a:p>
            <a:endParaRPr lang="en-US" dirty="0"/>
          </a:p>
          <a:p>
            <a:r>
              <a:rPr lang="en-US" dirty="0"/>
              <a:t>When onboarding a new frontend developer?</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Incremental migration instead of a rewrite</a:t>
            </a:r>
            <a:endParaRPr lang="en-GB" sz="1200"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a:t>
            </a:r>
          </a:p>
          <a:p>
            <a:endParaRPr lang="en-US" dirty="0"/>
          </a:p>
          <a:p>
            <a:r>
              <a:rPr lang="en-US" dirty="0"/>
              <a:t>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demo app is this. 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a:t>
            </a:r>
          </a:p>
          <a:p>
            <a:r>
              <a:rPr lang="en-US" dirty="0"/>
              <a:t>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a:t>
            </a:r>
          </a:p>
          <a:p>
            <a:pPr rtl="0"/>
            <a:endParaRPr lang="en-US" dirty="0"/>
          </a:p>
          <a:p>
            <a:pPr rtl="0"/>
            <a:r>
              <a:rPr lang="en-US" dirty="0"/>
              <a:t>In production the browser only ever sees </a:t>
            </a:r>
            <a:r>
              <a:rPr lang="en-US" sz="1200" kern="1200" dirty="0">
                <a:solidFill>
                  <a:schemeClr val="tx1"/>
                </a:solidFill>
                <a:latin typeface="+mn-lt"/>
                <a:ea typeface="+mn-ea"/>
                <a:cs typeface="+mn-cs"/>
              </a:rPr>
              <a:t>acme.com</a:t>
            </a:r>
            <a:r>
              <a:rPr lang="en-US" dirty="0"/>
              <a:t>, with a router at the edge (a Vercel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a:t>
            </a:r>
          </a:p>
          <a:p>
            <a:pPr rtl="0"/>
            <a:endParaRPr lang="en-US" dirty="0"/>
          </a:p>
          <a:p>
            <a:pPr rtl="0"/>
            <a:r>
              <a:rPr lang="en-US" dirty="0"/>
              <a:t>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It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The shell owns navigation, the router, the theme, the counter, and the logged user.</a:t>
            </a:r>
          </a:p>
          <a:p>
            <a:endParaRPr lang="en-US" dirty="0"/>
          </a:p>
          <a:p>
            <a:r>
              <a:rPr lang="en-US" dirty="0"/>
              <a:t>Every remote is wrapped the same way. An error boundary. Then Suspense with a skeleton fallback. Then the remote module itself.</a:t>
            </a:r>
          </a:p>
          <a:p>
            <a:endParaRPr lang="en-US" dirty="0"/>
          </a:p>
          <a:p>
            <a:r>
              <a:rPr lang="en-US" dirty="0"/>
              <a:t>Four remotes hang off that shell. Not every module should load the same way if you want something like this. The strategy will depend on which content you will prioritize.</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because </a:t>
            </a:r>
            <a:r>
              <a:rPr lang="en-US" sz="1200" kern="1200" dirty="0">
                <a:solidFill>
                  <a:schemeClr val="tx1"/>
                </a:solidFill>
                <a:latin typeface="+mn-lt"/>
                <a:ea typeface="+mn-ea"/>
                <a:cs typeface="+mn-cs"/>
              </a:rPr>
              <a:t>the</a:t>
            </a:r>
            <a:r>
              <a:rPr lang="en-US" dirty="0"/>
              <a:t> dynamic import in </a:t>
            </a:r>
            <a:r>
              <a:rPr lang="en-US" dirty="0" err="1"/>
              <a:t>index.tsx</a:t>
            </a:r>
            <a:r>
              <a:rPr lang="en-US" dirty="0"/>
              <a:t> already resolved the shared scope and that a static import makes the remote block first paint, and leaves nowhere to catch a failed remote.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Before I do another demo, here are the functionalities of the other buttons on the menu header.</a:t>
            </a:r>
          </a:p>
          <a:p>
            <a:endParaRPr lang="en-US" dirty="0"/>
          </a:p>
          <a:p>
            <a:r>
              <a:rPr lang="en-US" dirty="0"/>
              <a:t>A health monitor that polls remoteEntry.js every five seconds. </a:t>
            </a:r>
          </a:p>
          <a:p>
            <a:r>
              <a:rPr lang="en-US" dirty="0"/>
              <a:t>Kill switches. </a:t>
            </a:r>
          </a:p>
          <a:p>
            <a:r>
              <a:rPr lang="en-US" dirty="0"/>
              <a:t>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US" dirty="0"/>
          </a:p>
        </p:txBody>
      </p:sp>
    </p:spTree>
    <p:extLst>
      <p:ext uri="{BB962C8B-B14F-4D97-AF65-F5344CB8AC3E}">
        <p14:creationId xmlns:p14="http://schemas.microsoft.com/office/powerpoint/2010/main" val="38350487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use the browser </a:t>
            </a:r>
            <a:r>
              <a:rPr lang="en-US" dirty="0" err="1"/>
              <a:t>api</a:t>
            </a:r>
            <a:r>
              <a:rPr lang="en-US" dirty="0"/>
              <a:t> events instead of a shared store? A shared store is a shared dependency. </a:t>
            </a:r>
          </a:p>
          <a:p>
            <a:endParaRPr lang="en-US" dirty="0"/>
          </a:p>
          <a:p>
            <a:r>
              <a:rPr lang="en-US" dirty="0"/>
              <a:t>There will be version coupling between teams if shared stores, while the events will survive in independent deploys. </a:t>
            </a:r>
          </a:p>
          <a:p>
            <a:endParaRPr lang="en-US" dirty="0"/>
          </a:p>
          <a:p>
            <a:r>
              <a:rPr lang="en-US" dirty="0"/>
              <a:t>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TanStack Query, there's no syncing at all — every app just fetches, because the REST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two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 And </a:t>
            </a:r>
            <a:r>
              <a:rPr lang="en-GB" dirty="0" err="1"/>
              <a:t>Rspack</a:t>
            </a:r>
            <a:r>
              <a:rPr lang="en-GB" dirty="0"/>
              <a:t> published agent skills that you can use just in case today’s frontier models still don’t have any idea what the </a:t>
            </a:r>
            <a:r>
              <a:rPr lang="en-GB" dirty="0" err="1"/>
              <a:t>Rspack</a:t>
            </a:r>
            <a:r>
              <a:rPr lang="en-GB" dirty="0"/>
              <a:t> v2.0 can do.</a:t>
            </a:r>
          </a:p>
        </p:txBody>
      </p:sp>
    </p:spTree>
    <p:extLst>
      <p:ext uri="{BB962C8B-B14F-4D97-AF65-F5344CB8AC3E}">
        <p14:creationId xmlns:p14="http://schemas.microsoft.com/office/powerpoint/2010/main" val="4203036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you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p:nvPr>
        </p:nvSpPr>
        <p:spPr>
          <a:xfrm>
            <a:off x="600514" y="5929931"/>
            <a:ext cx="10982641" cy="318490"/>
          </a:xfrm>
          <a:prstGeom prst="rect">
            <a:avLst/>
          </a:prstGeom>
        </p:spPr>
        <p:txBody>
          <a:bodyPr lIns="45699" tIns="45699" rIns="45699" bIns="45699"/>
          <a:lstStyle>
            <a:lvl1pPr marL="114277" indent="0">
              <a:lnSpc>
                <a:spcPct val="100000"/>
              </a:lnSpc>
              <a:spcBef>
                <a:spcPts val="0"/>
              </a:spcBef>
              <a:buClrTx/>
              <a:buSzTx/>
              <a:buFontTx/>
              <a:buNone/>
              <a:defRPr sz="1800" b="1"/>
            </a:lvl1pPr>
            <a:lvl2pPr marL="410969" indent="-138418">
              <a:lnSpc>
                <a:spcPct val="100000"/>
              </a:lnSpc>
              <a:spcBef>
                <a:spcPts val="0"/>
              </a:spcBef>
              <a:buClrTx/>
              <a:buSzPts val="3600"/>
              <a:buFontTx/>
              <a:defRPr sz="1800" b="1"/>
            </a:lvl2pPr>
            <a:lvl3pPr marL="639523" indent="-138418">
              <a:lnSpc>
                <a:spcPct val="100000"/>
              </a:lnSpc>
              <a:spcBef>
                <a:spcPts val="0"/>
              </a:spcBef>
              <a:buClrTx/>
              <a:buSzPts val="3600"/>
              <a:buFontTx/>
              <a:defRPr sz="1800" b="1"/>
            </a:lvl3pPr>
            <a:lvl4pPr marL="868077" indent="-138418">
              <a:lnSpc>
                <a:spcPct val="100000"/>
              </a:lnSpc>
              <a:spcBef>
                <a:spcPts val="0"/>
              </a:spcBef>
              <a:buClrTx/>
              <a:buSzPts val="3600"/>
              <a:buFontTx/>
              <a:defRPr sz="1800" b="1"/>
            </a:lvl4pPr>
            <a:lvl5pPr marL="1096632" indent="-138418">
              <a:lnSpc>
                <a:spcPct val="100000"/>
              </a:lnSpc>
              <a:spcBef>
                <a:spcPts val="0"/>
              </a:spcBef>
              <a:buClrTx/>
              <a:buSzPts val="3600"/>
              <a:buFontTx/>
              <a:defRPr sz="1800" b="1"/>
            </a:lvl5pPr>
          </a:lstStyle>
          <a:p>
            <a:r>
              <a:t>Body Level One</a:t>
            </a:r>
          </a:p>
          <a:p>
            <a:pPr lvl="1"/>
            <a:r>
              <a:t>Body Level Two</a:t>
            </a:r>
          </a:p>
          <a:p>
            <a:pPr lvl="2"/>
            <a:r>
              <a:t>Body Level Three</a:t>
            </a:r>
          </a:p>
          <a:p>
            <a:pPr lvl="3"/>
            <a:r>
              <a:t>Body Level Four</a:t>
            </a:r>
          </a:p>
          <a:p>
            <a:pPr lvl="4"/>
            <a:r>
              <a:t>Body Level Five</a:t>
            </a:r>
          </a:p>
        </p:txBody>
      </p:sp>
      <p:sp>
        <p:nvSpPr>
          <p:cNvPr id="12" name="Title Text"/>
          <p:cNvSpPr txBox="1">
            <a:spLocks noGrp="1"/>
          </p:cNvSpPr>
          <p:nvPr>
            <p:ph type="title"/>
          </p:nvPr>
        </p:nvSpPr>
        <p:spPr>
          <a:xfrm>
            <a:off x="603091" y="1287495"/>
            <a:ext cx="10982642" cy="2324101"/>
          </a:xfrm>
          <a:prstGeom prst="rect">
            <a:avLst/>
          </a:prstGeom>
        </p:spPr>
        <p:txBody>
          <a:bodyPr anchor="b"/>
          <a:lstStyle>
            <a:lvl1pPr>
              <a:defRPr sz="5799"/>
            </a:lvl1pPr>
          </a:lstStyle>
          <a:p>
            <a:r>
              <a:t>Title Text</a:t>
            </a:r>
          </a:p>
        </p:txBody>
      </p:sp>
      <p:sp>
        <p:nvSpPr>
          <p:cNvPr id="13" name="Google Shape;12;p2"/>
          <p:cNvSpPr txBox="1">
            <a:spLocks noGrp="1"/>
          </p:cNvSpPr>
          <p:nvPr>
            <p:ph type="body" sz="quarter" idx="21"/>
          </p:nvPr>
        </p:nvSpPr>
        <p:spPr>
          <a:xfrm>
            <a:off x="600515" y="3611595"/>
            <a:ext cx="10982640" cy="952501"/>
          </a:xfrm>
          <a:prstGeom prst="rect">
            <a:avLst/>
          </a:prstGeom>
        </p:spPr>
        <p:txBody>
          <a:bodyPr/>
          <a:lstStyle>
            <a:lvl1pPr marL="114277" indent="0">
              <a:lnSpc>
                <a:spcPct val="100000"/>
              </a:lnSpc>
              <a:spcBef>
                <a:spcPts val="0"/>
              </a:spcBef>
              <a:buClrTx/>
              <a:buSzTx/>
              <a:buFontTx/>
              <a:buNone/>
              <a:defRPr sz="5500" b="1"/>
            </a:lvl1pPr>
          </a:lstStyle>
          <a:p>
            <a:pPr marL="228600" indent="0">
              <a:lnSpc>
                <a:spcPct val="100000"/>
              </a:lnSpc>
              <a:spcBef>
                <a:spcPts val="0"/>
              </a:spcBef>
              <a:buClrTx/>
              <a:buSzTx/>
              <a:buFontTx/>
              <a:buNone/>
              <a:defRPr sz="5500" b="1"/>
            </a:pPr>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00757004"/>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5660AF-94A0-DF3F-40C1-547982EAE766}"/>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9" Type="http://schemas.openxmlformats.org/officeDocument/2006/relationships/image" Target="../media/image38.png"/><Relationship Id="rId21" Type="http://schemas.openxmlformats.org/officeDocument/2006/relationships/image" Target="../media/image20.png"/><Relationship Id="rId34" Type="http://schemas.openxmlformats.org/officeDocument/2006/relationships/image" Target="../media/image33.png"/><Relationship Id="rId42" Type="http://schemas.openxmlformats.org/officeDocument/2006/relationships/image" Target="../media/image41.png"/><Relationship Id="rId47" Type="http://schemas.openxmlformats.org/officeDocument/2006/relationships/image" Target="../media/image46.png"/><Relationship Id="rId50" Type="http://schemas.openxmlformats.org/officeDocument/2006/relationships/image" Target="../media/image49.png"/><Relationship Id="rId55" Type="http://schemas.openxmlformats.org/officeDocument/2006/relationships/image" Target="../media/image54.png"/><Relationship Id="rId7" Type="http://schemas.openxmlformats.org/officeDocument/2006/relationships/image" Target="../media/image6.png"/><Relationship Id="rId2" Type="http://schemas.openxmlformats.org/officeDocument/2006/relationships/image" Target="../media/image1.png"/><Relationship Id="rId16" Type="http://schemas.openxmlformats.org/officeDocument/2006/relationships/image" Target="../media/image15.png"/><Relationship Id="rId29" Type="http://schemas.openxmlformats.org/officeDocument/2006/relationships/image" Target="../media/image28.png"/><Relationship Id="rId11" Type="http://schemas.openxmlformats.org/officeDocument/2006/relationships/image" Target="../media/image10.png"/><Relationship Id="rId24" Type="http://schemas.openxmlformats.org/officeDocument/2006/relationships/image" Target="../media/image23.png"/><Relationship Id="rId32" Type="http://schemas.openxmlformats.org/officeDocument/2006/relationships/image" Target="../media/image31.png"/><Relationship Id="rId37" Type="http://schemas.openxmlformats.org/officeDocument/2006/relationships/image" Target="../media/image36.png"/><Relationship Id="rId40" Type="http://schemas.openxmlformats.org/officeDocument/2006/relationships/image" Target="../media/image39.png"/><Relationship Id="rId45" Type="http://schemas.openxmlformats.org/officeDocument/2006/relationships/image" Target="../media/image44.png"/><Relationship Id="rId53" Type="http://schemas.openxmlformats.org/officeDocument/2006/relationships/image" Target="../media/image52.png"/><Relationship Id="rId5" Type="http://schemas.openxmlformats.org/officeDocument/2006/relationships/image" Target="../media/image4.png"/><Relationship Id="rId10" Type="http://schemas.openxmlformats.org/officeDocument/2006/relationships/image" Target="../media/image9.png"/><Relationship Id="rId19" Type="http://schemas.openxmlformats.org/officeDocument/2006/relationships/image" Target="../media/image18.png"/><Relationship Id="rId31" Type="http://schemas.openxmlformats.org/officeDocument/2006/relationships/image" Target="../media/image30.png"/><Relationship Id="rId44" Type="http://schemas.openxmlformats.org/officeDocument/2006/relationships/image" Target="../media/image43.png"/><Relationship Id="rId52" Type="http://schemas.openxmlformats.org/officeDocument/2006/relationships/image" Target="../media/image51.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 Id="rId30" Type="http://schemas.openxmlformats.org/officeDocument/2006/relationships/image" Target="../media/image29.png"/><Relationship Id="rId35" Type="http://schemas.openxmlformats.org/officeDocument/2006/relationships/image" Target="../media/image34.png"/><Relationship Id="rId43" Type="http://schemas.openxmlformats.org/officeDocument/2006/relationships/image" Target="../media/image42.png"/><Relationship Id="rId48" Type="http://schemas.openxmlformats.org/officeDocument/2006/relationships/image" Target="../media/image47.png"/><Relationship Id="rId8" Type="http://schemas.openxmlformats.org/officeDocument/2006/relationships/image" Target="../media/image7.png"/><Relationship Id="rId51" Type="http://schemas.openxmlformats.org/officeDocument/2006/relationships/image" Target="../media/image50.png"/><Relationship Id="rId3" Type="http://schemas.openxmlformats.org/officeDocument/2006/relationships/image" Target="../media/image2.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33" Type="http://schemas.openxmlformats.org/officeDocument/2006/relationships/image" Target="../media/image32.png"/><Relationship Id="rId38" Type="http://schemas.openxmlformats.org/officeDocument/2006/relationships/image" Target="../media/image37.png"/><Relationship Id="rId46" Type="http://schemas.openxmlformats.org/officeDocument/2006/relationships/image" Target="../media/image45.png"/><Relationship Id="rId20" Type="http://schemas.openxmlformats.org/officeDocument/2006/relationships/image" Target="../media/image19.png"/><Relationship Id="rId41" Type="http://schemas.openxmlformats.org/officeDocument/2006/relationships/image" Target="../media/image40.png"/><Relationship Id="rId54"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image" Target="../media/image5.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36" Type="http://schemas.openxmlformats.org/officeDocument/2006/relationships/image" Target="../media/image35.png"/><Relationship Id="rId49" Type="http://schemas.openxmlformats.org/officeDocument/2006/relationships/image" Target="../media/image48.png"/></Relationships>
</file>

<file path=ppt/slides/_rels/slide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Google Shape;86;p19"/>
          <p:cNvSpPr/>
          <p:nvPr/>
        </p:nvSpPr>
        <p:spPr>
          <a:xfrm>
            <a:off x="31740" y="32634"/>
            <a:ext cx="12125393" cy="1219783"/>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2" name="Google Shape;87;p19"/>
          <p:cNvSpPr txBox="1"/>
          <p:nvPr/>
        </p:nvSpPr>
        <p:spPr>
          <a:xfrm>
            <a:off x="106722" y="74914"/>
            <a:ext cx="11975281" cy="2700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3900">
                <a:solidFill>
                  <a:srgbClr val="034D40"/>
                </a:solidFill>
                <a:latin typeface="Arial Black"/>
                <a:ea typeface="Arial Black"/>
                <a:cs typeface="Arial Black"/>
                <a:sym typeface="Arial Black"/>
              </a:defRPr>
            </a:lvl1pPr>
          </a:lstStyle>
          <a:p>
            <a:r>
              <a:rPr sz="1950"/>
              <a:t>Titanium Sponsors</a:t>
            </a:r>
          </a:p>
        </p:txBody>
      </p:sp>
      <p:grpSp>
        <p:nvGrpSpPr>
          <p:cNvPr id="176" name="Google Shape;88;p19"/>
          <p:cNvGrpSpPr/>
          <p:nvPr/>
        </p:nvGrpSpPr>
        <p:grpSpPr>
          <a:xfrm>
            <a:off x="1655706" y="394653"/>
            <a:ext cx="9497889" cy="782120"/>
            <a:chOff x="0" y="0"/>
            <a:chExt cx="19000725" cy="1564645"/>
          </a:xfrm>
        </p:grpSpPr>
        <p:pic>
          <p:nvPicPr>
            <p:cNvPr id="173" name="Google Shape;89;p19" descr="Google Shape;89;p19"/>
            <p:cNvPicPr>
              <a:picLocks noChangeAspect="1"/>
            </p:cNvPicPr>
            <p:nvPr/>
          </p:nvPicPr>
          <p:blipFill>
            <a:blip r:embed="rId2"/>
            <a:stretch>
              <a:fillRect/>
            </a:stretch>
          </p:blipFill>
          <p:spPr>
            <a:xfrm>
              <a:off x="-1" y="0"/>
              <a:ext cx="4629130" cy="1564646"/>
            </a:xfrm>
            <a:prstGeom prst="rect">
              <a:avLst/>
            </a:prstGeom>
            <a:ln w="12700" cap="flat">
              <a:noFill/>
              <a:miter lim="400000"/>
            </a:ln>
            <a:effectLst/>
          </p:spPr>
        </p:pic>
        <p:pic>
          <p:nvPicPr>
            <p:cNvPr id="174" name="Google Shape;90;p19" descr="Google Shape;90;p19"/>
            <p:cNvPicPr>
              <a:picLocks noChangeAspect="1"/>
            </p:cNvPicPr>
            <p:nvPr/>
          </p:nvPicPr>
          <p:blipFill>
            <a:blip r:embed="rId3"/>
            <a:stretch>
              <a:fillRect/>
            </a:stretch>
          </p:blipFill>
          <p:spPr>
            <a:xfrm>
              <a:off x="5091513" y="0"/>
              <a:ext cx="4656681" cy="1564646"/>
            </a:xfrm>
            <a:prstGeom prst="rect">
              <a:avLst/>
            </a:prstGeom>
            <a:ln w="12700" cap="flat">
              <a:noFill/>
              <a:miter lim="400000"/>
            </a:ln>
            <a:effectLst/>
          </p:spPr>
        </p:pic>
        <p:pic>
          <p:nvPicPr>
            <p:cNvPr id="175" name="Google Shape;91;p19" descr="Google Shape;91;p19"/>
            <p:cNvPicPr>
              <a:picLocks noChangeAspect="1"/>
            </p:cNvPicPr>
            <p:nvPr/>
          </p:nvPicPr>
          <p:blipFill>
            <a:blip r:embed="rId4"/>
            <a:stretch>
              <a:fillRect/>
            </a:stretch>
          </p:blipFill>
          <p:spPr>
            <a:xfrm>
              <a:off x="10210582" y="0"/>
              <a:ext cx="8790144" cy="1564646"/>
            </a:xfrm>
            <a:prstGeom prst="rect">
              <a:avLst/>
            </a:prstGeom>
            <a:ln w="12700" cap="flat">
              <a:noFill/>
              <a:miter lim="400000"/>
            </a:ln>
            <a:effectLst/>
          </p:spPr>
        </p:pic>
      </p:grpSp>
      <p:sp>
        <p:nvSpPr>
          <p:cNvPr id="177" name="Google Shape;92;p19"/>
          <p:cNvSpPr/>
          <p:nvPr/>
        </p:nvSpPr>
        <p:spPr>
          <a:xfrm>
            <a:off x="39420" y="1246324"/>
            <a:ext cx="12125393" cy="1625127"/>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8" name="Google Shape;93;p19"/>
          <p:cNvSpPr txBox="1"/>
          <p:nvPr/>
        </p:nvSpPr>
        <p:spPr>
          <a:xfrm rot="16200000">
            <a:off x="10885745" y="1794529"/>
            <a:ext cx="1462570" cy="7104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p>
            <a:pPr algn="ctr">
              <a:lnSpc>
                <a:spcPct val="90000"/>
              </a:lnSpc>
              <a:defRPr sz="3000">
                <a:solidFill>
                  <a:srgbClr val="034D40"/>
                </a:solidFill>
                <a:latin typeface="Arial Black"/>
                <a:ea typeface="Arial Black"/>
                <a:cs typeface="Arial Black"/>
                <a:sym typeface="Arial Black"/>
              </a:defRPr>
            </a:pPr>
            <a:r>
              <a:rPr sz="1500"/>
              <a:t>Platinum</a:t>
            </a:r>
          </a:p>
          <a:p>
            <a:pPr algn="ctr">
              <a:lnSpc>
                <a:spcPct val="90000"/>
              </a:lnSpc>
              <a:spcBef>
                <a:spcPts val="2250"/>
              </a:spcBef>
              <a:defRPr sz="3000">
                <a:solidFill>
                  <a:srgbClr val="034D40"/>
                </a:solidFill>
                <a:latin typeface="Arial Black"/>
                <a:ea typeface="Arial Black"/>
                <a:cs typeface="Arial Black"/>
                <a:sym typeface="Arial Black"/>
              </a:defRPr>
            </a:pPr>
            <a:r>
              <a:rPr sz="1500"/>
              <a:t> Sponsors</a:t>
            </a:r>
          </a:p>
        </p:txBody>
      </p:sp>
      <p:pic>
        <p:nvPicPr>
          <p:cNvPr id="179" name="Google Shape;94;p19" descr="Google Shape;94;p19"/>
          <p:cNvPicPr>
            <a:picLocks noChangeAspect="1"/>
          </p:cNvPicPr>
          <p:nvPr/>
        </p:nvPicPr>
        <p:blipFill>
          <a:blip r:embed="rId5"/>
          <a:stretch>
            <a:fillRect/>
          </a:stretch>
        </p:blipFill>
        <p:spPr>
          <a:xfrm>
            <a:off x="1748093" y="1438425"/>
            <a:ext cx="2058665" cy="695837"/>
          </a:xfrm>
          <a:prstGeom prst="rect">
            <a:avLst/>
          </a:prstGeom>
          <a:ln w="12700">
            <a:miter lim="400000"/>
          </a:ln>
        </p:spPr>
      </p:pic>
      <p:pic>
        <p:nvPicPr>
          <p:cNvPr id="180" name="Google Shape;95;p19" descr="Google Shape;95;p19"/>
          <p:cNvPicPr>
            <a:picLocks noChangeAspect="1"/>
          </p:cNvPicPr>
          <p:nvPr/>
        </p:nvPicPr>
        <p:blipFill>
          <a:blip r:embed="rId6"/>
          <a:stretch>
            <a:fillRect/>
          </a:stretch>
        </p:blipFill>
        <p:spPr>
          <a:xfrm>
            <a:off x="4033144" y="1379571"/>
            <a:ext cx="2197768" cy="650540"/>
          </a:xfrm>
          <a:prstGeom prst="rect">
            <a:avLst/>
          </a:prstGeom>
          <a:ln w="12700">
            <a:miter lim="400000"/>
          </a:ln>
        </p:spPr>
      </p:pic>
      <p:pic>
        <p:nvPicPr>
          <p:cNvPr id="181" name="Google Shape;96;p19" descr="Google Shape;96;p19"/>
          <p:cNvPicPr>
            <a:picLocks noChangeAspect="1"/>
          </p:cNvPicPr>
          <p:nvPr/>
        </p:nvPicPr>
        <p:blipFill>
          <a:blip r:embed="rId7"/>
          <a:stretch>
            <a:fillRect/>
          </a:stretch>
        </p:blipFill>
        <p:spPr>
          <a:xfrm>
            <a:off x="6509809" y="1355428"/>
            <a:ext cx="2313998" cy="698832"/>
          </a:xfrm>
          <a:prstGeom prst="rect">
            <a:avLst/>
          </a:prstGeom>
          <a:ln w="12700">
            <a:miter lim="400000"/>
          </a:ln>
        </p:spPr>
      </p:pic>
      <p:pic>
        <p:nvPicPr>
          <p:cNvPr id="182" name="Google Shape;97;p19" descr="Google Shape;97;p19"/>
          <p:cNvPicPr>
            <a:picLocks noChangeAspect="1"/>
          </p:cNvPicPr>
          <p:nvPr/>
        </p:nvPicPr>
        <p:blipFill>
          <a:blip r:embed="rId8"/>
          <a:stretch>
            <a:fillRect/>
          </a:stretch>
        </p:blipFill>
        <p:spPr>
          <a:xfrm>
            <a:off x="8840265" y="1399165"/>
            <a:ext cx="2058668" cy="650540"/>
          </a:xfrm>
          <a:prstGeom prst="rect">
            <a:avLst/>
          </a:prstGeom>
          <a:ln w="12700">
            <a:miter lim="400000"/>
          </a:ln>
        </p:spPr>
      </p:pic>
      <p:pic>
        <p:nvPicPr>
          <p:cNvPr id="183" name="Google Shape;98;p19" descr="Google Shape;98;p19"/>
          <p:cNvPicPr>
            <a:picLocks noChangeAspect="1"/>
          </p:cNvPicPr>
          <p:nvPr/>
        </p:nvPicPr>
        <p:blipFill>
          <a:blip r:embed="rId9"/>
          <a:stretch>
            <a:fillRect/>
          </a:stretch>
        </p:blipFill>
        <p:spPr>
          <a:xfrm>
            <a:off x="230264" y="1579312"/>
            <a:ext cx="1425442" cy="975009"/>
          </a:xfrm>
          <a:prstGeom prst="rect">
            <a:avLst/>
          </a:prstGeom>
          <a:ln w="12700">
            <a:miter lim="400000"/>
          </a:ln>
        </p:spPr>
      </p:pic>
      <p:pic>
        <p:nvPicPr>
          <p:cNvPr id="184" name="Google Shape;99;p19" descr="Google Shape;99;p19"/>
          <p:cNvPicPr>
            <a:picLocks noChangeAspect="1"/>
          </p:cNvPicPr>
          <p:nvPr/>
        </p:nvPicPr>
        <p:blipFill>
          <a:blip r:embed="rId10"/>
          <a:stretch>
            <a:fillRect/>
          </a:stretch>
        </p:blipFill>
        <p:spPr>
          <a:xfrm>
            <a:off x="1741046" y="2284973"/>
            <a:ext cx="2456741" cy="196540"/>
          </a:xfrm>
          <a:prstGeom prst="rect">
            <a:avLst/>
          </a:prstGeom>
          <a:ln w="12700">
            <a:miter lim="400000"/>
          </a:ln>
        </p:spPr>
      </p:pic>
      <p:pic>
        <p:nvPicPr>
          <p:cNvPr id="185" name="Google Shape;100;p19" descr="Google Shape;100;p19"/>
          <p:cNvPicPr>
            <a:picLocks noChangeAspect="1"/>
          </p:cNvPicPr>
          <p:nvPr/>
        </p:nvPicPr>
        <p:blipFill>
          <a:blip r:embed="rId11"/>
          <a:stretch>
            <a:fillRect/>
          </a:stretch>
        </p:blipFill>
        <p:spPr>
          <a:xfrm>
            <a:off x="6219273" y="2113978"/>
            <a:ext cx="1762784" cy="595813"/>
          </a:xfrm>
          <a:prstGeom prst="rect">
            <a:avLst/>
          </a:prstGeom>
          <a:ln w="12700">
            <a:miter lim="400000"/>
          </a:ln>
        </p:spPr>
      </p:pic>
      <p:sp>
        <p:nvSpPr>
          <p:cNvPr id="186" name="Google Shape;101;p19"/>
          <p:cNvSpPr/>
          <p:nvPr/>
        </p:nvSpPr>
        <p:spPr>
          <a:xfrm>
            <a:off x="31666" y="2876893"/>
            <a:ext cx="12125393" cy="1408734"/>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87" name="Google Shape;102;p19"/>
          <p:cNvSpPr txBox="1"/>
          <p:nvPr/>
        </p:nvSpPr>
        <p:spPr>
          <a:xfrm rot="16200000">
            <a:off x="-111322" y="3162116"/>
            <a:ext cx="1126208" cy="6966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p>
            <a:pPr algn="ctr">
              <a:lnSpc>
                <a:spcPct val="90000"/>
              </a:lnSpc>
              <a:defRPr sz="2900">
                <a:solidFill>
                  <a:srgbClr val="034D40"/>
                </a:solidFill>
                <a:latin typeface="Arial Black"/>
                <a:ea typeface="Arial Black"/>
                <a:cs typeface="Arial Black"/>
                <a:sym typeface="Arial Black"/>
              </a:defRPr>
            </a:pPr>
            <a:r>
              <a:rPr sz="1450"/>
              <a:t>Gold</a:t>
            </a:r>
            <a:endParaRPr sz="650"/>
          </a:p>
          <a:p>
            <a:pPr algn="ctr">
              <a:lnSpc>
                <a:spcPct val="90000"/>
              </a:lnSpc>
              <a:spcBef>
                <a:spcPts val="2250"/>
              </a:spcBef>
              <a:defRPr sz="2900">
                <a:solidFill>
                  <a:srgbClr val="034D40"/>
                </a:solidFill>
                <a:latin typeface="Arial Black"/>
                <a:ea typeface="Arial Black"/>
                <a:cs typeface="Arial Black"/>
                <a:sym typeface="Arial Black"/>
              </a:defRPr>
            </a:pPr>
            <a:r>
              <a:rPr sz="1450"/>
              <a:t> Sponsors</a:t>
            </a:r>
          </a:p>
        </p:txBody>
      </p:sp>
      <p:pic>
        <p:nvPicPr>
          <p:cNvPr id="188" name="Google Shape;103;p19" descr="Google Shape;103;p19"/>
          <p:cNvPicPr>
            <a:picLocks noChangeAspect="1"/>
          </p:cNvPicPr>
          <p:nvPr/>
        </p:nvPicPr>
        <p:blipFill>
          <a:blip r:embed="rId12"/>
          <a:stretch>
            <a:fillRect/>
          </a:stretch>
        </p:blipFill>
        <p:spPr>
          <a:xfrm>
            <a:off x="2314874" y="2968066"/>
            <a:ext cx="1527081" cy="452016"/>
          </a:xfrm>
          <a:prstGeom prst="rect">
            <a:avLst/>
          </a:prstGeom>
          <a:ln w="12700">
            <a:miter lim="400000"/>
          </a:ln>
        </p:spPr>
      </p:pic>
      <p:pic>
        <p:nvPicPr>
          <p:cNvPr id="189" name="Google Shape;104;p19" descr="Google Shape;104;p19"/>
          <p:cNvPicPr>
            <a:picLocks noChangeAspect="1"/>
          </p:cNvPicPr>
          <p:nvPr/>
        </p:nvPicPr>
        <p:blipFill>
          <a:blip r:embed="rId13"/>
          <a:stretch>
            <a:fillRect/>
          </a:stretch>
        </p:blipFill>
        <p:spPr>
          <a:xfrm>
            <a:off x="954427" y="3592676"/>
            <a:ext cx="1399343" cy="559738"/>
          </a:xfrm>
          <a:prstGeom prst="rect">
            <a:avLst/>
          </a:prstGeom>
          <a:ln w="12700">
            <a:miter lim="400000"/>
          </a:ln>
        </p:spPr>
      </p:pic>
      <p:pic>
        <p:nvPicPr>
          <p:cNvPr id="190" name="Google Shape;106;p19" descr="Google Shape;106;p19"/>
          <p:cNvPicPr>
            <a:picLocks noChangeAspect="1"/>
          </p:cNvPicPr>
          <p:nvPr/>
        </p:nvPicPr>
        <p:blipFill>
          <a:blip r:embed="rId14"/>
          <a:stretch>
            <a:fillRect/>
          </a:stretch>
        </p:blipFill>
        <p:spPr>
          <a:xfrm>
            <a:off x="7351962" y="3690089"/>
            <a:ext cx="1552438" cy="521619"/>
          </a:xfrm>
          <a:prstGeom prst="rect">
            <a:avLst/>
          </a:prstGeom>
          <a:ln w="12700">
            <a:miter lim="400000"/>
          </a:ln>
        </p:spPr>
      </p:pic>
      <p:pic>
        <p:nvPicPr>
          <p:cNvPr id="191" name="Google Shape;107;p19" descr="Google Shape;107;p19"/>
          <p:cNvPicPr>
            <a:picLocks noChangeAspect="1"/>
          </p:cNvPicPr>
          <p:nvPr/>
        </p:nvPicPr>
        <p:blipFill>
          <a:blip r:embed="rId15"/>
          <a:stretch>
            <a:fillRect/>
          </a:stretch>
        </p:blipFill>
        <p:spPr>
          <a:xfrm>
            <a:off x="821156" y="3018077"/>
            <a:ext cx="1665886" cy="559738"/>
          </a:xfrm>
          <a:prstGeom prst="rect">
            <a:avLst/>
          </a:prstGeom>
          <a:ln w="12700">
            <a:miter lim="400000"/>
          </a:ln>
        </p:spPr>
      </p:pic>
      <p:pic>
        <p:nvPicPr>
          <p:cNvPr id="192" name="Google Shape;108;p19" descr="Google Shape;108;p19"/>
          <p:cNvPicPr>
            <a:picLocks noChangeAspect="1"/>
          </p:cNvPicPr>
          <p:nvPr/>
        </p:nvPicPr>
        <p:blipFill>
          <a:blip r:embed="rId16"/>
          <a:stretch>
            <a:fillRect/>
          </a:stretch>
        </p:blipFill>
        <p:spPr>
          <a:xfrm>
            <a:off x="6058406" y="3004229"/>
            <a:ext cx="1277939" cy="559738"/>
          </a:xfrm>
          <a:prstGeom prst="rect">
            <a:avLst/>
          </a:prstGeom>
          <a:ln w="12700">
            <a:miter lim="400000"/>
          </a:ln>
        </p:spPr>
      </p:pic>
      <p:pic>
        <p:nvPicPr>
          <p:cNvPr id="193" name="Google Shape;109;p19" descr="Google Shape;109;p19"/>
          <p:cNvPicPr>
            <a:picLocks noChangeAspect="1"/>
          </p:cNvPicPr>
          <p:nvPr/>
        </p:nvPicPr>
        <p:blipFill>
          <a:blip r:embed="rId17"/>
          <a:stretch>
            <a:fillRect/>
          </a:stretch>
        </p:blipFill>
        <p:spPr>
          <a:xfrm>
            <a:off x="2194969" y="3610975"/>
            <a:ext cx="1675860" cy="559738"/>
          </a:xfrm>
          <a:prstGeom prst="rect">
            <a:avLst/>
          </a:prstGeom>
          <a:ln w="12700">
            <a:miter lim="400000"/>
          </a:ln>
        </p:spPr>
      </p:pic>
      <p:sp>
        <p:nvSpPr>
          <p:cNvPr id="194" name="Google Shape;110;p19"/>
          <p:cNvSpPr/>
          <p:nvPr/>
        </p:nvSpPr>
        <p:spPr>
          <a:xfrm>
            <a:off x="31740" y="4285627"/>
            <a:ext cx="12125393" cy="1828174"/>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95" name="Google Shape;111;p19"/>
          <p:cNvSpPr txBox="1"/>
          <p:nvPr/>
        </p:nvSpPr>
        <p:spPr>
          <a:xfrm>
            <a:off x="106722" y="4375509"/>
            <a:ext cx="2492651" cy="2492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3600">
                <a:solidFill>
                  <a:srgbClr val="034D40"/>
                </a:solidFill>
                <a:latin typeface="Arial Black"/>
                <a:ea typeface="Arial Black"/>
                <a:cs typeface="Arial Black"/>
                <a:sym typeface="Arial Black"/>
              </a:defRPr>
            </a:lvl1pPr>
          </a:lstStyle>
          <a:p>
            <a:r>
              <a:rPr sz="1800"/>
              <a:t>Friends of KCDC</a:t>
            </a:r>
          </a:p>
        </p:txBody>
      </p:sp>
      <p:pic>
        <p:nvPicPr>
          <p:cNvPr id="196" name="Google Shape;112;p19" descr="Google Shape;112;p19"/>
          <p:cNvPicPr>
            <a:picLocks noChangeAspect="1"/>
          </p:cNvPicPr>
          <p:nvPr/>
        </p:nvPicPr>
        <p:blipFill>
          <a:blip r:embed="rId18"/>
          <a:stretch>
            <a:fillRect/>
          </a:stretch>
        </p:blipFill>
        <p:spPr>
          <a:xfrm>
            <a:off x="2673449" y="4505388"/>
            <a:ext cx="1173854" cy="309898"/>
          </a:xfrm>
          <a:prstGeom prst="rect">
            <a:avLst/>
          </a:prstGeom>
          <a:ln w="12700">
            <a:miter lim="400000"/>
          </a:ln>
        </p:spPr>
      </p:pic>
      <p:pic>
        <p:nvPicPr>
          <p:cNvPr id="197" name="Google Shape;113;p19" descr="Google Shape;113;p19"/>
          <p:cNvPicPr>
            <a:picLocks noChangeAspect="1"/>
          </p:cNvPicPr>
          <p:nvPr/>
        </p:nvPicPr>
        <p:blipFill>
          <a:blip r:embed="rId19"/>
          <a:stretch>
            <a:fillRect/>
          </a:stretch>
        </p:blipFill>
        <p:spPr>
          <a:xfrm>
            <a:off x="4083331" y="4452002"/>
            <a:ext cx="463918" cy="309898"/>
          </a:xfrm>
          <a:prstGeom prst="rect">
            <a:avLst/>
          </a:prstGeom>
          <a:ln w="12700">
            <a:miter lim="400000"/>
          </a:ln>
        </p:spPr>
      </p:pic>
      <p:pic>
        <p:nvPicPr>
          <p:cNvPr id="198" name="Google Shape;114;p19" descr="Google Shape;114;p19"/>
          <p:cNvPicPr>
            <a:picLocks noChangeAspect="1"/>
          </p:cNvPicPr>
          <p:nvPr/>
        </p:nvPicPr>
        <p:blipFill>
          <a:blip r:embed="rId20"/>
          <a:stretch>
            <a:fillRect/>
          </a:stretch>
        </p:blipFill>
        <p:spPr>
          <a:xfrm>
            <a:off x="4783280" y="4438881"/>
            <a:ext cx="742269" cy="309898"/>
          </a:xfrm>
          <a:prstGeom prst="rect">
            <a:avLst/>
          </a:prstGeom>
          <a:ln w="12700">
            <a:miter lim="400000"/>
          </a:ln>
        </p:spPr>
      </p:pic>
      <p:pic>
        <p:nvPicPr>
          <p:cNvPr id="199" name="Google Shape;115;p19" descr="Google Shape;115;p19"/>
          <p:cNvPicPr>
            <a:picLocks noChangeAspect="1"/>
          </p:cNvPicPr>
          <p:nvPr/>
        </p:nvPicPr>
        <p:blipFill>
          <a:blip r:embed="rId21"/>
          <a:stretch>
            <a:fillRect/>
          </a:stretch>
        </p:blipFill>
        <p:spPr>
          <a:xfrm>
            <a:off x="5610264" y="4474389"/>
            <a:ext cx="1342026" cy="238881"/>
          </a:xfrm>
          <a:prstGeom prst="rect">
            <a:avLst/>
          </a:prstGeom>
          <a:ln w="12700">
            <a:miter lim="400000"/>
          </a:ln>
        </p:spPr>
      </p:pic>
      <p:pic>
        <p:nvPicPr>
          <p:cNvPr id="200" name="Google Shape;116;p19" descr="Google Shape;116;p19"/>
          <p:cNvPicPr>
            <a:picLocks noChangeAspect="1"/>
          </p:cNvPicPr>
          <p:nvPr/>
        </p:nvPicPr>
        <p:blipFill>
          <a:blip r:embed="rId22"/>
          <a:stretch>
            <a:fillRect/>
          </a:stretch>
        </p:blipFill>
        <p:spPr>
          <a:xfrm>
            <a:off x="7215018" y="4513937"/>
            <a:ext cx="903573" cy="309898"/>
          </a:xfrm>
          <a:prstGeom prst="rect">
            <a:avLst/>
          </a:prstGeom>
          <a:ln w="12700">
            <a:miter lim="400000"/>
          </a:ln>
        </p:spPr>
      </p:pic>
      <p:pic>
        <p:nvPicPr>
          <p:cNvPr id="201" name="Google Shape;117;p19" descr="Google Shape;117;p19"/>
          <p:cNvPicPr>
            <a:picLocks noChangeAspect="1"/>
          </p:cNvPicPr>
          <p:nvPr/>
        </p:nvPicPr>
        <p:blipFill>
          <a:blip r:embed="rId23"/>
          <a:stretch>
            <a:fillRect/>
          </a:stretch>
        </p:blipFill>
        <p:spPr>
          <a:xfrm>
            <a:off x="9517440" y="4277433"/>
            <a:ext cx="704319" cy="704319"/>
          </a:xfrm>
          <a:prstGeom prst="rect">
            <a:avLst/>
          </a:prstGeom>
          <a:ln w="12700">
            <a:miter lim="400000"/>
          </a:ln>
        </p:spPr>
      </p:pic>
      <p:pic>
        <p:nvPicPr>
          <p:cNvPr id="202" name="Google Shape;118;p19" descr="Google Shape;118;p19"/>
          <p:cNvPicPr>
            <a:picLocks noChangeAspect="1"/>
          </p:cNvPicPr>
          <p:nvPr/>
        </p:nvPicPr>
        <p:blipFill>
          <a:blip r:embed="rId24"/>
          <a:stretch>
            <a:fillRect/>
          </a:stretch>
        </p:blipFill>
        <p:spPr>
          <a:xfrm>
            <a:off x="10429192" y="4475742"/>
            <a:ext cx="704312" cy="309898"/>
          </a:xfrm>
          <a:prstGeom prst="rect">
            <a:avLst/>
          </a:prstGeom>
          <a:ln w="12700">
            <a:miter lim="400000"/>
          </a:ln>
        </p:spPr>
      </p:pic>
      <p:pic>
        <p:nvPicPr>
          <p:cNvPr id="203" name="Google Shape;119;p19" descr="Google Shape;119;p19"/>
          <p:cNvPicPr>
            <a:picLocks noChangeAspect="1"/>
          </p:cNvPicPr>
          <p:nvPr/>
        </p:nvPicPr>
        <p:blipFill>
          <a:blip r:embed="rId25"/>
          <a:stretch>
            <a:fillRect/>
          </a:stretch>
        </p:blipFill>
        <p:spPr>
          <a:xfrm>
            <a:off x="572278" y="4990283"/>
            <a:ext cx="916856" cy="309898"/>
          </a:xfrm>
          <a:prstGeom prst="rect">
            <a:avLst/>
          </a:prstGeom>
          <a:ln w="12700">
            <a:miter lim="400000"/>
          </a:ln>
        </p:spPr>
      </p:pic>
      <p:pic>
        <p:nvPicPr>
          <p:cNvPr id="204" name="Google Shape;120;p19" descr="Google Shape;120;p19"/>
          <p:cNvPicPr>
            <a:picLocks noChangeAspect="1"/>
          </p:cNvPicPr>
          <p:nvPr/>
        </p:nvPicPr>
        <p:blipFill>
          <a:blip r:embed="rId26"/>
          <a:stretch>
            <a:fillRect/>
          </a:stretch>
        </p:blipFill>
        <p:spPr>
          <a:xfrm>
            <a:off x="1858437" y="5035050"/>
            <a:ext cx="1342026" cy="232722"/>
          </a:xfrm>
          <a:prstGeom prst="rect">
            <a:avLst/>
          </a:prstGeom>
          <a:ln w="12700">
            <a:miter lim="400000"/>
          </a:ln>
        </p:spPr>
      </p:pic>
      <p:pic>
        <p:nvPicPr>
          <p:cNvPr id="205" name="Google Shape;121;p19" descr="Google Shape;121;p19"/>
          <p:cNvPicPr>
            <a:picLocks noChangeAspect="1"/>
          </p:cNvPicPr>
          <p:nvPr/>
        </p:nvPicPr>
        <p:blipFill>
          <a:blip r:embed="rId27"/>
          <a:stretch>
            <a:fillRect/>
          </a:stretch>
        </p:blipFill>
        <p:spPr>
          <a:xfrm>
            <a:off x="3424908" y="4995013"/>
            <a:ext cx="1229752" cy="309898"/>
          </a:xfrm>
          <a:prstGeom prst="rect">
            <a:avLst/>
          </a:prstGeom>
          <a:ln w="12700">
            <a:miter lim="400000"/>
          </a:ln>
        </p:spPr>
      </p:pic>
      <p:pic>
        <p:nvPicPr>
          <p:cNvPr id="206" name="Google Shape;122;p19" descr="Google Shape;122;p19"/>
          <p:cNvPicPr>
            <a:picLocks noChangeAspect="1"/>
          </p:cNvPicPr>
          <p:nvPr/>
        </p:nvPicPr>
        <p:blipFill>
          <a:blip r:embed="rId28"/>
          <a:stretch>
            <a:fillRect/>
          </a:stretch>
        </p:blipFill>
        <p:spPr>
          <a:xfrm>
            <a:off x="5001445" y="4988458"/>
            <a:ext cx="794609" cy="309898"/>
          </a:xfrm>
          <a:prstGeom prst="rect">
            <a:avLst/>
          </a:prstGeom>
          <a:ln w="12700">
            <a:miter lim="400000"/>
          </a:ln>
        </p:spPr>
      </p:pic>
      <p:pic>
        <p:nvPicPr>
          <p:cNvPr id="207" name="Google Shape;123;p19" descr="Google Shape;123;p19"/>
          <p:cNvPicPr>
            <a:picLocks noChangeAspect="1"/>
          </p:cNvPicPr>
          <p:nvPr/>
        </p:nvPicPr>
        <p:blipFill>
          <a:blip r:embed="rId29"/>
          <a:stretch>
            <a:fillRect/>
          </a:stretch>
        </p:blipFill>
        <p:spPr>
          <a:xfrm>
            <a:off x="7254137" y="5052152"/>
            <a:ext cx="1342027" cy="177148"/>
          </a:xfrm>
          <a:prstGeom prst="rect">
            <a:avLst/>
          </a:prstGeom>
          <a:ln w="12700">
            <a:miter lim="400000"/>
          </a:ln>
        </p:spPr>
      </p:pic>
      <p:pic>
        <p:nvPicPr>
          <p:cNvPr id="208" name="Google Shape;124;p19" descr="Google Shape;124;p19"/>
          <p:cNvPicPr>
            <a:picLocks noChangeAspect="1"/>
          </p:cNvPicPr>
          <p:nvPr/>
        </p:nvPicPr>
        <p:blipFill>
          <a:blip r:embed="rId30"/>
          <a:stretch>
            <a:fillRect/>
          </a:stretch>
        </p:blipFill>
        <p:spPr>
          <a:xfrm>
            <a:off x="9228714" y="5044770"/>
            <a:ext cx="939083" cy="309898"/>
          </a:xfrm>
          <a:prstGeom prst="rect">
            <a:avLst/>
          </a:prstGeom>
          <a:ln w="12700">
            <a:miter lim="400000"/>
          </a:ln>
        </p:spPr>
      </p:pic>
      <p:pic>
        <p:nvPicPr>
          <p:cNvPr id="209" name="Google Shape;125;p19" descr="Google Shape;125;p19"/>
          <p:cNvPicPr>
            <a:picLocks noChangeAspect="1"/>
          </p:cNvPicPr>
          <p:nvPr/>
        </p:nvPicPr>
        <p:blipFill>
          <a:blip r:embed="rId31"/>
          <a:stretch>
            <a:fillRect/>
          </a:stretch>
        </p:blipFill>
        <p:spPr>
          <a:xfrm>
            <a:off x="10624804" y="4990419"/>
            <a:ext cx="1342028" cy="300615"/>
          </a:xfrm>
          <a:prstGeom prst="rect">
            <a:avLst/>
          </a:prstGeom>
          <a:ln w="12700">
            <a:miter lim="400000"/>
          </a:ln>
        </p:spPr>
      </p:pic>
      <p:pic>
        <p:nvPicPr>
          <p:cNvPr id="210" name="Google Shape;126;p19" descr="Google Shape;126;p19"/>
          <p:cNvPicPr>
            <a:picLocks noChangeAspect="1"/>
          </p:cNvPicPr>
          <p:nvPr/>
        </p:nvPicPr>
        <p:blipFill>
          <a:blip r:embed="rId32"/>
          <a:stretch>
            <a:fillRect/>
          </a:stretch>
        </p:blipFill>
        <p:spPr>
          <a:xfrm>
            <a:off x="230259" y="5665691"/>
            <a:ext cx="1521957" cy="273953"/>
          </a:xfrm>
          <a:prstGeom prst="rect">
            <a:avLst/>
          </a:prstGeom>
          <a:ln w="12700">
            <a:miter lim="400000"/>
          </a:ln>
        </p:spPr>
      </p:pic>
      <p:pic>
        <p:nvPicPr>
          <p:cNvPr id="211" name="Google Shape;127;p19" descr="Google Shape;127;p19"/>
          <p:cNvPicPr>
            <a:picLocks noChangeAspect="1"/>
          </p:cNvPicPr>
          <p:nvPr/>
        </p:nvPicPr>
        <p:blipFill>
          <a:blip r:embed="rId33"/>
          <a:stretch>
            <a:fillRect/>
          </a:stretch>
        </p:blipFill>
        <p:spPr>
          <a:xfrm>
            <a:off x="2475969" y="5498133"/>
            <a:ext cx="602913" cy="309898"/>
          </a:xfrm>
          <a:prstGeom prst="rect">
            <a:avLst/>
          </a:prstGeom>
          <a:ln w="12700">
            <a:miter lim="400000"/>
          </a:ln>
        </p:spPr>
      </p:pic>
      <p:pic>
        <p:nvPicPr>
          <p:cNvPr id="212" name="Google Shape;128;p19" descr="Google Shape;128;p19"/>
          <p:cNvPicPr>
            <a:picLocks noChangeAspect="1"/>
          </p:cNvPicPr>
          <p:nvPr/>
        </p:nvPicPr>
        <p:blipFill>
          <a:blip r:embed="rId34"/>
          <a:stretch>
            <a:fillRect/>
          </a:stretch>
        </p:blipFill>
        <p:spPr>
          <a:xfrm>
            <a:off x="3929846" y="5538029"/>
            <a:ext cx="1210536" cy="309898"/>
          </a:xfrm>
          <a:prstGeom prst="rect">
            <a:avLst/>
          </a:prstGeom>
          <a:ln w="12700">
            <a:miter lim="400000"/>
          </a:ln>
        </p:spPr>
      </p:pic>
      <p:pic>
        <p:nvPicPr>
          <p:cNvPr id="213" name="Google Shape;129;p19" descr="Google Shape;129;p19"/>
          <p:cNvPicPr>
            <a:picLocks noChangeAspect="1"/>
          </p:cNvPicPr>
          <p:nvPr/>
        </p:nvPicPr>
        <p:blipFill>
          <a:blip r:embed="rId35"/>
          <a:stretch>
            <a:fillRect/>
          </a:stretch>
        </p:blipFill>
        <p:spPr>
          <a:xfrm>
            <a:off x="5634009" y="5452799"/>
            <a:ext cx="602918" cy="521619"/>
          </a:xfrm>
          <a:prstGeom prst="rect">
            <a:avLst/>
          </a:prstGeom>
          <a:ln w="12700">
            <a:miter lim="400000"/>
          </a:ln>
        </p:spPr>
      </p:pic>
      <p:pic>
        <p:nvPicPr>
          <p:cNvPr id="214" name="Google Shape;130;p19" descr="Google Shape;130;p19"/>
          <p:cNvPicPr>
            <a:picLocks noChangeAspect="1"/>
          </p:cNvPicPr>
          <p:nvPr/>
        </p:nvPicPr>
        <p:blipFill>
          <a:blip r:embed="rId36"/>
          <a:stretch>
            <a:fillRect/>
          </a:stretch>
        </p:blipFill>
        <p:spPr>
          <a:xfrm>
            <a:off x="6830565" y="5563964"/>
            <a:ext cx="1521958" cy="247319"/>
          </a:xfrm>
          <a:prstGeom prst="rect">
            <a:avLst/>
          </a:prstGeom>
          <a:ln w="12700">
            <a:miter lim="400000"/>
          </a:ln>
        </p:spPr>
      </p:pic>
      <p:pic>
        <p:nvPicPr>
          <p:cNvPr id="215" name="Google Shape;131;p19" descr="Google Shape;131;p19"/>
          <p:cNvPicPr>
            <a:picLocks noChangeAspect="1"/>
          </p:cNvPicPr>
          <p:nvPr/>
        </p:nvPicPr>
        <p:blipFill>
          <a:blip r:embed="rId37"/>
          <a:stretch>
            <a:fillRect/>
          </a:stretch>
        </p:blipFill>
        <p:spPr>
          <a:xfrm>
            <a:off x="8688380" y="5524111"/>
            <a:ext cx="1220068" cy="309898"/>
          </a:xfrm>
          <a:prstGeom prst="rect">
            <a:avLst/>
          </a:prstGeom>
          <a:ln w="12700">
            <a:miter lim="400000"/>
          </a:ln>
        </p:spPr>
      </p:pic>
      <p:pic>
        <p:nvPicPr>
          <p:cNvPr id="216" name="Google Shape;132;p19" descr="Google Shape;132;p19"/>
          <p:cNvPicPr>
            <a:picLocks noChangeAspect="1"/>
          </p:cNvPicPr>
          <p:nvPr/>
        </p:nvPicPr>
        <p:blipFill>
          <a:blip r:embed="rId38"/>
          <a:stretch>
            <a:fillRect/>
          </a:stretch>
        </p:blipFill>
        <p:spPr>
          <a:xfrm>
            <a:off x="10533224" y="5493832"/>
            <a:ext cx="1408624" cy="309898"/>
          </a:xfrm>
          <a:prstGeom prst="rect">
            <a:avLst/>
          </a:prstGeom>
          <a:ln w="12700">
            <a:miter lim="400000"/>
          </a:ln>
        </p:spPr>
      </p:pic>
      <p:sp>
        <p:nvSpPr>
          <p:cNvPr id="217" name="Google Shape;133;p19"/>
          <p:cNvSpPr/>
          <p:nvPr/>
        </p:nvSpPr>
        <p:spPr>
          <a:xfrm>
            <a:off x="31741" y="6128874"/>
            <a:ext cx="12125342" cy="69649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218" name="Google Shape;134;p19"/>
          <p:cNvSpPr txBox="1"/>
          <p:nvPr/>
        </p:nvSpPr>
        <p:spPr>
          <a:xfrm>
            <a:off x="1808154" y="6243225"/>
            <a:ext cx="2904444" cy="38779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lnSpc>
                <a:spcPct val="90000"/>
              </a:lnSpc>
              <a:defRPr sz="2800">
                <a:solidFill>
                  <a:srgbClr val="034D40"/>
                </a:solidFill>
                <a:latin typeface="Arial Black"/>
                <a:ea typeface="Arial Black"/>
                <a:cs typeface="Arial Black"/>
                <a:sym typeface="Arial Black"/>
              </a:defRPr>
            </a:lvl1pPr>
          </a:lstStyle>
          <a:p>
            <a:r>
              <a:rPr sz="1400"/>
              <a:t>Other Awesome Organizations</a:t>
            </a:r>
          </a:p>
        </p:txBody>
      </p:sp>
      <p:pic>
        <p:nvPicPr>
          <p:cNvPr id="219" name="Google Shape;135;p19" descr="Google Shape;135;p19"/>
          <p:cNvPicPr>
            <a:picLocks noChangeAspect="1"/>
          </p:cNvPicPr>
          <p:nvPr/>
        </p:nvPicPr>
        <p:blipFill>
          <a:blip r:embed="rId39"/>
          <a:stretch>
            <a:fillRect/>
          </a:stretch>
        </p:blipFill>
        <p:spPr>
          <a:xfrm>
            <a:off x="4607175" y="6342887"/>
            <a:ext cx="937311" cy="280015"/>
          </a:xfrm>
          <a:prstGeom prst="rect">
            <a:avLst/>
          </a:prstGeom>
          <a:ln w="12700">
            <a:miter lim="400000"/>
          </a:ln>
        </p:spPr>
      </p:pic>
      <p:pic>
        <p:nvPicPr>
          <p:cNvPr id="220" name="Google Shape;136;p19" descr="Google Shape;136;p19"/>
          <p:cNvPicPr>
            <a:picLocks noChangeAspect="1"/>
          </p:cNvPicPr>
          <p:nvPr/>
        </p:nvPicPr>
        <p:blipFill>
          <a:blip r:embed="rId40"/>
          <a:stretch>
            <a:fillRect/>
          </a:stretch>
        </p:blipFill>
        <p:spPr>
          <a:xfrm>
            <a:off x="5796057" y="6231093"/>
            <a:ext cx="503619" cy="503619"/>
          </a:xfrm>
          <a:prstGeom prst="rect">
            <a:avLst/>
          </a:prstGeom>
          <a:ln w="12700">
            <a:miter lim="400000"/>
          </a:ln>
        </p:spPr>
      </p:pic>
      <p:pic>
        <p:nvPicPr>
          <p:cNvPr id="221" name="Google Shape;137;p19" descr="Google Shape;137;p19"/>
          <p:cNvPicPr>
            <a:picLocks noChangeAspect="1"/>
          </p:cNvPicPr>
          <p:nvPr/>
        </p:nvPicPr>
        <p:blipFill>
          <a:blip r:embed="rId41"/>
          <a:stretch>
            <a:fillRect/>
          </a:stretch>
        </p:blipFill>
        <p:spPr>
          <a:xfrm>
            <a:off x="6551246" y="6318773"/>
            <a:ext cx="748093" cy="415943"/>
          </a:xfrm>
          <a:prstGeom prst="rect">
            <a:avLst/>
          </a:prstGeom>
          <a:ln w="12700">
            <a:miter lim="400000"/>
          </a:ln>
        </p:spPr>
      </p:pic>
      <p:pic>
        <p:nvPicPr>
          <p:cNvPr id="222" name="Google Shape;138;p19" descr="Google Shape;138;p19"/>
          <p:cNvPicPr>
            <a:picLocks noChangeAspect="1"/>
          </p:cNvPicPr>
          <p:nvPr/>
        </p:nvPicPr>
        <p:blipFill>
          <a:blip r:embed="rId42"/>
          <a:stretch>
            <a:fillRect/>
          </a:stretch>
        </p:blipFill>
        <p:spPr>
          <a:xfrm>
            <a:off x="11143025" y="4105661"/>
            <a:ext cx="939076" cy="939076"/>
          </a:xfrm>
          <a:prstGeom prst="rect">
            <a:avLst/>
          </a:prstGeom>
          <a:ln w="12700">
            <a:miter lim="400000"/>
          </a:ln>
        </p:spPr>
      </p:pic>
      <p:pic>
        <p:nvPicPr>
          <p:cNvPr id="223" name="Google Shape;140;p19" descr="Google Shape;140;p19"/>
          <p:cNvPicPr>
            <a:picLocks noChangeAspect="1"/>
          </p:cNvPicPr>
          <p:nvPr/>
        </p:nvPicPr>
        <p:blipFill>
          <a:blip r:embed="rId43"/>
          <a:srcRect l="35271" t="34580" r="36799" b="43508"/>
          <a:stretch>
            <a:fillRect/>
          </a:stretch>
        </p:blipFill>
        <p:spPr>
          <a:xfrm>
            <a:off x="5858450" y="4933708"/>
            <a:ext cx="1277930" cy="334164"/>
          </a:xfrm>
          <a:prstGeom prst="rect">
            <a:avLst/>
          </a:prstGeom>
          <a:ln w="12700">
            <a:miter lim="400000"/>
          </a:ln>
        </p:spPr>
      </p:pic>
      <p:pic>
        <p:nvPicPr>
          <p:cNvPr id="224" name="Screenshot 2026-09-07 at 2.39.10 PM.pngGoogle Shape;141;p19" descr="Screenshot 2026-09-07 at 2.39.10 PM.pngGoogle Shape;141;p19"/>
          <p:cNvPicPr>
            <a:picLocks noChangeAspect="1"/>
          </p:cNvPicPr>
          <p:nvPr/>
        </p:nvPicPr>
        <p:blipFill>
          <a:blip r:embed="rId44"/>
          <a:stretch>
            <a:fillRect/>
          </a:stretch>
        </p:blipFill>
        <p:spPr>
          <a:xfrm>
            <a:off x="8270632" y="4474990"/>
            <a:ext cx="1175381" cy="387799"/>
          </a:xfrm>
          <a:prstGeom prst="rect">
            <a:avLst/>
          </a:prstGeom>
          <a:ln w="12700">
            <a:miter lim="400000"/>
          </a:ln>
        </p:spPr>
      </p:pic>
      <p:pic>
        <p:nvPicPr>
          <p:cNvPr id="225" name="Kestra.full.logo.dark.png" descr="Kestra.full.logo.dark.png"/>
          <p:cNvPicPr>
            <a:picLocks noChangeAspect="1"/>
          </p:cNvPicPr>
          <p:nvPr/>
        </p:nvPicPr>
        <p:blipFill>
          <a:blip r:embed="rId45"/>
          <a:stretch>
            <a:fillRect/>
          </a:stretch>
        </p:blipFill>
        <p:spPr>
          <a:xfrm>
            <a:off x="9575798" y="2227713"/>
            <a:ext cx="1529076" cy="349160"/>
          </a:xfrm>
          <a:prstGeom prst="rect">
            <a:avLst/>
          </a:prstGeom>
          <a:ln w="12700">
            <a:miter lim="400000"/>
          </a:ln>
        </p:spPr>
      </p:pic>
      <p:pic>
        <p:nvPicPr>
          <p:cNvPr id="226" name="pasted-movie.png" descr="pasted-movie.png"/>
          <p:cNvPicPr>
            <a:picLocks noChangeAspect="1"/>
          </p:cNvPicPr>
          <p:nvPr/>
        </p:nvPicPr>
        <p:blipFill>
          <a:blip r:embed="rId46"/>
          <a:stretch>
            <a:fillRect/>
          </a:stretch>
        </p:blipFill>
        <p:spPr>
          <a:xfrm>
            <a:off x="7929363" y="2137355"/>
            <a:ext cx="1699632" cy="572436"/>
          </a:xfrm>
          <a:prstGeom prst="rect">
            <a:avLst/>
          </a:prstGeom>
          <a:ln w="12700">
            <a:miter lim="400000"/>
          </a:ln>
        </p:spPr>
      </p:pic>
      <p:pic>
        <p:nvPicPr>
          <p:cNvPr id="227" name="pasted-movie.png" descr="pasted-movie.png"/>
          <p:cNvPicPr>
            <a:picLocks noChangeAspect="1"/>
          </p:cNvPicPr>
          <p:nvPr/>
        </p:nvPicPr>
        <p:blipFill>
          <a:blip r:embed="rId47"/>
          <a:stretch>
            <a:fillRect/>
          </a:stretch>
        </p:blipFill>
        <p:spPr>
          <a:xfrm>
            <a:off x="4238688" y="2181574"/>
            <a:ext cx="1883542" cy="437469"/>
          </a:xfrm>
          <a:prstGeom prst="rect">
            <a:avLst/>
          </a:prstGeom>
          <a:ln w="12700">
            <a:miter lim="400000"/>
          </a:ln>
        </p:spPr>
      </p:pic>
      <p:pic>
        <p:nvPicPr>
          <p:cNvPr id="228" name="pasted-movie.png" descr="pasted-movie.png"/>
          <p:cNvPicPr>
            <a:picLocks noChangeAspect="1"/>
          </p:cNvPicPr>
          <p:nvPr/>
        </p:nvPicPr>
        <p:blipFill>
          <a:blip r:embed="rId48"/>
          <a:stretch>
            <a:fillRect/>
          </a:stretch>
        </p:blipFill>
        <p:spPr>
          <a:xfrm>
            <a:off x="7747429" y="2849455"/>
            <a:ext cx="1229752" cy="922314"/>
          </a:xfrm>
          <a:prstGeom prst="rect">
            <a:avLst/>
          </a:prstGeom>
          <a:ln w="12700">
            <a:miter lim="400000"/>
          </a:ln>
        </p:spPr>
      </p:pic>
      <p:pic>
        <p:nvPicPr>
          <p:cNvPr id="229" name="pasted-movie.png" descr="pasted-movie.png"/>
          <p:cNvPicPr>
            <a:picLocks noChangeAspect="1"/>
          </p:cNvPicPr>
          <p:nvPr/>
        </p:nvPicPr>
        <p:blipFill>
          <a:blip r:embed="rId49"/>
          <a:stretch>
            <a:fillRect/>
          </a:stretch>
        </p:blipFill>
        <p:spPr>
          <a:xfrm>
            <a:off x="5887417" y="3749384"/>
            <a:ext cx="1220068" cy="403031"/>
          </a:xfrm>
          <a:prstGeom prst="rect">
            <a:avLst/>
          </a:prstGeom>
          <a:ln w="12700">
            <a:miter lim="400000"/>
          </a:ln>
        </p:spPr>
      </p:pic>
      <p:pic>
        <p:nvPicPr>
          <p:cNvPr id="230" name="DPL-full-color-2-o.svg" descr="DPL-full-color-2-o.svg"/>
          <p:cNvPicPr>
            <a:picLocks noChangeAspect="1"/>
          </p:cNvPicPr>
          <p:nvPr/>
        </p:nvPicPr>
        <p:blipFill>
          <a:blip r:embed="rId50"/>
          <a:stretch>
            <a:fillRect/>
          </a:stretch>
        </p:blipFill>
        <p:spPr>
          <a:xfrm>
            <a:off x="9239899" y="2985078"/>
            <a:ext cx="1343890" cy="695837"/>
          </a:xfrm>
          <a:prstGeom prst="rect">
            <a:avLst/>
          </a:prstGeom>
          <a:ln w="12700">
            <a:miter lim="400000"/>
          </a:ln>
        </p:spPr>
      </p:pic>
      <p:pic>
        <p:nvPicPr>
          <p:cNvPr id="231" name="pasted-movie.png" descr="pasted-movie.png"/>
          <p:cNvPicPr>
            <a:picLocks noChangeAspect="1"/>
          </p:cNvPicPr>
          <p:nvPr/>
        </p:nvPicPr>
        <p:blipFill>
          <a:blip r:embed="rId51"/>
          <a:srcRect l="10454" t="19945" r="7619"/>
          <a:stretch>
            <a:fillRect/>
          </a:stretch>
        </p:blipFill>
        <p:spPr>
          <a:xfrm>
            <a:off x="10664951" y="3004229"/>
            <a:ext cx="1261720" cy="624891"/>
          </a:xfrm>
          <a:prstGeom prst="rect">
            <a:avLst/>
          </a:prstGeom>
          <a:ln w="12700">
            <a:miter lim="400000"/>
          </a:ln>
        </p:spPr>
      </p:pic>
      <p:pic>
        <p:nvPicPr>
          <p:cNvPr id="232" name="pasted-movie.png" descr="pasted-movie.png"/>
          <p:cNvPicPr>
            <a:picLocks noChangeAspect="1"/>
          </p:cNvPicPr>
          <p:nvPr/>
        </p:nvPicPr>
        <p:blipFill>
          <a:blip r:embed="rId52"/>
          <a:srcRect t="22160" b="22160"/>
          <a:stretch>
            <a:fillRect/>
          </a:stretch>
        </p:blipFill>
        <p:spPr>
          <a:xfrm>
            <a:off x="9002868" y="3686239"/>
            <a:ext cx="1547016" cy="487385"/>
          </a:xfrm>
          <a:prstGeom prst="rect">
            <a:avLst/>
          </a:prstGeom>
          <a:ln w="12700">
            <a:miter lim="400000"/>
          </a:ln>
        </p:spPr>
      </p:pic>
      <p:pic>
        <p:nvPicPr>
          <p:cNvPr id="233" name="pasted-movie.png" descr="pasted-movie.png"/>
          <p:cNvPicPr>
            <a:picLocks noChangeAspect="1"/>
          </p:cNvPicPr>
          <p:nvPr/>
        </p:nvPicPr>
        <p:blipFill>
          <a:blip r:embed="rId53"/>
          <a:stretch>
            <a:fillRect/>
          </a:stretch>
        </p:blipFill>
        <p:spPr>
          <a:xfrm>
            <a:off x="10564512" y="3776376"/>
            <a:ext cx="1345986" cy="387799"/>
          </a:xfrm>
          <a:prstGeom prst="rect">
            <a:avLst/>
          </a:prstGeom>
          <a:ln w="12700">
            <a:miter lim="400000"/>
          </a:ln>
        </p:spPr>
      </p:pic>
      <p:pic>
        <p:nvPicPr>
          <p:cNvPr id="234" name="pasted-movie.png" descr="pasted-movie.png"/>
          <p:cNvPicPr>
            <a:picLocks noChangeAspect="1"/>
          </p:cNvPicPr>
          <p:nvPr/>
        </p:nvPicPr>
        <p:blipFill>
          <a:blip r:embed="rId54"/>
          <a:srcRect t="19950" b="19950"/>
          <a:stretch>
            <a:fillRect/>
          </a:stretch>
        </p:blipFill>
        <p:spPr>
          <a:xfrm>
            <a:off x="3989789" y="3652117"/>
            <a:ext cx="1653240" cy="521624"/>
          </a:xfrm>
          <a:prstGeom prst="rect">
            <a:avLst/>
          </a:prstGeom>
          <a:ln w="12700">
            <a:miter lim="400000"/>
          </a:ln>
        </p:spPr>
      </p:pic>
      <p:pic>
        <p:nvPicPr>
          <p:cNvPr id="235" name="pasted-movie.png" descr="pasted-movie.png"/>
          <p:cNvPicPr>
            <a:picLocks noChangeAspect="1"/>
          </p:cNvPicPr>
          <p:nvPr/>
        </p:nvPicPr>
        <p:blipFill>
          <a:blip r:embed="rId55"/>
          <a:stretch>
            <a:fillRect/>
          </a:stretch>
        </p:blipFill>
        <p:spPr>
          <a:xfrm>
            <a:off x="3985407" y="3085883"/>
            <a:ext cx="1661915" cy="309898"/>
          </a:xfrm>
          <a:prstGeom prst="rect">
            <a:avLst/>
          </a:prstGeom>
          <a:ln w="12700">
            <a:miter lim="400000"/>
          </a:ln>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770310" y="3075057"/>
            <a:ext cx="10648236" cy="707886"/>
          </a:xfrm>
          <a:prstGeom prst="rect">
            <a:avLst/>
          </a:prstGeom>
          <a:noFill/>
        </p:spPr>
        <p:txBody>
          <a:bodyPr wrap="none" rtlCol="0">
            <a:spAutoFit/>
          </a:bodyPr>
          <a:lstStyle/>
          <a:p>
            <a:pPr algn="ctr"/>
            <a:r>
              <a:rPr lang="en-GB" sz="4000" dirty="0"/>
              <a:t>Preloading and prefetching (network tab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226365"/>
            <a:ext cx="10710142" cy="2248815"/>
          </a:xfrm>
          <a:prstGeom prst="rect">
            <a:avLst/>
          </a:prstGeom>
          <a:noFill/>
          <a:ln/>
        </p:spPr>
        <p:txBody>
          <a:bodyPr wrap="square" rtlCol="0" anchor="ctr"/>
          <a:lstStyle/>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Why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for eager modules?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Remotes are separate builds resolved at runtime.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Eager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import()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warms the cache;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resolves from it.</a:t>
            </a:r>
            <a:endParaRPr lang="en-US" sz="3200"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endParaRPr>
          </a:p>
        </p:txBody>
      </p:sp>
    </p:spTree>
    <p:extLst>
      <p:ext uri="{BB962C8B-B14F-4D97-AF65-F5344CB8AC3E}">
        <p14:creationId xmlns:p14="http://schemas.microsoft.com/office/powerpoint/2010/main" val="257722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a:t>
            </a:r>
            <a:r>
              <a:rPr lang="en-US" sz="2800" dirty="0" err="1">
                <a:solidFill>
                  <a:schemeClr val="tx1">
                    <a:lumMod val="95000"/>
                    <a:lumOff val="5000"/>
                  </a:schemeClr>
                </a:solidFill>
                <a:latin typeface="DM Sans" pitchFamily="34" charset="0"/>
                <a:ea typeface="DM Sans" pitchFamily="34" charset="-122"/>
                <a:cs typeface="DM Sans" pitchFamily="34" charset="-120"/>
              </a:rPr>
              <a:t>remoteEntry.js</a:t>
            </a:r>
            <a:r>
              <a:rPr lang="en-US" sz="2800" dirty="0">
                <a:solidFill>
                  <a:schemeClr val="tx1">
                    <a:lumMod val="95000"/>
                    <a:lumOff val="5000"/>
                  </a:schemeClr>
                </a:solidFill>
                <a:latin typeface="DM Sans" pitchFamily="34" charset="0"/>
                <a:ea typeface="DM Sans" pitchFamily="34" charset="-122"/>
                <a:cs typeface="DM Sans" pitchFamily="34" charset="-120"/>
              </a:rPr>
              <a:t>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2279283" y="3075057"/>
            <a:ext cx="7630295" cy="707886"/>
          </a:xfrm>
          <a:prstGeom prst="rect">
            <a:avLst/>
          </a:prstGeom>
          <a:noFill/>
        </p:spPr>
        <p:txBody>
          <a:bodyPr wrap="none" rtlCol="0">
            <a:spAutoFit/>
          </a:bodyPr>
          <a:lstStyle/>
          <a:p>
            <a:pPr algn="ctr"/>
            <a:r>
              <a:rPr lang="en-GB" sz="4000" dirty="0"/>
              <a:t>Admin panel for module federation</a:t>
            </a:r>
          </a:p>
        </p:txBody>
      </p:sp>
    </p:spTree>
    <p:extLst>
      <p:ext uri="{BB962C8B-B14F-4D97-AF65-F5344CB8AC3E}">
        <p14:creationId xmlns:p14="http://schemas.microsoft.com/office/powerpoint/2010/main" val="3182694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4130</TotalTime>
  <Words>2135</Words>
  <Application>Microsoft Macintosh PowerPoint</Application>
  <PresentationFormat>Custom</PresentationFormat>
  <Paragraphs>201</Paragraphs>
  <Slides>35</Slides>
  <Notes>31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Brush Script MT</vt:lpstr>
      <vt:lpstr>Aptos</vt:lpstr>
      <vt:lpstr>Arial</vt:lpstr>
      <vt:lpstr>Calibri</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Devlin Duldulao</cp:lastModifiedBy>
  <cp:revision>304</cp:revision>
  <dcterms:created xsi:type="dcterms:W3CDTF">2026-07-26T17:49:56Z</dcterms:created>
  <dcterms:modified xsi:type="dcterms:W3CDTF">2026-09-10T03:48:49Z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2026-09-09T15:35:15Z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3894cb50-b398-499b-a2fb-df380df3d017</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