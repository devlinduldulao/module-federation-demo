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sldIdLst>
    <p:sldId id="298" r:id="rId2"/>
    <p:sldId id="301" r:id="rId3"/>
    <p:sldId id="300" r:id="rId4"/>
    <p:sldId id="313" r:id="rId5"/>
    <p:sldId id="312" r:id="rId6"/>
    <p:sldId id="299" r:id="rId7"/>
    <p:sldId id="314" r:id="rId8"/>
    <p:sldId id="311" r:id="rId9"/>
    <p:sldId id="315" r:id="rId10"/>
    <p:sldId id="317" r:id="rId11"/>
    <p:sldId id="316" r:id="rId12"/>
    <p:sldId id="318" r:id="rId13"/>
    <p:sldId id="336" r:id="rId14"/>
    <p:sldId id="328" r:id="rId15"/>
    <p:sldId id="341" r:id="rId16"/>
    <p:sldId id="337" r:id="rId17"/>
    <p:sldId id="319" r:id="rId18"/>
    <p:sldId id="320" r:id="rId19"/>
    <p:sldId id="329" r:id="rId20"/>
    <p:sldId id="323" r:id="rId21"/>
    <p:sldId id="344" r:id="rId22"/>
    <p:sldId id="327" r:id="rId23"/>
    <p:sldId id="335" r:id="rId24"/>
    <p:sldId id="325" r:id="rId25"/>
    <p:sldId id="326" r:id="rId26"/>
    <p:sldId id="342" r:id="rId27"/>
    <p:sldId id="334" r:id="rId28"/>
    <p:sldId id="332" r:id="rId29"/>
    <p:sldId id="333" r:id="rId30"/>
    <p:sldId id="343" r:id="rId31"/>
    <p:sldId id="331" r:id="rId32"/>
    <p:sldId id="330" r:id="rId33"/>
    <p:sldId id="340" r:id="rId34"/>
    <p:sldId id="338" r:id="rId35"/>
    <p:sldId id="339" r:id="rId36"/>
    <p:sldId id="310" r:id="rId37"/>
    <p:sldId id="322" r:id="rId38"/>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66020" autoAdjust="0"/>
  </p:normalViewPr>
  <p:slideViewPr>
    <p:cSldViewPr snapToGrid="0" snapToObjects="1">
      <p:cViewPr varScale="1">
        <p:scale>
          <a:sx n="105" d="100"/>
          <a:sy n="105" d="100"/>
        </p:scale>
        <p:origin x="4596" y="102"/>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1111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7188984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a:p>
        </p:txBody>
      </p:sp>
    </p:spTree>
    <p:extLst>
      <p:ext uri="{BB962C8B-B14F-4D97-AF65-F5344CB8AC3E}">
        <p14:creationId xmlns:p14="http://schemas.microsoft.com/office/powerpoint/2010/main" val="6440554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Here's the first. </a:t>
            </a:r>
            <a:endParaRPr lang="en-GB" dirty="0"/>
          </a:p>
        </p:txBody>
      </p:sp>
    </p:spTree>
    <p:extLst>
      <p:ext uri="{BB962C8B-B14F-4D97-AF65-F5344CB8AC3E}">
        <p14:creationId xmlns:p14="http://schemas.microsoft.com/office/powerpoint/2010/main" val="24989094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The distinction that matters is between </a:t>
            </a:r>
            <a:r>
              <a:rPr lang="en-US" i="1" dirty="0"/>
              <a:t>build</a:t>
            </a:r>
            <a:r>
              <a:rPr lang="en-US" dirty="0"/>
              <a:t> coupling and </a:t>
            </a:r>
            <a:r>
              <a:rPr lang="en-US" i="1" dirty="0"/>
              <a:t>deploy</a:t>
            </a:r>
            <a:r>
              <a:rPr lang="en-US" dirty="0"/>
              <a:t> coupling — teams can share a repo happily, but sharing a release train means one team's red build becomes everyone's problem.</a:t>
            </a:r>
          </a:p>
          <a:p>
            <a:endParaRPr lang="en-US" dirty="0"/>
          </a:p>
          <a:p>
            <a:r>
              <a:rPr lang="en-US" dirty="0"/>
              <a:t>Team D maybe have a failing build and that’s a blocker in the upper half. </a:t>
            </a:r>
          </a:p>
          <a:p>
            <a:endParaRPr lang="en-US" dirty="0"/>
          </a:p>
          <a:p>
            <a:r>
              <a:rPr lang="en-US" dirty="0"/>
              <a:t>While the lower half lets you own your build and problems stay where they are.</a:t>
            </a:r>
            <a:endParaRPr lang="en-GB" dirty="0"/>
          </a:p>
        </p:txBody>
      </p:sp>
    </p:spTree>
    <p:extLst>
      <p:ext uri="{BB962C8B-B14F-4D97-AF65-F5344CB8AC3E}">
        <p14:creationId xmlns:p14="http://schemas.microsoft.com/office/powerpoint/2010/main" val="28232725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480B2-0347-0147-6484-CB7C0C98DF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78B400-BACB-AE2D-62B3-0672518FE268}"/>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E6A56066-4C22-F547-B213-2B9B212608B3}"/>
              </a:ext>
            </a:extLst>
          </p:cNvPr>
          <p:cNvSpPr>
            <a:spLocks noGrp="1"/>
          </p:cNvSpPr>
          <p:nvPr>
            <p:ph type="body" idx="1"/>
          </p:nvPr>
        </p:nvSpPr>
        <p:spPr>
          <a:xfrm>
            <a:off x="685800" y="5865813"/>
            <a:ext cx="5486400" cy="4799012"/>
          </a:xfrm>
          <a:prstGeom prst="rect">
            <a:avLst/>
          </a:prstGeom>
        </p:spPr>
        <p:txBody>
          <a:bodyPr/>
          <a:lstStyle/>
          <a:p>
            <a:r>
              <a:rPr lang="en-US" dirty="0"/>
              <a:t>Second reason</a:t>
            </a:r>
            <a:endParaRPr lang="en-GB" dirty="0"/>
          </a:p>
        </p:txBody>
      </p:sp>
    </p:spTree>
    <p:extLst>
      <p:ext uri="{BB962C8B-B14F-4D97-AF65-F5344CB8AC3E}">
        <p14:creationId xmlns:p14="http://schemas.microsoft.com/office/powerpoint/2010/main" val="10259759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Up top, Checkout, Catalog, and Account are one app, so any team can import from any other part. The dashed lines are those reaches — they look like normal imports, so nobody notices them in review. Down below, each part ships separately, so using Catalog's code means adding a dependency or calling an API. That is a real change in a real file, and a reviewer will see it. Before, crossing a boundary was invisible. After, it is visible. </a:t>
            </a:r>
          </a:p>
          <a:p>
            <a:endParaRPr lang="en-US" dirty="0"/>
          </a:p>
          <a:p>
            <a:r>
              <a:rPr lang="en-US" dirty="0"/>
              <a:t>What you can do here is a shared library.</a:t>
            </a:r>
          </a:p>
        </p:txBody>
      </p:sp>
    </p:spTree>
    <p:extLst>
      <p:ext uri="{BB962C8B-B14F-4D97-AF65-F5344CB8AC3E}">
        <p14:creationId xmlns:p14="http://schemas.microsoft.com/office/powerpoint/2010/main" val="38896813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A92F6-6578-1D28-7844-337ACD0A37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FDA50D-8E9C-8787-3767-F6A995568A93}"/>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9EA5E55-6DC6-A1B1-0CE4-0AA4473B1AAC}"/>
              </a:ext>
            </a:extLst>
          </p:cNvPr>
          <p:cNvSpPr>
            <a:spLocks noGrp="1"/>
          </p:cNvSpPr>
          <p:nvPr>
            <p:ph type="body" idx="1"/>
          </p:nvPr>
        </p:nvSpPr>
        <p:spPr>
          <a:xfrm>
            <a:off x="685800" y="5865813"/>
            <a:ext cx="5486400" cy="4799012"/>
          </a:xfrm>
          <a:prstGeom prst="rect">
            <a:avLst/>
          </a:prstGeom>
        </p:spPr>
        <p:txBody>
          <a:bodyPr/>
          <a:lstStyle/>
          <a:p>
            <a:r>
              <a:rPr lang="en-US" dirty="0"/>
              <a:t>Third reason</a:t>
            </a:r>
            <a:endParaRPr lang="en-GB" dirty="0"/>
          </a:p>
        </p:txBody>
      </p:sp>
    </p:spTree>
    <p:extLst>
      <p:ext uri="{BB962C8B-B14F-4D97-AF65-F5344CB8AC3E}">
        <p14:creationId xmlns:p14="http://schemas.microsoft.com/office/powerpoint/2010/main" val="5601885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people underrate. It isn't about total lines of code — it's about how much of the system a person must hold in their head before they can safely change one line of it.</a:t>
            </a:r>
            <a:endParaRPr lang="en-GB" dirty="0"/>
          </a:p>
        </p:txBody>
      </p:sp>
    </p:spTree>
    <p:extLst>
      <p:ext uri="{BB962C8B-B14F-4D97-AF65-F5344CB8AC3E}">
        <p14:creationId xmlns:p14="http://schemas.microsoft.com/office/powerpoint/2010/main" val="32781999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9F887-00EC-F6D6-6E74-7210AAE8D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64D492-9C48-B97E-9725-E950E22EAA19}"/>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A5FFBA45-FE90-16C8-2B3F-345A708DB695}"/>
              </a:ext>
            </a:extLst>
          </p:cNvPr>
          <p:cNvSpPr>
            <a:spLocks noGrp="1"/>
          </p:cNvSpPr>
          <p:nvPr>
            <p:ph type="body" idx="1"/>
          </p:nvPr>
        </p:nvSpPr>
        <p:spPr>
          <a:xfrm>
            <a:off x="685800" y="5865813"/>
            <a:ext cx="5486400" cy="4799012"/>
          </a:xfrm>
          <a:prstGeom prst="rect">
            <a:avLst/>
          </a:prstGeom>
        </p:spPr>
        <p:txBody>
          <a:bodyPr/>
          <a:lstStyle/>
          <a:p>
            <a:r>
              <a:rPr lang="en-US" dirty="0"/>
              <a:t>Last, but not the least. This is actually my first experience in micro-frontend when we were removing little pieces of Angular version 1, which is plain JavaScript, to the latest version of Angular.</a:t>
            </a:r>
            <a:endParaRPr lang="en-GB" dirty="0"/>
          </a:p>
        </p:txBody>
      </p:sp>
    </p:spTree>
    <p:extLst>
      <p:ext uri="{BB962C8B-B14F-4D97-AF65-F5344CB8AC3E}">
        <p14:creationId xmlns:p14="http://schemas.microsoft.com/office/powerpoint/2010/main" val="35296758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that stands on its own even when the others don't apply. The key detail is that both stacks serve real traffic the entire time, which is what makes it reversible.</a:t>
            </a:r>
            <a:endParaRPr lang="en-GB" dirty="0"/>
          </a:p>
        </p:txBody>
      </p:sp>
    </p:spTree>
    <p:extLst>
      <p:ext uri="{BB962C8B-B14F-4D97-AF65-F5344CB8AC3E}">
        <p14:creationId xmlns:p14="http://schemas.microsoft.com/office/powerpoint/2010/main" val="36315776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This is a healthcare app. With some patient records, prescriptions, analytics.</a:t>
            </a:r>
          </a:p>
        </p:txBody>
      </p:sp>
    </p:spTree>
    <p:extLst>
      <p:ext uri="{BB962C8B-B14F-4D97-AF65-F5344CB8AC3E}">
        <p14:creationId xmlns:p14="http://schemas.microsoft.com/office/powerpoint/2010/main" val="12264222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a diagram of the demo app. It is a running healthcare shell. </a:t>
            </a:r>
          </a:p>
          <a:p>
            <a:r>
              <a:rPr lang="en-US" dirty="0"/>
              <a:t>The host is on port 3000. Home is on 3004 and loads instantly. </a:t>
            </a:r>
          </a:p>
          <a:p>
            <a:r>
              <a:rPr lang="en-US" dirty="0"/>
              <a:t>Records is on 3001 and is eagerly preloaded. </a:t>
            </a:r>
          </a:p>
          <a:p>
            <a:r>
              <a:rPr lang="en-US" dirty="0"/>
              <a:t>Prescriptions is on 3002 and suspense on demand. </a:t>
            </a:r>
          </a:p>
          <a:p>
            <a:r>
              <a:rPr lang="en-US" dirty="0"/>
              <a:t>Analytics is on 3003 and does the same.</a:t>
            </a:r>
          </a:p>
          <a:p>
            <a:endParaRPr lang="en-US" dirty="0"/>
          </a:p>
          <a:p>
            <a:r>
              <a:rPr lang="en-US" dirty="0"/>
              <a:t>Five independent React apps. Each has its own bundler config, its own dev server, and its own test suite. They compose at runtime through Module Federation. React 19. </a:t>
            </a:r>
            <a:r>
              <a:rPr lang="en-US" dirty="0" err="1"/>
              <a:t>Rspack</a:t>
            </a:r>
            <a:r>
              <a:rPr lang="en-US" dirty="0"/>
              <a:t> 2.1.</a:t>
            </a:r>
          </a:p>
          <a:p>
            <a:endParaRPr lang="en-US" dirty="0"/>
          </a:p>
          <a:p>
            <a:r>
              <a:rPr lang="en-US" dirty="0"/>
              <a:t>This module federation gives your teams better developer experience. And suspense fallbacks gives your visitors better user experience. We are going to prove both, live, in the same architecture.</a:t>
            </a:r>
          </a:p>
          <a:p>
            <a:endParaRPr lang="en-US" dirty="0"/>
          </a:p>
          <a:p>
            <a:endParaRPr lang="en-GB" dirty="0"/>
          </a:p>
        </p:txBody>
      </p:sp>
    </p:spTree>
    <p:extLst>
      <p:ext uri="{BB962C8B-B14F-4D97-AF65-F5344CB8AC3E}">
        <p14:creationId xmlns:p14="http://schemas.microsoft.com/office/powerpoint/2010/main" val="139690109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pPr rtl="0"/>
            <a:r>
              <a:rPr lang="en-US" dirty="0"/>
              <a:t>The different ports are just a local dev artifact — three dev servers can't all bind port 3000 on one laptop — and they vanish on deploy. In production the browser only ever sees </a:t>
            </a:r>
            <a:r>
              <a:rPr lang="en-US" sz="1200" kern="1200" dirty="0">
                <a:solidFill>
                  <a:schemeClr val="tx1"/>
                </a:solidFill>
                <a:latin typeface="+mn-lt"/>
                <a:ea typeface="+mn-ea"/>
                <a:cs typeface="+mn-cs"/>
              </a:rPr>
              <a:t>acme.com</a:t>
            </a:r>
            <a:r>
              <a:rPr lang="en-US" dirty="0"/>
              <a:t>, with a router at the edge (a </a:t>
            </a:r>
            <a:r>
              <a:rPr lang="en-US" dirty="0" err="1"/>
              <a:t>Vercel</a:t>
            </a:r>
            <a:r>
              <a:rPr lang="en-US" dirty="0"/>
              <a:t> rewrite, a CloudFront behavior, an nginx </a:t>
            </a:r>
            <a:r>
              <a:rPr lang="en-US" sz="1200" kern="1200" dirty="0" err="1">
                <a:solidFill>
                  <a:schemeClr val="tx1"/>
                </a:solidFill>
                <a:latin typeface="+mn-lt"/>
                <a:ea typeface="+mn-ea"/>
                <a:cs typeface="+mn-cs"/>
              </a:rPr>
              <a:t>proxy_pass</a:t>
            </a:r>
            <a:r>
              <a:rPr lang="en-US" dirty="0"/>
              <a:t>, a Cloudflare Worker) mapping each path to the host where that team deploys, so users stay on one origin while each team still ships on its own schedule. Those deploy targets are free: every platform hands you a hostname, and subdomains of a domain you already own are just DNS records, not purchases. One domain, three paths, nothing extra to buy.</a:t>
            </a:r>
          </a:p>
        </p:txBody>
      </p:sp>
    </p:spTree>
    <p:extLst>
      <p:ext uri="{BB962C8B-B14F-4D97-AF65-F5344CB8AC3E}">
        <p14:creationId xmlns:p14="http://schemas.microsoft.com/office/powerpoint/2010/main" val="1080895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Module Federation is for developers and teams. Gives you independent builds and independent deploys. Onboarding improvements.</a:t>
            </a:r>
          </a:p>
          <a:p>
            <a:endParaRPr lang="en-US" dirty="0"/>
          </a:p>
          <a:p>
            <a:r>
              <a:rPr lang="en-US" dirty="0"/>
              <a:t>Suspense and skeletons are for end users. They experience perceived instant load and no blank screens at runtime.</a:t>
            </a:r>
          </a:p>
          <a:p>
            <a:endParaRPr lang="en-GB" dirty="0"/>
          </a:p>
        </p:txBody>
      </p:sp>
    </p:spTree>
    <p:extLst>
      <p:ext uri="{BB962C8B-B14F-4D97-AF65-F5344CB8AC3E}">
        <p14:creationId xmlns:p14="http://schemas.microsoft.com/office/powerpoint/2010/main" val="4471152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You can have one without the other. Plenty of teams do. You can federate four remotes and still show a blank screen and a spinner every time someone clicks a tab. That is slow user experience even when team ownership is solid.</a:t>
            </a:r>
          </a:p>
          <a:p>
            <a:endParaRPr lang="en-US" dirty="0"/>
          </a:p>
          <a:p>
            <a:r>
              <a:rPr lang="en-US" dirty="0"/>
              <a:t>With Suspense, the user clicks a tab, a skeleton appears immediately, and the content resolves when it is ready. Each remote owns its own loading choreography.</a:t>
            </a:r>
          </a:p>
          <a:p>
            <a:endParaRPr lang="en-GB" dirty="0"/>
          </a:p>
        </p:txBody>
      </p:sp>
    </p:spTree>
    <p:extLst>
      <p:ext uri="{BB962C8B-B14F-4D97-AF65-F5344CB8AC3E}">
        <p14:creationId xmlns:p14="http://schemas.microsoft.com/office/powerpoint/2010/main" val="26720934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shape of the app. One shell on port 3000. It owns navigation, the router, the theme, and a status strip that reads Instant, Eager, or Streaming.</a:t>
            </a:r>
          </a:p>
          <a:p>
            <a:r>
              <a:rPr lang="en-US" dirty="0"/>
              <a:t>Every remote is wrapped the same way. An error boundary. Then Suspense with a skeleton fallback. Then the remote module itself.</a:t>
            </a:r>
          </a:p>
          <a:p>
            <a:endParaRPr lang="en-US" dirty="0"/>
          </a:p>
          <a:p>
            <a:r>
              <a:rPr lang="en-US" dirty="0"/>
              <a:t>Four remotes hang off that shell. Home on 3004, instant. Records on 3001, eager. Prescriptions on 3002, streamed. Analytics on 3003, streamed. Not every module should load the same way. Content priority decides the strategy.</a:t>
            </a:r>
          </a:p>
          <a:p>
            <a:endParaRPr lang="en-GB" dirty="0"/>
          </a:p>
        </p:txBody>
      </p:sp>
    </p:spTree>
    <p:extLst>
      <p:ext uri="{BB962C8B-B14F-4D97-AF65-F5344CB8AC3E}">
        <p14:creationId xmlns:p14="http://schemas.microsoft.com/office/powerpoint/2010/main" val="189956842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For the rest, the nav link fires on mouse enter. When the cursor touches Prescriptions or Analytics, the chunk starts fetching in the background. Click, and it is often already cached.</a:t>
            </a:r>
          </a:p>
          <a:p>
            <a:endParaRPr lang="en-US" dirty="0"/>
          </a:p>
          <a:p>
            <a:r>
              <a:rPr lang="en-US" dirty="0"/>
              <a:t>Instant means the landing page fetches lazily, with no streaming delay. </a:t>
            </a:r>
          </a:p>
          <a:p>
            <a:endParaRPr lang="en-US" dirty="0"/>
          </a:p>
          <a:p>
            <a:r>
              <a:rPr lang="en-US" dirty="0"/>
              <a:t>Eager means preloaded the moment the shell mounts. </a:t>
            </a:r>
          </a:p>
          <a:p>
            <a:endParaRPr lang="en-US" dirty="0"/>
          </a:p>
          <a:p>
            <a:r>
              <a:rPr lang="en-US" dirty="0"/>
              <a:t>Hover means prefetched when the user aims at a tab. That is why Records feels instant even though it is a separate app on a separate server. The work happened at mount.</a:t>
            </a:r>
          </a:p>
          <a:p>
            <a:endParaRPr lang="en-GB" dirty="0"/>
          </a:p>
        </p:txBody>
      </p:sp>
    </p:spTree>
    <p:extLst>
      <p:ext uri="{BB962C8B-B14F-4D97-AF65-F5344CB8AC3E}">
        <p14:creationId xmlns:p14="http://schemas.microsoft.com/office/powerpoint/2010/main" val="36021755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Prescriptions and Analytics are streamed. They load on demand, behind per-module skeletons.</a:t>
            </a:r>
          </a:p>
          <a:p>
            <a:endParaRPr lang="en-US" dirty="0"/>
          </a:p>
          <a:p>
            <a:r>
              <a:rPr lang="en-US" dirty="0"/>
              <a:t>Every strategy still gets three layers of resilience. A catch on lazy, so an unreachable remote becomes a fallback instead of a white screen. Suspense, so a loading remote shows its own skeleton. An error boundary, so a runtime crash in one remote does not take down the app.</a:t>
            </a:r>
          </a:p>
          <a:p>
            <a:endParaRPr lang="en-GB" dirty="0"/>
          </a:p>
        </p:txBody>
      </p:sp>
    </p:spTree>
    <p:extLst>
      <p:ext uri="{BB962C8B-B14F-4D97-AF65-F5344CB8AC3E}">
        <p14:creationId xmlns:p14="http://schemas.microsoft.com/office/powerpoint/2010/main" val="404077764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So, this is the flow if I click the Prescriptions menu which will navigate to the Prescriptions app.</a:t>
            </a:r>
          </a:p>
        </p:txBody>
      </p:sp>
    </p:spTree>
    <p:extLst>
      <p:ext uri="{BB962C8B-B14F-4D97-AF65-F5344CB8AC3E}">
        <p14:creationId xmlns:p14="http://schemas.microsoft.com/office/powerpoint/2010/main" val="8748135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People ask why we wrap eager modules in </a:t>
            </a:r>
            <a:r>
              <a:rPr lang="en-US" sz="1200" kern="1200" dirty="0">
                <a:solidFill>
                  <a:schemeClr val="tx1"/>
                </a:solidFill>
                <a:latin typeface="+mn-lt"/>
                <a:ea typeface="+mn-ea"/>
                <a:cs typeface="+mn-cs"/>
              </a:rPr>
              <a:t>lazy()</a:t>
            </a:r>
            <a:r>
              <a:rPr lang="en-US" dirty="0"/>
              <a:t>. It's not that static imports are impossible — they work, because </a:t>
            </a:r>
            <a:r>
              <a:rPr lang="en-US" sz="1200" kern="1200" dirty="0" err="1">
                <a:solidFill>
                  <a:schemeClr val="tx1"/>
                </a:solidFill>
                <a:latin typeface="+mn-lt"/>
                <a:ea typeface="+mn-ea"/>
                <a:cs typeface="+mn-cs"/>
              </a:rPr>
              <a:t>index.tsx</a:t>
            </a:r>
            <a:r>
              <a:rPr lang="en-US" dirty="0" err="1"/>
              <a:t>'s</a:t>
            </a:r>
            <a:r>
              <a:rPr lang="en-US" dirty="0"/>
              <a:t> dynamic import already resolved the shared scope. It's that a static import makes the remote block first paint, and leaves nowhere to catch a failed remote. So we fire </a:t>
            </a:r>
            <a:r>
              <a:rPr lang="en-US" sz="1200" kern="1200" dirty="0">
                <a:solidFill>
                  <a:schemeClr val="tx1"/>
                </a:solidFill>
                <a:latin typeface="+mn-lt"/>
                <a:ea typeface="+mn-ea"/>
                <a:cs typeface="+mn-cs"/>
              </a:rPr>
              <a:t>import()</a:t>
            </a:r>
            <a:r>
              <a:rPr lang="en-US" dirty="0"/>
              <a:t> at shell </a:t>
            </a:r>
            <a:r>
              <a:rPr lang="en-US" dirty="0" err="1"/>
              <a:t>init</a:t>
            </a:r>
            <a:r>
              <a:rPr lang="en-US" dirty="0"/>
              <a:t> to warm it, and </a:t>
            </a:r>
            <a:r>
              <a:rPr lang="en-US" sz="1200" kern="1200" dirty="0">
                <a:solidFill>
                  <a:schemeClr val="tx1"/>
                </a:solidFill>
                <a:latin typeface="+mn-lt"/>
                <a:ea typeface="+mn-ea"/>
                <a:cs typeface="+mn-cs"/>
              </a:rPr>
              <a:t>lazy()</a:t>
            </a:r>
            <a:r>
              <a:rPr lang="en-US" dirty="0"/>
              <a:t> resolves from the module registry instantly — while keeping the Suspense and </a:t>
            </a:r>
            <a:r>
              <a:rPr lang="en-US" dirty="0" err="1"/>
              <a:t>ErrorBoundary</a:t>
            </a:r>
            <a:r>
              <a:rPr lang="en-US" dirty="0"/>
              <a:t> per module.</a:t>
            </a:r>
          </a:p>
          <a:p>
            <a:endParaRPr lang="en-GB" dirty="0"/>
          </a:p>
        </p:txBody>
      </p:sp>
    </p:spTree>
    <p:extLst>
      <p:ext uri="{BB962C8B-B14F-4D97-AF65-F5344CB8AC3E}">
        <p14:creationId xmlns:p14="http://schemas.microsoft.com/office/powerpoint/2010/main" val="231685149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A health monitor that polls remoteEntry.js every five seconds. </a:t>
            </a:r>
          </a:p>
          <a:p>
            <a:r>
              <a:rPr lang="en-US" dirty="0"/>
              <a:t>Kill switches. </a:t>
            </a:r>
          </a:p>
          <a:p>
            <a:r>
              <a:rPr lang="en-US" dirty="0"/>
              <a:t>An A/B deployment ring. That panel is for the demo. I can take a module down in front of you and show you that the rest of the app keeps running. Basically, we are going to simulate </a:t>
            </a:r>
            <a:r>
              <a:rPr lang="en-US" sz="1200" i="1" dirty="0">
                <a:solidFill>
                  <a:schemeClr val="bg1">
                    <a:lumMod val="95000"/>
                  </a:schemeClr>
                </a:solidFill>
                <a:latin typeface="Instrument Serif" pitchFamily="34" charset="0"/>
                <a:ea typeface="Instrument Serif" pitchFamily="34" charset="-122"/>
              </a:rPr>
              <a:t>m</a:t>
            </a:r>
            <a:r>
              <a:rPr lang="en-US" sz="1200" i="1" dirty="0">
                <a:solidFill>
                  <a:schemeClr val="bg1">
                    <a:lumMod val="95000"/>
                  </a:schemeClr>
                </a:solidFill>
                <a:latin typeface="Instrument Serif" pitchFamily="34" charset="0"/>
                <a:ea typeface="Instrument Serif" pitchFamily="34" charset="-122"/>
                <a:cs typeface="Instrument Serif" pitchFamily="34" charset="-120"/>
              </a:rPr>
              <a:t>odule-level crashes, network failures, and bad deploys are isolated at the boundary. </a:t>
            </a:r>
          </a:p>
          <a:p>
            <a:r>
              <a:rPr lang="en-US" sz="1200" i="0" dirty="0">
                <a:solidFill>
                  <a:schemeClr val="bg1">
                    <a:lumMod val="95000"/>
                  </a:schemeClr>
                </a:solidFill>
                <a:latin typeface="Instrument Serif" pitchFamily="34" charset="0"/>
                <a:ea typeface="Instrument Serif" pitchFamily="34" charset="-122"/>
              </a:rPr>
              <a:t>Theming.</a:t>
            </a:r>
            <a:endParaRPr lang="en-US" i="0" dirty="0"/>
          </a:p>
        </p:txBody>
      </p:sp>
    </p:spTree>
    <p:extLst>
      <p:ext uri="{BB962C8B-B14F-4D97-AF65-F5344CB8AC3E}">
        <p14:creationId xmlns:p14="http://schemas.microsoft.com/office/powerpoint/2010/main" val="359950487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This is how you deal with client state management. I will show you more later and also something about server state management like </a:t>
            </a:r>
            <a:r>
              <a:rPr lang="en-GB" dirty="0" err="1"/>
              <a:t>TanStack</a:t>
            </a:r>
            <a:r>
              <a:rPr lang="en-GB" dirty="0"/>
              <a:t> Query.</a:t>
            </a:r>
          </a:p>
        </p:txBody>
      </p:sp>
    </p:spTree>
    <p:extLst>
      <p:ext uri="{BB962C8B-B14F-4D97-AF65-F5344CB8AC3E}">
        <p14:creationId xmlns:p14="http://schemas.microsoft.com/office/powerpoint/2010/main" val="3759391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Why events instead of a shared store? A shared store is a shared dependency. </a:t>
            </a:r>
          </a:p>
          <a:p>
            <a:endParaRPr lang="en-US" dirty="0"/>
          </a:p>
          <a:p>
            <a:r>
              <a:rPr lang="en-US" dirty="0"/>
              <a:t>There will be version coupling between teams if shared, while events survive independent deploys. They even survive framework diversity. For example, a Vue remote and a React remote can talk through the same window contract.</a:t>
            </a:r>
          </a:p>
          <a:p>
            <a:endParaRPr lang="en-US" dirty="0"/>
          </a:p>
          <a:p>
            <a:r>
              <a:rPr lang="en-US" dirty="0"/>
              <a:t>The payload is still a versioned contract. Keep it backward compatible. Each remote defines the same event shapes in its own types file by augmenting </a:t>
            </a:r>
            <a:r>
              <a:rPr lang="en-US" dirty="0" err="1"/>
              <a:t>WindowEventMap</a:t>
            </a:r>
            <a:r>
              <a:rPr lang="en-US" dirty="0"/>
              <a:t>. No shared package is required. </a:t>
            </a:r>
            <a:r>
              <a:rPr lang="en-US" dirty="0" err="1"/>
              <a:t>addEventListener</a:t>
            </a:r>
            <a:r>
              <a:rPr lang="en-US" dirty="0"/>
              <a:t> is fully typed.</a:t>
            </a:r>
          </a:p>
          <a:p>
            <a:endParaRPr lang="en-GB" dirty="0"/>
          </a:p>
        </p:txBody>
      </p:sp>
    </p:spTree>
    <p:extLst>
      <p:ext uri="{BB962C8B-B14F-4D97-AF65-F5344CB8AC3E}">
        <p14:creationId xmlns:p14="http://schemas.microsoft.com/office/powerpoint/2010/main" val="39748561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Each app owns its own store and its own query client — nothing is shared. For client state they agree on a typed event contract, and whoever owns the state is the one who broadcasts: </a:t>
            </a:r>
          </a:p>
          <a:p>
            <a:endParaRPr lang="en-US" dirty="0"/>
          </a:p>
          <a:p>
            <a:r>
              <a:rPr lang="en-US" dirty="0"/>
              <a:t>the shell owns theme and routing, so it broadcasts those; </a:t>
            </a:r>
          </a:p>
          <a:p>
            <a:endParaRPr lang="en-US" dirty="0"/>
          </a:p>
          <a:p>
            <a:r>
              <a:rPr lang="en-US" dirty="0" err="1"/>
              <a:t>addPrescription</a:t>
            </a:r>
            <a:r>
              <a:rPr lang="en-US" dirty="0"/>
              <a:t>.</a:t>
            </a:r>
          </a:p>
          <a:p>
            <a:endParaRPr lang="en-US" dirty="0"/>
          </a:p>
          <a:p>
            <a:r>
              <a:rPr lang="en-US" dirty="0" err="1"/>
              <a:t>showNotification</a:t>
            </a:r>
            <a:r>
              <a:rPr lang="en-US" dirty="0"/>
              <a:t>.</a:t>
            </a:r>
          </a:p>
          <a:p>
            <a:endParaRPr lang="en-US" dirty="0"/>
          </a:p>
          <a:p>
            <a:r>
              <a:rPr lang="en-US" dirty="0"/>
              <a:t>the counter belongs to nobody, so any module can. </a:t>
            </a:r>
          </a:p>
          <a:p>
            <a:endParaRPr lang="en-US" dirty="0"/>
          </a:p>
          <a:p>
            <a:r>
              <a:rPr lang="en-US" dirty="0"/>
              <a:t>For server state, like </a:t>
            </a:r>
            <a:r>
              <a:rPr lang="en-US" dirty="0" err="1"/>
              <a:t>TanStack</a:t>
            </a:r>
            <a:r>
              <a:rPr lang="en-US" dirty="0"/>
              <a:t> Query, there's no syncing at all — every app just fetches, because the API is already the shared state.</a:t>
            </a:r>
            <a:endParaRPr lang="en-GB" dirty="0"/>
          </a:p>
        </p:txBody>
      </p:sp>
    </p:spTree>
    <p:extLst>
      <p:ext uri="{BB962C8B-B14F-4D97-AF65-F5344CB8AC3E}">
        <p14:creationId xmlns:p14="http://schemas.microsoft.com/office/powerpoint/2010/main" val="98312696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Theming is a cross-cutting concern, and the shell owns it.</a:t>
            </a:r>
          </a:p>
          <a:p>
            <a:r>
              <a:rPr lang="en-US" dirty="0"/>
              <a:t>The shell persists the choice to local storage. It applies CSS variables to the document element. It exposes a small bridge on window so a remote can read or set the theme without importing host code. And it broadcasts a theme-change event.</a:t>
            </a:r>
          </a:p>
          <a:p>
            <a:endParaRPr lang="en-GB" dirty="0"/>
          </a:p>
        </p:txBody>
      </p:sp>
    </p:spTree>
    <p:extLst>
      <p:ext uri="{BB962C8B-B14F-4D97-AF65-F5344CB8AC3E}">
        <p14:creationId xmlns:p14="http://schemas.microsoft.com/office/powerpoint/2010/main" val="272897247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Seven things to take with you.</a:t>
            </a:r>
          </a:p>
          <a:p>
            <a:endParaRPr lang="en-US" dirty="0"/>
          </a:p>
          <a:p>
            <a:r>
              <a:rPr lang="en-US" dirty="0"/>
              <a:t>One. Micro-frontends solve a people problem. Adopt this when your team is growing and the monolith cannot keep up. And independent modules let independent teams ship without blocking each other. Rember the team size is the signal, not bundle size.</a:t>
            </a:r>
          </a:p>
          <a:p>
            <a:endParaRPr lang="en-US" dirty="0"/>
          </a:p>
          <a:p>
            <a:r>
              <a:rPr lang="en-US" dirty="0"/>
              <a:t>Two. Suspense fallbacks cover load UX. Module Federation covers team DX. You want both. This demo runs both together.</a:t>
            </a:r>
          </a:p>
          <a:p>
            <a:endParaRPr lang="en-US" dirty="0"/>
          </a:p>
          <a:p>
            <a:r>
              <a:rPr lang="en-US" dirty="0"/>
              <a:t>Three. Prefer events over shared state. A custom event on window gives you decoupled communication that survives independent deploys. Keep the payload backward compatible.</a:t>
            </a:r>
          </a:p>
          <a:p>
            <a:endParaRPr lang="en-US" dirty="0"/>
          </a:p>
          <a:p>
            <a:r>
              <a:rPr lang="en-US" dirty="0"/>
              <a:t>Four. The host owns routing. Remotes can ask for navigation with </a:t>
            </a:r>
            <a:r>
              <a:rPr lang="en-US" dirty="0" err="1"/>
              <a:t>navigateToModule</a:t>
            </a:r>
            <a:r>
              <a:rPr lang="en-US" dirty="0"/>
              <a:t>. Only the shell mutates router state.</a:t>
            </a:r>
          </a:p>
          <a:p>
            <a:endParaRPr lang="en-US" dirty="0"/>
          </a:p>
          <a:p>
            <a:r>
              <a:rPr lang="en-US" dirty="0"/>
              <a:t>Five. Ship fault isolation on purpose. A catch on every lazy import, plus an error boundary per module, keeps one broken remote from taking down the app.</a:t>
            </a:r>
          </a:p>
          <a:p>
            <a:endParaRPr lang="en-US" dirty="0"/>
          </a:p>
          <a:p>
            <a:r>
              <a:rPr lang="en-US" dirty="0"/>
              <a:t>Six. </a:t>
            </a:r>
            <a:r>
              <a:rPr lang="en-US" dirty="0" err="1"/>
              <a:t>Rspack</a:t>
            </a:r>
            <a:r>
              <a:rPr lang="en-US" dirty="0"/>
              <a:t> keeps the </a:t>
            </a:r>
            <a:r>
              <a:rPr lang="en-US" dirty="0" err="1"/>
              <a:t>monorepo</a:t>
            </a:r>
            <a:r>
              <a:rPr lang="en-US" dirty="0"/>
              <a:t> fast. Sub-second hot reload across four applications. Module Federation is built in. </a:t>
            </a:r>
            <a:r>
              <a:rPr lang="en-US" dirty="0" err="1"/>
              <a:t>Rspack</a:t>
            </a:r>
            <a:r>
              <a:rPr lang="en-US" dirty="0"/>
              <a:t> ships the Rust React Compiler, and persistent caching for faster builds and faster restarts.</a:t>
            </a:r>
          </a:p>
          <a:p>
            <a:endParaRPr lang="en-US" dirty="0"/>
          </a:p>
          <a:p>
            <a:r>
              <a:rPr lang="en-US" dirty="0"/>
              <a:t>Seven. Match load strategy to content priority. Instant for the landing page. Eager for high-value content. Suspense for secondary modules, with skeletons. Do not load every remote the same way.</a:t>
            </a:r>
          </a:p>
          <a:p>
            <a:endParaRPr lang="en-GB" dirty="0"/>
          </a:p>
        </p:txBody>
      </p:sp>
    </p:spTree>
    <p:extLst>
      <p:ext uri="{BB962C8B-B14F-4D97-AF65-F5344CB8AC3E}">
        <p14:creationId xmlns:p14="http://schemas.microsoft.com/office/powerpoint/2010/main" val="6938305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And before I end this presentation, I have 3 things here I want to share. This is important because of our work has changed from writing code to </a:t>
            </a:r>
            <a:r>
              <a:rPr lang="en-GB" dirty="0" err="1"/>
              <a:t>vibecoding</a:t>
            </a:r>
            <a:r>
              <a:rPr lang="en-GB" dirty="0"/>
              <a:t> using AI agents making us 20x engineers now.</a:t>
            </a:r>
          </a:p>
        </p:txBody>
      </p:sp>
    </p:spTree>
    <p:extLst>
      <p:ext uri="{BB962C8B-B14F-4D97-AF65-F5344CB8AC3E}">
        <p14:creationId xmlns:p14="http://schemas.microsoft.com/office/powerpoint/2010/main" val="206942372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GB" dirty="0"/>
              <a:t>First is, you can nest AGENTS.md files to your different micro frontend apps that’s good for your AI agents.</a:t>
            </a:r>
          </a:p>
        </p:txBody>
      </p:sp>
    </p:spTree>
    <p:extLst>
      <p:ext uri="{BB962C8B-B14F-4D97-AF65-F5344CB8AC3E}">
        <p14:creationId xmlns:p14="http://schemas.microsoft.com/office/powerpoint/2010/main" val="42030367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FA9EC-F1C4-8475-4C34-982AA7BE6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28C641-A123-4973-51FA-0665B2813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824122-D8E6-13A2-EF59-883AC6891774}"/>
              </a:ext>
            </a:extLst>
          </p:cNvPr>
          <p:cNvSpPr>
            <a:spLocks noGrp="1"/>
          </p:cNvSpPr>
          <p:nvPr>
            <p:ph type="body" idx="1"/>
          </p:nvPr>
        </p:nvSpPr>
        <p:spPr/>
        <p:txBody>
          <a:bodyPr/>
          <a:lstStyle/>
          <a:p>
            <a:r>
              <a:rPr lang="en-US" dirty="0"/>
              <a:t>Knowledge atrophy, or cognitive atrophy, is the gradual decline of memory, critical thinking, and problem-solving skills caused by overreliance on AI tools like LLMs for mental work. </a:t>
            </a:r>
            <a:br>
              <a:rPr lang="en-US" dirty="0"/>
            </a:br>
            <a:br>
              <a:rPr lang="en-US" dirty="0"/>
            </a:br>
            <a:r>
              <a:rPr lang="en-US" dirty="0"/>
              <a:t>Keep learning the technical details of things that you are building. This will help you in the future in guiding agents to the right directions. It will save money because of lesser prompting. And lastly it will improve your skills</a:t>
            </a:r>
          </a:p>
        </p:txBody>
      </p:sp>
      <p:sp>
        <p:nvSpPr>
          <p:cNvPr id="4" name="Slide Number Placeholder 3">
            <a:extLst>
              <a:ext uri="{FF2B5EF4-FFF2-40B4-BE49-F238E27FC236}">
                <a16:creationId xmlns:a16="http://schemas.microsoft.com/office/drawing/2014/main" id="{876E6526-0A27-7059-0E06-088E9428FC92}"/>
              </a:ext>
            </a:extLst>
          </p:cNvPr>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348623072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GB" dirty="0"/>
          </a:p>
        </p:txBody>
      </p:sp>
    </p:spTree>
    <p:extLst>
      <p:ext uri="{BB962C8B-B14F-4D97-AF65-F5344CB8AC3E}">
        <p14:creationId xmlns:p14="http://schemas.microsoft.com/office/powerpoint/2010/main" val="92260785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a:p>
        </p:txBody>
      </p:sp>
    </p:spTree>
    <p:extLst>
      <p:ext uri="{BB962C8B-B14F-4D97-AF65-F5344CB8AC3E}">
        <p14:creationId xmlns:p14="http://schemas.microsoft.com/office/powerpoint/2010/main" val="32236914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39887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B7053B5D-29EA-AE09-763F-669E2CB6A66B}"/>
              </a:ext>
            </a:extLst>
          </p:cNvPr>
          <p:cNvSpPr/>
          <p:nvPr/>
        </p:nvSpPr>
        <p:spPr>
          <a:xfrm>
            <a:off x="548640" y="0"/>
            <a:ext cx="11064240" cy="4184073"/>
          </a:xfrm>
          <a:prstGeom prst="rect">
            <a:avLst/>
          </a:prstGeom>
          <a:noFill/>
          <a:ln/>
        </p:spPr>
        <p:txBody>
          <a:bodyPr wrap="square" rtlCol="0" anchor="ctr"/>
          <a:lstStyle/>
          <a:p>
            <a:r>
              <a:rPr lang="en-US" sz="6600" dirty="0">
                <a:solidFill>
                  <a:schemeClr val="tx1">
                    <a:lumMod val="95000"/>
                    <a:lumOff val="5000"/>
                  </a:schemeClr>
                </a:solidFill>
                <a:latin typeface="Instrument Serif" pitchFamily="34" charset="0"/>
                <a:ea typeface="Instrument Serif" pitchFamily="34" charset="-122"/>
                <a:cs typeface="Instrument Serif" pitchFamily="34" charset="-120"/>
              </a:rPr>
              <a:t>React </a:t>
            </a:r>
            <a:r>
              <a:rPr lang="en-US" sz="6600">
                <a:solidFill>
                  <a:schemeClr val="tx1">
                    <a:lumMod val="95000"/>
                    <a:lumOff val="5000"/>
                  </a:schemeClr>
                </a:solidFill>
                <a:latin typeface="Instrument Serif" pitchFamily="34" charset="0"/>
                <a:ea typeface="Instrument Serif" pitchFamily="34" charset="-122"/>
                <a:cs typeface="Instrument Serif" pitchFamily="34" charset="-120"/>
              </a:rPr>
              <a:t>19 Suspense </a:t>
            </a:r>
            <a:r>
              <a:rPr lang="en-US" sz="6600" dirty="0">
                <a:solidFill>
                  <a:schemeClr val="tx1">
                    <a:lumMod val="95000"/>
                    <a:lumOff val="5000"/>
                  </a:schemeClr>
                </a:solidFill>
                <a:latin typeface="Instrument Serif" pitchFamily="34" charset="0"/>
                <a:ea typeface="Instrument Serif" pitchFamily="34" charset="-122"/>
                <a:cs typeface="Instrument Serif" pitchFamily="34" charset="-120"/>
              </a:rPr>
              <a:t>Meets Module Federation</a:t>
            </a:r>
            <a:endParaRPr lang="en-US" sz="6600" dirty="0">
              <a:solidFill>
                <a:schemeClr val="tx1">
                  <a:lumMod val="95000"/>
                  <a:lumOff val="5000"/>
                </a:schemeClr>
              </a:solidFill>
            </a:endParaRPr>
          </a:p>
        </p:txBody>
      </p:sp>
      <p:sp>
        <p:nvSpPr>
          <p:cNvPr id="5" name="Text 5">
            <a:extLst>
              <a:ext uri="{FF2B5EF4-FFF2-40B4-BE49-F238E27FC236}">
                <a16:creationId xmlns:a16="http://schemas.microsoft.com/office/drawing/2014/main" id="{20F4622D-BBA0-5770-FF0A-7D2BEDE063C9}"/>
              </a:ext>
            </a:extLst>
          </p:cNvPr>
          <p:cNvSpPr/>
          <p:nvPr/>
        </p:nvSpPr>
        <p:spPr>
          <a:xfrm>
            <a:off x="640080" y="5486400"/>
            <a:ext cx="10972800" cy="1001486"/>
          </a:xfrm>
          <a:prstGeom prst="rect">
            <a:avLst/>
          </a:prstGeom>
          <a:noFill/>
          <a:ln/>
        </p:spPr>
        <p:txBody>
          <a:bodyPr wrap="square" rtlCol="0" anchor="ctr"/>
          <a:lstStyle/>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@DevlinDuldulao</a:t>
            </a:r>
          </a:p>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Senior consultant at SoftwareOne Norway</a:t>
            </a:r>
          </a:p>
        </p:txBody>
      </p:sp>
    </p:spTree>
    <p:extLst>
      <p:ext uri="{BB962C8B-B14F-4D97-AF65-F5344CB8AC3E}">
        <p14:creationId xmlns:p14="http://schemas.microsoft.com/office/powerpoint/2010/main" val="1762370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1651"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7418" y="30185"/>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1314"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E014679-5AD2-B7E1-FFC9-B9A93814AA10}"/>
              </a:ext>
            </a:extLst>
          </p:cNvPr>
          <p:cNvSpPr txBox="1"/>
          <p:nvPr/>
        </p:nvSpPr>
        <p:spPr>
          <a:xfrm>
            <a:off x="1324420" y="2721114"/>
            <a:ext cx="9539984" cy="707886"/>
          </a:xfrm>
          <a:prstGeom prst="rect">
            <a:avLst/>
          </a:prstGeom>
          <a:noFill/>
        </p:spPr>
        <p:txBody>
          <a:bodyPr wrap="none" rtlCol="0">
            <a:spAutoFit/>
          </a:bodyPr>
          <a:lstStyle/>
          <a:p>
            <a:pPr algn="ctr"/>
            <a:r>
              <a:rPr lang="en-US" sz="4000" dirty="0"/>
              <a:t>What are we solving here in </a:t>
            </a:r>
            <a:r>
              <a:rPr lang="en-US" sz="4000" dirty="0" err="1"/>
              <a:t>microfrontends</a:t>
            </a:r>
            <a:r>
              <a:rPr lang="en-US" sz="4000" dirty="0"/>
              <a:t>?</a:t>
            </a:r>
            <a:endParaRPr lang="en-GB" sz="4000" dirty="0"/>
          </a:p>
        </p:txBody>
      </p:sp>
    </p:spTree>
    <p:extLst>
      <p:ext uri="{BB962C8B-B14F-4D97-AF65-F5344CB8AC3E}">
        <p14:creationId xmlns:p14="http://schemas.microsoft.com/office/powerpoint/2010/main" val="6832043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2C1F190-E834-235E-DD1A-000447BDF89A}"/>
              </a:ext>
            </a:extLst>
          </p:cNvPr>
          <p:cNvSpPr txBox="1"/>
          <p:nvPr/>
        </p:nvSpPr>
        <p:spPr>
          <a:xfrm>
            <a:off x="522514" y="391886"/>
            <a:ext cx="9118074" cy="646331"/>
          </a:xfrm>
          <a:prstGeom prst="rect">
            <a:avLst/>
          </a:prstGeom>
          <a:noFill/>
        </p:spPr>
        <p:txBody>
          <a:bodyPr wrap="none" rtlCol="0">
            <a:spAutoFit/>
          </a:bodyPr>
          <a:lstStyle/>
          <a:p>
            <a:r>
              <a:rPr lang="en-US" sz="3600" dirty="0"/>
              <a:t>Independent deploys, and a smaller blast radius</a:t>
            </a:r>
            <a:endParaRPr lang="en-GB" sz="3600" dirty="0"/>
          </a:p>
        </p:txBody>
      </p:sp>
    </p:spTree>
    <p:extLst>
      <p:ext uri="{BB962C8B-B14F-4D97-AF65-F5344CB8AC3E}">
        <p14:creationId xmlns:p14="http://schemas.microsoft.com/office/powerpoint/2010/main" val="14011853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704CADF-316C-61D9-61BD-A1F136C01873}"/>
              </a:ext>
            </a:extLst>
          </p:cNvPr>
          <p:cNvPicPr>
            <a:picLocks noChangeAspect="1"/>
          </p:cNvPicPr>
          <p:nvPr/>
        </p:nvPicPr>
        <p:blipFill>
          <a:blip r:embed="rId3"/>
          <a:stretch>
            <a:fillRect/>
          </a:stretch>
        </p:blipFill>
        <p:spPr>
          <a:xfrm>
            <a:off x="819028" y="0"/>
            <a:ext cx="10550769" cy="6858000"/>
          </a:xfrm>
          <a:prstGeom prst="rect">
            <a:avLst/>
          </a:prstGeom>
        </p:spPr>
      </p:pic>
    </p:spTree>
    <p:extLst>
      <p:ext uri="{BB962C8B-B14F-4D97-AF65-F5344CB8AC3E}">
        <p14:creationId xmlns:p14="http://schemas.microsoft.com/office/powerpoint/2010/main" val="9770059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CDCF2-6C93-ECFA-136A-D291D018D0B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2F6432A-EC7A-50D9-539A-ECCE5FD7C886}"/>
              </a:ext>
            </a:extLst>
          </p:cNvPr>
          <p:cNvSpPr txBox="1"/>
          <p:nvPr/>
        </p:nvSpPr>
        <p:spPr>
          <a:xfrm>
            <a:off x="522514" y="391886"/>
            <a:ext cx="8292014" cy="646331"/>
          </a:xfrm>
          <a:prstGeom prst="rect">
            <a:avLst/>
          </a:prstGeom>
          <a:noFill/>
        </p:spPr>
        <p:txBody>
          <a:bodyPr wrap="none" rtlCol="0">
            <a:spAutoFit/>
          </a:bodyPr>
          <a:lstStyle/>
          <a:p>
            <a:r>
              <a:rPr lang="en-US" sz="3600" dirty="0"/>
              <a:t>Ownership becomes structural, not cultural</a:t>
            </a:r>
            <a:endParaRPr lang="en-GB" sz="3600" dirty="0"/>
          </a:p>
        </p:txBody>
      </p:sp>
    </p:spTree>
    <p:extLst>
      <p:ext uri="{BB962C8B-B14F-4D97-AF65-F5344CB8AC3E}">
        <p14:creationId xmlns:p14="http://schemas.microsoft.com/office/powerpoint/2010/main" val="10636551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99CAB62-D9FA-E52A-A2DB-1DB5AC024453}"/>
              </a:ext>
            </a:extLst>
          </p:cNvPr>
          <p:cNvPicPr>
            <a:picLocks noChangeAspect="1"/>
          </p:cNvPicPr>
          <p:nvPr/>
        </p:nvPicPr>
        <p:blipFill>
          <a:blip r:embed="rId3"/>
          <a:stretch>
            <a:fillRect/>
          </a:stretch>
        </p:blipFill>
        <p:spPr>
          <a:xfrm>
            <a:off x="0" y="5374"/>
            <a:ext cx="12188825" cy="6847252"/>
          </a:xfrm>
          <a:prstGeom prst="rect">
            <a:avLst/>
          </a:prstGeom>
        </p:spPr>
      </p:pic>
    </p:spTree>
    <p:extLst>
      <p:ext uri="{BB962C8B-B14F-4D97-AF65-F5344CB8AC3E}">
        <p14:creationId xmlns:p14="http://schemas.microsoft.com/office/powerpoint/2010/main" val="29568345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D6755-A1FF-B7BF-A56D-3C072B5FA70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82A6AB0-2C3E-4789-A6C8-9C5F7D502F44}"/>
              </a:ext>
            </a:extLst>
          </p:cNvPr>
          <p:cNvSpPr txBox="1"/>
          <p:nvPr/>
        </p:nvSpPr>
        <p:spPr>
          <a:xfrm>
            <a:off x="522514" y="391886"/>
            <a:ext cx="8431219" cy="646331"/>
          </a:xfrm>
          <a:prstGeom prst="rect">
            <a:avLst/>
          </a:prstGeom>
          <a:noFill/>
        </p:spPr>
        <p:txBody>
          <a:bodyPr wrap="none" rtlCol="0">
            <a:spAutoFit/>
          </a:bodyPr>
          <a:lstStyle/>
          <a:p>
            <a:r>
              <a:rPr lang="en-US" sz="3600" dirty="0"/>
              <a:t>Bounded cognitive load as headcount grows</a:t>
            </a:r>
            <a:endParaRPr lang="en-GB" sz="3600" dirty="0"/>
          </a:p>
        </p:txBody>
      </p:sp>
    </p:spTree>
    <p:extLst>
      <p:ext uri="{BB962C8B-B14F-4D97-AF65-F5344CB8AC3E}">
        <p14:creationId xmlns:p14="http://schemas.microsoft.com/office/powerpoint/2010/main" val="5073010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A78FAD2-EDC1-87B8-794D-98B00BB06363}"/>
              </a:ext>
            </a:extLst>
          </p:cNvPr>
          <p:cNvPicPr>
            <a:picLocks noChangeAspect="1"/>
          </p:cNvPicPr>
          <p:nvPr/>
        </p:nvPicPr>
        <p:blipFill>
          <a:blip r:embed="rId3"/>
          <a:stretch>
            <a:fillRect/>
          </a:stretch>
        </p:blipFill>
        <p:spPr>
          <a:xfrm>
            <a:off x="0" y="561041"/>
            <a:ext cx="12188825" cy="5735918"/>
          </a:xfrm>
          <a:prstGeom prst="rect">
            <a:avLst/>
          </a:prstGeom>
        </p:spPr>
      </p:pic>
    </p:spTree>
    <p:extLst>
      <p:ext uri="{BB962C8B-B14F-4D97-AF65-F5344CB8AC3E}">
        <p14:creationId xmlns:p14="http://schemas.microsoft.com/office/powerpoint/2010/main" val="7819243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1C19D-B8B5-A045-8540-E8EFA319618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C35973B-F87B-8B33-54C3-EA899AFACDA5}"/>
              </a:ext>
            </a:extLst>
          </p:cNvPr>
          <p:cNvSpPr txBox="1"/>
          <p:nvPr/>
        </p:nvSpPr>
        <p:spPr>
          <a:xfrm>
            <a:off x="522514" y="391886"/>
            <a:ext cx="8087150" cy="646331"/>
          </a:xfrm>
          <a:prstGeom prst="rect">
            <a:avLst/>
          </a:prstGeom>
          <a:noFill/>
        </p:spPr>
        <p:txBody>
          <a:bodyPr wrap="none" rtlCol="0">
            <a:spAutoFit/>
          </a:bodyPr>
          <a:lstStyle/>
          <a:p>
            <a:r>
              <a:rPr lang="en-US" sz="3600" dirty="0"/>
              <a:t>Incremental migration instead of a rewrite</a:t>
            </a:r>
            <a:endParaRPr lang="en-GB" sz="3600" dirty="0"/>
          </a:p>
        </p:txBody>
      </p:sp>
    </p:spTree>
    <p:extLst>
      <p:ext uri="{BB962C8B-B14F-4D97-AF65-F5344CB8AC3E}">
        <p14:creationId xmlns:p14="http://schemas.microsoft.com/office/powerpoint/2010/main" val="16785437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8E1DEDB-C2B7-7D6B-CA16-7849717E9A36}"/>
              </a:ext>
            </a:extLst>
          </p:cNvPr>
          <p:cNvPicPr>
            <a:picLocks noChangeAspect="1"/>
          </p:cNvPicPr>
          <p:nvPr/>
        </p:nvPicPr>
        <p:blipFill>
          <a:blip r:embed="rId3"/>
          <a:stretch>
            <a:fillRect/>
          </a:stretch>
        </p:blipFill>
        <p:spPr>
          <a:xfrm>
            <a:off x="0" y="274245"/>
            <a:ext cx="12188825" cy="6309509"/>
          </a:xfrm>
          <a:prstGeom prst="rect">
            <a:avLst/>
          </a:prstGeom>
        </p:spPr>
      </p:pic>
    </p:spTree>
    <p:extLst>
      <p:ext uri="{BB962C8B-B14F-4D97-AF65-F5344CB8AC3E}">
        <p14:creationId xmlns:p14="http://schemas.microsoft.com/office/powerpoint/2010/main" val="406686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BDDECCB-2C5F-1707-9F5F-328AB2ED0298}"/>
              </a:ext>
            </a:extLst>
          </p:cNvPr>
          <p:cNvPicPr>
            <a:picLocks noChangeAspect="1"/>
          </p:cNvPicPr>
          <p:nvPr/>
        </p:nvPicPr>
        <p:blipFill>
          <a:blip r:embed="rId3"/>
          <a:stretch>
            <a:fillRect/>
          </a:stretch>
        </p:blipFill>
        <p:spPr>
          <a:xfrm>
            <a:off x="0" y="242697"/>
            <a:ext cx="12188825" cy="6615303"/>
          </a:xfrm>
          <a:prstGeom prst="rect">
            <a:avLst/>
          </a:prstGeom>
        </p:spPr>
      </p:pic>
    </p:spTree>
    <p:extLst>
      <p:ext uri="{BB962C8B-B14F-4D97-AF65-F5344CB8AC3E}">
        <p14:creationId xmlns:p14="http://schemas.microsoft.com/office/powerpoint/2010/main" val="40809750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4">
            <a:extLst>
              <a:ext uri="{FF2B5EF4-FFF2-40B4-BE49-F238E27FC236}">
                <a16:creationId xmlns:a16="http://schemas.microsoft.com/office/drawing/2014/main" id="{59B45F36-03DD-1F61-AE4F-491056679896}"/>
              </a:ext>
            </a:extLst>
          </p:cNvPr>
          <p:cNvSpPr/>
          <p:nvPr/>
        </p:nvSpPr>
        <p:spPr>
          <a:xfrm>
            <a:off x="651325" y="1025090"/>
            <a:ext cx="10886173" cy="4807819"/>
          </a:xfrm>
          <a:prstGeom prst="rect">
            <a:avLst/>
          </a:prstGeom>
          <a:noFill/>
          <a:ln/>
        </p:spPr>
        <p:txBody>
          <a:bodyPr wrap="square" rtlCol="0" anchor="t"/>
          <a:lstStyle/>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Shell (host)      :3000</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Home          :3004   INSTANT</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Records       :3001   EAGER</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Prescriptions :3002   SUSPENSE</a:t>
            </a:r>
          </a:p>
          <a:p>
            <a:pPr marL="0" indent="0" algn="l">
              <a:lnSpc>
                <a:spcPct val="150000"/>
              </a:lnSpc>
              <a:buNone/>
            </a:pPr>
            <a:r>
              <a:rPr lang="en-US" sz="4000" dirty="0">
                <a:solidFill>
                  <a:schemeClr val="tx1">
                    <a:lumMod val="95000"/>
                    <a:lumOff val="5000"/>
                  </a:schemeClr>
                </a:solidFill>
                <a:latin typeface="Cascadia Code NF" pitchFamily="50" charset="0"/>
                <a:ea typeface="Cascadia Code NF" pitchFamily="50" charset="0"/>
                <a:cs typeface="Cascadia Code NF" pitchFamily="50" charset="0"/>
              </a:rPr>
              <a:t>└── Analytics     :3003   SUSPENSE</a:t>
            </a:r>
          </a:p>
        </p:txBody>
      </p:sp>
    </p:spTree>
    <p:extLst>
      <p:ext uri="{BB962C8B-B14F-4D97-AF65-F5344CB8AC3E}">
        <p14:creationId xmlns:p14="http://schemas.microsoft.com/office/powerpoint/2010/main" val="33846204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8559209-AAA2-1CB4-6BF2-0C4E86659D30}"/>
              </a:ext>
            </a:extLst>
          </p:cNvPr>
          <p:cNvSpPr txBox="1"/>
          <p:nvPr/>
        </p:nvSpPr>
        <p:spPr>
          <a:xfrm>
            <a:off x="722376" y="576072"/>
            <a:ext cx="1436612" cy="707886"/>
          </a:xfrm>
          <a:prstGeom prst="rect">
            <a:avLst/>
          </a:prstGeom>
          <a:noFill/>
        </p:spPr>
        <p:txBody>
          <a:bodyPr wrap="none" rtlCol="0">
            <a:spAutoFit/>
          </a:bodyPr>
          <a:lstStyle/>
          <a:p>
            <a:r>
              <a:rPr lang="en-GB" sz="4000" dirty="0"/>
              <a:t>Demo</a:t>
            </a:r>
          </a:p>
        </p:txBody>
      </p:sp>
      <p:sp>
        <p:nvSpPr>
          <p:cNvPr id="4" name="TextBox 3">
            <a:extLst>
              <a:ext uri="{FF2B5EF4-FFF2-40B4-BE49-F238E27FC236}">
                <a16:creationId xmlns:a16="http://schemas.microsoft.com/office/drawing/2014/main" id="{FF9BFBAD-B63F-0C95-BF4B-77443B953A89}"/>
              </a:ext>
            </a:extLst>
          </p:cNvPr>
          <p:cNvSpPr txBox="1"/>
          <p:nvPr/>
        </p:nvSpPr>
        <p:spPr>
          <a:xfrm>
            <a:off x="634848" y="3075057"/>
            <a:ext cx="10919143" cy="646331"/>
          </a:xfrm>
          <a:prstGeom prst="rect">
            <a:avLst/>
          </a:prstGeom>
          <a:noFill/>
        </p:spPr>
        <p:txBody>
          <a:bodyPr wrap="none" rtlCol="0">
            <a:spAutoFit/>
          </a:bodyPr>
          <a:lstStyle/>
          <a:p>
            <a:pPr algn="ctr"/>
            <a:r>
              <a:rPr lang="en-GB" sz="3600" dirty="0"/>
              <a:t>Code base (</a:t>
            </a:r>
            <a:r>
              <a:rPr lang="en-GB" sz="3600" dirty="0" err="1"/>
              <a:t>bootstrap.tsx</a:t>
            </a:r>
            <a:r>
              <a:rPr lang="en-GB" sz="3600" dirty="0"/>
              <a:t>, Routes, </a:t>
            </a:r>
            <a:r>
              <a:rPr lang="en-GB" sz="3600" dirty="0" err="1"/>
              <a:t>Rspack</a:t>
            </a:r>
            <a:r>
              <a:rPr lang="en-GB" sz="3600" dirty="0"/>
              <a:t> config &amp; plugin)</a:t>
            </a:r>
          </a:p>
        </p:txBody>
      </p:sp>
    </p:spTree>
    <p:extLst>
      <p:ext uri="{BB962C8B-B14F-4D97-AF65-F5344CB8AC3E}">
        <p14:creationId xmlns:p14="http://schemas.microsoft.com/office/powerpoint/2010/main" val="7659784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6637D03-7E43-E40A-D2C9-714E3D46262C}"/>
              </a:ext>
            </a:extLst>
          </p:cNvPr>
          <p:cNvPicPr>
            <a:picLocks noChangeAspect="1"/>
          </p:cNvPicPr>
          <p:nvPr/>
        </p:nvPicPr>
        <p:blipFill>
          <a:blip r:embed="rId3"/>
          <a:stretch>
            <a:fillRect/>
          </a:stretch>
        </p:blipFill>
        <p:spPr>
          <a:xfrm>
            <a:off x="6370" y="0"/>
            <a:ext cx="12176084" cy="6858000"/>
          </a:xfrm>
          <a:prstGeom prst="rect">
            <a:avLst/>
          </a:prstGeom>
        </p:spPr>
      </p:pic>
    </p:spTree>
    <p:extLst>
      <p:ext uri="{BB962C8B-B14F-4D97-AF65-F5344CB8AC3E}">
        <p14:creationId xmlns:p14="http://schemas.microsoft.com/office/powerpoint/2010/main" val="3156522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A9DEAA5-4B4B-A105-176E-3D92BDE4A29B}"/>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BEEF10F7-35A9-BC5C-5D04-700AD07AB51B}"/>
              </a:ext>
            </a:extLst>
          </p:cNvPr>
          <p:cNvGraphicFramePr>
            <a:graphicFrameLocks noGrp="1"/>
          </p:cNvGraphicFramePr>
          <p:nvPr>
            <p:extLst>
              <p:ext uri="{D42A27DB-BD31-4B8C-83A1-F6EECF244321}">
                <p14:modId xmlns:p14="http://schemas.microsoft.com/office/powerpoint/2010/main" val="525117784"/>
              </p:ext>
            </p:extLst>
          </p:nvPr>
        </p:nvGraphicFramePr>
        <p:xfrm>
          <a:off x="548640" y="2811780"/>
          <a:ext cx="11064240" cy="1950720"/>
        </p:xfrm>
        <a:graphic>
          <a:graphicData uri="http://schemas.openxmlformats.org/drawingml/2006/table">
            <a:tbl>
              <a:tblPr/>
              <a:tblGrid>
                <a:gridCol w="28346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411480">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CONCERN</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WHO BENEFITS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WHAT IT SOLVES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Module Federation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Developers &amp; teams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Independent builds, deploys, onboarding at scale, slow rewrite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Suspense + skeletons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End users &amp; visitors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 perceived load, no blank screens at runtime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559784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31711E41-ABC8-61F2-D009-B7AB6AF2111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497A809A-85C2-9736-231A-B5C634D123D4}"/>
              </a:ext>
            </a:extLst>
          </p:cNvPr>
          <p:cNvSpPr/>
          <p:nvPr/>
        </p:nvSpPr>
        <p:spPr>
          <a:xfrm>
            <a:off x="530352" y="3027145"/>
            <a:ext cx="11064240" cy="1645920"/>
          </a:xfrm>
          <a:prstGeom prst="rect">
            <a:avLst/>
          </a:prstGeom>
          <a:noFill/>
          <a:ln/>
        </p:spPr>
        <p:txBody>
          <a:bodyPr wrap="square" rtlCol="0" anchor="t"/>
          <a:lstStyle/>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Without Suspense:  click tab → blank screen → spinner → content</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(slow UX even when team ownership is solid)</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With Suspense:     click tab → skeleton instantly → content resolves</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chemeClr val="tx1">
                    <a:lumMod val="95000"/>
                    <a:lumOff val="5000"/>
                  </a:schemeClr>
                </a:solidFill>
                <a:latin typeface="Cascadia Code" panose="020B0609020000020004" pitchFamily="49" charset="0"/>
                <a:ea typeface="IBM Plex Mono" pitchFamily="34" charset="-122"/>
                <a:cs typeface="Cascadia Code" panose="020B0609020000020004" pitchFamily="49" charset="0"/>
              </a:rPr>
              <a:t>                   (each remote owns its loading choreography)</a:t>
            </a:r>
            <a:endParaRPr lang="en-US" sz="2000" dirty="0">
              <a:solidFill>
                <a:schemeClr val="tx1">
                  <a:lumMod val="95000"/>
                  <a:lumOff val="5000"/>
                </a:schemeClr>
              </a:solidFill>
              <a:latin typeface="Cascadia Code" panose="020B0609020000020004" pitchFamily="49" charset="0"/>
              <a:cs typeface="Cascadia Code" panose="020B0609020000020004" pitchFamily="49" charset="0"/>
            </a:endParaRPr>
          </a:p>
        </p:txBody>
      </p:sp>
    </p:spTree>
    <p:extLst>
      <p:ext uri="{BB962C8B-B14F-4D97-AF65-F5344CB8AC3E}">
        <p14:creationId xmlns:p14="http://schemas.microsoft.com/office/powerpoint/2010/main" val="30185272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AE7BAA42-8979-2749-678C-C4B2DCFC42DC}"/>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One shell, four remotes, three loading strategies</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5E252CBF-4D3F-DA4C-2817-C743E648F88B}"/>
              </a:ext>
            </a:extLst>
          </p:cNvPr>
          <p:cNvSpPr/>
          <p:nvPr/>
        </p:nvSpPr>
        <p:spPr>
          <a:xfrm>
            <a:off x="562292" y="2764715"/>
            <a:ext cx="11064240" cy="2834640"/>
          </a:xfrm>
          <a:prstGeom prst="rect">
            <a:avLst/>
          </a:prstGeom>
          <a:noFill/>
          <a:ln/>
        </p:spPr>
        <p:txBody>
          <a:bodyPr wrap="square" rtlCol="0" anchor="t"/>
          <a:lstStyle/>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SHELL :3000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Nav · Router · Theme · Status strip (INSTANT|EAGER|STREAMING)│</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&lt;Suspense fallback={&lt;Skeleton /&gt;}&gt;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&lt;RemoteModule /&gt;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&lt;/Suspense&gt;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Home :3004  Records :3001  Prescriptions :3002  Analytics :3003</a:t>
            </a:r>
          </a:p>
          <a:p>
            <a:pPr marL="0" indent="0" algn="l">
              <a:lnSpc>
                <a:spcPts val="1610"/>
              </a:lnSpc>
              <a:buNone/>
            </a:pPr>
            <a:r>
              <a:rPr lang="en-US" dirty="0">
                <a:solidFill>
                  <a:schemeClr val="tx1">
                    <a:lumMod val="95000"/>
                    <a:lumOff val="5000"/>
                  </a:schemeClr>
                </a:solidFill>
                <a:latin typeface="Cascadia Code NF" pitchFamily="50" charset="0"/>
                <a:ea typeface="Cascadia Code NF" pitchFamily="50" charset="0"/>
                <a:cs typeface="Cascadia Code NF" pitchFamily="50" charset="0"/>
              </a:rPr>
              <a:t>     INSTANT     EAGER          STREAMED             STREAMED</a:t>
            </a:r>
          </a:p>
        </p:txBody>
      </p:sp>
    </p:spTree>
    <p:extLst>
      <p:ext uri="{BB962C8B-B14F-4D97-AF65-F5344CB8AC3E}">
        <p14:creationId xmlns:p14="http://schemas.microsoft.com/office/powerpoint/2010/main" val="320200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71A9CA60-7D30-2150-A7B8-47F46A40441E}"/>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Two-tier preloading: eager on mount, hover on demand</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48D1E0C3-A9F2-6530-FB9F-3E86D646F9DB}"/>
              </a:ext>
            </a:extLst>
          </p:cNvPr>
          <p:cNvGraphicFramePr>
            <a:graphicFrameLocks noGrp="1"/>
          </p:cNvGraphicFramePr>
          <p:nvPr/>
        </p:nvGraphicFramePr>
        <p:xfrm>
          <a:off x="548640" y="2302742"/>
          <a:ext cx="11064240" cy="2252516"/>
        </p:xfrm>
        <a:graphic>
          <a:graphicData uri="http://schemas.openxmlformats.org/drawingml/2006/table">
            <a:tbl>
              <a:tblPr/>
              <a:tblGrid>
                <a:gridCol w="164592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41241">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STRATEGY</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WHEN IT LOADS</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EXAMPLE</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Chunk fetched lazily, no streaming delay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Home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Eager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Preloaded the moment the shell mounts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Records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Hover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Prefetched when the user hovers a tab</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Prescriptions, Analytics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1108862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BE3F89-483A-0053-D78D-1A8901B047F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48116DE-5DA1-A8F4-171E-98CD8EF39457}"/>
              </a:ext>
            </a:extLst>
          </p:cNvPr>
          <p:cNvSpPr txBox="1"/>
          <p:nvPr/>
        </p:nvSpPr>
        <p:spPr>
          <a:xfrm>
            <a:off x="722376" y="576072"/>
            <a:ext cx="1436612" cy="707886"/>
          </a:xfrm>
          <a:prstGeom prst="rect">
            <a:avLst/>
          </a:prstGeom>
          <a:noFill/>
        </p:spPr>
        <p:txBody>
          <a:bodyPr wrap="none" rtlCol="0">
            <a:spAutoFit/>
          </a:bodyPr>
          <a:lstStyle/>
          <a:p>
            <a:r>
              <a:rPr lang="en-GB" sz="4000" dirty="0"/>
              <a:t>Demo</a:t>
            </a:r>
          </a:p>
        </p:txBody>
      </p:sp>
      <p:sp>
        <p:nvSpPr>
          <p:cNvPr id="4" name="TextBox 3">
            <a:extLst>
              <a:ext uri="{FF2B5EF4-FFF2-40B4-BE49-F238E27FC236}">
                <a16:creationId xmlns:a16="http://schemas.microsoft.com/office/drawing/2014/main" id="{FCCE98A8-BD8A-6B23-799E-D4E934D31BDC}"/>
              </a:ext>
            </a:extLst>
          </p:cNvPr>
          <p:cNvSpPr txBox="1"/>
          <p:nvPr/>
        </p:nvSpPr>
        <p:spPr>
          <a:xfrm>
            <a:off x="1167918" y="3075057"/>
            <a:ext cx="9853018" cy="707886"/>
          </a:xfrm>
          <a:prstGeom prst="rect">
            <a:avLst/>
          </a:prstGeom>
          <a:noFill/>
        </p:spPr>
        <p:txBody>
          <a:bodyPr wrap="none" rtlCol="0">
            <a:spAutoFit/>
          </a:bodyPr>
          <a:lstStyle/>
          <a:p>
            <a:pPr algn="ctr"/>
            <a:r>
              <a:rPr lang="en-GB" sz="4000" dirty="0"/>
              <a:t>Preloading and prefetching (network </a:t>
            </a:r>
            <a:r>
              <a:rPr lang="en-GB" sz="4000" dirty="0" err="1"/>
              <a:t>devtools</a:t>
            </a:r>
            <a:r>
              <a:rPr lang="en-GB" sz="4000" dirty="0"/>
              <a:t>)</a:t>
            </a:r>
          </a:p>
        </p:txBody>
      </p:sp>
    </p:spTree>
    <p:extLst>
      <p:ext uri="{BB962C8B-B14F-4D97-AF65-F5344CB8AC3E}">
        <p14:creationId xmlns:p14="http://schemas.microsoft.com/office/powerpoint/2010/main" val="239810730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15B897A-3EEC-DD92-29A6-A9DC36773ED2}"/>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Three strategies, three layers of resilience</a:t>
            </a:r>
            <a:endParaRPr lang="en-US" sz="3300" dirty="0">
              <a:solidFill>
                <a:schemeClr val="tx1">
                  <a:lumMod val="95000"/>
                  <a:lumOff val="5000"/>
                </a:schemeClr>
              </a:solidFill>
            </a:endParaRPr>
          </a:p>
        </p:txBody>
      </p:sp>
      <p:sp>
        <p:nvSpPr>
          <p:cNvPr id="5" name="Text 6">
            <a:extLst>
              <a:ext uri="{FF2B5EF4-FFF2-40B4-BE49-F238E27FC236}">
                <a16:creationId xmlns:a16="http://schemas.microsoft.com/office/drawing/2014/main" id="{668BF609-EEBF-0FAC-875A-FCD5A6335B19}"/>
              </a:ext>
            </a:extLst>
          </p:cNvPr>
          <p:cNvSpPr/>
          <p:nvPr/>
        </p:nvSpPr>
        <p:spPr>
          <a:xfrm>
            <a:off x="548640" y="2850776"/>
            <a:ext cx="10854466" cy="2377440"/>
          </a:xfrm>
          <a:prstGeom prst="rect">
            <a:avLst/>
          </a:prstGeom>
          <a:noFill/>
          <a:ln/>
        </p:spPr>
        <p:txBody>
          <a:bodyPr wrap="square" rtlCol="0" anchor="t"/>
          <a:lstStyle/>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1: lazy() + .catch() if remote is unreachable</a:t>
            </a:r>
          </a:p>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2: &lt;Suspense&gt; skeleton while loading</a:t>
            </a:r>
          </a:p>
          <a:p>
            <a:pPr>
              <a:lnSpc>
                <a:spcPct val="150000"/>
              </a:lnSpc>
              <a:buSzPct val="100000"/>
            </a:pPr>
            <a:r>
              <a:rPr lang="en-US" sz="2800" dirty="0">
                <a:solidFill>
                  <a:schemeClr val="tx1">
                    <a:lumMod val="95000"/>
                    <a:lumOff val="5000"/>
                  </a:schemeClr>
                </a:solidFill>
                <a:latin typeface="Cascadia Code NF" pitchFamily="50" charset="0"/>
                <a:ea typeface="Cascadia Code NF" pitchFamily="50" charset="0"/>
                <a:cs typeface="Cascadia Code NF" pitchFamily="50" charset="0"/>
              </a:rPr>
              <a:t>Layer 3: &lt;ErrorBoundary&gt; for runtime errors</a:t>
            </a:r>
          </a:p>
        </p:txBody>
      </p:sp>
    </p:spTree>
    <p:extLst>
      <p:ext uri="{BB962C8B-B14F-4D97-AF65-F5344CB8AC3E}">
        <p14:creationId xmlns:p14="http://schemas.microsoft.com/office/powerpoint/2010/main" val="26191256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66439F7-DFAD-81AB-B8BD-241FD9547508}"/>
              </a:ext>
            </a:extLst>
          </p:cNvPr>
          <p:cNvPicPr>
            <a:picLocks noChangeAspect="1"/>
          </p:cNvPicPr>
          <p:nvPr/>
        </p:nvPicPr>
        <p:blipFill>
          <a:blip r:embed="rId3"/>
          <a:stretch>
            <a:fillRect/>
          </a:stretch>
        </p:blipFill>
        <p:spPr>
          <a:xfrm>
            <a:off x="192869" y="0"/>
            <a:ext cx="11803086" cy="6858000"/>
          </a:xfrm>
          <a:prstGeom prst="rect">
            <a:avLst/>
          </a:prstGeom>
        </p:spPr>
      </p:pic>
    </p:spTree>
    <p:extLst>
      <p:ext uri="{BB962C8B-B14F-4D97-AF65-F5344CB8AC3E}">
        <p14:creationId xmlns:p14="http://schemas.microsoft.com/office/powerpoint/2010/main" val="8368582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E6D9864B-997C-D392-B5C0-9E000C1A03B8}"/>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Question</a:t>
            </a:r>
            <a:endParaRPr lang="en-US" sz="3300" dirty="0">
              <a:solidFill>
                <a:schemeClr val="tx1">
                  <a:lumMod val="95000"/>
                  <a:lumOff val="5000"/>
                </a:schemeClr>
              </a:solidFill>
            </a:endParaRPr>
          </a:p>
        </p:txBody>
      </p:sp>
      <p:sp>
        <p:nvSpPr>
          <p:cNvPr id="7" name="Text 8">
            <a:extLst>
              <a:ext uri="{FF2B5EF4-FFF2-40B4-BE49-F238E27FC236}">
                <a16:creationId xmlns:a16="http://schemas.microsoft.com/office/drawing/2014/main" id="{626E23A0-B775-D9BA-9D15-6D62663E3A4A}"/>
              </a:ext>
            </a:extLst>
          </p:cNvPr>
          <p:cNvSpPr/>
          <p:nvPr/>
        </p:nvSpPr>
        <p:spPr>
          <a:xfrm>
            <a:off x="713232" y="2678653"/>
            <a:ext cx="10395758" cy="1796527"/>
          </a:xfrm>
          <a:prstGeom prst="rect">
            <a:avLst/>
          </a:prstGeom>
          <a:noFill/>
          <a:ln/>
        </p:spPr>
        <p:txBody>
          <a:bodyPr wrap="square" rtlCol="0" anchor="ctr"/>
          <a:lstStyle/>
          <a:p>
            <a:pPr marL="0" indent="0">
              <a:buNone/>
            </a:pPr>
            <a:r>
              <a:rPr lang="en-US" sz="2800" i="1" dirty="0">
                <a:solidFill>
                  <a:schemeClr val="tx1">
                    <a:lumMod val="85000"/>
                    <a:lumOff val="15000"/>
                  </a:schemeClr>
                </a:solidFill>
                <a:latin typeface="Cascadia Code NF" pitchFamily="50" charset="0"/>
                <a:ea typeface="Cascadia Code NF" pitchFamily="50" charset="0"/>
                <a:cs typeface="Cascadia Code NF" pitchFamily="50" charset="0"/>
              </a:rPr>
              <a:t>Why lazy() for eager modules? </a:t>
            </a:r>
          </a:p>
          <a:p>
            <a:pPr marL="0" indent="0">
              <a:buNone/>
            </a:pPr>
            <a:r>
              <a:rPr lang="en-US" sz="2800" i="1" dirty="0">
                <a:solidFill>
                  <a:schemeClr val="tx1">
                    <a:lumMod val="85000"/>
                    <a:lumOff val="15000"/>
                  </a:schemeClr>
                </a:solidFill>
                <a:latin typeface="Cascadia Code NF" pitchFamily="50" charset="0"/>
                <a:ea typeface="Cascadia Code NF" pitchFamily="50" charset="0"/>
                <a:cs typeface="Cascadia Code NF" pitchFamily="50" charset="0"/>
              </a:rPr>
              <a:t>Remotes are separate builds resolved at runtime. </a:t>
            </a:r>
          </a:p>
          <a:p>
            <a:pPr marL="0" indent="0">
              <a:buNone/>
            </a:pPr>
            <a:r>
              <a:rPr lang="en-US" sz="2800" i="1" dirty="0">
                <a:solidFill>
                  <a:schemeClr val="tx1">
                    <a:lumMod val="85000"/>
                    <a:lumOff val="15000"/>
                  </a:schemeClr>
                </a:solidFill>
                <a:latin typeface="Cascadia Code NF" pitchFamily="50" charset="0"/>
                <a:ea typeface="Cascadia Code NF" pitchFamily="50" charset="0"/>
                <a:cs typeface="Cascadia Code NF" pitchFamily="50" charset="0"/>
              </a:rPr>
              <a:t>Eager import() warms the cache; lazy() resolves from it.</a:t>
            </a:r>
            <a:endParaRPr lang="en-US" sz="2800" dirty="0">
              <a:solidFill>
                <a:schemeClr val="tx1">
                  <a:lumMod val="85000"/>
                  <a:lumOff val="15000"/>
                </a:schemeClr>
              </a:solidFill>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25772246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CC0F34E4-70E8-F750-1B49-A033FEC0C4E2}"/>
              </a:ext>
            </a:extLst>
          </p:cNvPr>
          <p:cNvSpPr/>
          <p:nvPr/>
        </p:nvSpPr>
        <p:spPr>
          <a:xfrm>
            <a:off x="530352" y="135008"/>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Settings, Commands, Federation Lab menus</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8EB8FE32-AB1B-8F6E-B031-72E31947DF0F}"/>
              </a:ext>
            </a:extLst>
          </p:cNvPr>
          <p:cNvSpPr/>
          <p:nvPr/>
        </p:nvSpPr>
        <p:spPr>
          <a:xfrm>
            <a:off x="576072" y="1202166"/>
            <a:ext cx="10706010" cy="4660752"/>
          </a:xfrm>
          <a:prstGeom prst="rect">
            <a:avLst/>
          </a:prstGeom>
          <a:noFill/>
          <a:ln/>
        </p:spPr>
        <p:txBody>
          <a:bodyPr wrap="square" rtlCol="0" anchor="t"/>
          <a:lstStyle/>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Health Monitor: polls each remoteEntry.js every 5s, shows latency</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Kill Switches: simulate remote failure; the rest keeps running</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A/B Deployment: toggle Stable ↔ Canary ring, per-module versions</a:t>
            </a:r>
            <a:endParaRPr lang="en-US" sz="2800" dirty="0">
              <a:solidFill>
                <a:schemeClr val="tx1">
                  <a:lumMod val="95000"/>
                  <a:lumOff val="5000"/>
                </a:schemeClr>
              </a:solidFill>
            </a:endParaRPr>
          </a:p>
          <a:p>
            <a:pPr marL="285750" indent="-285750">
              <a:lnSpc>
                <a:spcPct val="150000"/>
              </a:lnSpc>
              <a:buSzPct val="100000"/>
              <a:buFont typeface="Arial" panose="020B0604020202020204" pitchFamily="34" charset="0"/>
              <a:buChar char="•"/>
            </a:pPr>
            <a:r>
              <a:rPr lang="en-US" sz="2800" dirty="0">
                <a:solidFill>
                  <a:schemeClr val="tx1">
                    <a:lumMod val="95000"/>
                    <a:lumOff val="5000"/>
                  </a:schemeClr>
                </a:solidFill>
                <a:latin typeface="DM Sans" pitchFamily="34" charset="0"/>
                <a:ea typeface="DM Sans" pitchFamily="34" charset="-122"/>
                <a:cs typeface="DM Sans" pitchFamily="34" charset="-120"/>
              </a:rPr>
              <a:t>Theme: CSS variables + localStorage + themeChange event, zero shared imports</a:t>
            </a:r>
          </a:p>
        </p:txBody>
      </p:sp>
    </p:spTree>
    <p:extLst>
      <p:ext uri="{BB962C8B-B14F-4D97-AF65-F5344CB8AC3E}">
        <p14:creationId xmlns:p14="http://schemas.microsoft.com/office/powerpoint/2010/main" val="3991074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2434E-A423-B165-16BC-7AF688676ED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6374511-5B5D-F7F6-D4DE-965190A47438}"/>
              </a:ext>
            </a:extLst>
          </p:cNvPr>
          <p:cNvSpPr txBox="1"/>
          <p:nvPr/>
        </p:nvSpPr>
        <p:spPr>
          <a:xfrm>
            <a:off x="722376" y="576072"/>
            <a:ext cx="1436612" cy="707886"/>
          </a:xfrm>
          <a:prstGeom prst="rect">
            <a:avLst/>
          </a:prstGeom>
          <a:noFill/>
        </p:spPr>
        <p:txBody>
          <a:bodyPr wrap="none" rtlCol="0">
            <a:spAutoFit/>
          </a:bodyPr>
          <a:lstStyle/>
          <a:p>
            <a:r>
              <a:rPr lang="en-GB" sz="4000" dirty="0"/>
              <a:t>Demo</a:t>
            </a:r>
          </a:p>
        </p:txBody>
      </p:sp>
      <p:sp>
        <p:nvSpPr>
          <p:cNvPr id="4" name="TextBox 3">
            <a:extLst>
              <a:ext uri="{FF2B5EF4-FFF2-40B4-BE49-F238E27FC236}">
                <a16:creationId xmlns:a16="http://schemas.microsoft.com/office/drawing/2014/main" id="{34AF8797-4227-8449-C765-143D3A90429D}"/>
              </a:ext>
            </a:extLst>
          </p:cNvPr>
          <p:cNvSpPr txBox="1"/>
          <p:nvPr/>
        </p:nvSpPr>
        <p:spPr>
          <a:xfrm>
            <a:off x="3025055" y="3075057"/>
            <a:ext cx="6138732" cy="707886"/>
          </a:xfrm>
          <a:prstGeom prst="rect">
            <a:avLst/>
          </a:prstGeom>
          <a:noFill/>
        </p:spPr>
        <p:txBody>
          <a:bodyPr wrap="none" rtlCol="0">
            <a:spAutoFit/>
          </a:bodyPr>
          <a:lstStyle/>
          <a:p>
            <a:pPr algn="ctr"/>
            <a:r>
              <a:rPr lang="en-GB" sz="4000" dirty="0"/>
              <a:t>Command palette app demo</a:t>
            </a:r>
          </a:p>
        </p:txBody>
      </p:sp>
    </p:spTree>
    <p:extLst>
      <p:ext uri="{BB962C8B-B14F-4D97-AF65-F5344CB8AC3E}">
        <p14:creationId xmlns:p14="http://schemas.microsoft.com/office/powerpoint/2010/main" val="31826947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728B204-4642-8AB0-8C60-54C9C48B708A}"/>
              </a:ext>
            </a:extLst>
          </p:cNvPr>
          <p:cNvPicPr>
            <a:picLocks noChangeAspect="1"/>
          </p:cNvPicPr>
          <p:nvPr/>
        </p:nvPicPr>
        <p:blipFill>
          <a:blip r:embed="rId3"/>
          <a:stretch>
            <a:fillRect/>
          </a:stretch>
        </p:blipFill>
        <p:spPr>
          <a:xfrm>
            <a:off x="192869" y="0"/>
            <a:ext cx="11803086" cy="6858000"/>
          </a:xfrm>
          <a:prstGeom prst="rect">
            <a:avLst/>
          </a:prstGeom>
        </p:spPr>
      </p:pic>
    </p:spTree>
    <p:extLst>
      <p:ext uri="{BB962C8B-B14F-4D97-AF65-F5344CB8AC3E}">
        <p14:creationId xmlns:p14="http://schemas.microsoft.com/office/powerpoint/2010/main" val="41969021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48D92EEC-F99D-6E3A-015E-51DCF972D104}"/>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Prefer events over shared state</a:t>
            </a:r>
            <a:endParaRPr lang="en-US" sz="3300" dirty="0">
              <a:solidFill>
                <a:schemeClr val="tx1">
                  <a:lumMod val="95000"/>
                  <a:lumOff val="5000"/>
                </a:schemeClr>
              </a:solidFill>
            </a:endParaRPr>
          </a:p>
        </p:txBody>
      </p:sp>
      <p:sp>
        <p:nvSpPr>
          <p:cNvPr id="5" name="Text 6">
            <a:extLst>
              <a:ext uri="{FF2B5EF4-FFF2-40B4-BE49-F238E27FC236}">
                <a16:creationId xmlns:a16="http://schemas.microsoft.com/office/drawing/2014/main" id="{F96AB674-C4AE-79FF-80B1-8B452266F247}"/>
              </a:ext>
            </a:extLst>
          </p:cNvPr>
          <p:cNvSpPr/>
          <p:nvPr/>
        </p:nvSpPr>
        <p:spPr>
          <a:xfrm>
            <a:off x="548640" y="2474259"/>
            <a:ext cx="11064240" cy="3291840"/>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No direct cross-module imports</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Shell stays the only router owner</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Works across deployments when the event contract stays compatible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Framework-agnostic (React, Vue, Svelte)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Typed via WindowEventMap augmentation</a:t>
            </a:r>
            <a:endParaRPr lang="en-US" sz="2400" dirty="0">
              <a:solidFill>
                <a:schemeClr val="tx1">
                  <a:lumMod val="95000"/>
                  <a:lumOff val="5000"/>
                </a:schemeClr>
              </a:solidFill>
            </a:endParaRPr>
          </a:p>
        </p:txBody>
      </p:sp>
    </p:spTree>
    <p:extLst>
      <p:ext uri="{BB962C8B-B14F-4D97-AF65-F5344CB8AC3E}">
        <p14:creationId xmlns:p14="http://schemas.microsoft.com/office/powerpoint/2010/main" val="25832381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46D2C31A-9631-8861-A387-D11C77608896}"/>
              </a:ext>
            </a:extLst>
          </p:cNvPr>
          <p:cNvGraphicFramePr>
            <a:graphicFrameLocks noGrp="1"/>
          </p:cNvGraphicFramePr>
          <p:nvPr>
            <p:extLst>
              <p:ext uri="{D42A27DB-BD31-4B8C-83A1-F6EECF244321}">
                <p14:modId xmlns:p14="http://schemas.microsoft.com/office/powerpoint/2010/main" val="780093546"/>
              </p:ext>
            </p:extLst>
          </p:nvPr>
        </p:nvGraphicFramePr>
        <p:xfrm>
          <a:off x="362857" y="1320800"/>
          <a:ext cx="11654972" cy="5455967"/>
        </p:xfrm>
        <a:graphic>
          <a:graphicData uri="http://schemas.openxmlformats.org/drawingml/2006/table">
            <a:tbl>
              <a:tblPr/>
              <a:tblGrid>
                <a:gridCol w="3178629">
                  <a:extLst>
                    <a:ext uri="{9D8B030D-6E8A-4147-A177-3AD203B41FA5}">
                      <a16:colId xmlns:a16="http://schemas.microsoft.com/office/drawing/2014/main" val="607345058"/>
                    </a:ext>
                  </a:extLst>
                </a:gridCol>
                <a:gridCol w="2975428">
                  <a:extLst>
                    <a:ext uri="{9D8B030D-6E8A-4147-A177-3AD203B41FA5}">
                      <a16:colId xmlns:a16="http://schemas.microsoft.com/office/drawing/2014/main" val="2182254365"/>
                    </a:ext>
                  </a:extLst>
                </a:gridCol>
                <a:gridCol w="5500915">
                  <a:extLst>
                    <a:ext uri="{9D8B030D-6E8A-4147-A177-3AD203B41FA5}">
                      <a16:colId xmlns:a16="http://schemas.microsoft.com/office/drawing/2014/main" val="3397293518"/>
                    </a:ext>
                  </a:extLst>
                </a:gridCol>
              </a:tblGrid>
              <a:tr h="416364">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Event</a:t>
                      </a: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Who broadcasts</a:t>
                      </a: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Why</a:t>
                      </a:r>
                    </a:p>
                  </a:txBody>
                  <a:tcPr marL="76200" marR="76200" marT="38100" marB="38100" anchor="ctr">
                    <a:lnL>
                      <a:noFill/>
                    </a:lnL>
                    <a:lnR>
                      <a:noFill/>
                    </a:lnR>
                    <a:lnT>
                      <a:noFill/>
                    </a:lnT>
                    <a:lnB>
                      <a:noFill/>
                    </a:lnB>
                    <a:noFill/>
                  </a:tcPr>
                </a:tc>
                <a:extLst>
                  <a:ext uri="{0D108BD9-81ED-4DB2-BD59-A6C34878D82A}">
                    <a16:rowId xmlns:a16="http://schemas.microsoft.com/office/drawing/2014/main" val="3074802040"/>
                  </a:ext>
                </a:extLst>
              </a:tr>
              <a:tr h="735957">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themeChange</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shell only</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The shell owns the theme</a:t>
                      </a:r>
                    </a:p>
                  </a:txBody>
                  <a:tcPr marL="76200" marR="76200" marT="38100" marB="38100" anchor="ctr">
                    <a:lnL>
                      <a:noFill/>
                    </a:lnL>
                    <a:lnR>
                      <a:noFill/>
                    </a:lnR>
                    <a:lnT>
                      <a:noFill/>
                    </a:lnT>
                    <a:lnB>
                      <a:noFill/>
                    </a:lnB>
                    <a:noFill/>
                  </a:tcPr>
                </a:tc>
                <a:extLst>
                  <a:ext uri="{0D108BD9-81ED-4DB2-BD59-A6C34878D82A}">
                    <a16:rowId xmlns:a16="http://schemas.microsoft.com/office/drawing/2014/main" val="240654752"/>
                  </a:ext>
                </a:extLst>
              </a:tr>
              <a:tr h="735957">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moduleChange</a:t>
                      </a: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shell only</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The shell owns the router</a:t>
                      </a:r>
                    </a:p>
                  </a:txBody>
                  <a:tcPr marL="76200" marR="76200" marT="38100" marB="38100" anchor="ctr">
                    <a:lnL>
                      <a:noFill/>
                    </a:lnL>
                    <a:lnR>
                      <a:noFill/>
                    </a:lnR>
                    <a:lnT>
                      <a:noFill/>
                    </a:lnT>
                    <a:lnB>
                      <a:noFill/>
                    </a:lnB>
                    <a:noFill/>
                  </a:tcPr>
                </a:tc>
                <a:extLst>
                  <a:ext uri="{0D108BD9-81ED-4DB2-BD59-A6C34878D82A}">
                    <a16:rowId xmlns:a16="http://schemas.microsoft.com/office/drawing/2014/main" val="1750626137"/>
                  </a:ext>
                </a:extLst>
              </a:tr>
              <a:tr h="1069222">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addPrescription</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dirty="0">
                          <a:solidFill>
                            <a:srgbClr val="3B3B3B"/>
                          </a:solidFill>
                          <a:effectLst/>
                          <a:latin typeface="Cascadia Code" panose="020B0609020000020004" pitchFamily="49" charset="0"/>
                          <a:cs typeface="Cascadia Code" panose="020B0609020000020004" pitchFamily="49" charset="0"/>
                        </a:rPr>
                        <a:t>records</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Records owns "a prescription was requested"</a:t>
                      </a:r>
                    </a:p>
                  </a:txBody>
                  <a:tcPr marL="76200" marR="76200" marT="38100" marB="38100" anchor="ctr">
                    <a:lnL>
                      <a:noFill/>
                    </a:lnL>
                    <a:lnR>
                      <a:noFill/>
                    </a:lnR>
                    <a:lnT>
                      <a:noFill/>
                    </a:lnT>
                    <a:lnB>
                      <a:noFill/>
                    </a:lnB>
                    <a:noFill/>
                  </a:tcPr>
                </a:tc>
                <a:extLst>
                  <a:ext uri="{0D108BD9-81ED-4DB2-BD59-A6C34878D82A}">
                    <a16:rowId xmlns:a16="http://schemas.microsoft.com/office/drawing/2014/main" val="1485486134"/>
                  </a:ext>
                </a:extLst>
              </a:tr>
              <a:tr h="1402485">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showNotification</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any module</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a:solidFill>
                            <a:srgbClr val="3B3B3B"/>
                          </a:solidFill>
                          <a:effectLst/>
                          <a:latin typeface="Cascadia Code" panose="020B0609020000020004" pitchFamily="49" charset="0"/>
                          <a:cs typeface="Cascadia Code" panose="020B0609020000020004" pitchFamily="49" charset="0"/>
                        </a:rPr>
                        <a:t>Anyone can have something to say; the shell owns the &lt;Toaster /&gt;</a:t>
                      </a:r>
                    </a:p>
                  </a:txBody>
                  <a:tcPr marL="76200" marR="76200" marT="38100" marB="38100" anchor="ctr">
                    <a:lnL>
                      <a:noFill/>
                    </a:lnL>
                    <a:lnR>
                      <a:noFill/>
                    </a:lnR>
                    <a:lnT>
                      <a:noFill/>
                    </a:lnT>
                    <a:lnB>
                      <a:noFill/>
                    </a:lnB>
                    <a:noFill/>
                  </a:tcPr>
                </a:tc>
                <a:extLst>
                  <a:ext uri="{0D108BD9-81ED-4DB2-BD59-A6C34878D82A}">
                    <a16:rowId xmlns:a16="http://schemas.microsoft.com/office/drawing/2014/main" val="3065737248"/>
                  </a:ext>
                </a:extLst>
              </a:tr>
              <a:tr h="1070386">
                <a:tc>
                  <a:txBody>
                    <a:bodyPr/>
                    <a:lstStyle/>
                    <a:p>
                      <a:pPr algn="l">
                        <a:buNone/>
                      </a:pPr>
                      <a:r>
                        <a:rPr lang="en-US" sz="2400" b="0" i="0" dirty="0" err="1">
                          <a:solidFill>
                            <a:srgbClr val="3B3B3B"/>
                          </a:solidFill>
                          <a:effectLst/>
                          <a:latin typeface="Cascadia Code" panose="020B0609020000020004" pitchFamily="49" charset="0"/>
                          <a:cs typeface="Cascadia Code" panose="020B0609020000020004" pitchFamily="49" charset="0"/>
                        </a:rPr>
                        <a:t>counterChange</a:t>
                      </a:r>
                      <a:endParaRPr lang="en-US" sz="2400" b="0" i="0" dirty="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1" i="0">
                          <a:solidFill>
                            <a:srgbClr val="3B3B3B"/>
                          </a:solidFill>
                          <a:effectLst/>
                          <a:latin typeface="Cascadia Code" panose="020B0609020000020004" pitchFamily="49" charset="0"/>
                          <a:cs typeface="Cascadia Code" panose="020B0609020000020004" pitchFamily="49" charset="0"/>
                        </a:rPr>
                        <a:t>any module</a:t>
                      </a:r>
                      <a:endParaRPr lang="en-US" sz="2400" b="0" i="0">
                        <a:solidFill>
                          <a:srgbClr val="3B3B3B"/>
                        </a:solidFill>
                        <a:effectLst/>
                        <a:latin typeface="Cascadia Code" panose="020B0609020000020004" pitchFamily="49" charset="0"/>
                        <a:cs typeface="Cascadia Code" panose="020B0609020000020004" pitchFamily="49" charset="0"/>
                      </a:endParaRPr>
                    </a:p>
                  </a:txBody>
                  <a:tcPr marL="76200" marR="76200" marT="38100" marB="38100" anchor="ctr">
                    <a:lnL>
                      <a:noFill/>
                    </a:lnL>
                    <a:lnR>
                      <a:noFill/>
                    </a:lnR>
                    <a:lnT>
                      <a:noFill/>
                    </a:lnT>
                    <a:lnB>
                      <a:noFill/>
                    </a:lnB>
                    <a:noFill/>
                  </a:tcPr>
                </a:tc>
                <a:tc>
                  <a:txBody>
                    <a:bodyPr/>
                    <a:lstStyle/>
                    <a:p>
                      <a:pPr algn="l">
                        <a:buNone/>
                      </a:pPr>
                      <a:r>
                        <a:rPr lang="en-US" sz="2400" b="0" i="0" dirty="0">
                          <a:solidFill>
                            <a:srgbClr val="3B3B3B"/>
                          </a:solidFill>
                          <a:effectLst/>
                          <a:latin typeface="Cascadia Code" panose="020B0609020000020004" pitchFamily="49" charset="0"/>
                          <a:cs typeface="Cascadia Code" panose="020B0609020000020004" pitchFamily="49" charset="0"/>
                        </a:rPr>
                        <a:t>Nobody owns the counter — it's genuinely peer state</a:t>
                      </a:r>
                    </a:p>
                  </a:txBody>
                  <a:tcPr marL="76200" marR="76200" marT="38100" marB="38100" anchor="ctr">
                    <a:lnL>
                      <a:noFill/>
                    </a:lnL>
                    <a:lnR>
                      <a:noFill/>
                    </a:lnR>
                    <a:lnT>
                      <a:noFill/>
                    </a:lnT>
                    <a:lnB>
                      <a:noFill/>
                    </a:lnB>
                    <a:noFill/>
                  </a:tcPr>
                </a:tc>
                <a:extLst>
                  <a:ext uri="{0D108BD9-81ED-4DB2-BD59-A6C34878D82A}">
                    <a16:rowId xmlns:a16="http://schemas.microsoft.com/office/drawing/2014/main" val="1091983602"/>
                  </a:ext>
                </a:extLst>
              </a:tr>
            </a:tbl>
          </a:graphicData>
        </a:graphic>
      </p:graphicFrame>
      <p:sp>
        <p:nvSpPr>
          <p:cNvPr id="4" name="TextBox 3">
            <a:extLst>
              <a:ext uri="{FF2B5EF4-FFF2-40B4-BE49-F238E27FC236}">
                <a16:creationId xmlns:a16="http://schemas.microsoft.com/office/drawing/2014/main" id="{FCBFEC0A-AD33-0E5A-BF45-ABD21D98423F}"/>
              </a:ext>
            </a:extLst>
          </p:cNvPr>
          <p:cNvSpPr txBox="1"/>
          <p:nvPr/>
        </p:nvSpPr>
        <p:spPr>
          <a:xfrm>
            <a:off x="362857" y="231614"/>
            <a:ext cx="11161486" cy="646331"/>
          </a:xfrm>
          <a:prstGeom prst="rect">
            <a:avLst/>
          </a:prstGeom>
          <a:noFill/>
        </p:spPr>
        <p:txBody>
          <a:bodyPr wrap="square">
            <a:spAutoFit/>
          </a:bodyPr>
          <a:lstStyle/>
          <a:p>
            <a:r>
              <a:rPr lang="en-US" sz="3600" i="1" dirty="0"/>
              <a:t>The ownership rule </a:t>
            </a:r>
            <a:endParaRPr lang="en-GB" sz="4800" i="1" dirty="0"/>
          </a:p>
        </p:txBody>
      </p:sp>
    </p:spTree>
    <p:extLst>
      <p:ext uri="{BB962C8B-B14F-4D97-AF65-F5344CB8AC3E}">
        <p14:creationId xmlns:p14="http://schemas.microsoft.com/office/powerpoint/2010/main" val="31747231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74E5C8-F845-6867-3F24-0A4D18D440C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251E657-3A4F-F643-B5FE-F848932BB249}"/>
              </a:ext>
            </a:extLst>
          </p:cNvPr>
          <p:cNvSpPr txBox="1"/>
          <p:nvPr/>
        </p:nvSpPr>
        <p:spPr>
          <a:xfrm>
            <a:off x="722376" y="576072"/>
            <a:ext cx="1436612" cy="707886"/>
          </a:xfrm>
          <a:prstGeom prst="rect">
            <a:avLst/>
          </a:prstGeom>
          <a:noFill/>
        </p:spPr>
        <p:txBody>
          <a:bodyPr wrap="none" rtlCol="0">
            <a:spAutoFit/>
          </a:bodyPr>
          <a:lstStyle/>
          <a:p>
            <a:r>
              <a:rPr lang="en-GB" sz="4000" dirty="0"/>
              <a:t>Demo</a:t>
            </a:r>
          </a:p>
        </p:txBody>
      </p:sp>
      <p:sp>
        <p:nvSpPr>
          <p:cNvPr id="4" name="TextBox 3">
            <a:extLst>
              <a:ext uri="{FF2B5EF4-FFF2-40B4-BE49-F238E27FC236}">
                <a16:creationId xmlns:a16="http://schemas.microsoft.com/office/drawing/2014/main" id="{303C690B-5769-EFCF-21B9-2F10CBECB5E3}"/>
              </a:ext>
            </a:extLst>
          </p:cNvPr>
          <p:cNvSpPr txBox="1"/>
          <p:nvPr/>
        </p:nvSpPr>
        <p:spPr>
          <a:xfrm>
            <a:off x="2678228" y="3075057"/>
            <a:ext cx="6832384" cy="707886"/>
          </a:xfrm>
          <a:prstGeom prst="rect">
            <a:avLst/>
          </a:prstGeom>
          <a:noFill/>
        </p:spPr>
        <p:txBody>
          <a:bodyPr wrap="none" rtlCol="0">
            <a:spAutoFit/>
          </a:bodyPr>
          <a:lstStyle/>
          <a:p>
            <a:pPr algn="ctr"/>
            <a:r>
              <a:rPr lang="en-GB" sz="4000" dirty="0"/>
              <a:t>Counter value in different pages</a:t>
            </a:r>
          </a:p>
        </p:txBody>
      </p:sp>
    </p:spTree>
    <p:extLst>
      <p:ext uri="{BB962C8B-B14F-4D97-AF65-F5344CB8AC3E}">
        <p14:creationId xmlns:p14="http://schemas.microsoft.com/office/powerpoint/2010/main" val="2123101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177067D6-BE87-AD69-1C20-9125336CF2E5}"/>
              </a:ext>
            </a:extLst>
          </p:cNvPr>
          <p:cNvSpPr/>
          <p:nvPr/>
        </p:nvSpPr>
        <p:spPr>
          <a:xfrm>
            <a:off x="530352" y="0"/>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Shell-owned theming across the federation</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956EBAC9-BB98-ECDE-8693-BBDC50395DCE}"/>
              </a:ext>
            </a:extLst>
          </p:cNvPr>
          <p:cNvSpPr/>
          <p:nvPr/>
        </p:nvSpPr>
        <p:spPr>
          <a:xfrm>
            <a:off x="536448" y="777240"/>
            <a:ext cx="11064240" cy="4741433"/>
          </a:xfrm>
          <a:prstGeom prst="rect">
            <a:avLst/>
          </a:prstGeom>
          <a:noFill/>
          <a:ln/>
        </p:spPr>
        <p:txBody>
          <a:bodyPr wrap="square" rtlCol="0" anchor="t"/>
          <a:lstStyle/>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Shell (owns 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Persists to localStorage ("mf-demo-theme")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Applies CSS variables to document.documentElement</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Exposes window.__MF_THEME__ bridge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Broadcasts "themeChange" event</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Records       → useActiveTheme()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Prescriptions → useActiveTheme()</a:t>
            </a:r>
          </a:p>
          <a:p>
            <a:pPr marL="0" indent="0" algn="l">
              <a:lnSpc>
                <a:spcPct val="150000"/>
              </a:lnSpc>
              <a:buNone/>
            </a:pPr>
            <a:r>
              <a:rPr lang="en-US" sz="2400" dirty="0">
                <a:solidFill>
                  <a:schemeClr val="tx1">
                    <a:lumMod val="95000"/>
                    <a:lumOff val="5000"/>
                  </a:schemeClr>
                </a:solidFill>
                <a:latin typeface="Cascadia Code NF" pitchFamily="50" charset="0"/>
                <a:ea typeface="Cascadia Code NF" pitchFamily="50" charset="0"/>
                <a:cs typeface="Cascadia Code NF" pitchFamily="50" charset="0"/>
              </a:rPr>
              <a:t>        └── Analytics     → useActiveTheme()</a:t>
            </a:r>
          </a:p>
        </p:txBody>
      </p:sp>
    </p:spTree>
    <p:extLst>
      <p:ext uri="{BB962C8B-B14F-4D97-AF65-F5344CB8AC3E}">
        <p14:creationId xmlns:p14="http://schemas.microsoft.com/office/powerpoint/2010/main" val="317173830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EF027E61-C1A6-D975-A2F7-55C2DC49228C}"/>
              </a:ext>
            </a:extLst>
          </p:cNvPr>
          <p:cNvSpPr/>
          <p:nvPr/>
        </p:nvSpPr>
        <p:spPr>
          <a:xfrm>
            <a:off x="566801" y="0"/>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Seven things to remember</a:t>
            </a:r>
            <a:endParaRPr lang="en-US" sz="3300" dirty="0">
              <a:solidFill>
                <a:schemeClr val="tx1">
                  <a:lumMod val="95000"/>
                  <a:lumOff val="5000"/>
                </a:schemeClr>
              </a:solidFill>
            </a:endParaRPr>
          </a:p>
        </p:txBody>
      </p:sp>
      <p:sp>
        <p:nvSpPr>
          <p:cNvPr id="5" name="Text 5">
            <a:extLst>
              <a:ext uri="{FF2B5EF4-FFF2-40B4-BE49-F238E27FC236}">
                <a16:creationId xmlns:a16="http://schemas.microsoft.com/office/drawing/2014/main" id="{EFF2B295-89D0-700E-1CD6-1F0E290DD0E1}"/>
              </a:ext>
            </a:extLst>
          </p:cNvPr>
          <p:cNvSpPr/>
          <p:nvPr/>
        </p:nvSpPr>
        <p:spPr>
          <a:xfrm>
            <a:off x="566801" y="777240"/>
            <a:ext cx="11182985" cy="5824728"/>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Micro-frontends solve a people problem: team scale, not bundle size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Suspense fallbacks cover load UX. Module Federation covers team DX</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Prefer events over shared state: CustomEvents survive independent deploys</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Host owns routing: remotes request navigation, only the shell mutates it</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Ship fault isolation on purpose: .catch() + ErrorBoundary per module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err="1">
                <a:solidFill>
                  <a:schemeClr val="tx1">
                    <a:lumMod val="95000"/>
                    <a:lumOff val="5000"/>
                  </a:schemeClr>
                </a:solidFill>
                <a:latin typeface="DM Sans" pitchFamily="34" charset="0"/>
                <a:ea typeface="DM Sans" pitchFamily="34" charset="-122"/>
                <a:cs typeface="DM Sans" pitchFamily="34" charset="-120"/>
              </a:rPr>
              <a:t>Rspack</a:t>
            </a:r>
            <a:r>
              <a:rPr lang="en-US" sz="2400" dirty="0">
                <a:solidFill>
                  <a:schemeClr val="tx1">
                    <a:lumMod val="95000"/>
                    <a:lumOff val="5000"/>
                  </a:schemeClr>
                </a:solidFill>
                <a:latin typeface="DM Sans" pitchFamily="34" charset="0"/>
                <a:ea typeface="DM Sans" pitchFamily="34" charset="-122"/>
                <a:cs typeface="DM Sans" pitchFamily="34" charset="-120"/>
              </a:rPr>
              <a:t> keeps the monorepo fast: sub-second HMR, Rust React Compiler, cache</a:t>
            </a:r>
            <a:endParaRPr lang="en-US" sz="2400" dirty="0">
              <a:solidFill>
                <a:schemeClr val="tx1">
                  <a:lumMod val="95000"/>
                  <a:lumOff val="5000"/>
                </a:schemeClr>
              </a:solidFill>
            </a:endParaRPr>
          </a:p>
          <a:p>
            <a:pPr marL="342900" indent="-342900">
              <a:lnSpc>
                <a:spcPct val="150000"/>
              </a:lnSpc>
              <a:buSzPct val="100000"/>
              <a:buFont typeface="Arial" panose="020B0604020202020204" pitchFamily="34" charset="0"/>
              <a:buChar char="•"/>
            </a:pPr>
            <a:r>
              <a:rPr lang="en-US" sz="2400" dirty="0">
                <a:solidFill>
                  <a:schemeClr val="tx1">
                    <a:lumMod val="95000"/>
                    <a:lumOff val="5000"/>
                  </a:schemeClr>
                </a:solidFill>
                <a:latin typeface="DM Sans" pitchFamily="34" charset="0"/>
                <a:ea typeface="DM Sans" pitchFamily="34" charset="-122"/>
                <a:cs typeface="DM Sans" pitchFamily="34" charset="-120"/>
              </a:rPr>
              <a:t>Match load strategy to content: instant / eager / suspense</a:t>
            </a:r>
            <a:endParaRPr lang="en-US" sz="2400" dirty="0">
              <a:solidFill>
                <a:schemeClr val="tx1">
                  <a:lumMod val="95000"/>
                  <a:lumOff val="5000"/>
                </a:schemeClr>
              </a:solidFill>
            </a:endParaRPr>
          </a:p>
        </p:txBody>
      </p:sp>
    </p:spTree>
    <p:extLst>
      <p:ext uri="{BB962C8B-B14F-4D97-AF65-F5344CB8AC3E}">
        <p14:creationId xmlns:p14="http://schemas.microsoft.com/office/powerpoint/2010/main" val="10089547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A803917B-4381-C3C7-FA95-857D711A79FD}"/>
              </a:ext>
            </a:extLst>
          </p:cNvPr>
          <p:cNvPicPr>
            <a:picLocks noChangeAspect="1"/>
          </p:cNvPicPr>
          <p:nvPr/>
        </p:nvPicPr>
        <p:blipFill>
          <a:blip r:embed="rId3"/>
          <a:stretch>
            <a:fillRect/>
          </a:stretch>
        </p:blipFill>
        <p:spPr>
          <a:xfrm>
            <a:off x="4297407" y="1158714"/>
            <a:ext cx="4087786" cy="3871374"/>
          </a:xfrm>
          <a:prstGeom prst="rect">
            <a:avLst/>
          </a:prstGeom>
        </p:spPr>
      </p:pic>
      <p:sp>
        <p:nvSpPr>
          <p:cNvPr id="12" name="TextBox 11">
            <a:extLst>
              <a:ext uri="{FF2B5EF4-FFF2-40B4-BE49-F238E27FC236}">
                <a16:creationId xmlns:a16="http://schemas.microsoft.com/office/drawing/2014/main" id="{29D0F35D-631E-8C23-5845-6023A66D27DD}"/>
              </a:ext>
            </a:extLst>
          </p:cNvPr>
          <p:cNvSpPr txBox="1"/>
          <p:nvPr/>
        </p:nvSpPr>
        <p:spPr>
          <a:xfrm>
            <a:off x="3822192" y="3655026"/>
            <a:ext cx="1627369" cy="1569660"/>
          </a:xfrm>
          <a:prstGeom prst="rect">
            <a:avLst/>
          </a:prstGeom>
          <a:noFill/>
        </p:spPr>
        <p:txBody>
          <a:bodyPr wrap="none" rtlCol="0">
            <a:spAutoFit/>
          </a:bodyPr>
          <a:lstStyle/>
          <a:p>
            <a:pPr algn="ctr"/>
            <a:r>
              <a:rPr lang="en-GB" sz="9600" dirty="0">
                <a:latin typeface="Cascadia Code" panose="020B0609020000020004" pitchFamily="49" charset="0"/>
                <a:cs typeface="Cascadia Code" panose="020B0609020000020004" pitchFamily="49" charset="0"/>
              </a:rPr>
              <a:t>AI</a:t>
            </a:r>
          </a:p>
        </p:txBody>
      </p:sp>
    </p:spTree>
    <p:extLst>
      <p:ext uri="{BB962C8B-B14F-4D97-AF65-F5344CB8AC3E}">
        <p14:creationId xmlns:p14="http://schemas.microsoft.com/office/powerpoint/2010/main" val="21967390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B5158BA-B2A6-2F27-F186-4EF8F56E7BD9}"/>
              </a:ext>
            </a:extLst>
          </p:cNvPr>
          <p:cNvPicPr>
            <a:picLocks noChangeAspect="1"/>
          </p:cNvPicPr>
          <p:nvPr/>
        </p:nvPicPr>
        <p:blipFill>
          <a:blip r:embed="rId3"/>
          <a:stretch>
            <a:fillRect/>
          </a:stretch>
        </p:blipFill>
        <p:spPr>
          <a:xfrm>
            <a:off x="3557944" y="0"/>
            <a:ext cx="5072937" cy="6858000"/>
          </a:xfrm>
          <a:prstGeom prst="rect">
            <a:avLst/>
          </a:prstGeom>
        </p:spPr>
      </p:pic>
    </p:spTree>
    <p:extLst>
      <p:ext uri="{BB962C8B-B14F-4D97-AF65-F5344CB8AC3E}">
        <p14:creationId xmlns:p14="http://schemas.microsoft.com/office/powerpoint/2010/main" val="258829973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F1A212-8E57-6816-E45C-C202E54FFB1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DFC6324-4D3C-F263-D3FB-B7304428462B}"/>
              </a:ext>
            </a:extLst>
          </p:cNvPr>
          <p:cNvSpPr txBox="1"/>
          <p:nvPr/>
        </p:nvSpPr>
        <p:spPr>
          <a:xfrm>
            <a:off x="1119382" y="2736683"/>
            <a:ext cx="10027796" cy="1384634"/>
          </a:xfrm>
          <a:prstGeom prst="rect">
            <a:avLst/>
          </a:prstGeom>
          <a:noFill/>
        </p:spPr>
        <p:txBody>
          <a:bodyPr wrap="square">
            <a:spAutoFit/>
          </a:bodyPr>
          <a:lstStyle/>
          <a:p>
            <a:r>
              <a:rPr lang="en-GB" sz="2799" b="1" dirty="0">
                <a:solidFill>
                  <a:schemeClr val="tx1">
                    <a:lumMod val="95000"/>
                    <a:lumOff val="5000"/>
                  </a:schemeClr>
                </a:solidFill>
              </a:rPr>
              <a:t>Knowledge atrophy </a:t>
            </a:r>
            <a:r>
              <a:rPr lang="en-GB" sz="2799" dirty="0">
                <a:solidFill>
                  <a:schemeClr val="bg2">
                    <a:lumMod val="25000"/>
                  </a:schemeClr>
                </a:solidFill>
              </a:rPr>
              <a:t>is the gradual weakening of human thinking and problem-solving skills through overreliance on AI to do our mental work.</a:t>
            </a:r>
          </a:p>
        </p:txBody>
      </p:sp>
    </p:spTree>
    <p:extLst>
      <p:ext uri="{BB962C8B-B14F-4D97-AF65-F5344CB8AC3E}">
        <p14:creationId xmlns:p14="http://schemas.microsoft.com/office/powerpoint/2010/main" val="17713808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C10217-0EAC-9F13-AEFC-6AB11AA41BCD}"/>
              </a:ext>
            </a:extLst>
          </p:cNvPr>
          <p:cNvPicPr>
            <a:picLocks noChangeAspect="1"/>
          </p:cNvPicPr>
          <p:nvPr/>
        </p:nvPicPr>
        <p:blipFill>
          <a:blip r:embed="rId3"/>
          <a:stretch>
            <a:fillRect/>
          </a:stretch>
        </p:blipFill>
        <p:spPr>
          <a:xfrm>
            <a:off x="1" y="138017"/>
            <a:ext cx="12188475" cy="6719090"/>
          </a:xfrm>
          <a:prstGeom prst="rect">
            <a:avLst/>
          </a:prstGeom>
        </p:spPr>
      </p:pic>
    </p:spTree>
    <p:extLst>
      <p:ext uri="{BB962C8B-B14F-4D97-AF65-F5344CB8AC3E}">
        <p14:creationId xmlns:p14="http://schemas.microsoft.com/office/powerpoint/2010/main" val="347024113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1">
            <a:extLst>
              <a:ext uri="{FF2B5EF4-FFF2-40B4-BE49-F238E27FC236}">
                <a16:creationId xmlns:a16="http://schemas.microsoft.com/office/drawing/2014/main" id="{B9B17927-D537-2054-3DCD-46D230E54D61}"/>
              </a:ext>
            </a:extLst>
          </p:cNvPr>
          <p:cNvSpPr/>
          <p:nvPr/>
        </p:nvSpPr>
        <p:spPr>
          <a:xfrm>
            <a:off x="548640" y="2331720"/>
            <a:ext cx="11064240" cy="1280160"/>
          </a:xfrm>
          <a:prstGeom prst="rect">
            <a:avLst/>
          </a:prstGeom>
          <a:noFill/>
          <a:ln/>
        </p:spPr>
        <p:txBody>
          <a:bodyPr wrap="square" rtlCol="0" anchor="ctr"/>
          <a:lstStyle/>
          <a:p>
            <a:pPr marL="0" indent="0">
              <a:buNone/>
            </a:pPr>
            <a:r>
              <a:rPr lang="en-US" sz="6000" i="1" dirty="0">
                <a:solidFill>
                  <a:schemeClr val="tx1">
                    <a:lumMod val="95000"/>
                    <a:lumOff val="5000"/>
                  </a:schemeClr>
                </a:solidFill>
                <a:latin typeface="Instrument Serif" pitchFamily="34" charset="0"/>
                <a:ea typeface="Instrument Serif" pitchFamily="34" charset="-122"/>
                <a:cs typeface="Instrument Serif" pitchFamily="34" charset="-120"/>
              </a:rPr>
              <a:t>Thank you.</a:t>
            </a:r>
            <a:endParaRPr lang="en-US" sz="6000" dirty="0">
              <a:solidFill>
                <a:schemeClr val="tx1">
                  <a:lumMod val="95000"/>
                  <a:lumOff val="5000"/>
                </a:schemeClr>
              </a:solidFill>
            </a:endParaRPr>
          </a:p>
        </p:txBody>
      </p:sp>
      <p:sp>
        <p:nvSpPr>
          <p:cNvPr id="7" name="Text 2">
            <a:extLst>
              <a:ext uri="{FF2B5EF4-FFF2-40B4-BE49-F238E27FC236}">
                <a16:creationId xmlns:a16="http://schemas.microsoft.com/office/drawing/2014/main" id="{74B31B54-B88A-D269-A665-00C530BE9093}"/>
              </a:ext>
            </a:extLst>
          </p:cNvPr>
          <p:cNvSpPr/>
          <p:nvPr/>
        </p:nvSpPr>
        <p:spPr>
          <a:xfrm>
            <a:off x="640080" y="3703320"/>
            <a:ext cx="10972800" cy="457200"/>
          </a:xfrm>
          <a:prstGeom prst="rect">
            <a:avLst/>
          </a:prstGeom>
          <a:noFill/>
          <a:ln/>
        </p:spPr>
        <p:txBody>
          <a:bodyPr wrap="square" rtlCol="0" anchor="ctr"/>
          <a:lstStyle/>
          <a:p>
            <a:pPr marL="0" indent="0">
              <a:buNone/>
            </a:pPr>
            <a:r>
              <a:rPr lang="en-US" sz="2800" dirty="0">
                <a:solidFill>
                  <a:schemeClr val="tx1">
                    <a:lumMod val="95000"/>
                    <a:lumOff val="5000"/>
                  </a:schemeClr>
                </a:solidFill>
                <a:latin typeface="DM Sans" pitchFamily="34" charset="0"/>
                <a:ea typeface="DM Sans" pitchFamily="34" charset="-122"/>
                <a:cs typeface="DM Sans" pitchFamily="34" charset="-120"/>
              </a:rPr>
              <a:t>@DevlinDuldulao</a:t>
            </a:r>
            <a:endParaRPr lang="en-US" sz="2800" dirty="0">
              <a:solidFill>
                <a:schemeClr val="tx1">
                  <a:lumMod val="95000"/>
                  <a:lumOff val="5000"/>
                </a:schemeClr>
              </a:solidFill>
            </a:endParaRPr>
          </a:p>
        </p:txBody>
      </p:sp>
      <p:pic>
        <p:nvPicPr>
          <p:cNvPr id="11" name="Picture 10">
            <a:extLst>
              <a:ext uri="{FF2B5EF4-FFF2-40B4-BE49-F238E27FC236}">
                <a16:creationId xmlns:a16="http://schemas.microsoft.com/office/drawing/2014/main" id="{EE42FC8F-E622-B57A-8D17-21F71B4A52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90945" y="534340"/>
            <a:ext cx="4874920" cy="4874920"/>
          </a:xfrm>
          <a:prstGeom prst="rect">
            <a:avLst/>
          </a:prstGeom>
        </p:spPr>
      </p:pic>
      <p:sp>
        <p:nvSpPr>
          <p:cNvPr id="13" name="Text 3">
            <a:extLst>
              <a:ext uri="{FF2B5EF4-FFF2-40B4-BE49-F238E27FC236}">
                <a16:creationId xmlns:a16="http://schemas.microsoft.com/office/drawing/2014/main" id="{C8E8866F-ACA3-AC4B-2C7F-ED97CBE40635}"/>
              </a:ext>
            </a:extLst>
          </p:cNvPr>
          <p:cNvSpPr/>
          <p:nvPr/>
        </p:nvSpPr>
        <p:spPr>
          <a:xfrm>
            <a:off x="7022465" y="5294960"/>
            <a:ext cx="3611880" cy="228600"/>
          </a:xfrm>
          <a:prstGeom prst="rect">
            <a:avLst/>
          </a:prstGeom>
          <a:noFill/>
          <a:ln/>
        </p:spPr>
        <p:txBody>
          <a:bodyPr wrap="square" rtlCol="0" anchor="ctr"/>
          <a:lstStyle/>
          <a:p>
            <a:pPr marL="0" indent="0" algn="ctr">
              <a:buNone/>
            </a:pPr>
            <a:r>
              <a:rPr lang="en-US" sz="2000" kern="0" spc="100" dirty="0">
                <a:solidFill>
                  <a:schemeClr val="tx1">
                    <a:lumMod val="95000"/>
                    <a:lumOff val="5000"/>
                  </a:schemeClr>
                </a:solidFill>
                <a:latin typeface="Brush Script MT" panose="03060802040406070304" pitchFamily="66" charset="0"/>
                <a:ea typeface="IBM Plex Mono" pitchFamily="34" charset="-122"/>
                <a:cs typeface="IBM Plex Mono" pitchFamily="34" charset="-120"/>
              </a:rPr>
              <a:t>Social links</a:t>
            </a:r>
            <a:endParaRPr lang="en-US" sz="2000" dirty="0">
              <a:solidFill>
                <a:schemeClr val="tx1">
                  <a:lumMod val="95000"/>
                  <a:lumOff val="5000"/>
                </a:schemeClr>
              </a:solidFill>
              <a:latin typeface="Brush Script MT" panose="03060802040406070304" pitchFamily="66" charset="0"/>
            </a:endParaRPr>
          </a:p>
        </p:txBody>
      </p:sp>
    </p:spTree>
    <p:extLst>
      <p:ext uri="{BB962C8B-B14F-4D97-AF65-F5344CB8AC3E}">
        <p14:creationId xmlns:p14="http://schemas.microsoft.com/office/powerpoint/2010/main" val="29172654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3774</TotalTime>
  <Words>2516</Words>
  <Application>Microsoft Office PowerPoint</Application>
  <PresentationFormat>Custom</PresentationFormat>
  <Paragraphs>211</Paragraphs>
  <Slides>37</Slides>
  <Notes>33</Notes>
  <HiddenSlides>1</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37</vt:i4>
      </vt:variant>
    </vt:vector>
  </HeadingPairs>
  <TitlesOfParts>
    <vt:vector size="46" baseType="lpstr">
      <vt:lpstr>Aptos</vt:lpstr>
      <vt:lpstr>Arial</vt:lpstr>
      <vt:lpstr>Brush Script MT</vt:lpstr>
      <vt:lpstr>Cascadia Code</vt:lpstr>
      <vt:lpstr>Cascadia Code NF</vt:lpstr>
      <vt:lpstr>DM Sans</vt:lpstr>
      <vt:lpstr>IBM Plex Mono</vt:lpstr>
      <vt:lpstr>Instrument Serif</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5 Devs to 200 — Micro-Frontends That Scale Your Team and Keep the UI Responsive</dc:title>
  <dc:subject>PptxGenJS Presentation</dc:subject>
  <dc:creator>Module Federation Demo</dc:creator>
  <cp:lastModifiedBy>Duldulao, Devlin (DNV External)</cp:lastModifiedBy>
  <cp:revision>282</cp:revision>
  <dcterms:created xsi:type="dcterms:W3CDTF">2026-07-26T17:49:56Z</dcterms:created>
  <dcterms:modified xsi:type="dcterms:W3CDTF">2026-09-08T13:56:42Z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ies>
</file>