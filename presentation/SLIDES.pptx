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739cec39224936" /><Relationship Type="http://schemas.openxmlformats.org/officeDocument/2006/relationships/extended-properties" Target="/docProps/app.xml" Id="R17d35006a6614c3a" /><Relationship Type="http://schemas.openxmlformats.org/officeDocument/2006/relationships/officeDocument" Target="/ppt/presentation.xml" Id="Ra67a1cdcfe6241b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9c9520998f4624"/>
  </p:sldMasterIdLst>
  <p:notesMasterIdLst>
    <p:notesMasterId xmlns:r="http://schemas.openxmlformats.org/officeDocument/2006/relationships" r:id="Rdb422af7df8c4ebd"/>
  </p:notesMasterIdLst>
  <p:sldIdLst>
    <p:sldId xmlns:r="http://schemas.openxmlformats.org/officeDocument/2006/relationships" id="256" r:id="Rbb8b69133d604a36"/>
    <p:sldId xmlns:r="http://schemas.openxmlformats.org/officeDocument/2006/relationships" id="257" r:id="Rc7ca489eab2f4347"/>
    <p:sldId xmlns:r="http://schemas.openxmlformats.org/officeDocument/2006/relationships" id="258" r:id="R8305304668054b89"/>
    <p:sldId xmlns:r="http://schemas.openxmlformats.org/officeDocument/2006/relationships" id="259" r:id="Rcbbb0fe47ea34cdd"/>
    <p:sldId xmlns:r="http://schemas.openxmlformats.org/officeDocument/2006/relationships" id="260" r:id="Rfa34303df2a641e2"/>
    <p:sldId xmlns:r="http://schemas.openxmlformats.org/officeDocument/2006/relationships" id="261" r:id="R026930e75f074de2"/>
    <p:sldId xmlns:r="http://schemas.openxmlformats.org/officeDocument/2006/relationships" id="262" r:id="R623f84baa1bd4e1c"/>
    <p:sldId xmlns:r="http://schemas.openxmlformats.org/officeDocument/2006/relationships" id="263" r:id="R49b9b4b8c85e4435"/>
    <p:sldId xmlns:r="http://schemas.openxmlformats.org/officeDocument/2006/relationships" id="264" r:id="R15d8e933b8cf4d90"/>
    <p:sldId xmlns:r="http://schemas.openxmlformats.org/officeDocument/2006/relationships" id="265" r:id="Rcc4d391e911349dd"/>
    <p:sldId xmlns:r="http://schemas.openxmlformats.org/officeDocument/2006/relationships" id="266" r:id="R87cff2b88e514579"/>
    <p:sldId xmlns:r="http://schemas.openxmlformats.org/officeDocument/2006/relationships" id="267" r:id="Re726c2cc73e24dc5"/>
    <p:sldId xmlns:r="http://schemas.openxmlformats.org/officeDocument/2006/relationships" id="268" r:id="R690be625f1fc4e44"/>
    <p:sldId xmlns:r="http://schemas.openxmlformats.org/officeDocument/2006/relationships" id="269" r:id="R5d135eb551554b5a"/>
    <p:sldId xmlns:r="http://schemas.openxmlformats.org/officeDocument/2006/relationships" id="270" r:id="R63e75eef41524fab"/>
    <p:sldId xmlns:r="http://schemas.openxmlformats.org/officeDocument/2006/relationships" id="271" r:id="Rf03b77f166024225"/>
    <p:sldId xmlns:r="http://schemas.openxmlformats.org/officeDocument/2006/relationships" id="272" r:id="R7a809123668041ca"/>
    <p:sldId xmlns:r="http://schemas.openxmlformats.org/officeDocument/2006/relationships" id="273" r:id="R88f03a5b6da44f7f"/>
    <p:sldId xmlns:r="http://schemas.openxmlformats.org/officeDocument/2006/relationships" id="274" r:id="Rfd847e42bd4f4c85"/>
  </p:sldIdLst>
  <p:sldSz cx="12188952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5add8919354386" /><Relationship Type="http://schemas.openxmlformats.org/officeDocument/2006/relationships/slideMaster" Target="/ppt/slideMasters/slideMaster1.xml" Id="Rfb9c9520998f4624" /><Relationship Type="http://schemas.openxmlformats.org/officeDocument/2006/relationships/notesMaster" Target="/ppt/notesMasters/notesMaster1.xml" Id="Rdb422af7df8c4ebd" /><Relationship Type="http://schemas.openxmlformats.org/officeDocument/2006/relationships/presProps" Target="/ppt/presProps.xml" Id="R45cfac73bc864c2c" /><Relationship Type="http://schemas.openxmlformats.org/officeDocument/2006/relationships/tableStyles" Target="/ppt/tableStyles.xml" Id="Ra6ad0cd1f87143d9" /><Relationship Type="http://schemas.openxmlformats.org/officeDocument/2006/relationships/slide" Target="/ppt/slides/slide1.xml" Id="Rbb8b69133d604a36" /><Relationship Type="http://schemas.openxmlformats.org/officeDocument/2006/relationships/slide" Target="/ppt/slides/slide2.xml" Id="Rc7ca489eab2f4347" /><Relationship Type="http://schemas.openxmlformats.org/officeDocument/2006/relationships/slide" Target="/ppt/slides/slide3.xml" Id="R8305304668054b89" /><Relationship Type="http://schemas.openxmlformats.org/officeDocument/2006/relationships/slide" Target="/ppt/slides/slide4.xml" Id="Rcbbb0fe47ea34cdd" /><Relationship Type="http://schemas.openxmlformats.org/officeDocument/2006/relationships/slide" Target="/ppt/slides/slide5.xml" Id="Rfa34303df2a641e2" /><Relationship Type="http://schemas.openxmlformats.org/officeDocument/2006/relationships/slide" Target="/ppt/slides/slide6.xml" Id="R026930e75f074de2" /><Relationship Type="http://schemas.openxmlformats.org/officeDocument/2006/relationships/slide" Target="/ppt/slides/slide7.xml" Id="R623f84baa1bd4e1c" /><Relationship Type="http://schemas.openxmlformats.org/officeDocument/2006/relationships/slide" Target="/ppt/slides/slide8.xml" Id="R49b9b4b8c85e4435" /><Relationship Type="http://schemas.openxmlformats.org/officeDocument/2006/relationships/slide" Target="/ppt/slides/slide9.xml" Id="R15d8e933b8cf4d90" /><Relationship Type="http://schemas.openxmlformats.org/officeDocument/2006/relationships/slide" Target="/ppt/slides/slide10.xml" Id="Rcc4d391e911349dd" /><Relationship Type="http://schemas.openxmlformats.org/officeDocument/2006/relationships/slide" Target="/ppt/slides/slide11.xml" Id="R87cff2b88e514579" /><Relationship Type="http://schemas.openxmlformats.org/officeDocument/2006/relationships/slide" Target="/ppt/slides/slide12.xml" Id="Re726c2cc73e24dc5" /><Relationship Type="http://schemas.openxmlformats.org/officeDocument/2006/relationships/slide" Target="/ppt/slides/slide13.xml" Id="R690be625f1fc4e44" /><Relationship Type="http://schemas.openxmlformats.org/officeDocument/2006/relationships/slide" Target="/ppt/slides/slide14.xml" Id="R5d135eb551554b5a" /><Relationship Type="http://schemas.openxmlformats.org/officeDocument/2006/relationships/slide" Target="/ppt/slides/slide15.xml" Id="R63e75eef41524fab" /><Relationship Type="http://schemas.openxmlformats.org/officeDocument/2006/relationships/slide" Target="/ppt/slides/slide16.xml" Id="Rf03b77f166024225" /><Relationship Type="http://schemas.openxmlformats.org/officeDocument/2006/relationships/slide" Target="/ppt/slides/slide17.xml" Id="R7a809123668041ca" /><Relationship Type="http://schemas.openxmlformats.org/officeDocument/2006/relationships/slide" Target="/ppt/slides/slide18.xml" Id="R88f03a5b6da44f7f" /><Relationship Type="http://schemas.openxmlformats.org/officeDocument/2006/relationships/slide" Target="/ppt/slides/slide19.xml" Id="Rfd847e42bd4f4c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5732a26e62446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bcaa33baf04d99" /><Relationship Type="http://schemas.openxmlformats.org/officeDocument/2006/relationships/notesMaster" Target="/ppt/notesMasters/notesMaster1.xml" Id="R9b60193933b64a9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355d45eacd4704" /><Relationship Type="http://schemas.openxmlformats.org/officeDocument/2006/relationships/notesMaster" Target="/ppt/notesMasters/notesMaster1.xml" Id="Rf63eadb75126427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29d93d4716f48b9" /><Relationship Type="http://schemas.openxmlformats.org/officeDocument/2006/relationships/notesMaster" Target="/ppt/notesMasters/notesMaster1.xml" Id="Ref54d798737b42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e0869f59f4745f6" /><Relationship Type="http://schemas.openxmlformats.org/officeDocument/2006/relationships/notesMaster" Target="/ppt/notesMasters/notesMaster1.xml" Id="R8427de6eb204422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7044941085480e" /><Relationship Type="http://schemas.openxmlformats.org/officeDocument/2006/relationships/notesMaster" Target="/ppt/notesMasters/notesMaster1.xml" Id="R01985e9e84cf4eb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871b855b4c4b84" /><Relationship Type="http://schemas.openxmlformats.org/officeDocument/2006/relationships/notesMaster" Target="/ppt/notesMasters/notesMaster1.xml" Id="R81108e0d1b9b4d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81ea13570c140c3" /><Relationship Type="http://schemas.openxmlformats.org/officeDocument/2006/relationships/notesMaster" Target="/ppt/notesMasters/notesMaster1.xml" Id="R7533275469a249d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f7a9831bdf7410a" /><Relationship Type="http://schemas.openxmlformats.org/officeDocument/2006/relationships/notesMaster" Target="/ppt/notesMasters/notesMaster1.xml" Id="Rcefef5f128e1486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6f390a0d2cc4e43" /><Relationship Type="http://schemas.openxmlformats.org/officeDocument/2006/relationships/notesMaster" Target="/ppt/notesMasters/notesMaster1.xml" Id="R6484cf791186408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081452db5f54254" /><Relationship Type="http://schemas.openxmlformats.org/officeDocument/2006/relationships/notesMaster" Target="/ppt/notesMasters/notesMaster1.xml" Id="Rb2b59453e8cd4b1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68d1422c34940d0" /><Relationship Type="http://schemas.openxmlformats.org/officeDocument/2006/relationships/notesMaster" Target="/ppt/notesMasters/notesMaster1.xml" Id="Ra2de81537ef64e5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1cd2c7a828e49aa" /><Relationship Type="http://schemas.openxmlformats.org/officeDocument/2006/relationships/notesMaster" Target="/ppt/notesMasters/notesMaster1.xml" Id="R63bfbe8918144c6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cb16b21cc9845fa" /><Relationship Type="http://schemas.openxmlformats.org/officeDocument/2006/relationships/notesMaster" Target="/ppt/notesMasters/notesMaster1.xml" Id="R27a880867da14c9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5af5b496e454e7a" /><Relationship Type="http://schemas.openxmlformats.org/officeDocument/2006/relationships/notesMaster" Target="/ppt/notesMasters/notesMaster1.xml" Id="R7931f8077b7a4dc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8f284927baf4286" /><Relationship Type="http://schemas.openxmlformats.org/officeDocument/2006/relationships/notesMaster" Target="/ppt/notesMasters/notesMaster1.xml" Id="Ra981381c49fa4ed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4a8ce84f81d495f" /><Relationship Type="http://schemas.openxmlformats.org/officeDocument/2006/relationships/notesMaster" Target="/ppt/notesMasters/notesMaster1.xml" Id="R08ead707ee784ba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22ac117dc214df0" /><Relationship Type="http://schemas.openxmlformats.org/officeDocument/2006/relationships/notesMaster" Target="/ppt/notesMasters/notesMaster1.xml" Id="R38378bf23bb841d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ea36a086670489a" /><Relationship Type="http://schemas.openxmlformats.org/officeDocument/2006/relationships/notesMaster" Target="/ppt/notesMasters/notesMaster1.xml" Id="Rf1f368f73a69438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17d4eba58bc4979" /><Relationship Type="http://schemas.openxmlformats.org/officeDocument/2006/relationships/notesMaster" Target="/ppt/notesMasters/notesMaster1.xml" Id="R9125d1259c2149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Hook: this talk is about both sides of the micro-frontend equation — DX for teams and UX for users. Everything shown is a running app the audience can clone.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 architecture talks start with bundle sizes. The actual pain that drives companies to micro-frontends is developer experience at scale. Walk the ladder slowly — the audience will recognize where they are.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thesis slide. Module Federation and Suspense are usually presented separately — combined, each remote owns its own loading choreography while the shell stays ignorant.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at the status strip in the live demo — it shows INSTANT / EAGER / STREAMING per module. Not every module should load the same way; the shell decides by content priority.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cd into any package, pnpm run dev, full HMR — no shell needed. The async bootstrap pattern is what makes standalone mode possible with shared React (eager: false).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Everything else in rspack.config.ts is a normal bundler config. Remove ModuleFederationPlugin and you have five unrelated apps. exposes = the contract, remotes = runtime discovery, shared = deduplication.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streaming wrapper's ONLY job is to trigger Suspense. The actual UI lives in the standalone component. read() throws the promise while pending — Suspense in the shell catches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Anticipate the question: why lazy() for eager modules? MF remotes are separate builds resolved at runtime via import() — you can't use a static import. Eager import() at shell init warms the cache; lazy() resolves instantly from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command palette (Ctrl+K) is the speaker's secret weapon — kill a remote, switch themes, navigate modules without leaving the keyboard.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Kill the records remote live here. The one honest caveat: all modules share a browser tab, so an infinite loop freezes everything — the inherent cost of a shared runtime, and virtually every MF architecture accepts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Zero coupling — modules never import each other. Works across frameworks, survives independent deploys and version mismatches. The shell stays the only router owner.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shell rewrites CSS variables on :root, persists to localStorage, exposes window.__MF_THEME__, and broadcasts themeChange. Remotes react via a hook — no shared imports, no prop drilling.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Records is already cached by the time the user clicks. Prescriptions and Analytics start loading when the cursor touches the tab.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vitest alias trick resolves MF imports to source files. 210 tests across 21 files, all green — run pnpm test live if time allows.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Typography: Instrument Serif for display, DM Sans body, IBM Plex Mono labels. 1px grid gaps, citrine accent, staggered fadeInUp animations, SVG grain overlay.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this slide up while switching to the browser, or skip it entirely — it's the safety net if the demo machine fails.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Land takeaway #1 hardest: micro-frontends solve a people problem. Team size, not app size, is the signal.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production examples: healthcare platforms, SaaS dashboards, enterprise portals, media platforms — each domain as a federated remote.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Replace the repo URL with the real one before presenting. Invite questions about the React 19 Suspense waterfall — the answer is route-based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1428ee9eb94c34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7379644ec1433b" /><Relationship Type="http://schemas.openxmlformats.org/officeDocument/2006/relationships/slideLayout" Target="/ppt/slideLayouts/slideLayout1.xml" Id="Rb17b2de8ea8c4947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7b2de8ea8c4947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809b298fa54aec" /><Relationship Type="http://schemas.openxmlformats.org/officeDocument/2006/relationships/notesSlide" Target="/ppt/notesSlides/notesSlide1.xml" Id="Rca39f6683dd943d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bbf338d84c405c" /><Relationship Type="http://schemas.openxmlformats.org/officeDocument/2006/relationships/notesSlide" Target="/ppt/notesSlides/notesSlide2.xml" Id="R5e725875fd714bc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516f0855e44fc6" /><Relationship Type="http://schemas.openxmlformats.org/officeDocument/2006/relationships/notesSlide" Target="/ppt/notesSlides/notesSlide3.xml" Id="R89ce2414cc8649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6ecdd56b4a4aad" /><Relationship Type="http://schemas.openxmlformats.org/officeDocument/2006/relationships/notesSlide" Target="/ppt/notesSlides/notesSlide4.xml" Id="Rd5fd14375e0545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cc4d63332c4db1" /><Relationship Type="http://schemas.openxmlformats.org/officeDocument/2006/relationships/notesSlide" Target="/ppt/notesSlides/notesSlide5.xml" Id="R966c29db8ca443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6d113dd319474a" /><Relationship Type="http://schemas.openxmlformats.org/officeDocument/2006/relationships/notesSlide" Target="/ppt/notesSlides/notesSlide6.xml" Id="Rd9941f2f8a6f4db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1e2fae91534f0c" /><Relationship Type="http://schemas.openxmlformats.org/officeDocument/2006/relationships/notesSlide" Target="/ppt/notesSlides/notesSlide7.xml" Id="Rd4975047268c408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c6589ca2384392" /><Relationship Type="http://schemas.openxmlformats.org/officeDocument/2006/relationships/notesSlide" Target="/ppt/notesSlides/notesSlide8.xml" Id="R6afaae759961486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eefdfaeaec4fc3" /><Relationship Type="http://schemas.openxmlformats.org/officeDocument/2006/relationships/notesSlide" Target="/ppt/notesSlides/notesSlide9.xml" Id="R7de7a06624da4d3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cc78903c704613" /><Relationship Type="http://schemas.openxmlformats.org/officeDocument/2006/relationships/notesSlide" Target="/ppt/notesSlides/notesSlide10.xml" Id="R8c2d2881921e48d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c1199bc67243e8" /><Relationship Type="http://schemas.openxmlformats.org/officeDocument/2006/relationships/notesSlide" Target="/ppt/notesSlides/notesSlide11.xml" Id="Rc111951e33d64b8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c1b19dd1e04147" /><Relationship Type="http://schemas.openxmlformats.org/officeDocument/2006/relationships/notesSlide" Target="/ppt/notesSlides/notesSlide12.xml" Id="R2078eb027b6d4a0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a409fd3bb049d1" /><Relationship Type="http://schemas.openxmlformats.org/officeDocument/2006/relationships/notesSlide" Target="/ppt/notesSlides/notesSlide13.xml" Id="Rcb0620dbc242422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ade24bc3a54ff1" /><Relationship Type="http://schemas.openxmlformats.org/officeDocument/2006/relationships/notesSlide" Target="/ppt/notesSlides/notesSlide14.xml" Id="Rd0f1e7924d2144b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11f76a4e33442c" /><Relationship Type="http://schemas.openxmlformats.org/officeDocument/2006/relationships/notesSlide" Target="/ppt/notesSlides/notesSlide15.xml" Id="R0ae7a0c534c54b9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31035e252a453d" /><Relationship Type="http://schemas.openxmlformats.org/officeDocument/2006/relationships/notesSlide" Target="/ppt/notesSlides/notesSlide16.xml" Id="Rb91420e342d8416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ffa8ffe8fc44ce" /><Relationship Type="http://schemas.openxmlformats.org/officeDocument/2006/relationships/notesSlide" Target="/ppt/notesSlides/notesSlide17.xml" Id="R1a8cdd8d971742c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d498146bf14134" /><Relationship Type="http://schemas.openxmlformats.org/officeDocument/2006/relationships/notesSlide" Target="/ppt/notesSlides/notesSlide18.xml" Id="Racde5c4ee0014ad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15796a3c074331" /><Relationship Type="http://schemas.openxmlformats.org/officeDocument/2006/relationships/notesSlide" Target="/ppt/notesSlides/notesSlide19.xml" Id="Rc7cbc9f0f628478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961BC15-D453-4E6C-96D0-A9EC3B968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91440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spc="5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REACT CONFERENCE · 30-MINUTE TALK · LIVE DEMO</a:t>
            </a:r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8E74EAB-8A67-44FC-8E83-5C8051771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82296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F8C6368-BCBE-48C1-9E7A-3460ECCC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1106424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600" i="1">
                <a:solidFill>
                  <a:srgbClr val="FAFAF9"/>
                </a:solidFill>
                <a:latin typeface="Instrument Serif"/>
                <a:ea typeface="Instrument Serif"/>
                <a:cs typeface="Instrument Serif"/>
              </a:rPr>
              <a:t>From 5 Devs to 200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2406116-BC53-4467-9E93-8BD62C95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17520"/>
            <a:ext cx="10972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rgbClr val="A8A29E"/>
                </a:solidFill>
                <a:latin typeface="DM Sans"/>
                <a:ea typeface="DM Sans"/>
                <a:cs typeface="DM Sans"/>
              </a:rPr>
              <a:t>Micro-Frontends That Scale Your Team and Stream Your UI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557505-E42D-491E-8547-2148FACBF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94760"/>
            <a:ext cx="594360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Shell (host)      :3000</a:t>
            </a:r>
          </a:p>
          <a:p xmlns:a="http://schemas.openxmlformats.org/drawingml/2006/main"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├── Home          :3004   INSTANT</a:t>
            </a:r>
          </a:p>
          <a:p xmlns:a="http://schemas.openxmlformats.org/drawingml/2006/main"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├── Records       :3001   EAGER</a:t>
            </a:r>
          </a:p>
          <a:p xmlns:a="http://schemas.openxmlformats.org/drawingml/2006/main"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├── Prescriptions :3002   STREAMED</a:t>
            </a:r>
          </a:p>
          <a:p xmlns:a="http://schemas.openxmlformats.org/drawingml/2006/main"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└── Analytics     :3003   STREAMED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63DD80A-BDBC-4BBA-B68F-DE739881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spc="200">
                <a:solidFill>
                  <a:srgbClr val="D4FF00"/>
                </a:solidFill>
                <a:latin typeface="IBM Plex Mono"/>
                <a:ea typeface="IBM Plex Mono"/>
                <a:cs typeface="IBM Plex Mono"/>
              </a:rPr>
              <a:t>React 19 · Rspack 2.1 · Module Federation · TypeScript 6 · Tailwind CSS v4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C443483-3470-479F-AE5F-1B23BAC4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998464"/>
            <a:ext cx="3200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B0F5192-0F39-4BB5-9808-4155C51A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943600"/>
            <a:ext cx="108813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i="1">
                <a:solidFill>
                  <a:srgbClr val="A8A29E"/>
                </a:solidFill>
                <a:latin typeface="Instrument Serif"/>
                <a:ea typeface="Instrument Serif"/>
                <a:cs typeface="Instrument Serif"/>
              </a:rPr>
              <a:t>“What happens when you stop treating Suspense and Module Federation as separate ideas?”</a:t>
            </a:r>
          </a:p>
        </p:txBody>
      </p:sp>
    </p:spTree>
    <p:extLst>
      <p:ext uri="{BB962C8B-B14F-4D97-AF65-F5344CB8AC3E}">
        <p14:creationId xmlns:p14="http://schemas.microsoft.com/office/powerpoint/2010/main" val="12374896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53539A4-B8E3-441A-88C9-473F0D01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A85B555-FE9F-4151-B1B5-0ACFC352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7472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spc="4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THE PROBLEM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9912C88-221E-490B-B16C-08D7754A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11109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i="1">
                <a:solidFill>
                  <a:srgbClr val="FAFAF9"/>
                </a:solidFill>
                <a:latin typeface="Instrument Serif"/>
                <a:ea typeface="Instrument Serif"/>
                <a:cs typeface="Instrument Serif"/>
              </a:rPr>
              <a:t>The real bottleneck isn't your framework — it's your team size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B9AFD68-47C8-4E34-A3AF-ECA75079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spc="20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From 5 Devs to 200 · Micro-Frontends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DBE4352-BF01-4C96-AC60-DBA53A7C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02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A71A3243-AD6A-4E18-A24D-C7E93626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1106424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l">
              <a:lnSpc>
                <a:spcPts val="1820"/>
              </a:lnSpc>
              <a:buNone/>
            </a:pPr>
            <a:r>
              <a:rPr sz="13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5 devs → everyone knows the codebase → fast, fun, productive</a:t>
            </a:r>
          </a:p>
          <a:p xmlns:a="http://schemas.openxmlformats.org/drawingml/2006/main">
            <a:pPr marL="0" indent="0" algn="l">
              <a:lnSpc>
                <a:spcPts val="1820"/>
              </a:lnSpc>
              <a:buNone/>
            </a:pPr>
            <a:r>
              <a:rPr sz="13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15 devs → merge conflicts daily, CI takes 20 min</a:t>
            </a:r>
          </a:p>
          <a:p xmlns:a="http://schemas.openxmlformats.org/drawingml/2006/main">
            <a:pPr marL="0" indent="0" algn="l">
              <a:lnSpc>
                <a:spcPts val="1820"/>
              </a:lnSpc>
              <a:buNone/>
            </a:pPr>
            <a:r>
              <a:rPr sz="13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50 devs → deploys blocked by unrelated failures</a:t>
            </a:r>
          </a:p>
          <a:p xmlns:a="http://schemas.openxmlformats.org/drawingml/2006/main">
            <a:pPr marL="0" indent="0" algn="l">
              <a:lnSpc>
                <a:spcPts val="1820"/>
              </a:lnSpc>
              <a:buNone/>
            </a:pPr>
            <a:r>
              <a:rPr sz="13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100 devs → teams waiting on other teams to release</a:t>
            </a:r>
          </a:p>
          <a:p xmlns:a="http://schemas.openxmlformats.org/drawingml/2006/main">
            <a:pPr marL="0" indent="0" algn="l">
              <a:lnSpc>
                <a:spcPts val="1820"/>
              </a:lnSpc>
              <a:buNone/>
            </a:pPr>
            <a:r>
              <a:rPr sz="13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200 devs → nobody understands the full app</a:t>
            </a:r>
          </a:p>
        </p:txBody>
      </p:sp>
      <p:graphicFrame>
        <p:nvGraphicFramePr>
          <p:cNvPr id="19" name="Table 0"/>
          <p:cNvGraphicFramePr/>
          <p:nvPr/>
        </p:nvGraphicFramePr>
        <p:xfrm>
          <a:off xmlns:a="http://schemas.openxmlformats.org/drawingml/2006/main" x="548640" y="3246120"/>
          <a:ext xmlns:a="http://schemas.openxmlformats.org/drawingml/2006/main" cx="1106424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MONOLITH PAIN (DX)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MF SOLUTION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Teams blocked by shared release cycles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Independent deployment per module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One broken test blocks everyone's pipeline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Each team owns their own test suite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Onboarding means learning the entire app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New devs learn one module, ship day one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Shared package.json — upgrade together or never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Each remote pins its own dependencies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D28CF28-28ED-4628-AE24-346E4D42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69864"/>
            <a:ext cx="3200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3DC18F2-C761-40A9-90BF-1CFAFECE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715000"/>
            <a:ext cx="108813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i="1">
                <a:solidFill>
                  <a:srgbClr val="A8A29E"/>
                </a:solidFill>
                <a:latin typeface="Instrument Serif"/>
                <a:ea typeface="Instrument Serif"/>
                <a:cs typeface="Instrument Serif"/>
              </a:rPr>
              <a:t>Solving DX isn't enough — visitors don't care about your team structure. They care that the app feels fast.</a:t>
            </a:r>
          </a:p>
        </p:txBody>
      </p:sp>
    </p:spTree>
    <p:extLst>
      <p:ext uri="{BB962C8B-B14F-4D97-AF65-F5344CB8AC3E}">
        <p14:creationId xmlns:p14="http://schemas.microsoft.com/office/powerpoint/2010/main" val="14335694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C4AA646-D17C-42B6-8A37-04506E75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73AA13D-FF3D-49B7-8233-87F96DF8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7472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spc="4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THE INSIGHT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7F5AF7E-8C02-4BDC-B86A-B5C9F8EC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11109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i="1">
                <a:solidFill>
                  <a:srgbClr val="FAFAF9"/>
                </a:solidFill>
                <a:latin typeface="Instrument Serif"/>
                <a:ea typeface="Instrument Serif"/>
                <a:cs typeface="Instrument Serif"/>
              </a:rPr>
              <a:t>Two pillars: DX for your team, UX for your users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02B678A-0118-49A1-9851-A953B55B7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spc="20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From 5 Devs to 200 · Micro-Frontends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429D9E8-E452-46D8-B541-689F712B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03</a:t>
            </a:r>
          </a:p>
        </p:txBody>
      </p:sp>
      <p:graphicFrame>
        <p:nvGraphicFramePr>
          <p:cNvPr id="18" name="Table 0"/>
          <p:cNvGraphicFramePr/>
          <p:nvPr/>
        </p:nvGraphicFramePr>
        <p:xfrm>
          <a:off xmlns:a="http://schemas.openxmlformats.org/drawingml/2006/main" x="548640" y="1737360"/>
          <a:ext xmlns:a="http://schemas.openxmlformats.org/drawingml/2006/main" cx="1106424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34640"/>
                <a:gridCol w="2743200"/>
                <a:gridCol w="5486400"/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PILLAR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WHO BENEFITS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WHAT IT SOLVES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3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Module Federation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3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Developers &amp; teams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3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Independent builds, deploys, onboarding — DX at scale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3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Suspense + skeletons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3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End users &amp; visitors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3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Instant perceived load, no blank screens — UX at runtime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83C7ABE-9C2F-4D21-9B39-761B7FD5A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91840"/>
            <a:ext cx="1106424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l">
              <a:lnSpc>
                <a:spcPts val="1750"/>
              </a:lnSpc>
              <a:buNone/>
            </a:pPr>
            <a:r>
              <a:rPr sz="12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Without Suspense:  click tab → blank screen → spinner → content</a:t>
            </a:r>
          </a:p>
          <a:p xmlns:a="http://schemas.openxmlformats.org/drawingml/2006/main">
            <a:pPr marL="0" indent="0" algn="l">
              <a:lnSpc>
                <a:spcPts val="1750"/>
              </a:lnSpc>
              <a:buNone/>
            </a:pPr>
            <a:r>
              <a:rPr sz="12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               (terrible UX, even with great DX)</a:t>
            </a:r>
          </a:p>
          <a:p xmlns:a="http://schemas.openxmlformats.org/drawingml/2006/main">
            <a:pPr marL="0" indent="0" algn="l">
              <a:lnSpc>
                <a:spcPts val="1750"/>
              </a:lnSpc>
              <a:buNone/>
            </a:pPr>
          </a:p>
          <a:p xmlns:a="http://schemas.openxmlformats.org/drawingml/2006/main">
            <a:pPr marL="0" indent="0" algn="l">
              <a:lnSpc>
                <a:spcPts val="1750"/>
              </a:lnSpc>
              <a:buNone/>
            </a:pPr>
            <a:r>
              <a:rPr sz="12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With Suspense:     click tab → skeleton instantly → content streams in</a:t>
            </a:r>
          </a:p>
          <a:p xmlns:a="http://schemas.openxmlformats.org/drawingml/2006/main">
            <a:pPr marL="0" indent="0" algn="l">
              <a:lnSpc>
                <a:spcPts val="1750"/>
              </a:lnSpc>
              <a:buNone/>
            </a:pPr>
            <a:r>
              <a:rPr sz="12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               (each remote owns its loading choreography)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BE0680F-AED9-4FC1-89DF-5A0B3785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49824"/>
            <a:ext cx="3200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A08D47D-271F-4D82-B636-85A671AA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94960"/>
            <a:ext cx="108813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i="1">
                <a:solidFill>
                  <a:srgbClr val="A8A29E"/>
                </a:solidFill>
                <a:latin typeface="Instrument Serif"/>
                <a:ea typeface="Instrument Serif"/>
                <a:cs typeface="Instrument Serif"/>
              </a:rPr>
              <a:t>The shell doesn't know or care how long a remote takes to load. It renders &lt;Suspense&gt; and moves on.</a:t>
            </a:r>
          </a:p>
        </p:txBody>
      </p:sp>
    </p:spTree>
    <p:extLst>
      <p:ext uri="{BB962C8B-B14F-4D97-AF65-F5344CB8AC3E}">
        <p14:creationId xmlns:p14="http://schemas.microsoft.com/office/powerpoint/2010/main" val="5182279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F54C6A0-9305-4B85-9264-E1526116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B0F5311-C2DD-4811-9A3F-EA2A6173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7472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spc="4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ARCHITECTURE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42FDF3F-8127-444C-A767-2AB87515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11109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i="1">
                <a:solidFill>
                  <a:srgbClr val="FAFAF9"/>
                </a:solidFill>
                <a:latin typeface="Instrument Serif"/>
                <a:ea typeface="Instrument Serif"/>
                <a:cs typeface="Instrument Serif"/>
              </a:rPr>
              <a:t>One shell, four remotes, three loading strategies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8C37EC6-6065-4281-AA9F-EBB53451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spc="20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From 5 Devs to 200 · Micro-Frontends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BE56724-802D-4B15-9589-B3AC5818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04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B6E1E2D-0C5B-450A-96BB-3F04F811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0"/>
            <a:ext cx="11064240" cy="2834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l">
              <a:lnSpc>
                <a:spcPts val="1610"/>
              </a:lnSpc>
              <a:buNone/>
            </a:pPr>
            <a:r>
              <a:rPr sz="11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┌───────────────────────── SHELL :3000 ─────────────────────────┐</a:t>
            </a:r>
          </a:p>
          <a:p xmlns:a="http://schemas.openxmlformats.org/drawingml/2006/main">
            <a:pPr marL="0" indent="0" algn="l">
              <a:lnSpc>
                <a:spcPts val="1610"/>
              </a:lnSpc>
              <a:buNone/>
            </a:pPr>
            <a:r>
              <a:rPr sz="11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│  Nav · Router · Theme · Status strip (INSTANT|EAGER|STREAMING)│</a:t>
            </a:r>
          </a:p>
          <a:p xmlns:a="http://schemas.openxmlformats.org/drawingml/2006/main">
            <a:pPr marL="0" indent="0" algn="l">
              <a:lnSpc>
                <a:spcPts val="1610"/>
              </a:lnSpc>
              <a:buNone/>
            </a:pPr>
            <a:r>
              <a:rPr sz="11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│                                                               │</a:t>
            </a:r>
          </a:p>
          <a:p xmlns:a="http://schemas.openxmlformats.org/drawingml/2006/main">
            <a:pPr marL="0" indent="0" algn="l">
              <a:lnSpc>
                <a:spcPts val="1610"/>
              </a:lnSpc>
              <a:buNone/>
            </a:pPr>
            <a:r>
              <a:rPr sz="11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│    &lt;ErrorBoundary&gt;                                            │</a:t>
            </a:r>
          </a:p>
          <a:p xmlns:a="http://schemas.openxmlformats.org/drawingml/2006/main">
            <a:pPr marL="0" indent="0" algn="l">
              <a:lnSpc>
                <a:spcPts val="1610"/>
              </a:lnSpc>
              <a:buNone/>
            </a:pPr>
            <a:r>
              <a:rPr sz="11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│      &lt;Suspense fallback={&lt;Skeleton /&gt;}&gt;                       │</a:t>
            </a:r>
          </a:p>
          <a:p xmlns:a="http://schemas.openxmlformats.org/drawingml/2006/main">
            <a:pPr marL="0" indent="0" algn="l">
              <a:lnSpc>
                <a:spcPts val="1610"/>
              </a:lnSpc>
              <a:buNone/>
            </a:pPr>
            <a:r>
              <a:rPr sz="11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│        &lt;RemoteModule /&gt;                                       │</a:t>
            </a:r>
          </a:p>
          <a:p xmlns:a="http://schemas.openxmlformats.org/drawingml/2006/main">
            <a:pPr marL="0" indent="0" algn="l">
              <a:lnSpc>
                <a:spcPts val="1610"/>
              </a:lnSpc>
              <a:buNone/>
            </a:pPr>
            <a:r>
              <a:rPr sz="11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│      &lt;/Suspense&gt;                                              │</a:t>
            </a:r>
          </a:p>
          <a:p xmlns:a="http://schemas.openxmlformats.org/drawingml/2006/main">
            <a:pPr marL="0" indent="0" algn="l">
              <a:lnSpc>
                <a:spcPts val="1610"/>
              </a:lnSpc>
              <a:buNone/>
            </a:pPr>
            <a:r>
              <a:rPr sz="11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│    &lt;/ErrorBoundary&gt;                                           │</a:t>
            </a:r>
          </a:p>
          <a:p xmlns:a="http://schemas.openxmlformats.org/drawingml/2006/main">
            <a:pPr marL="0" indent="0" algn="l">
              <a:lnSpc>
                <a:spcPts val="1610"/>
              </a:lnSpc>
              <a:buNone/>
            </a:pPr>
            <a:r>
              <a:rPr sz="11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└───────┬───────────┬────────────────┬──────────────┬───────────┘</a:t>
            </a:r>
          </a:p>
          <a:p xmlns:a="http://schemas.openxmlformats.org/drawingml/2006/main">
            <a:pPr marL="0" indent="0" algn="l">
              <a:lnSpc>
                <a:spcPts val="1610"/>
              </a:lnSpc>
              <a:buNone/>
            </a:pPr>
            <a:r>
              <a:rPr sz="11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     Home :3004  Records :3001  Prescriptions :3002  Analytics :3003</a:t>
            </a:r>
          </a:p>
          <a:p xmlns:a="http://schemas.openxmlformats.org/drawingml/2006/main">
            <a:pPr marL="0" indent="0" algn="l">
              <a:lnSpc>
                <a:spcPts val="1610"/>
              </a:lnSpc>
              <a:buNone/>
            </a:pPr>
            <a:r>
              <a:rPr sz="11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     INSTANT     EAGER          STREAMED             STREAMED</a:t>
            </a:r>
          </a:p>
        </p:txBody>
      </p:sp>
      <p:graphicFrame>
        <p:nvGraphicFramePr>
          <p:cNvPr id="16" name="Table 0"/>
          <p:cNvGraphicFramePr/>
          <p:nvPr/>
        </p:nvGraphicFramePr>
        <p:xfrm>
          <a:off xmlns:a="http://schemas.openxmlformats.org/drawingml/2006/main" x="548640" y="4617720"/>
          <a:ext xmlns:a="http://schemas.openxmlformats.org/drawingml/2006/main" cx="1106424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54480"/>
                <a:gridCol w="2743200"/>
                <a:gridCol w="6766560"/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STRATEGY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MODULE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BEHAVIOR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Instant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Home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Lazy for code splitting, no streaming delay — renders when the chunk arrives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Eager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Records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Standalone component, preloaded on shell mount — cached before the click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Streamed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Prescriptions, Analytics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On demand, per-module skeletons + error isolation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14547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896E43C-4F1F-46CA-BD07-D0EE80E2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39641ED-0A67-4CA2-BACE-98300DD5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7472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spc="4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TECH STACK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E1ECCC7-E91A-4CBB-8385-379DFD34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11109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i="1">
                <a:solidFill>
                  <a:srgbClr val="FAFAF9"/>
                </a:solidFill>
                <a:latin typeface="Instrument Serif"/>
                <a:ea typeface="Instrument Serif"/>
                <a:cs typeface="Instrument Serif"/>
              </a:rPr>
              <a:t>Every module is a standalone app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CFC873F-95C3-4EB7-A1D5-AD4FAC9D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spc="20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From 5 Devs to 200 · Micro-Frontends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2ED0B3B-A763-4BC5-B385-6FF397AB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05</a:t>
            </a:r>
          </a:p>
        </p:txBody>
      </p:sp>
      <p:graphicFrame>
        <p:nvGraphicFramePr>
          <p:cNvPr id="17" name="Table 0"/>
          <p:cNvGraphicFramePr/>
          <p:nvPr/>
        </p:nvGraphicFramePr>
        <p:xfrm>
          <a:off xmlns:a="http://schemas.openxmlformats.org/drawingml/2006/main" x="548640" y="1691640"/>
          <a:ext xmlns:a="http://schemas.openxmlformats.org/drawingml/2006/main" cx="1106424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4560"/>
                <a:gridCol w="1371600"/>
                <a:gridCol w="7498080"/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TECHNOLOGY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VERSION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WHY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React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19.2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Streaming Suspense as a first-class primitive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Rspack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2.1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Native Module Federation, Rust React Compiler, sub-second HMR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TypeScript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6.0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Strict mode, type-safe event contracts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Tailwind CSS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v4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@theme tokens for the design system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Vitest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4.1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Fast component tests with jsdom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8203523-E365-4FDF-AC27-2F09C029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6766560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414"/>
          </a:solidFill>
          <a:ln xmlns:a="http://schemas.openxmlformats.org/drawingml/2006/main" w="9525">
            <a:solidFill>
              <a:srgbClr val="2E2E2E"/>
            </a:solidFill>
          </a:ln>
        </p:spPr>
        <p:txBody>
          <a:bodyPr xmlns:a="http://schemas.openxmlformats.org/drawingml/2006/main" wrap="square" lIns="127000" tIns="127000" rIns="127000" bIns="12700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ts val="1418"/>
              </a:lnSpc>
              <a:buNone/>
            </a:pPr>
            <a:r>
              <a:rPr sz="10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// index.tsx — the ENTIRE file (async boundary for MF)</a:t>
            </a:r>
          </a:p>
          <a:p xmlns:a="http://schemas.openxmlformats.org/drawingml/2006/main">
            <a:pPr marL="0" indent="0" algn="l">
              <a:lnSpc>
                <a:spcPts val="1418"/>
              </a:lnSpc>
              <a:buNone/>
            </a:pPr>
            <a:r>
              <a:rPr sz="10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import("./bootstrap");</a:t>
            </a:r>
          </a:p>
          <a:p xmlns:a="http://schemas.openxmlformats.org/drawingml/2006/main">
            <a:pPr marL="0" indent="0" algn="l">
              <a:lnSpc>
                <a:spcPts val="1418"/>
              </a:lnSpc>
              <a:buNone/>
            </a:pPr>
          </a:p>
          <a:p xmlns:a="http://schemas.openxmlformats.org/drawingml/2006/main">
            <a:pPr marL="0" indent="0" algn="l">
              <a:lnSpc>
                <a:spcPts val="1418"/>
              </a:lnSpc>
              <a:buNone/>
            </a:pPr>
            <a:r>
              <a:rPr sz="10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// bootstrap.tsx — actual React rendering</a:t>
            </a:r>
          </a:p>
          <a:p xmlns:a="http://schemas.openxmlformats.org/drawingml/2006/main">
            <a:pPr marL="0" indent="0" algn="l">
              <a:lnSpc>
                <a:spcPts val="1418"/>
              </a:lnSpc>
              <a:buNone/>
            </a:pPr>
            <a:r>
              <a:rPr sz="10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import ReactDOM from "react-dom/client";</a:t>
            </a:r>
          </a:p>
          <a:p xmlns:a="http://schemas.openxmlformats.org/drawingml/2006/main">
            <a:pPr marL="0" indent="0" algn="l">
              <a:lnSpc>
                <a:spcPts val="1418"/>
              </a:lnSpc>
              <a:buNone/>
            </a:pPr>
            <a:r>
              <a:rPr sz="10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import MedicalRecords from "./MedicalRecords";</a:t>
            </a:r>
          </a:p>
          <a:p xmlns:a="http://schemas.openxmlformats.org/drawingml/2006/main">
            <a:pPr marL="0" indent="0" algn="l">
              <a:lnSpc>
                <a:spcPts val="1418"/>
              </a:lnSpc>
              <a:buNone/>
            </a:pPr>
            <a:r>
              <a:rPr sz="10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ReactDOM.createRoot(document.getElementById("root")!)</a:t>
            </a:r>
          </a:p>
          <a:p xmlns:a="http://schemas.openxmlformats.org/drawingml/2006/main">
            <a:pPr marL="0" indent="0" algn="l">
              <a:lnSpc>
                <a:spcPts val="1418"/>
              </a:lnSpc>
              <a:buNone/>
            </a:pPr>
            <a:r>
              <a:rPr sz="10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.render(&lt;MedicalRecords /&gt;);</a:t>
            </a:r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639BF6A8-3805-4E07-A36D-F3FDA57C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069080"/>
            <a:ext cx="411480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177800" indent="-177800">
              <a:lnSpc>
                <a:spcPts val="2000"/>
              </a:lnSpc>
              <a:buChar char="•"/>
            </a:pPr>
            <a:r>
              <a:rPr sz="125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Async boundary lets MF negotiate shared deps first</a:t>
            </a:r>
          </a:p>
          <a:p xmlns:a="http://schemas.openxmlformats.org/drawingml/2006/main">
            <a:pPr marL="177800" indent="-177800">
              <a:lnSpc>
                <a:spcPts val="2000"/>
              </a:lnSpc>
              <a:buChar char="•"/>
            </a:pPr>
            <a:r>
              <a:rPr sz="125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Without it: white screen + loadShareSync error</a:t>
            </a:r>
          </a:p>
          <a:p xmlns:a="http://schemas.openxmlformats.org/drawingml/2006/main">
            <a:pPr marL="177800" indent="-177800">
              <a:lnSpc>
                <a:spcPts val="2000"/>
              </a:lnSpc>
              <a:buChar char="•"/>
            </a:pPr>
            <a:r>
              <a:rPr sz="125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All 5 packages use this pattern</a:t>
            </a:r>
          </a:p>
        </p:txBody>
      </p:sp>
    </p:spTree>
    <p:extLst>
      <p:ext uri="{BB962C8B-B14F-4D97-AF65-F5344CB8AC3E}">
        <p14:creationId xmlns:p14="http://schemas.microsoft.com/office/powerpoint/2010/main" val="13873754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A0B54E7-E1FB-4134-97F9-67D1F2F8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E50704E-D8C2-457E-808E-1425A2A3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7472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spc="4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MODULE FEDERATION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EB65E44-9521-4A98-A8FA-0BEAAFAB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11109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i="1">
                <a:solidFill>
                  <a:srgbClr val="FAFAF9"/>
                </a:solidFill>
                <a:latin typeface="Instrument Serif"/>
                <a:ea typeface="Instrument Serif"/>
                <a:cs typeface="Instrument Serif"/>
              </a:rPr>
              <a:t>The one plugin that makes it federated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A6175DA-EEC8-40D0-B293-B162ADCD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spc="20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From 5 Devs to 200 · Micro-Frontends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89F3655-A396-4D13-83E6-D952109A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06</a:t>
            </a:r>
          </a:p>
        </p:txBody>
      </p:sp>
      <p:graphicFrame>
        <p:nvGraphicFramePr>
          <p:cNvPr id="17" name="Table 0"/>
          <p:cNvGraphicFramePr/>
          <p:nvPr/>
        </p:nvGraphicFramePr>
        <p:xfrm>
          <a:off xmlns:a="http://schemas.openxmlformats.org/drawingml/2006/main" x="548640" y="1691640"/>
          <a:ext xmlns:a="http://schemas.openxmlformats.org/drawingml/2006/main" cx="1106424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54480"/>
                <a:gridCol w="1371600"/>
                <a:gridCol w="8138160"/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PROPERTY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WHERE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PURPOSE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exposes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Remotes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“What components do I share?” — the team's public API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remotes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Host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“Where do I find each remote at runtime?” — scope@URL discovery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shared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Both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“What do we deduplicate?” — singleton: true = one React for all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2BD25F9-D248-4913-BEB1-60BB2F99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83280"/>
            <a:ext cx="54864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414"/>
          </a:solidFill>
          <a:ln xmlns:a="http://schemas.openxmlformats.org/drawingml/2006/main" w="9525">
            <a:solidFill>
              <a:srgbClr val="2E2E2E"/>
            </a:solidFill>
          </a:ln>
        </p:spPr>
        <p:txBody>
          <a:bodyPr xmlns:a="http://schemas.openxmlformats.org/drawingml/2006/main" wrap="square" lIns="127000" tIns="127000" rIns="127000" bIns="12700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// records (remote)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new rspack.container.ModuleFederationPlugin({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name: "records",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filename: "remoteEntry.js",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exposes: {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"./MedicalRecords": "./src/MedicalRecords.tsx",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},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shared: {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react: { singleton: true },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},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});</a:t>
            </a:r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74C6BEF7-BF17-4350-A2DC-BE49648B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383280"/>
            <a:ext cx="54864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414"/>
          </a:solidFill>
          <a:ln xmlns:a="http://schemas.openxmlformats.org/drawingml/2006/main" w="9525">
            <a:solidFill>
              <a:srgbClr val="2E2E2E"/>
            </a:solidFill>
          </a:ln>
        </p:spPr>
        <p:txBody>
          <a:bodyPr xmlns:a="http://schemas.openxmlformats.org/drawingml/2006/main" wrap="square" lIns="127000" tIns="127000" rIns="127000" bIns="12700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// shell (host)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new rspack.container.ModuleFederationPlugin({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name: "shell",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remotes: {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records: "records@http://localhost:3001/remoteEntry.js",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// home, prescriptions, analytics …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},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shared: {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react: { singleton: true },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},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994597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03311C1-F7B3-4176-B1C3-8B77F803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3FF2673-262D-4C32-9F5E-39B8815E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7472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spc="4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UX PILLAR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060ED3A-8F2D-48E2-9B52-912340FF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11109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i="1">
                <a:solidFill>
                  <a:srgbClr val="FAFAF9"/>
                </a:solidFill>
                <a:latin typeface="Instrument Serif"/>
                <a:ea typeface="Instrument Serif"/>
                <a:cs typeface="Instrument Serif"/>
              </a:rPr>
              <a:t>The resource pattern — how streaming works in a remote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1C6F5C0-5E0E-4274-AC10-AF5ACD74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spc="20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From 5 Devs to 200 · Micro-Frontends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3116AF7-5F41-40E3-9BEC-3810E3B3B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07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20794F6-3FF3-4500-9313-67697153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786384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414"/>
          </a:solidFill>
          <a:ln xmlns:a="http://schemas.openxmlformats.org/drawingml/2006/main" w="9525">
            <a:solidFill>
              <a:srgbClr val="2E2E2E"/>
            </a:solidFill>
          </a:ln>
        </p:spPr>
        <p:txBody>
          <a:bodyPr xmlns:a="http://schemas.openxmlformats.org/drawingml/2006/main" wrap="square" lIns="127000" tIns="127000" rIns="127000" bIns="12700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function createResource&lt;T&gt;(asyncFn: () =&gt; Promise&lt;T&gt;): Resource&lt;T&gt; {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let status = "pending"; let result: T;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const suspender = asyncFn().then(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(data)  =&gt; { status = "success"; result = data;  },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(error) =&gt; { status = "error";   result = error; },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);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return {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read() {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  if (status === "pending") throw suspender; // ← Suspense catches this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  if (status === "error")   throw result;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  return result;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},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};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}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const StreamingMedicalRecords = () =&gt; {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const resource = getResource("records-initial", 2500); // module-level cache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resource.read(); // throws while pending → triggers &lt;Suspense&gt; in the shell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return &lt;MedicalRecords /&gt;;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};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2CC55A1-BF07-4BDA-80F2-5D209F36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1828800"/>
            <a:ext cx="3017520" cy="411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177800" indent="-177800">
              <a:lnSpc>
                <a:spcPts val="2000"/>
              </a:lnSpc>
              <a:buChar char="•"/>
            </a:pPr>
            <a:r>
              <a:rPr sz="125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Wrapper only triggers Suspense</a:t>
            </a:r>
          </a:p>
          <a:p xmlns:a="http://schemas.openxmlformats.org/drawingml/2006/main">
            <a:pPr marL="177800" indent="-177800">
              <a:lnSpc>
                <a:spcPts val="2000"/>
              </a:lnSpc>
              <a:buChar char="•"/>
            </a:pPr>
            <a:r>
              <a:rPr sz="125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UI lives in the standalone component</a:t>
            </a:r>
          </a:p>
          <a:p xmlns:a="http://schemas.openxmlformats.org/drawingml/2006/main">
            <a:pPr marL="177800" indent="-177800">
              <a:lnSpc>
                <a:spcPts val="2000"/>
              </a:lnSpc>
              <a:buChar char="•"/>
            </a:pPr>
            <a:r>
              <a:rPr sz="125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Cache prevents re-fetch on re-render</a:t>
            </a:r>
          </a:p>
          <a:p xmlns:a="http://schemas.openxmlformats.org/drawingml/2006/main">
            <a:pPr marL="177800" indent="-177800">
              <a:lnSpc>
                <a:spcPts val="2000"/>
              </a:lnSpc>
              <a:buChar char="•"/>
            </a:pPr>
            <a:r>
              <a:rPr sz="125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use() hook is the React 19 successor — migration optional</a:t>
            </a:r>
          </a:p>
        </p:txBody>
      </p:sp>
    </p:spTree>
    <p:extLst>
      <p:ext uri="{BB962C8B-B14F-4D97-AF65-F5344CB8AC3E}">
        <p14:creationId xmlns:p14="http://schemas.microsoft.com/office/powerpoint/2010/main" val="12129097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C711D82-6755-4011-A9E1-4AC4853C2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864C27C-C0EA-46D5-BA33-3CDF6AA0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7472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spc="4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SHELL COMPOSITION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52DDF7E-1E19-4D9B-8B2A-CE8E5E0C0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11109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i="1">
                <a:solidFill>
                  <a:srgbClr val="FAFAF9"/>
                </a:solidFill>
                <a:latin typeface="Instrument Serif"/>
                <a:ea typeface="Instrument Serif"/>
                <a:cs typeface="Instrument Serif"/>
              </a:rPr>
              <a:t>Three strategies, three layers of resilience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F9035B4-1688-4864-8062-7E43E97B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spc="20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From 5 Devs to 200 · Micro-Frontends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593E4D0-505D-469D-80E1-23F595735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08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F42E7DE-0D6E-4C76-A2E5-FF967BE0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7498080" cy="3291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414"/>
          </a:solidFill>
          <a:ln xmlns:a="http://schemas.openxmlformats.org/drawingml/2006/main" w="9525">
            <a:solidFill>
              <a:srgbClr val="2E2E2E"/>
            </a:solidFill>
          </a:ln>
        </p:spPr>
        <p:txBody>
          <a:bodyPr xmlns:a="http://schemas.openxmlformats.org/drawingml/2006/main" wrap="square" lIns="127000" tIns="127000" rIns="127000" bIns="12700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// INSTANT — renders the moment the chunk arrives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const Home = lazy(() =&gt; import("home/Home").catch(() =&gt; ({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default: () =&gt; &lt;ModuleFallback title="Home Unavailable" /&gt; })));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// EAGER — preloaded at shell init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const MedicalRecords = lazy(() =&gt; import("records/MedicalRecords")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.catch(/* fallback */));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const EAGER = MODULES.filter((m) =&gt; m.loadStrategy === "eager");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for (const m of EAGER) PREFETCHERS[m.id]();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// STREAMED — on demand with skeletons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const StreamingPrescriptionOrders =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lazy(() =&gt; import("prescriptions/StreamingPrescriptionOrders")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.catch(/* fallback */));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F464C71-3073-4CDC-90B9-7F2B3ABB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28800"/>
            <a:ext cx="342900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177800" indent="-177800">
              <a:lnSpc>
                <a:spcPts val="1920"/>
              </a:lnSpc>
              <a:buChar char="•"/>
            </a:pPr>
            <a:r>
              <a:rPr sz="120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Layer 1 — lazy() + .catch(): fallback if remote is unreachable</a:t>
            </a:r>
          </a:p>
          <a:p xmlns:a="http://schemas.openxmlformats.org/drawingml/2006/main">
            <a:pPr marL="177800" indent="-177800">
              <a:lnSpc>
                <a:spcPts val="1920"/>
              </a:lnSpc>
              <a:buChar char="•"/>
            </a:pPr>
            <a:r>
              <a:rPr sz="120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Layer 2 — &lt;Suspense&gt;: skeleton while loading</a:t>
            </a:r>
          </a:p>
          <a:p xmlns:a="http://schemas.openxmlformats.org/drawingml/2006/main">
            <a:pPr marL="177800" indent="-177800">
              <a:lnSpc>
                <a:spcPts val="1920"/>
              </a:lnSpc>
              <a:buChar char="•"/>
            </a:pPr>
            <a:r>
              <a:rPr sz="120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Layer 3 — &lt;ErrorBoundary&gt;: catches runtime errors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1A2569CE-BF07-4FA5-8884-10AD4817E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12664"/>
            <a:ext cx="3200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97155236-06CD-42DF-B795-00AEF106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108813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A8A29E"/>
                </a:solidFill>
                <a:latin typeface="Instrument Serif"/>
                <a:ea typeface="Instrument Serif"/>
                <a:cs typeface="Instrument Serif"/>
              </a:rPr>
              <a:t>Why lazy() for eager modules? Remotes are separate builds resolved at runtime — the eager import() warms the cache, lazy() resolves from it instantly.</a:t>
            </a:r>
          </a:p>
        </p:txBody>
      </p:sp>
    </p:spTree>
    <p:extLst>
      <p:ext uri="{BB962C8B-B14F-4D97-AF65-F5344CB8AC3E}">
        <p14:creationId xmlns:p14="http://schemas.microsoft.com/office/powerpoint/2010/main" val="15529386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EDFE95F-0131-4CDE-8C01-D7DBDC13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CC8615E-B7BD-4841-9260-01FD9214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7472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spc="4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LIVE DEMO CONTROLS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CBB03AA-0679-439E-9BEA-B031B23F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11109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i="1">
                <a:solidFill>
                  <a:srgbClr val="FAFAF9"/>
                </a:solidFill>
                <a:latin typeface="Instrument Serif"/>
                <a:ea typeface="Instrument Serif"/>
                <a:cs typeface="Instrument Serif"/>
              </a:rPr>
              <a:t>Settings · Commands · Federation Lab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D46FAA1-BE52-44F5-8142-3E5E5CFF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spc="20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From 5 Devs to 200 · Micro-Frontends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48583FD-CAC3-4019-8FF3-54EE9CB8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09</a:t>
            </a:r>
          </a:p>
        </p:txBody>
      </p:sp>
      <p:graphicFrame>
        <p:nvGraphicFramePr>
          <p:cNvPr id="16" name="Table 0"/>
          <p:cNvGraphicFramePr/>
          <p:nvPr/>
        </p:nvGraphicFramePr>
        <p:xfrm>
          <a:off xmlns:a="http://schemas.openxmlformats.org/drawingml/2006/main" x="548640" y="1737360"/>
          <a:ext xmlns:a="http://schemas.openxmlformats.org/drawingml/2006/main" cx="1106424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4560"/>
                <a:gridCol w="2743200"/>
                <a:gridCol w="6126480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BUTTON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OPENS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ANSWERS THE QUESTION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Settings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Right slide-over drawer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“How does the shell share UI state across independent remotes?”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Commands (Ctrl+K)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Searchable palette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“How do you control an MF demo without fumbling with a mouse?”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Lab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Federation Lab panel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“What happens when things break?”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6832365-7C79-4E37-9477-14AAD40A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94760"/>
            <a:ext cx="110642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177800" indent="-177800">
              <a:lnSpc>
                <a:spcPts val="2080"/>
              </a:lnSpc>
              <a:buChar char="•"/>
            </a:pPr>
            <a:r>
              <a:rPr sz="130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Health Monitor — polls each remoteEntry.js every 5s, shows latency</a:t>
            </a:r>
          </a:p>
          <a:p xmlns:a="http://schemas.openxmlformats.org/drawingml/2006/main">
            <a:pPr marL="177800" indent="-177800">
              <a:lnSpc>
                <a:spcPts val="2080"/>
              </a:lnSpc>
              <a:buChar char="•"/>
            </a:pPr>
            <a:r>
              <a:rPr sz="130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Kill Switches — simulate remote failure; the rest keeps running</a:t>
            </a:r>
          </a:p>
          <a:p xmlns:a="http://schemas.openxmlformats.org/drawingml/2006/main">
            <a:pPr marL="177800" indent="-177800">
              <a:lnSpc>
                <a:spcPts val="2080"/>
              </a:lnSpc>
              <a:buChar char="•"/>
            </a:pPr>
            <a:r>
              <a:rPr sz="130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A/B Deployment — toggle Stable ↔ Canary ring, per-module versions</a:t>
            </a:r>
          </a:p>
          <a:p xmlns:a="http://schemas.openxmlformats.org/drawingml/2006/main">
            <a:pPr marL="177800" indent="-177800">
              <a:lnSpc>
                <a:spcPts val="2080"/>
              </a:lnSpc>
              <a:buChar char="•"/>
            </a:pPr>
            <a:r>
              <a:rPr sz="130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Theme — CSS variables + localStorage + themeChange event, zero shared imports</a:t>
            </a:r>
          </a:p>
        </p:txBody>
      </p:sp>
    </p:spTree>
    <p:extLst>
      <p:ext uri="{BB962C8B-B14F-4D97-AF65-F5344CB8AC3E}">
        <p14:creationId xmlns:p14="http://schemas.microsoft.com/office/powerpoint/2010/main" val="20470014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0AA0CC2-3CC1-4FC5-A4EF-B9E71B4F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E7F73D6-DE04-4C8F-ACAD-E0749CC0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7472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spc="4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FAULT ISOLATION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E4A0499-4A29-40EB-8852-2A604AA9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11109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i="1">
                <a:solidFill>
                  <a:srgbClr val="FAFAF9"/>
                </a:solidFill>
                <a:latin typeface="Instrument Serif"/>
                <a:ea typeface="Instrument Serif"/>
                <a:cs typeface="Instrument Serif"/>
              </a:rPr>
              <a:t>Microservices for the frontend — the 99% case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78C87C3-4CCE-432B-B2F2-26FEAA201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spc="20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From 5 Devs to 200 · Micro-Frontends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A1352E4-44CB-420F-A1EC-DD4CA127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10</a:t>
            </a:r>
          </a:p>
        </p:txBody>
      </p:sp>
      <p:graphicFrame>
        <p:nvGraphicFramePr>
          <p:cNvPr id="18" name="Table 0"/>
          <p:cNvGraphicFramePr/>
          <p:nvPr/>
        </p:nvGraphicFramePr>
        <p:xfrm>
          <a:off xmlns:a="http://schemas.openxmlformats.org/drawingml/2006/main" x="548640" y="1691640"/>
          <a:ext xmlns:a="http://schemas.openxmlformats.org/drawingml/2006/main" cx="1106424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11680"/>
                <a:gridCol w="4206240"/>
                <a:gridCol w="4846320"/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MICROSERVICES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MICRO-FRONTENDS (THIS DEMO)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Isolation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OS-level (separate processes)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React-level (ErrorBoundary per module)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If one crashes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Other services keep running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Other modules keep rendering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Blast radius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Network call fails → caller handles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import() fails → fallback + Retry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Shared risk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None (own memory/CPU)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Shared browser tab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22AD713-9269-4639-BF0B-329A20092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694944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414"/>
          </a:solidFill>
          <a:ln xmlns:a="http://schemas.openxmlformats.org/drawingml/2006/main" w="9525">
            <a:solidFill>
              <a:srgbClr val="2E2E2E"/>
            </a:solidFill>
          </a:ln>
        </p:spPr>
        <p:txBody>
          <a:bodyPr xmlns:a="http://schemas.openxmlformats.org/drawingml/2006/main" wrap="square" lIns="127000" tIns="127000" rIns="127000" bIns="12700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ts val="1418"/>
              </a:lnSpc>
              <a:buNone/>
            </a:pPr>
            <a:r>
              <a:rPr sz="10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// lazy() with .catch() — the secret sauce</a:t>
            </a:r>
          </a:p>
          <a:p xmlns:a="http://schemas.openxmlformats.org/drawingml/2006/main">
            <a:pPr marL="0" indent="0" algn="l">
              <a:lnSpc>
                <a:spcPts val="1418"/>
              </a:lnSpc>
              <a:buNone/>
            </a:pPr>
            <a:r>
              <a:rPr sz="10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const MedicalRecords = lazy(() =&gt;</a:t>
            </a:r>
          </a:p>
          <a:p xmlns:a="http://schemas.openxmlformats.org/drawingml/2006/main">
            <a:pPr marL="0" indent="0" algn="l">
              <a:lnSpc>
                <a:spcPts val="1418"/>
              </a:lnSpc>
              <a:buNone/>
            </a:pPr>
            <a:r>
              <a:rPr sz="10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import("records/MedicalRecords").catch(() =&gt; ({</a:t>
            </a:r>
          </a:p>
          <a:p xmlns:a="http://schemas.openxmlformats.org/drawingml/2006/main">
            <a:pPr marL="0" indent="0" algn="l">
              <a:lnSpc>
                <a:spcPts val="1418"/>
              </a:lnSpc>
              <a:buNone/>
            </a:pPr>
            <a:r>
              <a:rPr sz="10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default: () =&gt; &lt;ModuleFallback title="Records Unavailable" /&gt;,</a:t>
            </a:r>
          </a:p>
          <a:p xmlns:a="http://schemas.openxmlformats.org/drawingml/2006/main">
            <a:pPr marL="0" indent="0" algn="l">
              <a:lnSpc>
                <a:spcPts val="1418"/>
              </a:lnSpc>
              <a:buNone/>
            </a:pPr>
            <a:r>
              <a:rPr sz="10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})));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EF4CA92-8CA9-4A36-B962-0BA17682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24144"/>
            <a:ext cx="3200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5ABCE9FB-2581-40A0-A784-453ECF06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8813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A8A29E"/>
                </a:solidFill>
                <a:latin typeface="Instrument Serif"/>
                <a:ea typeface="Instrument Serif"/>
                <a:cs typeface="Instrument Serif"/>
              </a:rPr>
              <a:t>Crashes, network failures, bad deploys: fully isolated. Tab-level resource exhaustion: the accepted cost of a shared runtime.</a:t>
            </a:r>
          </a:p>
        </p:txBody>
      </p:sp>
    </p:spTree>
    <p:extLst>
      <p:ext uri="{BB962C8B-B14F-4D97-AF65-F5344CB8AC3E}">
        <p14:creationId xmlns:p14="http://schemas.microsoft.com/office/powerpoint/2010/main" val="95192260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E9846DC-2BC2-41E1-B617-0A57983A0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C8D9561-8332-4F4A-95C2-66357D7A8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7472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spc="4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DX PILLAR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227C053-967D-4426-8B65-1A03961A5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11109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i="1">
                <a:solidFill>
                  <a:srgbClr val="FAFAF9"/>
                </a:solidFill>
                <a:latin typeface="Instrument Serif"/>
                <a:ea typeface="Instrument Serif"/>
                <a:cs typeface="Instrument Serif"/>
              </a:rPr>
              <a:t>Events &gt; shared state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E2385A6-6DD4-4EE0-BF0D-AB947F34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spc="20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From 5 Devs to 200 · Micro-Frontends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D88C17D-5FB1-4A79-80BB-203DB1522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11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DF0AF31-EB01-4794-9BD8-9A4C3A71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7498080" cy="3383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414"/>
          </a:solidFill>
          <a:ln xmlns:a="http://schemas.openxmlformats.org/drawingml/2006/main" w="9525">
            <a:solidFill>
              <a:srgbClr val="2E2E2E"/>
            </a:solidFill>
          </a:ln>
        </p:spPr>
        <p:txBody>
          <a:bodyPr xmlns:a="http://schemas.openxmlformats.org/drawingml/2006/main" wrap="square" lIns="127000" tIns="127000" rIns="127000" bIns="12700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// Records dispatches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window.dispatchEvent(new CustomEvent("addPrescription", {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detail: { id: 1, name: "Sarah Chen prescription",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        price: 2499.99, quantity: 1 },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}));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// Prescriptions listens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useEffect(() =&gt; {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const handler = (e: AddPrescriptionEvent) =&gt;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setPrescriptionItems((prev) =&gt; [...prev, e.detail]);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window.addEventListener("addPrescription", handler);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return () =&gt; window.removeEventListener("addPrescription", handler);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}, []);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2A245CC-812B-467E-9C25-121A5CEBD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28800"/>
            <a:ext cx="342900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177800" indent="-177800">
              <a:lnSpc>
                <a:spcPts val="1920"/>
              </a:lnSpc>
              <a:buChar char="•"/>
            </a:pPr>
            <a:r>
              <a:rPr sz="120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Zero coupling — no cross-module imports</a:t>
            </a:r>
          </a:p>
          <a:p xmlns:a="http://schemas.openxmlformats.org/drawingml/2006/main">
            <a:pPr marL="177800" indent="-177800">
              <a:lnSpc>
                <a:spcPts val="1920"/>
              </a:lnSpc>
              <a:buChar char="•"/>
            </a:pPr>
            <a:r>
              <a:rPr sz="120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Shell stays the only router owner</a:t>
            </a:r>
          </a:p>
          <a:p xmlns:a="http://schemas.openxmlformats.org/drawingml/2006/main">
            <a:pPr marL="177800" indent="-177800">
              <a:lnSpc>
                <a:spcPts val="1920"/>
              </a:lnSpc>
              <a:buChar char="•"/>
            </a:pPr>
            <a:r>
              <a:rPr sz="120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Survives independent deployments</a:t>
            </a:r>
          </a:p>
          <a:p xmlns:a="http://schemas.openxmlformats.org/drawingml/2006/main">
            <a:pPr marL="177800" indent="-177800">
              <a:lnSpc>
                <a:spcPts val="1920"/>
              </a:lnSpc>
              <a:buChar char="•"/>
            </a:pPr>
            <a:r>
              <a:rPr sz="120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Framework-agnostic (React, Vue, Svelte)</a:t>
            </a:r>
          </a:p>
          <a:p xmlns:a="http://schemas.openxmlformats.org/drawingml/2006/main">
            <a:pPr marL="177800" indent="-177800">
              <a:lnSpc>
                <a:spcPts val="1920"/>
              </a:lnSpc>
              <a:buChar char="•"/>
            </a:pPr>
            <a:r>
              <a:rPr sz="120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Typed via WindowEventMap augmentation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56DDE6BC-364E-43D1-B667-A4884ECE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57800"/>
            <a:ext cx="749808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414"/>
          </a:solidFill>
          <a:ln xmlns:a="http://schemas.openxmlformats.org/drawingml/2006/main" w="9525">
            <a:solidFill>
              <a:srgbClr val="2E2E2E"/>
            </a:solidFill>
          </a:ln>
        </p:spPr>
        <p:txBody>
          <a:bodyPr xmlns:a="http://schemas.openxmlformats.org/drawingml/2006/main" wrap="square" lIns="127000" tIns="127000" rIns="127000" bIns="12700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ts val="1215"/>
              </a:lnSpc>
              <a:buNone/>
            </a:pPr>
            <a:r>
              <a:rPr sz="9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declare global {</a:t>
            </a:r>
          </a:p>
          <a:p xmlns:a="http://schemas.openxmlformats.org/drawingml/2006/main">
            <a:pPr marL="0" indent="0" algn="l">
              <a:lnSpc>
                <a:spcPts val="1215"/>
              </a:lnSpc>
              <a:buNone/>
            </a:pPr>
            <a:r>
              <a:rPr sz="9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interface WindowEventMap {</a:t>
            </a:r>
          </a:p>
          <a:p xmlns:a="http://schemas.openxmlformats.org/drawingml/2006/main">
            <a:pPr marL="0" indent="0" algn="l">
              <a:lnSpc>
                <a:spcPts val="1215"/>
              </a:lnSpc>
              <a:buNone/>
            </a:pPr>
            <a:r>
              <a:rPr sz="9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addPrescription: AddPrescriptionEvent;</a:t>
            </a:r>
          </a:p>
          <a:p xmlns:a="http://schemas.openxmlformats.org/drawingml/2006/main">
            <a:pPr marL="0" indent="0" algn="l">
              <a:lnSpc>
                <a:spcPts val="1215"/>
              </a:lnSpc>
              <a:buNone/>
            </a:pPr>
            <a:r>
              <a:rPr sz="9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navigateToModule: CustomEvent&lt;{ module: "home" | "records" | … }&gt;;</a:t>
            </a:r>
          </a:p>
          <a:p xmlns:a="http://schemas.openxmlformats.org/drawingml/2006/main">
            <a:pPr marL="0" indent="0" algn="l">
              <a:lnSpc>
                <a:spcPts val="1215"/>
              </a:lnSpc>
              <a:buNone/>
            </a:pPr>
            <a:r>
              <a:rPr sz="9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themeChange: ThemeChangeEvent;</a:t>
            </a:r>
          </a:p>
          <a:p xmlns:a="http://schemas.openxmlformats.org/drawingml/2006/main">
            <a:pPr marL="0" indent="0" algn="l">
              <a:lnSpc>
                <a:spcPts val="1215"/>
              </a:lnSpc>
              <a:buNone/>
            </a:pPr>
            <a:r>
              <a:rPr sz="9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}</a:t>
            </a:r>
          </a:p>
          <a:p xmlns:a="http://schemas.openxmlformats.org/drawingml/2006/main">
            <a:pPr marL="0" indent="0" algn="l">
              <a:lnSpc>
                <a:spcPts val="1215"/>
              </a:lnSpc>
              <a:buNone/>
            </a:pPr>
            <a:r>
              <a:rPr sz="9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595972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240BAEB-25F3-4B75-99F1-B54EB3F5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2716A9A-07FB-44BB-84FC-BD1A52761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7472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spc="4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THEME SYSTEM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9E9EEC5-5C07-4CB2-874D-9C373CD0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11109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i="1">
                <a:solidFill>
                  <a:srgbClr val="FAFAF9"/>
                </a:solidFill>
                <a:latin typeface="Instrument Serif"/>
                <a:ea typeface="Instrument Serif"/>
                <a:cs typeface="Instrument Serif"/>
              </a:rPr>
              <a:t>Shell-owned theming across the federation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4857A2D-10F0-4CB8-AE78-CF8B79FC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spc="20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From 5 Devs to 200 · Micro-Frontends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083594E-2DC9-445D-9C3A-5D8921C9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12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F566F4DA-C457-4009-BBD0-8E65D0F4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6035040" cy="2651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Shell (owns theme)</a:t>
            </a:r>
          </a:p>
          <a:p xmlns:a="http://schemas.openxmlformats.org/drawingml/2006/main"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├── Persists to localStorage ("mf-demo-theme")</a:t>
            </a:r>
          </a:p>
          <a:p xmlns:a="http://schemas.openxmlformats.org/drawingml/2006/main"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├── Applies CSS variables to document.documentElement</a:t>
            </a:r>
          </a:p>
          <a:p xmlns:a="http://schemas.openxmlformats.org/drawingml/2006/main"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├── Exposes window.__MF_THEME__ bridge</a:t>
            </a:r>
          </a:p>
          <a:p xmlns:a="http://schemas.openxmlformats.org/drawingml/2006/main"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└── Broadcasts "themeChange" event</a:t>
            </a:r>
          </a:p>
          <a:p xmlns:a="http://schemas.openxmlformats.org/drawingml/2006/main"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    ├── Records       → useActiveTheme()</a:t>
            </a:r>
          </a:p>
          <a:p xmlns:a="http://schemas.openxmlformats.org/drawingml/2006/main"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    ├── Prescriptions → useActiveTheme()</a:t>
            </a:r>
          </a:p>
          <a:p xmlns:a="http://schemas.openxmlformats.org/drawingml/2006/main"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    └── Analytics     → useActiveTheme()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5C0BD0E-3428-4F22-826D-3E97D0B9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1691640"/>
            <a:ext cx="4800600" cy="3291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414"/>
          </a:solidFill>
          <a:ln xmlns:a="http://schemas.openxmlformats.org/drawingml/2006/main" w="9525">
            <a:solidFill>
              <a:srgbClr val="2E2E2E"/>
            </a:solidFill>
          </a:ln>
        </p:spPr>
        <p:txBody>
          <a:bodyPr xmlns:a="http://schemas.openxmlformats.org/drawingml/2006/main" wrap="square" lIns="127000" tIns="127000" rIns="127000" bIns="12700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ts val="1283"/>
              </a:lnSpc>
              <a:buNone/>
            </a:pPr>
            <a:r>
              <a:rPr sz="9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export function useActiveTheme() {</a:t>
            </a:r>
          </a:p>
          <a:p xmlns:a="http://schemas.openxmlformats.org/drawingml/2006/main">
            <a:pPr marL="0" indent="0" algn="l">
              <a:lnSpc>
                <a:spcPts val="1283"/>
              </a:lnSpc>
              <a:buNone/>
            </a:pPr>
            <a:r>
              <a:rPr sz="9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const [theme, setTheme] = useState(() =&gt;</a:t>
            </a:r>
          </a:p>
          <a:p xmlns:a="http://schemas.openxmlformats.org/drawingml/2006/main">
            <a:pPr marL="0" indent="0" algn="l">
              <a:lnSpc>
                <a:spcPts val="1283"/>
              </a:lnSpc>
              <a:buNone/>
            </a:pPr>
            <a:r>
              <a:rPr sz="9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window.__MF_THEME__?.getTheme() ?? "dark");</a:t>
            </a:r>
          </a:p>
          <a:p xmlns:a="http://schemas.openxmlformats.org/drawingml/2006/main">
            <a:pPr marL="0" indent="0" algn="l">
              <a:lnSpc>
                <a:spcPts val="1283"/>
              </a:lnSpc>
              <a:buNone/>
            </a:pPr>
          </a:p>
          <a:p xmlns:a="http://schemas.openxmlformats.org/drawingml/2006/main">
            <a:pPr marL="0" indent="0" algn="l">
              <a:lnSpc>
                <a:spcPts val="1283"/>
              </a:lnSpc>
              <a:buNone/>
            </a:pPr>
            <a:r>
              <a:rPr sz="9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useEffect(() =&gt; {</a:t>
            </a:r>
          </a:p>
          <a:p xmlns:a="http://schemas.openxmlformats.org/drawingml/2006/main">
            <a:pPr marL="0" indent="0" algn="l">
              <a:lnSpc>
                <a:spcPts val="1283"/>
              </a:lnSpc>
              <a:buNone/>
            </a:pPr>
            <a:r>
              <a:rPr sz="9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const handler = (e) =&gt; setTheme(e.detail.theme);</a:t>
            </a:r>
          </a:p>
          <a:p xmlns:a="http://schemas.openxmlformats.org/drawingml/2006/main">
            <a:pPr marL="0" indent="0" algn="l">
              <a:lnSpc>
                <a:spcPts val="1283"/>
              </a:lnSpc>
              <a:buNone/>
            </a:pPr>
            <a:r>
              <a:rPr sz="9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window.addEventListener("themeChange", handler);</a:t>
            </a:r>
          </a:p>
          <a:p xmlns:a="http://schemas.openxmlformats.org/drawingml/2006/main">
            <a:pPr marL="0" indent="0" algn="l">
              <a:lnSpc>
                <a:spcPts val="1283"/>
              </a:lnSpc>
              <a:buNone/>
            </a:pPr>
            <a:r>
              <a:rPr sz="9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return () =&gt;</a:t>
            </a:r>
          </a:p>
          <a:p xmlns:a="http://schemas.openxmlformats.org/drawingml/2006/main">
            <a:pPr marL="0" indent="0" algn="l">
              <a:lnSpc>
                <a:spcPts val="1283"/>
              </a:lnSpc>
              <a:buNone/>
            </a:pPr>
            <a:r>
              <a:rPr sz="9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  window.removeEventListener("themeChange", handler);</a:t>
            </a:r>
          </a:p>
          <a:p xmlns:a="http://schemas.openxmlformats.org/drawingml/2006/main">
            <a:pPr marL="0" indent="0" algn="l">
              <a:lnSpc>
                <a:spcPts val="1283"/>
              </a:lnSpc>
              <a:buNone/>
            </a:pPr>
            <a:r>
              <a:rPr sz="9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}, []);</a:t>
            </a:r>
          </a:p>
          <a:p xmlns:a="http://schemas.openxmlformats.org/drawingml/2006/main">
            <a:pPr marL="0" indent="0" algn="l">
              <a:lnSpc>
                <a:spcPts val="1283"/>
              </a:lnSpc>
              <a:buNone/>
            </a:pPr>
          </a:p>
          <a:p xmlns:a="http://schemas.openxmlformats.org/drawingml/2006/main">
            <a:pPr marL="0" indent="0" algn="l">
              <a:lnSpc>
                <a:spcPts val="1283"/>
              </a:lnSpc>
              <a:buNone/>
            </a:pPr>
            <a:r>
              <a:rPr sz="9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return { theme, label: THEME_LABELS[theme] };</a:t>
            </a:r>
          </a:p>
          <a:p xmlns:a="http://schemas.openxmlformats.org/drawingml/2006/main">
            <a:pPr marL="0" indent="0" algn="l">
              <a:lnSpc>
                <a:spcPts val="1283"/>
              </a:lnSpc>
              <a:buNone/>
            </a:pPr>
            <a:r>
              <a:rPr sz="95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}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B98C6864-1288-45EB-8110-CE65275E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49824"/>
            <a:ext cx="3200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0C9D361-EC01-467B-83D1-C61BB49E9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94960"/>
            <a:ext cx="108813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i="1">
                <a:solidFill>
                  <a:srgbClr val="A8A29E"/>
                </a:solidFill>
                <a:latin typeface="Instrument Serif"/>
                <a:ea typeface="Instrument Serif"/>
                <a:cs typeface="Instrument Serif"/>
              </a:rPr>
              <a:t>Every remote reacts immediately — no shared imports, no prop drilling, no re-deploys.</a:t>
            </a:r>
          </a:p>
        </p:txBody>
      </p:sp>
    </p:spTree>
    <p:extLst>
      <p:ext uri="{BB962C8B-B14F-4D97-AF65-F5344CB8AC3E}">
        <p14:creationId xmlns:p14="http://schemas.microsoft.com/office/powerpoint/2010/main" val="107899345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01B605F-59BD-46F8-9208-DC236B714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585BD0A-6E9C-4DEB-B796-8D46E3E8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7472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spc="4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PERFORMANCE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38AD4DE-3D22-4AC7-916B-E85C7BA5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11109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i="1">
                <a:solidFill>
                  <a:srgbClr val="FAFAF9"/>
                </a:solidFill>
                <a:latin typeface="Instrument Serif"/>
                <a:ea typeface="Instrument Serif"/>
                <a:cs typeface="Instrument Serif"/>
              </a:rPr>
              <a:t>Two-tier preloading: eager on mount, hover on demand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E6646B4-6CC1-4200-A8AD-159667E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spc="20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From 5 Devs to 200 · Micro-Frontends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480B854-8116-4D7C-A8BF-D743835B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13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4405C65F-9EE7-4984-9C2A-A3A0BC0F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11064240" cy="283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414"/>
          </a:solidFill>
          <a:ln xmlns:a="http://schemas.openxmlformats.org/drawingml/2006/main" w="9525">
            <a:solidFill>
              <a:srgbClr val="2E2E2E"/>
            </a:solidFill>
          </a:ln>
        </p:spPr>
        <p:txBody>
          <a:bodyPr xmlns:a="http://schemas.openxmlformats.org/drawingml/2006/main" wrap="square" lIns="127000" tIns="127000" rIns="127000" bIns="12700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const PREFETCHERS: Record&lt;ModuleType, () =&gt; Promise&lt;unknown&gt;&gt; = {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home:          () =&gt; import("home/Home").catch(() =&gt; undefined),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records:       () =&gt; import("records/MedicalRecords").catch(() =&gt; undefined),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prescriptions: () =&gt; import("prescriptions/StreamingPrescriptionOrders").catch(() =&gt; undefined),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analytics:     () =&gt; import("analytics/StreamingClinicalAnalytics").catch(() =&gt; undefined),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};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// EAGER — preload on shell mount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for (const m of MODULES.filter((m) =&gt; m.loadStrategy === "eager")) PREFETCHERS[m.id]();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// HOVER — prefetch on tab hover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&lt;NavLink onMouseEnter={() =&gt; PREFETCHERS[module.id]()} /&gt;</a:t>
            </a:r>
          </a:p>
        </p:txBody>
      </p:sp>
      <p:graphicFrame>
        <p:nvGraphicFramePr>
          <p:cNvPr id="16" name="Table 0"/>
          <p:cNvGraphicFramePr/>
          <p:nvPr/>
        </p:nvGraphicFramePr>
        <p:xfrm>
          <a:off xmlns:a="http://schemas.openxmlformats.org/drawingml/2006/main" x="548640" y="4754880"/>
          <a:ext xmlns:a="http://schemas.openxmlformats.org/drawingml/2006/main" cx="1106424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45920"/>
                <a:gridCol w="5760720"/>
                <a:gridCol w="3657600"/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STRATEGY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WHEN IT LOADS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EXAMPLE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Instant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Chunk fetched lazily, no streaming delay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Home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Eager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Preloaded the moment the shell mounts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Records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Hover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Prefetched when the user hovers a tab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Prescriptions, Analytics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427131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11D93A-D01E-468E-B974-C4708D680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AF707DD-15CC-4402-AE35-D1EE17C3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7472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spc="4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TESTING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69DD92D-3174-4174-8C93-B6734AD6C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11109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i="1">
                <a:solidFill>
                  <a:srgbClr val="FAFAF9"/>
                </a:solidFill>
                <a:latin typeface="Instrument Serif"/>
                <a:ea typeface="Instrument Serif"/>
                <a:cs typeface="Instrument Serif"/>
              </a:rPr>
              <a:t>Test federated components in isolation — no servers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0F6BEA4-027A-4462-8D2A-4E38913D0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spc="20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From 5 Devs to 200 · Micro-Frontends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2D46E72-34F1-4587-937C-BC68FDE0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14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545039D2-AAD6-4CA6-8BF6-9A967CA19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11064240" cy="1965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414"/>
          </a:solidFill>
          <a:ln xmlns:a="http://schemas.openxmlformats.org/drawingml/2006/main" w="9525">
            <a:solidFill>
              <a:srgbClr val="2E2E2E"/>
            </a:solidFill>
          </a:ln>
        </p:spPr>
        <p:txBody>
          <a:bodyPr xmlns:a="http://schemas.openxmlformats.org/drawingml/2006/main" wrap="square" lIns="127000" tIns="127000" rIns="127000" bIns="12700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// vitest.config.ts — resolve MF imports to source files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resolve: {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alias: {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"records/MedicalRecords":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  path.resolve(__dirname, "packages/records/src/MedicalRecords.tsx"),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  // home/Home, prescriptions/…, analytics/… same pattern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},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},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5369588-0678-486B-BF21-2E8448B6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0"/>
            <a:ext cx="1106424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414"/>
          </a:solidFill>
          <a:ln xmlns:a="http://schemas.openxmlformats.org/drawingml/2006/main" w="9525">
            <a:solidFill>
              <a:srgbClr val="2E2E2E"/>
            </a:solidFill>
          </a:ln>
        </p:spPr>
        <p:txBody>
          <a:bodyPr xmlns:a="http://schemas.openxmlformats.org/drawingml/2006/main" wrap="square" lIns="127000" tIns="127000" rIns="127000" bIns="127000" anchor="t"/>
          <a:lstStyle xmlns:a="http://schemas.openxmlformats.org/drawingml/2006/main"/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it("dispatches addPrescription event on Add click", async () =&gt; {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const handler = vi.fn();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window.addEventListener("addPrescription", handler);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render(&lt;MedicalRecords /&gt;);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await user.click(screen.getByRole("button", { name: /create prescription/i }));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  expect(handler).toHaveBeenCalledTimes(1);</a:t>
            </a:r>
          </a:p>
          <a:p xmlns:a="http://schemas.openxmlformats.org/drawingml/2006/main">
            <a:pPr marL="0" indent="0" algn="l">
              <a:lnSpc>
                <a:spcPts val="1350"/>
              </a:lnSpc>
              <a:buNone/>
            </a:pPr>
            <a:r>
              <a:rPr sz="1000">
                <a:solidFill>
                  <a:srgbClr val="FAFAF9"/>
                </a:solidFill>
                <a:latin typeface="IBM Plex Mono"/>
                <a:ea typeface="IBM Plex Mono"/>
                <a:cs typeface="IBM Plex Mono"/>
              </a:rPr>
              <a:t>});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892E3CE-1953-4535-BEA7-FE28BE566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60720"/>
            <a:ext cx="11064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i="1">
                <a:solidFill>
                  <a:srgbClr val="D4FF00"/>
                </a:solidFill>
                <a:latin typeface="Instrument Serif"/>
                <a:ea typeface="Instrument Serif"/>
                <a:cs typeface="Instrument Serif"/>
              </a:rPr>
              <a:t>210 tests across 21 files — all passing.</a:t>
            </a:r>
          </a:p>
        </p:txBody>
      </p:sp>
    </p:spTree>
    <p:extLst>
      <p:ext uri="{BB962C8B-B14F-4D97-AF65-F5344CB8AC3E}">
        <p14:creationId xmlns:p14="http://schemas.microsoft.com/office/powerpoint/2010/main" val="205266783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8CC1D27-2ABC-4FC8-BA09-BC2B57B4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2C378B8-F624-4B61-BC41-1617371D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7472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spc="4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DESIGN SYSTEM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16C2CCA-E51B-434E-8B34-A3E6E83C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11109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i="1">
                <a:solidFill>
                  <a:srgbClr val="FAFAF9"/>
                </a:solidFill>
                <a:latin typeface="Instrument Serif"/>
                <a:ea typeface="Instrument Serif"/>
                <a:cs typeface="Instrument Serif"/>
              </a:rPr>
              <a:t>Noir Editorial — not another pastel AI dashboard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A50D15E-E2AB-4724-8837-CCFF18B7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spc="20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From 5 Devs to 200 · Micro-Frontends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A0C624A-1FBA-4A9F-8A31-052AE82B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15</a:t>
            </a:r>
          </a:p>
        </p:txBody>
      </p:sp>
      <p:graphicFrame>
        <p:nvGraphicFramePr>
          <p:cNvPr id="31" name="Table 0"/>
          <p:cNvGraphicFramePr/>
          <p:nvPr/>
        </p:nvGraphicFramePr>
        <p:xfrm>
          <a:off xmlns:a="http://schemas.openxmlformats.org/drawingml/2006/main" x="548640" y="1691640"/>
          <a:ext xmlns:a="http://schemas.openxmlformats.org/drawingml/2006/main" cx="1106424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ELEMENT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TREATMENT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Typography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Instrument Serif (display) · DM Sans (body) · IBM Plex Mono (labels)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Grid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gap-[1px] bg-edge — sharp 1px editorial grid lines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Animations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fadeInUp with staggered delays, shimmer on skeletons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Grain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SVG noise overlay at 2.5% opacity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F7A424B6-8822-4900-8562-E6971DD11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06240"/>
            <a:ext cx="12344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0C0C"/>
          </a:solidFill>
          <a:ln xmlns:a="http://schemas.openxmlformats.org/drawingml/2006/main" w="12700">
            <a:solidFill>
              <a:srgbClr val="2E2E2E"/>
            </a:solidFill>
            <a:prstDash val="solid"/>
          </a:ln>
        </p:spPr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8453E9F4-AA03-489F-B241-36B68FC54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74920"/>
            <a:ext cx="1234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noir</a:t>
            </a:r>
          </a:p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#0C0C0C</a:t>
            </a:r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F477305-290C-4254-8A0D-69FCEBCC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206240"/>
            <a:ext cx="12344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9"/>
          </a:solidFill>
          <a:ln xmlns:a="http://schemas.openxmlformats.org/drawingml/2006/main" w="12700">
            <a:solidFill>
              <a:srgbClr val="2E2E2E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0ADD510F-E404-4AD1-BE88-ABF58E4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074920"/>
            <a:ext cx="1234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cream</a:t>
            </a:r>
          </a:p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#FAFAF9</a:t>
            </a:r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6CD9E181-4C9C-47FA-A3B9-032F6A0C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4206240"/>
            <a:ext cx="12344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29E"/>
          </a:solidFill>
          <a:ln xmlns:a="http://schemas.openxmlformats.org/drawingml/2006/main" w="12700">
            <a:solidFill>
              <a:srgbClr val="2E2E2E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1A8CD64C-8F5A-46D3-AE79-9D260B14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5074920"/>
            <a:ext cx="1234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stone</a:t>
            </a:r>
          </a:p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#A8A29E</a:t>
            </a:r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3FD15829-F9D9-4397-B14D-3F146D848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206240"/>
            <a:ext cx="12344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  <a:ln xmlns:a="http://schemas.openxmlformats.org/drawingml/2006/main" w="12700">
            <a:solidFill>
              <a:srgbClr val="2E2E2E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78BB1EE-E765-48A9-8546-EAB26336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74920"/>
            <a:ext cx="1234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citrine</a:t>
            </a:r>
          </a:p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#D4FF00</a:t>
            </a: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E00F5D0A-4D95-40E9-96B2-5A9CE95E8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206240"/>
            <a:ext cx="12344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12700">
            <a:solidFill>
              <a:srgbClr val="2E2E2E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9249A578-9030-4C8A-8E05-736C753B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074920"/>
            <a:ext cx="1234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mint</a:t>
            </a:r>
          </a:p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#34D399</a:t>
            </a:r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0AF77B89-0C3E-4420-BCE6-EA5E579C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4206240"/>
            <a:ext cx="12344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12700">
            <a:solidFill>
              <a:srgbClr val="2E2E2E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5F36F2A1-BCD7-45AF-85A3-F86CE27A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5074920"/>
            <a:ext cx="1234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ice</a:t>
            </a:r>
          </a:p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#60A5FA</a:t>
            </a:r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4FDCEE57-CE79-4181-B2CF-7746CE9F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206240"/>
            <a:ext cx="12344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12700">
            <a:solidFill>
              <a:srgbClr val="2E2E2E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D2B87DA2-D3D4-4177-895F-26C17C47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5074920"/>
            <a:ext cx="1234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burnt</a:t>
            </a:r>
          </a:p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#FF6B35</a:t>
            </a:r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924D894E-1CC6-4DD4-9DBA-D7F273FC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9880" y="4206240"/>
            <a:ext cx="12344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7171"/>
          </a:solidFill>
          <a:ln xmlns:a="http://schemas.openxmlformats.org/drawingml/2006/main" w="12700">
            <a:solidFill>
              <a:srgbClr val="2E2E2E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2A7A3595-557F-4A9A-B363-B2A68E9D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9880" y="5074920"/>
            <a:ext cx="1234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rose</a:t>
            </a:r>
          </a:p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#F87171</a:t>
            </a:r>
          </a:p>
        </p:txBody>
      </p:sp>
    </p:spTree>
    <p:extLst>
      <p:ext uri="{BB962C8B-B14F-4D97-AF65-F5344CB8AC3E}">
        <p14:creationId xmlns:p14="http://schemas.microsoft.com/office/powerpoint/2010/main" val="179505416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94E1D64-9A94-47E0-B348-932322971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A8DAF54-3455-4379-8BD2-DFB3E9FA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7472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spc="4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LIVE DEMO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72E4971-E54C-4328-97F6-FF62CC9FF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11109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i="1">
                <a:solidFill>
                  <a:srgbClr val="FAFAF9"/>
                </a:solidFill>
                <a:latin typeface="Instrument Serif"/>
                <a:ea typeface="Instrument Serif"/>
                <a:cs typeface="Instrument Serif"/>
              </a:rPr>
              <a:t>Six segments, ~10 minutes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D4D4636-1EC2-4E02-9C8C-0F74C47C4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spc="20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From 5 Devs to 200 · Micro-Frontends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8A37E1A-7E3E-4C68-830B-6889916B2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16</a:t>
            </a:r>
          </a:p>
        </p:txBody>
      </p:sp>
      <p:graphicFrame>
        <p:nvGraphicFramePr>
          <p:cNvPr id="13" name="Table 0"/>
          <p:cNvGraphicFramePr/>
          <p:nvPr/>
        </p:nvGraphicFramePr>
        <p:xfrm>
          <a:off xmlns:a="http://schemas.openxmlformats.org/drawingml/2006/main" x="548640" y="1737360"/>
          <a:ext xmlns:a="http://schemas.openxmlformats.org/drawingml/2006/main" cx="1106424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"/>
                <a:gridCol w="3108960"/>
                <a:gridCol w="822960"/>
                <a:gridCol w="6675120"/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#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SEGMENT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TIME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MONEY SHOT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1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Federation + DX story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2 min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Status strip flips INSTANT → EAGER → STREAMING as you navigate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2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Federation Lab — fault isolation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2 min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Kill records; prescriptions &amp; analytics keep running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3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A/B deployment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1 min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Stable ↔ Canary ring, per-module versions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4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Theme switching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30 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CSS variables update across all remotes, persists on refresh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5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Code walkthrough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3 min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Resource pattern · lazy+catch+Suspense · event flow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6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Testing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1 min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pnpm test — 210 green, vitest alias trick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432198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AD506F1-0751-4E73-BF52-4F537DDC4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FFD7A8D-5D46-4918-B219-B31AF2A2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7472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spc="4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TAKEAWAYS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67DE3B0-17B9-4C88-AC7A-A8CFA30D6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11109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i="1">
                <a:solidFill>
                  <a:srgbClr val="FAFAF9"/>
                </a:solidFill>
                <a:latin typeface="Instrument Serif"/>
                <a:ea typeface="Instrument Serif"/>
                <a:cs typeface="Instrument Serif"/>
              </a:rPr>
              <a:t>Seven things to remember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D382DCB-E8BC-426F-A29F-84D4AE7C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spc="20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From 5 Devs to 200 · Micro-Frontends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E915B7F-C3E7-4F58-852F-F814DA3E9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17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AB9B0751-72E8-4BC5-A153-D287B529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1106424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177800" indent="-177800">
              <a:lnSpc>
                <a:spcPts val="2400"/>
              </a:lnSpc>
              <a:buChar char="•"/>
            </a:pPr>
            <a:r>
              <a:rPr sz="150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1 · Micro-frontends solve a people problem, not just a code problem</a:t>
            </a:r>
          </a:p>
          <a:p xmlns:a="http://schemas.openxmlformats.org/drawingml/2006/main">
            <a:pPr marL="177800" indent="-177800">
              <a:lnSpc>
                <a:spcPts val="2400"/>
              </a:lnSpc>
              <a:buChar char="•"/>
            </a:pPr>
            <a:r>
              <a:rPr sz="150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2 · Suspense streaming solves the UX side — two separate pillars, one architecture</a:t>
            </a:r>
          </a:p>
          <a:p xmlns:a="http://schemas.openxmlformats.org/drawingml/2006/main">
            <a:pPr marL="177800" indent="-177800">
              <a:lnSpc>
                <a:spcPts val="2400"/>
              </a:lnSpc>
              <a:buChar char="•"/>
            </a:pPr>
            <a:r>
              <a:rPr sz="150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3 · Events &gt; shared state — CustomEvents survive independent deploys</a:t>
            </a:r>
          </a:p>
          <a:p xmlns:a="http://schemas.openxmlformats.org/drawingml/2006/main">
            <a:pPr marL="177800" indent="-177800">
              <a:lnSpc>
                <a:spcPts val="2400"/>
              </a:lnSpc>
              <a:buChar char="•"/>
            </a:pPr>
            <a:r>
              <a:rPr sz="150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4 · Host owns routing — remotes request navigation, only the shell mutates it</a:t>
            </a:r>
          </a:p>
          <a:p xmlns:a="http://schemas.openxmlformats.org/drawingml/2006/main">
            <a:pPr marL="177800" indent="-177800">
              <a:lnSpc>
                <a:spcPts val="2400"/>
              </a:lnSpc>
              <a:buChar char="•"/>
            </a:pPr>
            <a:r>
              <a:rPr sz="150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5 · Fault isolation is a feature: .catch() + ErrorBoundary per module</a:t>
            </a:r>
          </a:p>
          <a:p xmlns:a="http://schemas.openxmlformats.org/drawingml/2006/main">
            <a:pPr marL="177800" indent="-177800">
              <a:lnSpc>
                <a:spcPts val="2400"/>
              </a:lnSpc>
              <a:buChar char="•"/>
            </a:pPr>
            <a:r>
              <a:rPr sz="150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6 · Rspack makes this fast — sub-second HMR, Rust React Compiler, persistent cache</a:t>
            </a:r>
          </a:p>
          <a:p xmlns:a="http://schemas.openxmlformats.org/drawingml/2006/main">
            <a:pPr marL="177800" indent="-177800">
              <a:lnSpc>
                <a:spcPts val="2400"/>
              </a:lnSpc>
              <a:buChar char="•"/>
            </a:pPr>
            <a:r>
              <a:rPr sz="1500">
                <a:solidFill>
                  <a:srgbClr val="FAFAF9"/>
                </a:solidFill>
                <a:latin typeface="DM Sans"/>
                <a:ea typeface="DM Sans"/>
                <a:cs typeface="DM Sans"/>
              </a:rPr>
              <a:t>7 · Not every module should load the same way: instant / eager / streamed</a:t>
            </a:r>
          </a:p>
        </p:txBody>
      </p:sp>
    </p:spTree>
    <p:extLst>
      <p:ext uri="{BB962C8B-B14F-4D97-AF65-F5344CB8AC3E}">
        <p14:creationId xmlns:p14="http://schemas.microsoft.com/office/powerpoint/2010/main" val="179080046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380F7CF-0CE2-4E5D-86B2-D7CA7141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7527C1D-1547-447F-863F-8EE90DA6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7472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spc="4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DECISION GUIDE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1033594-0152-4441-BB0E-EC042404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13232"/>
            <a:ext cx="11109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i="1">
                <a:solidFill>
                  <a:srgbClr val="FAFAF9"/>
                </a:solidFill>
                <a:latin typeface="Instrument Serif"/>
                <a:ea typeface="Instrument Serif"/>
                <a:cs typeface="Instrument Serif"/>
              </a:rPr>
              <a:t>You're ready for this architecture when…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33B19D3-91DD-41B2-B19D-20826A73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spc="20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From 5 Devs to 200 · Micro-Frontends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DA987E3-8D1D-4D28-B05F-AFE852CD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50">
                <a:solidFill>
                  <a:srgbClr val="6B6560"/>
                </a:solidFill>
                <a:latin typeface="IBM Plex Mono"/>
                <a:ea typeface="IBM Plex Mono"/>
                <a:cs typeface="IBM Plex Mono"/>
              </a:rPr>
              <a:t>18</a:t>
            </a:r>
          </a:p>
        </p:txBody>
      </p:sp>
      <p:graphicFrame>
        <p:nvGraphicFramePr>
          <p:cNvPr id="16" name="Table 0"/>
          <p:cNvGraphicFramePr/>
          <p:nvPr/>
        </p:nvGraphicFramePr>
        <p:xfrm>
          <a:off xmlns:a="http://schemas.openxmlformats.org/drawingml/2006/main" x="548640" y="1737360"/>
          <a:ext xmlns:a="http://schemas.openxmlformats.org/drawingml/2006/main" cx="1106424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760720"/>
                <a:gridCol w="5303520"/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SIGNAL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 spc="200">
                          <a:solidFill>
                            <a:srgbClr val="D4FF00"/>
                          </a:solidFill>
                          <a:latin typeface="IBM Plex Mono"/>
                          <a:ea typeface="IBM Plex Mono"/>
                          <a:cs typeface="IBM Plex Mono"/>
                        </a:rPr>
                        <a:t>PATTERN TO ADOPT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C1C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Teams ship the same SPA and block each other on releases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Module Federation — independent builds &amp; deploys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Users wait for a full bundle before seeing anything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Suspense streaming — skeletons render instantly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One broken feature takes down the whole page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ErrorBoundary + lazy().catch() per module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Shared state libraries create invisible coupling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CustomEvents on window — zero-import communication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You need canary releases at the feature level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Independent versioning per remote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Testing one feature requires the full app running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FAFAF9"/>
                          </a:solidFill>
                          <a:latin typeface="DM Sans"/>
                          <a:ea typeface="DM Sans"/>
                          <a:cs typeface="DM Sans"/>
                        </a:rPr>
                        <a:t>Vitest alias trick — isolation, no servers</a:t>
                      </a:r>
                    </a:p>
                  </a:txBody>
                  <a:tcPr marL="76200" marR="76200" marT="76200" marB="76200" anchor="ctr">
                    <a:lnL w="9525" cmpd="sng">
                      <a:solidFill>
                        <a:srgbClr val="2E2E2E"/>
                      </a:solidFill>
                      <a:prstDash val="solid"/>
                    </a:lnL>
                    <a:lnR w="9525" cmpd="sng">
                      <a:solidFill>
                        <a:srgbClr val="2E2E2E"/>
                      </a:solidFill>
                      <a:prstDash val="solid"/>
                    </a:lnR>
                    <a:lnT w="9525" cmpd="sng">
                      <a:solidFill>
                        <a:srgbClr val="2E2E2E"/>
                      </a:solidFill>
                      <a:prstDash val="solid"/>
                    </a:lnT>
                    <a:lnB w="9525" cmpd="sng">
                      <a:solidFill>
                        <a:srgbClr val="2E2E2E"/>
                      </a:solidFill>
                      <a:prstDash val="soli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0DE32B5-D8B7-494B-B524-782CE0FF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806440"/>
            <a:ext cx="110642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spc="100">
                <a:solidFill>
                  <a:srgbClr val="A8A29E"/>
                </a:solidFill>
                <a:latin typeface="IBM Plex Mono"/>
                <a:ea typeface="IBM Plex Mono"/>
                <a:cs typeface="IBM Plex Mono"/>
              </a:rPr>
              <a:t>In production today: healthcare platforms · SaaS dashboards · enterprise portals · media platforms</a:t>
            </a:r>
          </a:p>
        </p:txBody>
      </p:sp>
    </p:spTree>
    <p:extLst>
      <p:ext uri="{BB962C8B-B14F-4D97-AF65-F5344CB8AC3E}">
        <p14:creationId xmlns:p14="http://schemas.microsoft.com/office/powerpoint/2010/main" val="73804450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8ADA5D1-3B16-48B7-B00B-280C5005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148840"/>
            <a:ext cx="82296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FF00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387D7A9-FCCA-4F93-BB26-0AF19C3B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31720"/>
            <a:ext cx="1106424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0" i="1">
                <a:solidFill>
                  <a:srgbClr val="FAFAF9"/>
                </a:solidFill>
                <a:latin typeface="Instrument Serif"/>
                <a:ea typeface="Instrument Serif"/>
                <a:cs typeface="Instrument Serif"/>
              </a:rPr>
              <a:t>Thank you.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39237D2-8C10-4171-99C5-2C564DD3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03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rgbClr val="A8A29E"/>
                </a:solidFill>
                <a:latin typeface="DM Sans"/>
                <a:ea typeface="DM Sans"/>
                <a:cs typeface="DM Sans"/>
              </a:rPr>
              <a:t>Clone it, kill a remote, watch the rest keep running.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C85ACBE-5C43-447B-99E3-4CF0A069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3484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spc="100">
                <a:solidFill>
                  <a:srgbClr val="D4FF00"/>
                </a:solidFill>
                <a:latin typeface="IBM Plex Mono"/>
                <a:ea typeface="IBM Plex Mono"/>
                <a:cs typeface="IBM Plex Mono"/>
              </a:rPr>
              <a:t>github.com/&lt;your-handle&gt;/module-federation-demo</a:t>
            </a:r>
          </a:p>
        </p:txBody>
      </p:sp>
    </p:spTree>
    <p:extLst>
      <p:ext uri="{BB962C8B-B14F-4D97-AF65-F5344CB8AC3E}">
        <p14:creationId xmlns:p14="http://schemas.microsoft.com/office/powerpoint/2010/main" val="1479031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2026-07-09T22:56:31.4600000Z</dcterms:created>
  <dcterms:modified xsi:type="dcterms:W3CDTF">2026-07-09T22:56:31.4600000Z</dcterms:modified>
</coreProperties>
</file>